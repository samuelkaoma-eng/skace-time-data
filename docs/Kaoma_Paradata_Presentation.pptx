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30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862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Briefly introduce yourself and the project. The title sets the stage for a system that turns raw survey audit logs into powerful quality intelligence. Pause for effect after the title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 data is the foundation of policy decisions — but fabricated responses, rushed interviews, and inattentive enumerators undermine quality. Current methods only check total time, missing the behavioral fingerprints hidden in paradata.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Paradata is the 'how' behind the survey. Platforms like SurveyCTO and ODK log every interaction — but in incompatible formats. This project bridges that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status quo is fragile. Survey organizations rely on total interview time as their main quality signal — but that single metric misses fabricated responses, rushed answers, and inattentive navigation that paradata can reveal.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four pillars: 40 features across three granularity levels, support for both major platforms, a two-layer anomaly detector, and a fully documented Python library. Clean, transparent, reproducible.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deliberately modular. Raw logs enter, get normalized through platform-specific parsers into a Common Intermediate Representation, then flow through extraction, characterization, and detection layers — producing quality reports.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raw log event flows through the parser layer, gets normalized into the CIR DataFrame, and feeds the feature extraction module. The same feature library runs regardless of source platform.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features organized across four categories. Each is grounded in literature: Q-level features from Yan &amp; Tourangeau (2008), S-level from Conrad et al. (2013), V-level from Kreuter (2013), and T-level from Wenz et al. (2019).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complementary layers: IQR-based statistical flagging (no normality assumption, robust to skewed RT distributions) plus domain-derived rule logic. The combined score provides richer diagnostic power than either alone.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labelled real-world paradata corpora are unavailable, synthetic datasets are the gold standard for this type of benchmarking. Three anomaly types are injected based on patterns from Wenz et al. and Conrad et 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runs at two levels: feature validation (Mann-Whitney U) and anomaly detection (precision, recall, F1). Both baselines represent current real-world practice, so improvements are practically meaningful.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simulated output shows what the system produces: each interview gets an anomaly score based on combined IQR and rule flags. Interviewers with high scores are prioritized for back-check verification — dramatically more efficient than manual review.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contrast is stark: from one metric and 5% coverage to 40 features and 100% automated coverage. This is the practical impact of the system — not just academic improvement, but operational transformation.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intelligence pillars: distribution-aware statistics, behaviorally grounded features, multi-level scoring, and platform abstraction. Each design choice solves a real technical problem.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are acknowledged transparently — a mark of rigorous research. The future work roadmap shows a clear pathway to extension: real data validation, ML integration, and open-source release.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This project bridges a clear gap: theoretical survey methodology research has identified the value of paradata, but no automated, cross-platform tool exists to operationalize it. This system changes that. Thank you — questions welcome.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6858000" y="-1371600"/>
            <a:ext cx="3657600" cy="3657600"/>
          </a:xfrm>
          <a:prstGeom prst="ellipse">
            <a:avLst/>
          </a:prstGeom>
          <a:solidFill>
            <a:srgbClr val="7B2FBE">
              <a:alpha val="18000"/>
            </a:srgbClr>
          </a:solidFill>
          <a:ln w="12700">
            <a:solidFill>
              <a:srgbClr val="7B2FBE">
                <a:alpha val="0"/>
              </a:srgbClr>
            </a:solidFill>
            <a:prstDash val="solid"/>
          </a:ln>
        </p:spPr>
      </p:sp>
      <p:sp>
        <p:nvSpPr>
          <p:cNvPr id="3" name="Shape 1"/>
          <p:cNvSpPr/>
          <p:nvPr/>
        </p:nvSpPr>
        <p:spPr>
          <a:xfrm>
            <a:off x="-914400" y="2743200"/>
            <a:ext cx="3657600" cy="3657600"/>
          </a:xfrm>
          <a:prstGeom prst="ellipse">
            <a:avLst/>
          </a:prstGeom>
          <a:solidFill>
            <a:srgbClr val="00B4D8">
              <a:alpha val="15000"/>
            </a:srgbClr>
          </a:solidFill>
          <a:ln w="12700">
            <a:solidFill>
              <a:srgbClr val="00B4D8">
                <a:alpha val="0"/>
              </a:srgbClr>
            </a:solidFill>
            <a:prstDash val="solid"/>
          </a:ln>
        </p:spPr>
      </p:sp>
      <p:sp>
        <p:nvSpPr>
          <p:cNvPr id="4" name="Shape 2"/>
          <p:cNvSpPr/>
          <p:nvPr/>
        </p:nvSpPr>
        <p:spPr>
          <a:xfrm>
            <a:off x="0" y="0"/>
            <a:ext cx="9144000" cy="36576"/>
          </a:xfrm>
          <a:prstGeom prst="rect">
            <a:avLst/>
          </a:prstGeom>
          <a:solidFill>
            <a:srgbClr val="00B4D8"/>
          </a:solidFill>
          <a:ln w="12700">
            <a:solidFill>
              <a:srgbClr val="00B4D8">
                <a:alpha val="0"/>
              </a:srgbClr>
            </a:solidFill>
            <a:prstDash val="solid"/>
          </a:ln>
        </p:spPr>
      </p:sp>
      <p:sp>
        <p:nvSpPr>
          <p:cNvPr id="5" name="Shape 3"/>
          <p:cNvSpPr/>
          <p:nvPr/>
        </p:nvSpPr>
        <p:spPr>
          <a:xfrm>
            <a:off x="457200" y="320040"/>
            <a:ext cx="8229600" cy="4206240"/>
          </a:xfrm>
          <a:prstGeom prst="rect">
            <a:avLst/>
          </a:prstGeom>
          <a:solidFill>
            <a:srgbClr val="1A2744">
              <a:alpha val="25000"/>
            </a:srgbClr>
          </a:solidFill>
          <a:ln w="12700">
            <a:solidFill>
              <a:srgbClr val="1E3A5F"/>
            </a:solidFill>
            <a:prstDash val="solid"/>
          </a:ln>
        </p:spPr>
      </p:sp>
      <p:sp>
        <p:nvSpPr>
          <p:cNvPr id="6" name="Text 4"/>
          <p:cNvSpPr/>
          <p:nvPr/>
        </p:nvSpPr>
        <p:spPr>
          <a:xfrm>
            <a:off x="640080" y="457200"/>
            <a:ext cx="7863840" cy="274320"/>
          </a:xfrm>
          <a:prstGeom prst="rect">
            <a:avLst/>
          </a:prstGeom>
          <a:noFill/>
          <a:ln/>
        </p:spPr>
        <p:txBody>
          <a:bodyPr wrap="square" rtlCol="0" anchor="ctr"/>
          <a:lstStyle/>
          <a:p>
            <a:pPr marL="0" indent="0" algn="ctr">
              <a:buNone/>
            </a:pPr>
            <a:r>
              <a:rPr lang="en-US" sz="900" kern="0" spc="200" dirty="0">
                <a:solidFill>
                  <a:srgbClr val="8899BB"/>
                </a:solidFill>
              </a:rPr>
              <a:t>UNIVERSITY OF ZAMBIA  •  DEPARTMENT OF COMPUTING &amp; INFORMATICS</a:t>
            </a:r>
            <a:endParaRPr lang="en-US" sz="900" dirty="0"/>
          </a:p>
        </p:txBody>
      </p:sp>
      <p:sp>
        <p:nvSpPr>
          <p:cNvPr id="7" name="Text 5"/>
          <p:cNvSpPr/>
          <p:nvPr/>
        </p:nvSpPr>
        <p:spPr>
          <a:xfrm>
            <a:off x="640080" y="868680"/>
            <a:ext cx="7863840" cy="228600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Automated Extraction &amp;</a:t>
            </a:r>
            <a:endParaRPr lang="en-US" sz="3400" dirty="0"/>
          </a:p>
          <a:p>
            <a:pPr marL="0" indent="0" algn="ctr">
              <a:buNone/>
            </a:pPr>
            <a:r>
              <a:rPr lang="en-US" sz="3400" b="1" dirty="0">
                <a:solidFill>
                  <a:srgbClr val="FFFFFF"/>
                </a:solidFill>
                <a:latin typeface="Calibri" pitchFamily="34" charset="0"/>
                <a:ea typeface="Calibri" pitchFamily="34" charset="-122"/>
                <a:cs typeface="Calibri" pitchFamily="34" charset="-120"/>
              </a:rPr>
              <a:t>Analysis of Timing-Based</a:t>
            </a:r>
            <a:endParaRPr lang="en-US" sz="3400" dirty="0"/>
          </a:p>
          <a:p>
            <a:pPr marL="0" indent="0" algn="ctr">
              <a:buNone/>
            </a:pPr>
            <a:r>
              <a:rPr lang="en-US" sz="3400" b="1" dirty="0">
                <a:solidFill>
                  <a:srgbClr val="FFFFFF"/>
                </a:solidFill>
                <a:latin typeface="Calibri" pitchFamily="34" charset="0"/>
                <a:ea typeface="Calibri" pitchFamily="34" charset="-122"/>
                <a:cs typeface="Calibri" pitchFamily="34" charset="-120"/>
              </a:rPr>
              <a:t>Paradata Features</a:t>
            </a:r>
            <a:endParaRPr lang="en-US" sz="3400" dirty="0"/>
          </a:p>
        </p:txBody>
      </p:sp>
      <p:sp>
        <p:nvSpPr>
          <p:cNvPr id="8" name="Text 6"/>
          <p:cNvSpPr/>
          <p:nvPr/>
        </p:nvSpPr>
        <p:spPr>
          <a:xfrm>
            <a:off x="640080" y="3017520"/>
            <a:ext cx="7863840" cy="457200"/>
          </a:xfrm>
          <a:prstGeom prst="rect">
            <a:avLst/>
          </a:prstGeom>
          <a:noFill/>
          <a:ln/>
        </p:spPr>
        <p:txBody>
          <a:bodyPr wrap="square" rtlCol="0" anchor="ctr"/>
          <a:lstStyle/>
          <a:p>
            <a:pPr marL="0" indent="0" algn="ctr">
              <a:buNone/>
            </a:pPr>
            <a:r>
              <a:rPr lang="en-US" sz="2000" dirty="0">
                <a:solidFill>
                  <a:srgbClr val="00B4D8"/>
                </a:solidFill>
                <a:latin typeface="Calibri" pitchFamily="34" charset="0"/>
                <a:ea typeface="Calibri" pitchFamily="34" charset="-122"/>
                <a:cs typeface="Calibri" pitchFamily="34" charset="-120"/>
              </a:rPr>
              <a:t>for Survey Quality Assurance</a:t>
            </a:r>
            <a:endParaRPr lang="en-US" sz="2000" dirty="0"/>
          </a:p>
        </p:txBody>
      </p:sp>
      <p:sp>
        <p:nvSpPr>
          <p:cNvPr id="9" name="Shape 7"/>
          <p:cNvSpPr/>
          <p:nvPr/>
        </p:nvSpPr>
        <p:spPr>
          <a:xfrm>
            <a:off x="3200400" y="3520440"/>
            <a:ext cx="2743200" cy="27432"/>
          </a:xfrm>
          <a:prstGeom prst="rect">
            <a:avLst/>
          </a:prstGeom>
          <a:solidFill>
            <a:srgbClr val="9D4EDD">
              <a:alpha val="60000"/>
            </a:srgbClr>
          </a:solidFill>
          <a:ln w="12700">
            <a:solidFill>
              <a:srgbClr val="9D4EDD">
                <a:alpha val="0"/>
              </a:srgbClr>
            </a:solidFill>
            <a:prstDash val="solid"/>
          </a:ln>
        </p:spPr>
      </p:sp>
      <p:sp>
        <p:nvSpPr>
          <p:cNvPr id="10" name="Text 8"/>
          <p:cNvSpPr/>
          <p:nvPr/>
        </p:nvSpPr>
        <p:spPr>
          <a:xfrm>
            <a:off x="640080" y="3703320"/>
            <a:ext cx="7863840" cy="274320"/>
          </a:xfrm>
          <a:prstGeom prst="rect">
            <a:avLst/>
          </a:prstGeom>
          <a:noFill/>
          <a:ln/>
        </p:spPr>
        <p:txBody>
          <a:bodyPr wrap="square" rtlCol="0" anchor="ctr"/>
          <a:lstStyle/>
          <a:p>
            <a:pPr marL="0" indent="0" algn="ctr">
              <a:buNone/>
            </a:pPr>
            <a:r>
              <a:rPr lang="en-US" sz="1100" b="1" dirty="0">
                <a:solidFill>
                  <a:srgbClr val="E0E6F0"/>
                </a:solidFill>
              </a:rPr>
              <a:t>Samuel Kaoma</a:t>
            </a:r>
            <a:r>
              <a:rPr lang="en-US" sz="1100" dirty="0">
                <a:solidFill>
                  <a:srgbClr val="8899BB"/>
                </a:solidFill>
              </a:rPr>
              <a:t>   |   2022016530   |   CSC 4004   |   Supervisor: Mr. Mofya Phiri</a:t>
            </a:r>
            <a:endParaRPr lang="en-US" sz="1100" dirty="0"/>
          </a:p>
        </p:txBody>
      </p:sp>
      <p:sp>
        <p:nvSpPr>
          <p:cNvPr id="11" name="Text 9"/>
          <p:cNvSpPr/>
          <p:nvPr/>
        </p:nvSpPr>
        <p:spPr>
          <a:xfrm>
            <a:off x="640080" y="4069080"/>
            <a:ext cx="7863840" cy="228600"/>
          </a:xfrm>
          <a:prstGeom prst="rect">
            <a:avLst/>
          </a:prstGeom>
          <a:noFill/>
          <a:ln/>
        </p:spPr>
        <p:txBody>
          <a:bodyPr wrap="square" rtlCol="0" anchor="ctr"/>
          <a:lstStyle/>
          <a:p>
            <a:pPr marL="0" indent="0" algn="ctr">
              <a:buNone/>
            </a:pPr>
            <a:r>
              <a:rPr lang="en-US" sz="1000" dirty="0">
                <a:solidFill>
                  <a:srgbClr val="8899BB"/>
                </a:solidFill>
              </a:rPr>
              <a:t>26th March 2026</a:t>
            </a:r>
            <a:endParaRPr lang="en-US" sz="1000" dirty="0"/>
          </a:p>
        </p:txBody>
      </p:sp>
      <p:sp>
        <p:nvSpPr>
          <p:cNvPr id="12" name="Shape 10"/>
          <p:cNvSpPr/>
          <p:nvPr/>
        </p:nvSpPr>
        <p:spPr>
          <a:xfrm>
            <a:off x="0" y="4956048"/>
            <a:ext cx="9144000" cy="182880"/>
          </a:xfrm>
          <a:prstGeom prst="rect">
            <a:avLst/>
          </a:prstGeom>
          <a:solidFill>
            <a:srgbClr val="7B2FBE">
              <a:alpha val="40000"/>
            </a:srgbClr>
          </a:solidFill>
          <a:ln w="12700">
            <a:solidFill>
              <a:srgbClr val="7B2FBE">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2 / 16</a:t>
            </a:r>
            <a:endParaRPr lang="en-US" sz="900" dirty="0"/>
          </a:p>
        </p:txBody>
      </p:sp>
      <p:sp>
        <p:nvSpPr>
          <p:cNvPr id="5" name="Text 3"/>
          <p:cNvSpPr/>
          <p:nvPr/>
        </p:nvSpPr>
        <p:spPr>
          <a:xfrm>
            <a:off x="457200" y="182880"/>
            <a:ext cx="2743200" cy="228600"/>
          </a:xfrm>
          <a:prstGeom prst="rect">
            <a:avLst/>
          </a:prstGeom>
          <a:noFill/>
          <a:ln/>
        </p:spPr>
        <p:txBody>
          <a:bodyPr wrap="square" rtlCol="0" anchor="ctr"/>
          <a:lstStyle/>
          <a:p>
            <a:pPr marL="0" indent="0">
              <a:buNone/>
            </a:pPr>
            <a:r>
              <a:rPr lang="en-US" sz="900" b="1" kern="0" spc="300" dirty="0">
                <a:solidFill>
                  <a:srgbClr val="00B4D8"/>
                </a:solidFill>
              </a:rPr>
              <a:t>THE CHALLENGE</a:t>
            </a:r>
            <a:endParaRPr lang="en-US" sz="900" dirty="0"/>
          </a:p>
        </p:txBody>
      </p:sp>
      <p:sp>
        <p:nvSpPr>
          <p:cNvPr id="6" name="Text 4"/>
          <p:cNvSpPr/>
          <p:nvPr/>
        </p:nvSpPr>
        <p:spPr>
          <a:xfrm>
            <a:off x="457200" y="457200"/>
            <a:ext cx="5486400" cy="10972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Survey Data Quality</a:t>
            </a:r>
            <a:endParaRPr lang="en-US" sz="3600" dirty="0"/>
          </a:p>
          <a:p>
            <a:pPr marL="0" indent="0">
              <a:buNone/>
            </a:pPr>
            <a:r>
              <a:rPr lang="en-US" sz="3600" b="1" dirty="0">
                <a:solidFill>
                  <a:srgbClr val="FFFFFF"/>
                </a:solidFill>
                <a:latin typeface="Calibri" pitchFamily="34" charset="0"/>
                <a:ea typeface="Calibri" pitchFamily="34" charset="-122"/>
                <a:cs typeface="Calibri" pitchFamily="34" charset="-120"/>
              </a:rPr>
              <a:t>Is Broken</a:t>
            </a:r>
            <a:endParaRPr lang="en-US" sz="3600" dirty="0"/>
          </a:p>
        </p:txBody>
      </p:sp>
      <p:sp>
        <p:nvSpPr>
          <p:cNvPr id="7" name="Shape 5"/>
          <p:cNvSpPr/>
          <p:nvPr/>
        </p:nvSpPr>
        <p:spPr>
          <a:xfrm>
            <a:off x="365760" y="1737360"/>
            <a:ext cx="2651760" cy="2286000"/>
          </a:xfrm>
          <a:prstGeom prst="rect">
            <a:avLst/>
          </a:prstGeom>
          <a:solidFill>
            <a:srgbClr val="1A2744">
              <a:alpha val="28000"/>
            </a:srgbClr>
          </a:solidFill>
          <a:ln w="12700">
            <a:solidFill>
              <a:srgbClr val="1E3A5F"/>
            </a:solidFill>
            <a:prstDash val="solid"/>
          </a:ln>
        </p:spPr>
      </p:sp>
      <p:sp>
        <p:nvSpPr>
          <p:cNvPr id="8" name="Shape 6"/>
          <p:cNvSpPr/>
          <p:nvPr/>
        </p:nvSpPr>
        <p:spPr>
          <a:xfrm>
            <a:off x="365760" y="1737360"/>
            <a:ext cx="2651760" cy="54864"/>
          </a:xfrm>
          <a:prstGeom prst="rect">
            <a:avLst/>
          </a:prstGeom>
          <a:solidFill>
            <a:srgbClr val="FF4D6D"/>
          </a:solidFill>
          <a:ln w="12700">
            <a:solidFill>
              <a:srgbClr val="FF4D6D">
                <a:alpha val="0"/>
              </a:srgbClr>
            </a:solidFill>
            <a:prstDash val="solid"/>
          </a:ln>
        </p:spPr>
      </p:sp>
      <p:sp>
        <p:nvSpPr>
          <p:cNvPr id="9" name="Text 7"/>
          <p:cNvSpPr/>
          <p:nvPr/>
        </p:nvSpPr>
        <p:spPr>
          <a:xfrm>
            <a:off x="475488" y="1874520"/>
            <a:ext cx="24231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Fabricated Data</a:t>
            </a:r>
            <a:endParaRPr lang="en-US" sz="1400" dirty="0"/>
          </a:p>
        </p:txBody>
      </p:sp>
      <p:sp>
        <p:nvSpPr>
          <p:cNvPr id="10" name="Text 8"/>
          <p:cNvSpPr/>
          <p:nvPr/>
        </p:nvSpPr>
        <p:spPr>
          <a:xfrm>
            <a:off x="475488" y="2331720"/>
            <a:ext cx="2423160" cy="1371600"/>
          </a:xfrm>
          <a:prstGeom prst="rect">
            <a:avLst/>
          </a:prstGeom>
          <a:noFill/>
          <a:ln/>
        </p:spPr>
        <p:txBody>
          <a:bodyPr wrap="square" rtlCol="0" anchor="ctr"/>
          <a:lstStyle/>
          <a:p>
            <a:pPr marL="0" indent="0">
              <a:buNone/>
            </a:pPr>
            <a:r>
              <a:rPr lang="en-US" sz="1200" dirty="0">
                <a:solidFill>
                  <a:srgbClr val="E0E6F0"/>
                </a:solidFill>
              </a:rPr>
              <a:t>Enumerators invent responses without conducting real interviews</a:t>
            </a:r>
            <a:endParaRPr lang="en-US" sz="1200" dirty="0"/>
          </a:p>
        </p:txBody>
      </p:sp>
      <p:sp>
        <p:nvSpPr>
          <p:cNvPr id="11" name="Shape 9"/>
          <p:cNvSpPr/>
          <p:nvPr/>
        </p:nvSpPr>
        <p:spPr>
          <a:xfrm>
            <a:off x="3200400" y="1737360"/>
            <a:ext cx="2651760" cy="2286000"/>
          </a:xfrm>
          <a:prstGeom prst="rect">
            <a:avLst/>
          </a:prstGeom>
          <a:solidFill>
            <a:srgbClr val="1A2744">
              <a:alpha val="28000"/>
            </a:srgbClr>
          </a:solidFill>
          <a:ln w="12700">
            <a:solidFill>
              <a:srgbClr val="1E3A5F"/>
            </a:solidFill>
            <a:prstDash val="solid"/>
          </a:ln>
        </p:spPr>
      </p:sp>
      <p:sp>
        <p:nvSpPr>
          <p:cNvPr id="12" name="Shape 10"/>
          <p:cNvSpPr/>
          <p:nvPr/>
        </p:nvSpPr>
        <p:spPr>
          <a:xfrm>
            <a:off x="3200400" y="1737360"/>
            <a:ext cx="2651760" cy="54864"/>
          </a:xfrm>
          <a:prstGeom prst="rect">
            <a:avLst/>
          </a:prstGeom>
          <a:solidFill>
            <a:srgbClr val="FFD166"/>
          </a:solidFill>
          <a:ln w="12700">
            <a:solidFill>
              <a:srgbClr val="FFD166">
                <a:alpha val="0"/>
              </a:srgbClr>
            </a:solidFill>
            <a:prstDash val="solid"/>
          </a:ln>
        </p:spPr>
      </p:sp>
      <p:sp>
        <p:nvSpPr>
          <p:cNvPr id="13" name="Text 11"/>
          <p:cNvSpPr/>
          <p:nvPr/>
        </p:nvSpPr>
        <p:spPr>
          <a:xfrm>
            <a:off x="3310128" y="1874520"/>
            <a:ext cx="24231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Missed Anomalies</a:t>
            </a:r>
            <a:endParaRPr lang="en-US" sz="1400" dirty="0"/>
          </a:p>
        </p:txBody>
      </p:sp>
      <p:sp>
        <p:nvSpPr>
          <p:cNvPr id="14" name="Text 12"/>
          <p:cNvSpPr/>
          <p:nvPr/>
        </p:nvSpPr>
        <p:spPr>
          <a:xfrm>
            <a:off x="3310128" y="2331720"/>
            <a:ext cx="2423160" cy="1371600"/>
          </a:xfrm>
          <a:prstGeom prst="rect">
            <a:avLst/>
          </a:prstGeom>
          <a:noFill/>
          <a:ln/>
        </p:spPr>
        <p:txBody>
          <a:bodyPr wrap="square" rtlCol="0" anchor="ctr"/>
          <a:lstStyle/>
          <a:p>
            <a:pPr marL="0" indent="0">
              <a:buNone/>
            </a:pPr>
            <a:r>
              <a:rPr lang="en-US" sz="1200" dirty="0">
                <a:solidFill>
                  <a:srgbClr val="E0E6F0"/>
                </a:solidFill>
              </a:rPr>
              <a:t>Simple duration checks miss 80%+ of behavioral irregularities</a:t>
            </a:r>
            <a:endParaRPr lang="en-US" sz="1200" dirty="0"/>
          </a:p>
        </p:txBody>
      </p:sp>
      <p:sp>
        <p:nvSpPr>
          <p:cNvPr id="15" name="Shape 13"/>
          <p:cNvSpPr/>
          <p:nvPr/>
        </p:nvSpPr>
        <p:spPr>
          <a:xfrm>
            <a:off x="6035040" y="1737360"/>
            <a:ext cx="2651760" cy="2286000"/>
          </a:xfrm>
          <a:prstGeom prst="rect">
            <a:avLst/>
          </a:prstGeom>
          <a:solidFill>
            <a:srgbClr val="1A2744">
              <a:alpha val="28000"/>
            </a:srgbClr>
          </a:solidFill>
          <a:ln w="12700">
            <a:solidFill>
              <a:srgbClr val="1E3A5F"/>
            </a:solidFill>
            <a:prstDash val="solid"/>
          </a:ln>
        </p:spPr>
      </p:sp>
      <p:sp>
        <p:nvSpPr>
          <p:cNvPr id="16" name="Shape 14"/>
          <p:cNvSpPr/>
          <p:nvPr/>
        </p:nvSpPr>
        <p:spPr>
          <a:xfrm>
            <a:off x="6035040" y="1737360"/>
            <a:ext cx="2651760" cy="54864"/>
          </a:xfrm>
          <a:prstGeom prst="rect">
            <a:avLst/>
          </a:prstGeom>
          <a:solidFill>
            <a:srgbClr val="7B2FBE"/>
          </a:solidFill>
          <a:ln w="12700">
            <a:solidFill>
              <a:srgbClr val="7B2FBE">
                <a:alpha val="0"/>
              </a:srgbClr>
            </a:solidFill>
            <a:prstDash val="solid"/>
          </a:ln>
        </p:spPr>
      </p:sp>
      <p:sp>
        <p:nvSpPr>
          <p:cNvPr id="17" name="Text 15"/>
          <p:cNvSpPr/>
          <p:nvPr/>
        </p:nvSpPr>
        <p:spPr>
          <a:xfrm>
            <a:off x="6144768" y="1874520"/>
            <a:ext cx="24231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Raw Log Chaos</a:t>
            </a:r>
            <a:endParaRPr lang="en-US" sz="1400" dirty="0"/>
          </a:p>
        </p:txBody>
      </p:sp>
      <p:sp>
        <p:nvSpPr>
          <p:cNvPr id="18" name="Text 16"/>
          <p:cNvSpPr/>
          <p:nvPr/>
        </p:nvSpPr>
        <p:spPr>
          <a:xfrm>
            <a:off x="6144768" y="2331720"/>
            <a:ext cx="2423160" cy="1371600"/>
          </a:xfrm>
          <a:prstGeom prst="rect">
            <a:avLst/>
          </a:prstGeom>
          <a:noFill/>
          <a:ln/>
        </p:spPr>
        <p:txBody>
          <a:bodyPr wrap="square" rtlCol="0" anchor="ctr"/>
          <a:lstStyle/>
          <a:p>
            <a:pPr marL="0" indent="0">
              <a:buNone/>
            </a:pPr>
            <a:r>
              <a:rPr lang="en-US" sz="1200" dirty="0">
                <a:solidFill>
                  <a:srgbClr val="E0E6F0"/>
                </a:solidFill>
              </a:rPr>
              <a:t>SurveyCTO &amp; ODK use different formats — no standard tool exists</a:t>
            </a:r>
            <a:endParaRPr lang="en-US" sz="1200" dirty="0"/>
          </a:p>
        </p:txBody>
      </p:sp>
      <p:sp>
        <p:nvSpPr>
          <p:cNvPr id="19" name="Shape 17"/>
          <p:cNvSpPr/>
          <p:nvPr/>
        </p:nvSpPr>
        <p:spPr>
          <a:xfrm>
            <a:off x="365760" y="4206240"/>
            <a:ext cx="8412480" cy="685800"/>
          </a:xfrm>
          <a:prstGeom prst="rect">
            <a:avLst/>
          </a:prstGeom>
          <a:solidFill>
            <a:srgbClr val="1A2744">
              <a:alpha val="20000"/>
            </a:srgbClr>
          </a:solidFill>
          <a:ln w="12700">
            <a:solidFill>
              <a:srgbClr val="1E3A5F"/>
            </a:solidFill>
            <a:prstDash val="solid"/>
          </a:ln>
        </p:spPr>
      </p:sp>
      <p:sp>
        <p:nvSpPr>
          <p:cNvPr id="20" name="Text 18"/>
          <p:cNvSpPr/>
          <p:nvPr/>
        </p:nvSpPr>
        <p:spPr>
          <a:xfrm>
            <a:off x="548640" y="4279392"/>
            <a:ext cx="8046720" cy="502920"/>
          </a:xfrm>
          <a:prstGeom prst="rect">
            <a:avLst/>
          </a:prstGeom>
          <a:noFill/>
          <a:ln/>
        </p:spPr>
        <p:txBody>
          <a:bodyPr wrap="square" rtlCol="0" anchor="ctr"/>
          <a:lstStyle/>
          <a:p>
            <a:pPr marL="0" indent="0" algn="ctr">
              <a:buNone/>
            </a:pPr>
            <a:r>
              <a:rPr lang="en-US" sz="1300" dirty="0">
                <a:solidFill>
                  <a:srgbClr val="8899BB"/>
                </a:solidFill>
              </a:rPr>
              <a:t>🔍  Current QA methods detect only </a:t>
            </a:r>
            <a:r>
              <a:rPr lang="en-US" sz="1300" b="1" dirty="0">
                <a:solidFill>
                  <a:srgbClr val="FFD166"/>
                </a:solidFill>
              </a:rPr>
              <a:t>simple duration outliers</a:t>
            </a:r>
            <a:r>
              <a:rPr lang="en-US" sz="1300" dirty="0">
                <a:solidFill>
                  <a:srgbClr val="8899BB"/>
                </a:solidFill>
              </a:rPr>
              <a:t> — leaving </a:t>
            </a:r>
            <a:r>
              <a:rPr lang="en-US" sz="1300" b="1" dirty="0">
                <a:solidFill>
                  <a:srgbClr val="FF4D6D"/>
                </a:solidFill>
              </a:rPr>
              <a:t>complex behavioral fraud undetected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3 / 16</a:t>
            </a:r>
            <a:endParaRPr lang="en-US" sz="900" dirty="0"/>
          </a:p>
        </p:txBody>
      </p:sp>
      <p:sp>
        <p:nvSpPr>
          <p:cNvPr id="5" name="Text 3"/>
          <p:cNvSpPr/>
          <p:nvPr/>
        </p:nvSpPr>
        <p:spPr>
          <a:xfrm>
            <a:off x="457200" y="182880"/>
            <a:ext cx="2743200" cy="228600"/>
          </a:xfrm>
          <a:prstGeom prst="rect">
            <a:avLst/>
          </a:prstGeom>
          <a:noFill/>
          <a:ln/>
        </p:spPr>
        <p:txBody>
          <a:bodyPr wrap="square" rtlCol="0" anchor="ctr"/>
          <a:lstStyle/>
          <a:p>
            <a:pPr marL="0" indent="0">
              <a:buNone/>
            </a:pPr>
            <a:r>
              <a:rPr lang="en-US" sz="900" b="1" kern="0" spc="300" dirty="0">
                <a:solidFill>
                  <a:srgbClr val="00B4D8"/>
                </a:solidFill>
              </a:rPr>
              <a:t>BACKGROUND</a:t>
            </a:r>
            <a:endParaRPr lang="en-US" sz="900" dirty="0"/>
          </a:p>
        </p:txBody>
      </p:sp>
      <p:sp>
        <p:nvSpPr>
          <p:cNvPr id="6" name="Text 4"/>
          <p:cNvSpPr/>
          <p:nvPr/>
        </p:nvSpPr>
        <p:spPr>
          <a:xfrm>
            <a:off x="457200" y="457200"/>
            <a:ext cx="6400800" cy="731520"/>
          </a:xfrm>
          <a:prstGeom prst="rect">
            <a:avLst/>
          </a:prstGeom>
          <a:noFill/>
          <a:ln/>
        </p:spPr>
        <p:txBody>
          <a:bodyPr wrap="square" rtlCol="0" anchor="ctr"/>
          <a:lstStyle/>
          <a:p>
            <a:pPr marL="0" indent="0">
              <a:buNone/>
            </a:pPr>
            <a:r>
              <a:rPr lang="en-US" sz="3000" b="1" dirty="0">
                <a:solidFill>
                  <a:srgbClr val="FFFFFF"/>
                </a:solidFill>
              </a:rPr>
              <a:t>What Is Paradata?</a:t>
            </a:r>
            <a:endParaRPr lang="en-US" sz="3000" dirty="0"/>
          </a:p>
        </p:txBody>
      </p:sp>
      <p:sp>
        <p:nvSpPr>
          <p:cNvPr id="7" name="Shape 5"/>
          <p:cNvSpPr/>
          <p:nvPr/>
        </p:nvSpPr>
        <p:spPr>
          <a:xfrm>
            <a:off x="365760" y="1371600"/>
            <a:ext cx="4023360" cy="3383280"/>
          </a:xfrm>
          <a:prstGeom prst="rect">
            <a:avLst/>
          </a:prstGeom>
          <a:solidFill>
            <a:srgbClr val="1A2744">
              <a:alpha val="25000"/>
            </a:srgbClr>
          </a:solidFill>
          <a:ln w="12700">
            <a:solidFill>
              <a:srgbClr val="1E3A5F"/>
            </a:solidFill>
            <a:prstDash val="solid"/>
          </a:ln>
        </p:spPr>
      </p:sp>
      <p:sp>
        <p:nvSpPr>
          <p:cNvPr id="8" name="Shape 6"/>
          <p:cNvSpPr/>
          <p:nvPr/>
        </p:nvSpPr>
        <p:spPr>
          <a:xfrm>
            <a:off x="365760" y="1371600"/>
            <a:ext cx="54864" cy="3383280"/>
          </a:xfrm>
          <a:prstGeom prst="rect">
            <a:avLst/>
          </a:prstGeom>
          <a:solidFill>
            <a:srgbClr val="00B4D8"/>
          </a:solidFill>
          <a:ln w="12700">
            <a:solidFill>
              <a:srgbClr val="00B4D8">
                <a:alpha val="0"/>
              </a:srgbClr>
            </a:solidFill>
            <a:prstDash val="solid"/>
          </a:ln>
        </p:spPr>
      </p:sp>
      <p:sp>
        <p:nvSpPr>
          <p:cNvPr id="9" name="Text 7"/>
          <p:cNvSpPr/>
          <p:nvPr/>
        </p:nvSpPr>
        <p:spPr>
          <a:xfrm>
            <a:off x="548640" y="1463040"/>
            <a:ext cx="3749040" cy="411480"/>
          </a:xfrm>
          <a:prstGeom prst="rect">
            <a:avLst/>
          </a:prstGeom>
          <a:noFill/>
          <a:ln/>
        </p:spPr>
        <p:txBody>
          <a:bodyPr wrap="square" rtlCol="0" anchor="ctr"/>
          <a:lstStyle/>
          <a:p>
            <a:pPr marL="0" indent="0">
              <a:buNone/>
            </a:pPr>
            <a:r>
              <a:rPr lang="en-US" sz="1600" b="1" dirty="0">
                <a:solidFill>
                  <a:srgbClr val="00B4D8"/>
                </a:solidFill>
              </a:rPr>
              <a:t>Paradata = Process Data</a:t>
            </a:r>
            <a:endParaRPr lang="en-US" sz="1600" dirty="0"/>
          </a:p>
        </p:txBody>
      </p:sp>
      <p:sp>
        <p:nvSpPr>
          <p:cNvPr id="10" name="Text 8"/>
          <p:cNvSpPr/>
          <p:nvPr/>
        </p:nvSpPr>
        <p:spPr>
          <a:xfrm>
            <a:off x="548640" y="1965960"/>
            <a:ext cx="3749040" cy="914400"/>
          </a:xfrm>
          <a:prstGeom prst="rect">
            <a:avLst/>
          </a:prstGeom>
          <a:noFill/>
          <a:ln/>
        </p:spPr>
        <p:txBody>
          <a:bodyPr wrap="square" rtlCol="0" anchor="ctr"/>
          <a:lstStyle/>
          <a:p>
            <a:pPr marL="0" indent="0">
              <a:buNone/>
            </a:pPr>
            <a:r>
              <a:rPr lang="en-US" sz="1200" dirty="0">
                <a:solidFill>
                  <a:srgbClr val="E0E6F0"/>
                </a:solidFill>
              </a:rPr>
              <a:t>Captured automatically by digital survey platforms during data collection — not the survey answers, but HOW those answers were given.</a:t>
            </a:r>
            <a:endParaRPr lang="en-US" sz="1200" dirty="0"/>
          </a:p>
        </p:txBody>
      </p:sp>
      <p:sp>
        <p:nvSpPr>
          <p:cNvPr id="11" name="Text 9"/>
          <p:cNvSpPr/>
          <p:nvPr/>
        </p:nvSpPr>
        <p:spPr>
          <a:xfrm>
            <a:off x="548640" y="2971800"/>
            <a:ext cx="3749040" cy="292608"/>
          </a:xfrm>
          <a:prstGeom prst="rect">
            <a:avLst/>
          </a:prstGeom>
          <a:noFill/>
          <a:ln/>
        </p:spPr>
        <p:txBody>
          <a:bodyPr wrap="square" rtlCol="0" anchor="ctr"/>
          <a:lstStyle/>
          <a:p>
            <a:pPr marL="0" indent="0">
              <a:buNone/>
            </a:pPr>
            <a:r>
              <a:rPr lang="en-US" sz="1100" b="1" dirty="0">
                <a:solidFill>
                  <a:srgbClr val="00B4D8"/>
                </a:solidFill>
              </a:rPr>
              <a:t>▸  </a:t>
            </a:r>
            <a:r>
              <a:rPr lang="en-US" sz="1100" dirty="0">
                <a:solidFill>
                  <a:srgbClr val="E0E6F0"/>
                </a:solidFill>
              </a:rPr>
              <a:t>Event-level timestamps (ms precision)</a:t>
            </a:r>
            <a:endParaRPr lang="en-US" sz="1100" dirty="0"/>
          </a:p>
        </p:txBody>
      </p:sp>
      <p:sp>
        <p:nvSpPr>
          <p:cNvPr id="12" name="Text 10"/>
          <p:cNvSpPr/>
          <p:nvPr/>
        </p:nvSpPr>
        <p:spPr>
          <a:xfrm>
            <a:off x="548640" y="3291840"/>
            <a:ext cx="3749040" cy="292608"/>
          </a:xfrm>
          <a:prstGeom prst="rect">
            <a:avLst/>
          </a:prstGeom>
          <a:noFill/>
          <a:ln/>
        </p:spPr>
        <p:txBody>
          <a:bodyPr wrap="square" rtlCol="0" anchor="ctr"/>
          <a:lstStyle/>
          <a:p>
            <a:pPr marL="0" indent="0">
              <a:buNone/>
            </a:pPr>
            <a:r>
              <a:rPr lang="en-US" sz="1100" b="1" dirty="0">
                <a:solidFill>
                  <a:srgbClr val="00B4D8"/>
                </a:solidFill>
              </a:rPr>
              <a:t>▸  </a:t>
            </a:r>
            <a:r>
              <a:rPr lang="en-US" sz="1100" dirty="0">
                <a:solidFill>
                  <a:srgbClr val="E0E6F0"/>
                </a:solidFill>
              </a:rPr>
              <a:t>Navigation sequences &amp; back-edits</a:t>
            </a:r>
            <a:endParaRPr lang="en-US" sz="1100" dirty="0"/>
          </a:p>
        </p:txBody>
      </p:sp>
      <p:sp>
        <p:nvSpPr>
          <p:cNvPr id="13" name="Text 11"/>
          <p:cNvSpPr/>
          <p:nvPr/>
        </p:nvSpPr>
        <p:spPr>
          <a:xfrm>
            <a:off x="548640" y="3611880"/>
            <a:ext cx="3749040" cy="292608"/>
          </a:xfrm>
          <a:prstGeom prst="rect">
            <a:avLst/>
          </a:prstGeom>
          <a:noFill/>
          <a:ln/>
        </p:spPr>
        <p:txBody>
          <a:bodyPr wrap="square" rtlCol="0" anchor="ctr"/>
          <a:lstStyle/>
          <a:p>
            <a:pPr marL="0" indent="0">
              <a:buNone/>
            </a:pPr>
            <a:r>
              <a:rPr lang="en-US" sz="1100" b="1" dirty="0">
                <a:solidFill>
                  <a:srgbClr val="00B4D8"/>
                </a:solidFill>
              </a:rPr>
              <a:t>▸  </a:t>
            </a:r>
            <a:r>
              <a:rPr lang="en-US" sz="1100" dirty="0">
                <a:solidFill>
                  <a:srgbClr val="E0E6F0"/>
                </a:solidFill>
              </a:rPr>
              <a:t>Inter-keystroke intervals</a:t>
            </a:r>
            <a:endParaRPr lang="en-US" sz="1100" dirty="0"/>
          </a:p>
        </p:txBody>
      </p:sp>
      <p:sp>
        <p:nvSpPr>
          <p:cNvPr id="14" name="Text 12"/>
          <p:cNvSpPr/>
          <p:nvPr/>
        </p:nvSpPr>
        <p:spPr>
          <a:xfrm>
            <a:off x="548640" y="3931920"/>
            <a:ext cx="3749040" cy="292608"/>
          </a:xfrm>
          <a:prstGeom prst="rect">
            <a:avLst/>
          </a:prstGeom>
          <a:noFill/>
          <a:ln/>
        </p:spPr>
        <p:txBody>
          <a:bodyPr wrap="square" rtlCol="0" anchor="ctr"/>
          <a:lstStyle/>
          <a:p>
            <a:pPr marL="0" indent="0">
              <a:buNone/>
            </a:pPr>
            <a:r>
              <a:rPr lang="en-US" sz="1100" b="1" dirty="0">
                <a:solidFill>
                  <a:srgbClr val="00B4D8"/>
                </a:solidFill>
              </a:rPr>
              <a:t>▸  </a:t>
            </a:r>
            <a:r>
              <a:rPr lang="en-US" sz="1100" dirty="0">
                <a:solidFill>
                  <a:srgbClr val="E0E6F0"/>
                </a:solidFill>
              </a:rPr>
              <a:t>Pause durations &amp; idle time</a:t>
            </a:r>
            <a:endParaRPr lang="en-US" sz="1100" dirty="0"/>
          </a:p>
        </p:txBody>
      </p:sp>
      <p:sp>
        <p:nvSpPr>
          <p:cNvPr id="15" name="Text 13"/>
          <p:cNvSpPr/>
          <p:nvPr/>
        </p:nvSpPr>
        <p:spPr>
          <a:xfrm>
            <a:off x="548640" y="4251960"/>
            <a:ext cx="3749040" cy="292608"/>
          </a:xfrm>
          <a:prstGeom prst="rect">
            <a:avLst/>
          </a:prstGeom>
          <a:noFill/>
          <a:ln/>
        </p:spPr>
        <p:txBody>
          <a:bodyPr wrap="square" rtlCol="0" anchor="ctr"/>
          <a:lstStyle/>
          <a:p>
            <a:pPr marL="0" indent="0">
              <a:buNone/>
            </a:pPr>
            <a:r>
              <a:rPr lang="en-US" sz="1100" b="1" dirty="0">
                <a:solidFill>
                  <a:srgbClr val="00B4D8"/>
                </a:solidFill>
              </a:rPr>
              <a:t>▸  </a:t>
            </a:r>
            <a:r>
              <a:rPr lang="en-US" sz="1100" dirty="0">
                <a:solidFill>
                  <a:srgbClr val="E0E6F0"/>
                </a:solidFill>
              </a:rPr>
              <a:t>Constraint error triggers</a:t>
            </a:r>
            <a:endParaRPr lang="en-US" sz="1100" dirty="0"/>
          </a:p>
        </p:txBody>
      </p:sp>
      <p:sp>
        <p:nvSpPr>
          <p:cNvPr id="16" name="Shape 14"/>
          <p:cNvSpPr/>
          <p:nvPr/>
        </p:nvSpPr>
        <p:spPr>
          <a:xfrm>
            <a:off x="4754880" y="1371600"/>
            <a:ext cx="4023360" cy="1554480"/>
          </a:xfrm>
          <a:prstGeom prst="rect">
            <a:avLst/>
          </a:prstGeom>
          <a:solidFill>
            <a:srgbClr val="1A2744">
              <a:alpha val="25000"/>
            </a:srgbClr>
          </a:solidFill>
          <a:ln w="12700">
            <a:solidFill>
              <a:srgbClr val="1E3A5F"/>
            </a:solidFill>
            <a:prstDash val="solid"/>
          </a:ln>
        </p:spPr>
      </p:sp>
      <p:sp>
        <p:nvSpPr>
          <p:cNvPr id="17" name="Text 15"/>
          <p:cNvSpPr/>
          <p:nvPr/>
        </p:nvSpPr>
        <p:spPr>
          <a:xfrm>
            <a:off x="4892040" y="1463040"/>
            <a:ext cx="3749040" cy="320040"/>
          </a:xfrm>
          <a:prstGeom prst="rect">
            <a:avLst/>
          </a:prstGeom>
          <a:noFill/>
          <a:ln/>
        </p:spPr>
        <p:txBody>
          <a:bodyPr wrap="square" rtlCol="0" anchor="ctr"/>
          <a:lstStyle/>
          <a:p>
            <a:pPr marL="0" indent="0">
              <a:buNone/>
            </a:pPr>
            <a:r>
              <a:rPr lang="en-US" sz="1300" b="1" dirty="0">
                <a:solidFill>
                  <a:srgbClr val="9D4EDD"/>
                </a:solidFill>
              </a:rPr>
              <a:t>SurveyCTO Format</a:t>
            </a:r>
            <a:endParaRPr lang="en-US" sz="1300" dirty="0"/>
          </a:p>
        </p:txBody>
      </p:sp>
      <p:sp>
        <p:nvSpPr>
          <p:cNvPr id="18" name="Text 16"/>
          <p:cNvSpPr/>
          <p:nvPr/>
        </p:nvSpPr>
        <p:spPr>
          <a:xfrm>
            <a:off x="4892040" y="1828800"/>
            <a:ext cx="3749040" cy="822960"/>
          </a:xfrm>
          <a:prstGeom prst="rect">
            <a:avLst/>
          </a:prstGeom>
          <a:noFill/>
          <a:ln/>
        </p:spPr>
        <p:txBody>
          <a:bodyPr wrap="square" rtlCol="0" anchor="ctr"/>
          <a:lstStyle/>
          <a:p>
            <a:pPr marL="0" indent="0">
              <a:buNone/>
            </a:pPr>
            <a:r>
              <a:rPr lang="en-US" sz="1100" dirty="0">
                <a:solidFill>
                  <a:srgbClr val="E0E6F0"/>
                </a:solidFill>
              </a:rPr>
              <a:t>Event-based CSV · ms timestamps</a:t>
            </a:r>
            <a:endParaRPr lang="en-US" sz="1100" dirty="0"/>
          </a:p>
          <a:p>
            <a:pPr marL="0" indent="0">
              <a:buNone/>
            </a:pPr>
            <a:r>
              <a:rPr lang="en-US" sz="1100" dirty="0">
                <a:solidFill>
                  <a:srgbClr val="E0E6F0"/>
                </a:solidFill>
              </a:rPr>
              <a:t>Field-level event types (form-start, constraint, end)</a:t>
            </a:r>
            <a:endParaRPr lang="en-US" sz="1100" dirty="0"/>
          </a:p>
        </p:txBody>
      </p:sp>
      <p:sp>
        <p:nvSpPr>
          <p:cNvPr id="19" name="Shape 17"/>
          <p:cNvSpPr/>
          <p:nvPr/>
        </p:nvSpPr>
        <p:spPr>
          <a:xfrm>
            <a:off x="4754880" y="3108960"/>
            <a:ext cx="4023360" cy="1554480"/>
          </a:xfrm>
          <a:prstGeom prst="rect">
            <a:avLst/>
          </a:prstGeom>
          <a:solidFill>
            <a:srgbClr val="1A2744">
              <a:alpha val="25000"/>
            </a:srgbClr>
          </a:solidFill>
          <a:ln w="12700">
            <a:solidFill>
              <a:srgbClr val="1E3A5F"/>
            </a:solidFill>
            <a:prstDash val="solid"/>
          </a:ln>
        </p:spPr>
      </p:sp>
      <p:sp>
        <p:nvSpPr>
          <p:cNvPr id="20" name="Text 18"/>
          <p:cNvSpPr/>
          <p:nvPr/>
        </p:nvSpPr>
        <p:spPr>
          <a:xfrm>
            <a:off x="4892040" y="3200400"/>
            <a:ext cx="3749040" cy="320040"/>
          </a:xfrm>
          <a:prstGeom prst="rect">
            <a:avLst/>
          </a:prstGeom>
          <a:noFill/>
          <a:ln/>
        </p:spPr>
        <p:txBody>
          <a:bodyPr wrap="square" rtlCol="0" anchor="ctr"/>
          <a:lstStyle/>
          <a:p>
            <a:pPr marL="0" indent="0">
              <a:buNone/>
            </a:pPr>
            <a:r>
              <a:rPr lang="en-US" sz="1300" b="1" dirty="0">
                <a:solidFill>
                  <a:srgbClr val="C77DFF"/>
                </a:solidFill>
              </a:rPr>
              <a:t>ODK Format</a:t>
            </a:r>
            <a:endParaRPr lang="en-US" sz="1300" dirty="0"/>
          </a:p>
        </p:txBody>
      </p:sp>
      <p:sp>
        <p:nvSpPr>
          <p:cNvPr id="21" name="Text 19"/>
          <p:cNvSpPr/>
          <p:nvPr/>
        </p:nvSpPr>
        <p:spPr>
          <a:xfrm>
            <a:off x="4892040" y="3566160"/>
            <a:ext cx="3749040" cy="822960"/>
          </a:xfrm>
          <a:prstGeom prst="rect">
            <a:avLst/>
          </a:prstGeom>
          <a:noFill/>
          <a:ln/>
        </p:spPr>
        <p:txBody>
          <a:bodyPr wrap="square" rtlCol="0" anchor="ctr"/>
          <a:lstStyle/>
          <a:p>
            <a:pPr marL="0" indent="0">
              <a:buNone/>
            </a:pPr>
            <a:r>
              <a:rPr lang="en-US" sz="1100" dirty="0">
                <a:solidFill>
                  <a:srgbClr val="E0E6F0"/>
                </a:solidFill>
              </a:rPr>
              <a:t>Different event taxonomy · ISO 8601 timestamps</a:t>
            </a:r>
            <a:endParaRPr lang="en-US" sz="1100" dirty="0"/>
          </a:p>
          <a:p>
            <a:pPr marL="0" indent="0">
              <a:buNone/>
            </a:pPr>
            <a:r>
              <a:rPr lang="en-US" sz="1100" dirty="0">
                <a:solidFill>
                  <a:srgbClr val="E0E6F0"/>
                </a:solidFill>
              </a:rPr>
              <a:t>Coarser granularity · Distinct field naming</a:t>
            </a:r>
            <a:endParaRPr lang="en-US" sz="1100" dirty="0"/>
          </a:p>
        </p:txBody>
      </p:sp>
      <p:sp>
        <p:nvSpPr>
          <p:cNvPr id="22" name="Text 20"/>
          <p:cNvSpPr/>
          <p:nvPr/>
        </p:nvSpPr>
        <p:spPr>
          <a:xfrm>
            <a:off x="457200" y="4754880"/>
            <a:ext cx="8229600" cy="274320"/>
          </a:xfrm>
          <a:prstGeom prst="rect">
            <a:avLst/>
          </a:prstGeom>
          <a:noFill/>
          <a:ln/>
        </p:spPr>
        <p:txBody>
          <a:bodyPr wrap="square" rtlCol="0" anchor="ctr"/>
          <a:lstStyle/>
          <a:p>
            <a:pPr marL="0" indent="0" algn="ctr">
              <a:buNone/>
            </a:pPr>
            <a:r>
              <a:rPr lang="en-US" sz="1100" i="1" dirty="0">
                <a:solidFill>
                  <a:srgbClr val="8899BB"/>
                </a:solidFill>
              </a:rPr>
              <a:t>"Rich behavioral intelligence hidden in plain sight — unused."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4 / 16</a:t>
            </a:r>
            <a:endParaRPr lang="en-US" sz="900" dirty="0"/>
          </a:p>
        </p:txBody>
      </p:sp>
      <p:sp>
        <p:nvSpPr>
          <p:cNvPr id="5" name="Text 3"/>
          <p:cNvSpPr/>
          <p:nvPr/>
        </p:nvSpPr>
        <p:spPr>
          <a:xfrm>
            <a:off x="457200" y="182880"/>
            <a:ext cx="3657600" cy="228600"/>
          </a:xfrm>
          <a:prstGeom prst="rect">
            <a:avLst/>
          </a:prstGeom>
          <a:noFill/>
          <a:ln/>
        </p:spPr>
        <p:txBody>
          <a:bodyPr wrap="square" rtlCol="0" anchor="ctr"/>
          <a:lstStyle/>
          <a:p>
            <a:pPr marL="0" indent="0">
              <a:buNone/>
            </a:pPr>
            <a:r>
              <a:rPr lang="en-US" sz="900" b="1" kern="0" spc="300" dirty="0">
                <a:solidFill>
                  <a:srgbClr val="FF4D6D"/>
                </a:solidFill>
              </a:rPr>
              <a:t>EXISTING METHODS</a:t>
            </a:r>
            <a:endParaRPr lang="en-US" sz="900" dirty="0"/>
          </a:p>
        </p:txBody>
      </p:sp>
      <p:sp>
        <p:nvSpPr>
          <p:cNvPr id="6" name="Text 4"/>
          <p:cNvSpPr/>
          <p:nvPr/>
        </p:nvSpPr>
        <p:spPr>
          <a:xfrm>
            <a:off x="457200" y="457200"/>
            <a:ext cx="8229600" cy="731520"/>
          </a:xfrm>
          <a:prstGeom prst="rect">
            <a:avLst/>
          </a:prstGeom>
          <a:noFill/>
          <a:ln/>
        </p:spPr>
        <p:txBody>
          <a:bodyPr wrap="square" rtlCol="0" anchor="ctr"/>
          <a:lstStyle/>
          <a:p>
            <a:pPr marL="0" indent="0">
              <a:buNone/>
            </a:pPr>
            <a:r>
              <a:rPr lang="en-US" sz="3000" b="1" dirty="0">
                <a:solidFill>
                  <a:srgbClr val="FFFFFF"/>
                </a:solidFill>
              </a:rPr>
              <a:t>Why Current QA Falls Short</a:t>
            </a:r>
            <a:endParaRPr lang="en-US" sz="3000" dirty="0"/>
          </a:p>
        </p:txBody>
      </p:sp>
      <p:sp>
        <p:nvSpPr>
          <p:cNvPr id="7" name="Shape 5"/>
          <p:cNvSpPr/>
          <p:nvPr/>
        </p:nvSpPr>
        <p:spPr>
          <a:xfrm>
            <a:off x="365760" y="1417320"/>
            <a:ext cx="8412480" cy="384048"/>
          </a:xfrm>
          <a:prstGeom prst="rect">
            <a:avLst/>
          </a:prstGeom>
          <a:solidFill>
            <a:srgbClr val="1A2744">
              <a:alpha val="35000"/>
            </a:srgbClr>
          </a:solidFill>
          <a:ln w="12700">
            <a:solidFill>
              <a:srgbClr val="1E3A5F"/>
            </a:solidFill>
            <a:prstDash val="solid"/>
          </a:ln>
        </p:spPr>
      </p:sp>
      <p:sp>
        <p:nvSpPr>
          <p:cNvPr id="8" name="Text 6"/>
          <p:cNvSpPr/>
          <p:nvPr/>
        </p:nvSpPr>
        <p:spPr>
          <a:xfrm>
            <a:off x="548640" y="1481328"/>
            <a:ext cx="3200400" cy="274320"/>
          </a:xfrm>
          <a:prstGeom prst="rect">
            <a:avLst/>
          </a:prstGeom>
          <a:noFill/>
          <a:ln/>
        </p:spPr>
        <p:txBody>
          <a:bodyPr wrap="square" rtlCol="0" anchor="ctr"/>
          <a:lstStyle/>
          <a:p>
            <a:pPr marL="0" indent="0">
              <a:buNone/>
            </a:pPr>
            <a:r>
              <a:rPr lang="en-US" sz="1100" b="1" dirty="0">
                <a:solidFill>
                  <a:srgbClr val="00B4D8"/>
                </a:solidFill>
              </a:rPr>
              <a:t>Current Method</a:t>
            </a:r>
            <a:endParaRPr lang="en-US" sz="1100" dirty="0"/>
          </a:p>
        </p:txBody>
      </p:sp>
      <p:sp>
        <p:nvSpPr>
          <p:cNvPr id="9" name="Text 7"/>
          <p:cNvSpPr/>
          <p:nvPr/>
        </p:nvSpPr>
        <p:spPr>
          <a:xfrm>
            <a:off x="3840480" y="1481328"/>
            <a:ext cx="3840480" cy="274320"/>
          </a:xfrm>
          <a:prstGeom prst="rect">
            <a:avLst/>
          </a:prstGeom>
          <a:noFill/>
          <a:ln/>
        </p:spPr>
        <p:txBody>
          <a:bodyPr wrap="square" rtlCol="0" anchor="ctr"/>
          <a:lstStyle/>
          <a:p>
            <a:pPr marL="0" indent="0">
              <a:buNone/>
            </a:pPr>
            <a:r>
              <a:rPr lang="en-US" sz="1100" b="1" dirty="0">
                <a:solidFill>
                  <a:srgbClr val="00B4D8"/>
                </a:solidFill>
              </a:rPr>
              <a:t>Key Limitation</a:t>
            </a:r>
            <a:endParaRPr lang="en-US" sz="1100" dirty="0"/>
          </a:p>
        </p:txBody>
      </p:sp>
      <p:sp>
        <p:nvSpPr>
          <p:cNvPr id="10" name="Text 8"/>
          <p:cNvSpPr/>
          <p:nvPr/>
        </p:nvSpPr>
        <p:spPr>
          <a:xfrm>
            <a:off x="7863840" y="1481328"/>
            <a:ext cx="822960" cy="274320"/>
          </a:xfrm>
          <a:prstGeom prst="rect">
            <a:avLst/>
          </a:prstGeom>
          <a:noFill/>
          <a:ln/>
        </p:spPr>
        <p:txBody>
          <a:bodyPr wrap="square" rtlCol="0" anchor="ctr"/>
          <a:lstStyle/>
          <a:p>
            <a:pPr marL="0" indent="0" algn="ctr">
              <a:buNone/>
            </a:pPr>
            <a:r>
              <a:rPr lang="en-US" sz="1100" b="1" dirty="0">
                <a:solidFill>
                  <a:srgbClr val="00B4D8"/>
                </a:solidFill>
              </a:rPr>
              <a:t>Risk</a:t>
            </a:r>
            <a:endParaRPr lang="en-US" sz="1100" dirty="0"/>
          </a:p>
        </p:txBody>
      </p:sp>
      <p:sp>
        <p:nvSpPr>
          <p:cNvPr id="11" name="Shape 9"/>
          <p:cNvSpPr/>
          <p:nvPr/>
        </p:nvSpPr>
        <p:spPr>
          <a:xfrm>
            <a:off x="365760" y="1920240"/>
            <a:ext cx="8412480" cy="594360"/>
          </a:xfrm>
          <a:prstGeom prst="rect">
            <a:avLst/>
          </a:prstGeom>
          <a:solidFill>
            <a:srgbClr val="1A2744">
              <a:alpha val="20000"/>
            </a:srgbClr>
          </a:solidFill>
          <a:ln w="12700">
            <a:solidFill>
              <a:srgbClr val="1E3A5F"/>
            </a:solidFill>
            <a:prstDash val="solid"/>
          </a:ln>
        </p:spPr>
      </p:sp>
      <p:sp>
        <p:nvSpPr>
          <p:cNvPr id="12" name="Text 10"/>
          <p:cNvSpPr/>
          <p:nvPr/>
        </p:nvSpPr>
        <p:spPr>
          <a:xfrm>
            <a:off x="548640" y="2029968"/>
            <a:ext cx="3200400" cy="365760"/>
          </a:xfrm>
          <a:prstGeom prst="rect">
            <a:avLst/>
          </a:prstGeom>
          <a:noFill/>
          <a:ln/>
        </p:spPr>
        <p:txBody>
          <a:bodyPr wrap="square" rtlCol="0" anchor="ctr"/>
          <a:lstStyle/>
          <a:p>
            <a:pPr marL="0" indent="0">
              <a:buNone/>
            </a:pPr>
            <a:r>
              <a:rPr lang="en-US" sz="1200" dirty="0">
                <a:solidFill>
                  <a:srgbClr val="E0E6F0"/>
                </a:solidFill>
              </a:rPr>
              <a:t>Total Interview Duration</a:t>
            </a:r>
            <a:endParaRPr lang="en-US" sz="1200" dirty="0"/>
          </a:p>
        </p:txBody>
      </p:sp>
      <p:sp>
        <p:nvSpPr>
          <p:cNvPr id="13" name="Text 11"/>
          <p:cNvSpPr/>
          <p:nvPr/>
        </p:nvSpPr>
        <p:spPr>
          <a:xfrm>
            <a:off x="3840480" y="2029968"/>
            <a:ext cx="3840480" cy="365760"/>
          </a:xfrm>
          <a:prstGeom prst="rect">
            <a:avLst/>
          </a:prstGeom>
          <a:noFill/>
          <a:ln/>
        </p:spPr>
        <p:txBody>
          <a:bodyPr wrap="square" rtlCol="0" anchor="ctr"/>
          <a:lstStyle/>
          <a:p>
            <a:pPr marL="0" indent="0">
              <a:buNone/>
            </a:pPr>
            <a:r>
              <a:rPr lang="en-US" sz="1100" dirty="0">
                <a:solidFill>
                  <a:srgbClr val="8899BB"/>
                </a:solidFill>
              </a:rPr>
              <a:t>Misses fine-grained behavioral patterns within an interview</a:t>
            </a:r>
            <a:endParaRPr lang="en-US" sz="1100" dirty="0"/>
          </a:p>
        </p:txBody>
      </p:sp>
      <p:sp>
        <p:nvSpPr>
          <p:cNvPr id="14" name="Shape 12"/>
          <p:cNvSpPr/>
          <p:nvPr/>
        </p:nvSpPr>
        <p:spPr>
          <a:xfrm>
            <a:off x="7863840" y="2011680"/>
            <a:ext cx="822960" cy="384048"/>
          </a:xfrm>
          <a:prstGeom prst="rect">
            <a:avLst/>
          </a:prstGeom>
          <a:solidFill>
            <a:srgbClr val="1A2744">
              <a:alpha val="40000"/>
            </a:srgbClr>
          </a:solidFill>
          <a:ln w="12700">
            <a:solidFill>
              <a:srgbClr val="1E3A5F"/>
            </a:solidFill>
            <a:prstDash val="solid"/>
          </a:ln>
        </p:spPr>
      </p:sp>
      <p:sp>
        <p:nvSpPr>
          <p:cNvPr id="15" name="Text 13"/>
          <p:cNvSpPr/>
          <p:nvPr/>
        </p:nvSpPr>
        <p:spPr>
          <a:xfrm>
            <a:off x="7863840" y="2084832"/>
            <a:ext cx="822960" cy="274320"/>
          </a:xfrm>
          <a:prstGeom prst="rect">
            <a:avLst/>
          </a:prstGeom>
          <a:noFill/>
          <a:ln/>
        </p:spPr>
        <p:txBody>
          <a:bodyPr wrap="square" rtlCol="0" anchor="ctr"/>
          <a:lstStyle/>
          <a:p>
            <a:pPr marL="0" indent="0" algn="ctr">
              <a:buNone/>
            </a:pPr>
            <a:r>
              <a:rPr lang="en-US" sz="1000" b="1" dirty="0">
                <a:solidFill>
                  <a:srgbClr val="FF4D6D"/>
                </a:solidFill>
              </a:rPr>
              <a:t>HIGH</a:t>
            </a:r>
            <a:endParaRPr lang="en-US" sz="1000" dirty="0"/>
          </a:p>
        </p:txBody>
      </p:sp>
      <p:sp>
        <p:nvSpPr>
          <p:cNvPr id="16" name="Shape 14"/>
          <p:cNvSpPr/>
          <p:nvPr/>
        </p:nvSpPr>
        <p:spPr>
          <a:xfrm>
            <a:off x="365760" y="2587752"/>
            <a:ext cx="8412480" cy="594360"/>
          </a:xfrm>
          <a:prstGeom prst="rect">
            <a:avLst/>
          </a:prstGeom>
          <a:solidFill>
            <a:srgbClr val="1A2744">
              <a:alpha val="20000"/>
            </a:srgbClr>
          </a:solidFill>
          <a:ln w="12700">
            <a:solidFill>
              <a:srgbClr val="1E3A5F"/>
            </a:solidFill>
            <a:prstDash val="solid"/>
          </a:ln>
        </p:spPr>
      </p:sp>
      <p:sp>
        <p:nvSpPr>
          <p:cNvPr id="17" name="Text 15"/>
          <p:cNvSpPr/>
          <p:nvPr/>
        </p:nvSpPr>
        <p:spPr>
          <a:xfrm>
            <a:off x="548640" y="2697480"/>
            <a:ext cx="3200400" cy="365760"/>
          </a:xfrm>
          <a:prstGeom prst="rect">
            <a:avLst/>
          </a:prstGeom>
          <a:noFill/>
          <a:ln/>
        </p:spPr>
        <p:txBody>
          <a:bodyPr wrap="square" rtlCol="0" anchor="ctr"/>
          <a:lstStyle/>
          <a:p>
            <a:pPr marL="0" indent="0">
              <a:buNone/>
            </a:pPr>
            <a:r>
              <a:rPr lang="en-US" sz="1200" dirty="0">
                <a:solidFill>
                  <a:srgbClr val="E0E6F0"/>
                </a:solidFill>
              </a:rPr>
              <a:t>Manual Back-Check Supervision</a:t>
            </a:r>
            <a:endParaRPr lang="en-US" sz="1200" dirty="0"/>
          </a:p>
        </p:txBody>
      </p:sp>
      <p:sp>
        <p:nvSpPr>
          <p:cNvPr id="18" name="Text 16"/>
          <p:cNvSpPr/>
          <p:nvPr/>
        </p:nvSpPr>
        <p:spPr>
          <a:xfrm>
            <a:off x="3840480" y="2697480"/>
            <a:ext cx="3840480" cy="365760"/>
          </a:xfrm>
          <a:prstGeom prst="rect">
            <a:avLst/>
          </a:prstGeom>
          <a:noFill/>
          <a:ln/>
        </p:spPr>
        <p:txBody>
          <a:bodyPr wrap="square" rtlCol="0" anchor="ctr"/>
          <a:lstStyle/>
          <a:p>
            <a:pPr marL="0" indent="0">
              <a:buNone/>
            </a:pPr>
            <a:r>
              <a:rPr lang="en-US" sz="1100" dirty="0">
                <a:solidFill>
                  <a:srgbClr val="8899BB"/>
                </a:solidFill>
              </a:rPr>
              <a:t>Expensive, slow, unscalable — covers &lt;5% of interviews</a:t>
            </a:r>
            <a:endParaRPr lang="en-US" sz="1100" dirty="0"/>
          </a:p>
        </p:txBody>
      </p:sp>
      <p:sp>
        <p:nvSpPr>
          <p:cNvPr id="19" name="Shape 17"/>
          <p:cNvSpPr/>
          <p:nvPr/>
        </p:nvSpPr>
        <p:spPr>
          <a:xfrm>
            <a:off x="7863840" y="2679192"/>
            <a:ext cx="822960" cy="384048"/>
          </a:xfrm>
          <a:prstGeom prst="rect">
            <a:avLst/>
          </a:prstGeom>
          <a:solidFill>
            <a:srgbClr val="1A2744">
              <a:alpha val="40000"/>
            </a:srgbClr>
          </a:solidFill>
          <a:ln w="12700">
            <a:solidFill>
              <a:srgbClr val="1E3A5F"/>
            </a:solidFill>
            <a:prstDash val="solid"/>
          </a:ln>
        </p:spPr>
      </p:sp>
      <p:sp>
        <p:nvSpPr>
          <p:cNvPr id="20" name="Text 18"/>
          <p:cNvSpPr/>
          <p:nvPr/>
        </p:nvSpPr>
        <p:spPr>
          <a:xfrm>
            <a:off x="7863840" y="2752344"/>
            <a:ext cx="822960" cy="274320"/>
          </a:xfrm>
          <a:prstGeom prst="rect">
            <a:avLst/>
          </a:prstGeom>
          <a:noFill/>
          <a:ln/>
        </p:spPr>
        <p:txBody>
          <a:bodyPr wrap="square" rtlCol="0" anchor="ctr"/>
          <a:lstStyle/>
          <a:p>
            <a:pPr marL="0" indent="0" algn="ctr">
              <a:buNone/>
            </a:pPr>
            <a:r>
              <a:rPr lang="en-US" sz="1000" b="1" dirty="0">
                <a:solidFill>
                  <a:srgbClr val="FF4D6D"/>
                </a:solidFill>
              </a:rPr>
              <a:t>HIGH</a:t>
            </a:r>
            <a:endParaRPr lang="en-US" sz="1000" dirty="0"/>
          </a:p>
        </p:txBody>
      </p:sp>
      <p:sp>
        <p:nvSpPr>
          <p:cNvPr id="21" name="Shape 19"/>
          <p:cNvSpPr/>
          <p:nvPr/>
        </p:nvSpPr>
        <p:spPr>
          <a:xfrm>
            <a:off x="365760" y="3255264"/>
            <a:ext cx="8412480" cy="594360"/>
          </a:xfrm>
          <a:prstGeom prst="rect">
            <a:avLst/>
          </a:prstGeom>
          <a:solidFill>
            <a:srgbClr val="1A2744">
              <a:alpha val="20000"/>
            </a:srgbClr>
          </a:solidFill>
          <a:ln w="12700">
            <a:solidFill>
              <a:srgbClr val="1E3A5F"/>
            </a:solidFill>
            <a:prstDash val="solid"/>
          </a:ln>
        </p:spPr>
      </p:sp>
      <p:sp>
        <p:nvSpPr>
          <p:cNvPr id="22" name="Text 20"/>
          <p:cNvSpPr/>
          <p:nvPr/>
        </p:nvSpPr>
        <p:spPr>
          <a:xfrm>
            <a:off x="548640" y="3364992"/>
            <a:ext cx="3200400" cy="365760"/>
          </a:xfrm>
          <a:prstGeom prst="rect">
            <a:avLst/>
          </a:prstGeom>
          <a:noFill/>
          <a:ln/>
        </p:spPr>
        <p:txBody>
          <a:bodyPr wrap="square" rtlCol="0" anchor="ctr"/>
          <a:lstStyle/>
          <a:p>
            <a:pPr marL="0" indent="0">
              <a:buNone/>
            </a:pPr>
            <a:r>
              <a:rPr lang="en-US" sz="1200" dirty="0">
                <a:solidFill>
                  <a:srgbClr val="E0E6F0"/>
                </a:solidFill>
              </a:rPr>
              <a:t>Single-Feature Rules</a:t>
            </a:r>
            <a:endParaRPr lang="en-US" sz="1200" dirty="0"/>
          </a:p>
        </p:txBody>
      </p:sp>
      <p:sp>
        <p:nvSpPr>
          <p:cNvPr id="23" name="Text 21"/>
          <p:cNvSpPr/>
          <p:nvPr/>
        </p:nvSpPr>
        <p:spPr>
          <a:xfrm>
            <a:off x="3840480" y="3364992"/>
            <a:ext cx="3840480" cy="365760"/>
          </a:xfrm>
          <a:prstGeom prst="rect">
            <a:avLst/>
          </a:prstGeom>
          <a:noFill/>
          <a:ln/>
        </p:spPr>
        <p:txBody>
          <a:bodyPr wrap="square" rtlCol="0" anchor="ctr"/>
          <a:lstStyle/>
          <a:p>
            <a:pPr marL="0" indent="0">
              <a:buNone/>
            </a:pPr>
            <a:r>
              <a:rPr lang="en-US" sz="1100" dirty="0">
                <a:solidFill>
                  <a:srgbClr val="8899BB"/>
                </a:solidFill>
              </a:rPr>
              <a:t>No statistical context; high false-positive rate</a:t>
            </a:r>
            <a:endParaRPr lang="en-US" sz="1100" dirty="0"/>
          </a:p>
        </p:txBody>
      </p:sp>
      <p:sp>
        <p:nvSpPr>
          <p:cNvPr id="24" name="Shape 22"/>
          <p:cNvSpPr/>
          <p:nvPr/>
        </p:nvSpPr>
        <p:spPr>
          <a:xfrm>
            <a:off x="7863840" y="3346704"/>
            <a:ext cx="822960" cy="384048"/>
          </a:xfrm>
          <a:prstGeom prst="rect">
            <a:avLst/>
          </a:prstGeom>
          <a:solidFill>
            <a:srgbClr val="1A2744">
              <a:alpha val="40000"/>
            </a:srgbClr>
          </a:solidFill>
          <a:ln w="12700">
            <a:solidFill>
              <a:srgbClr val="1E3A5F"/>
            </a:solidFill>
            <a:prstDash val="solid"/>
          </a:ln>
        </p:spPr>
      </p:sp>
      <p:sp>
        <p:nvSpPr>
          <p:cNvPr id="25" name="Text 23"/>
          <p:cNvSpPr/>
          <p:nvPr/>
        </p:nvSpPr>
        <p:spPr>
          <a:xfrm>
            <a:off x="7863840" y="3419856"/>
            <a:ext cx="822960" cy="274320"/>
          </a:xfrm>
          <a:prstGeom prst="rect">
            <a:avLst/>
          </a:prstGeom>
          <a:noFill/>
          <a:ln/>
        </p:spPr>
        <p:txBody>
          <a:bodyPr wrap="square" rtlCol="0" anchor="ctr"/>
          <a:lstStyle/>
          <a:p>
            <a:pPr marL="0" indent="0" algn="ctr">
              <a:buNone/>
            </a:pPr>
            <a:r>
              <a:rPr lang="en-US" sz="1000" b="1" dirty="0">
                <a:solidFill>
                  <a:srgbClr val="FFD166"/>
                </a:solidFill>
              </a:rPr>
              <a:t>MED</a:t>
            </a:r>
            <a:endParaRPr lang="en-US" sz="1000" dirty="0"/>
          </a:p>
        </p:txBody>
      </p:sp>
      <p:sp>
        <p:nvSpPr>
          <p:cNvPr id="26" name="Shape 24"/>
          <p:cNvSpPr/>
          <p:nvPr/>
        </p:nvSpPr>
        <p:spPr>
          <a:xfrm>
            <a:off x="365760" y="3922776"/>
            <a:ext cx="8412480" cy="594360"/>
          </a:xfrm>
          <a:prstGeom prst="rect">
            <a:avLst/>
          </a:prstGeom>
          <a:solidFill>
            <a:srgbClr val="1A2744">
              <a:alpha val="20000"/>
            </a:srgbClr>
          </a:solidFill>
          <a:ln w="12700">
            <a:solidFill>
              <a:srgbClr val="1E3A5F"/>
            </a:solidFill>
            <a:prstDash val="solid"/>
          </a:ln>
        </p:spPr>
      </p:sp>
      <p:sp>
        <p:nvSpPr>
          <p:cNvPr id="27" name="Text 25"/>
          <p:cNvSpPr/>
          <p:nvPr/>
        </p:nvSpPr>
        <p:spPr>
          <a:xfrm>
            <a:off x="548640" y="4032504"/>
            <a:ext cx="3200400" cy="365760"/>
          </a:xfrm>
          <a:prstGeom prst="rect">
            <a:avLst/>
          </a:prstGeom>
          <a:noFill/>
          <a:ln/>
        </p:spPr>
        <p:txBody>
          <a:bodyPr wrap="square" rtlCol="0" anchor="ctr"/>
          <a:lstStyle/>
          <a:p>
            <a:pPr marL="0" indent="0">
              <a:buNone/>
            </a:pPr>
            <a:r>
              <a:rPr lang="en-US" sz="1200" dirty="0">
                <a:solidFill>
                  <a:srgbClr val="E0E6F0"/>
                </a:solidFill>
              </a:rPr>
              <a:t>Cross-Platform Analysis</a:t>
            </a:r>
            <a:endParaRPr lang="en-US" sz="1200" dirty="0"/>
          </a:p>
        </p:txBody>
      </p:sp>
      <p:sp>
        <p:nvSpPr>
          <p:cNvPr id="28" name="Text 26"/>
          <p:cNvSpPr/>
          <p:nvPr/>
        </p:nvSpPr>
        <p:spPr>
          <a:xfrm>
            <a:off x="3840480" y="4032504"/>
            <a:ext cx="3840480" cy="365760"/>
          </a:xfrm>
          <a:prstGeom prst="rect">
            <a:avLst/>
          </a:prstGeom>
          <a:noFill/>
          <a:ln/>
        </p:spPr>
        <p:txBody>
          <a:bodyPr wrap="square" rtlCol="0" anchor="ctr"/>
          <a:lstStyle/>
          <a:p>
            <a:pPr marL="0" indent="0">
              <a:buNone/>
            </a:pPr>
            <a:r>
              <a:rPr lang="en-US" sz="1100" dirty="0">
                <a:solidFill>
                  <a:srgbClr val="8899BB"/>
                </a:solidFill>
              </a:rPr>
              <a:t>No standard tool exists for SurveyCTO + ODK jointly</a:t>
            </a:r>
            <a:endParaRPr lang="en-US" sz="1100" dirty="0"/>
          </a:p>
        </p:txBody>
      </p:sp>
      <p:sp>
        <p:nvSpPr>
          <p:cNvPr id="29" name="Shape 27"/>
          <p:cNvSpPr/>
          <p:nvPr/>
        </p:nvSpPr>
        <p:spPr>
          <a:xfrm>
            <a:off x="7863840" y="4014216"/>
            <a:ext cx="822960" cy="384048"/>
          </a:xfrm>
          <a:prstGeom prst="rect">
            <a:avLst/>
          </a:prstGeom>
          <a:solidFill>
            <a:srgbClr val="1A2744">
              <a:alpha val="40000"/>
            </a:srgbClr>
          </a:solidFill>
          <a:ln w="12700">
            <a:solidFill>
              <a:srgbClr val="1E3A5F"/>
            </a:solidFill>
            <a:prstDash val="solid"/>
          </a:ln>
        </p:spPr>
      </p:sp>
      <p:sp>
        <p:nvSpPr>
          <p:cNvPr id="30" name="Text 28"/>
          <p:cNvSpPr/>
          <p:nvPr/>
        </p:nvSpPr>
        <p:spPr>
          <a:xfrm>
            <a:off x="7863840" y="4087368"/>
            <a:ext cx="822960" cy="274320"/>
          </a:xfrm>
          <a:prstGeom prst="rect">
            <a:avLst/>
          </a:prstGeom>
          <a:noFill/>
          <a:ln/>
        </p:spPr>
        <p:txBody>
          <a:bodyPr wrap="square" rtlCol="0" anchor="ctr"/>
          <a:lstStyle/>
          <a:p>
            <a:pPr marL="0" indent="0" algn="ctr">
              <a:buNone/>
            </a:pPr>
            <a:r>
              <a:rPr lang="en-US" sz="1000" b="1" dirty="0">
                <a:solidFill>
                  <a:srgbClr val="FF4D6D"/>
                </a:solidFill>
              </a:rPr>
              <a:t>HIGH</a:t>
            </a:r>
            <a:endParaRPr lang="en-US" sz="1000" dirty="0"/>
          </a:p>
        </p:txBody>
      </p:sp>
      <p:sp>
        <p:nvSpPr>
          <p:cNvPr id="31" name="Text 29"/>
          <p:cNvSpPr/>
          <p:nvPr/>
        </p:nvSpPr>
        <p:spPr>
          <a:xfrm>
            <a:off x="457200" y="4754880"/>
            <a:ext cx="8229600" cy="274320"/>
          </a:xfrm>
          <a:prstGeom prst="rect">
            <a:avLst/>
          </a:prstGeom>
          <a:noFill/>
          <a:ln/>
        </p:spPr>
        <p:txBody>
          <a:bodyPr wrap="square" rtlCol="0" anchor="ctr"/>
          <a:lstStyle/>
          <a:p>
            <a:pPr marL="0" indent="0" algn="ctr">
              <a:buNone/>
            </a:pPr>
            <a:r>
              <a:rPr lang="en-US" sz="1100" i="1" dirty="0">
                <a:solidFill>
                  <a:srgbClr val="FF4D6D"/>
                </a:solidFill>
              </a:rPr>
              <a:t>❌  No existing tool automates multi-feature, cross-platform paradata analysis at scale.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5 / 16</a:t>
            </a:r>
            <a:endParaRPr lang="en-US" sz="900" dirty="0"/>
          </a:p>
        </p:txBody>
      </p:sp>
      <p:sp>
        <p:nvSpPr>
          <p:cNvPr id="5" name="Text 3"/>
          <p:cNvSpPr/>
          <p:nvPr/>
        </p:nvSpPr>
        <p:spPr>
          <a:xfrm>
            <a:off x="457200" y="182880"/>
            <a:ext cx="2743200" cy="228600"/>
          </a:xfrm>
          <a:prstGeom prst="rect">
            <a:avLst/>
          </a:prstGeom>
          <a:noFill/>
          <a:ln/>
        </p:spPr>
        <p:txBody>
          <a:bodyPr wrap="square" rtlCol="0" anchor="ctr"/>
          <a:lstStyle/>
          <a:p>
            <a:pPr marL="0" indent="0">
              <a:buNone/>
            </a:pPr>
            <a:r>
              <a:rPr lang="en-US" sz="900" b="1" kern="0" spc="300" dirty="0">
                <a:solidFill>
                  <a:srgbClr val="06D6A0"/>
                </a:solidFill>
              </a:rPr>
              <a:t>SOLUTION</a:t>
            </a:r>
            <a:endParaRPr lang="en-US" sz="900" dirty="0"/>
          </a:p>
        </p:txBody>
      </p:sp>
      <p:sp>
        <p:nvSpPr>
          <p:cNvPr id="6" name="Text 4"/>
          <p:cNvSpPr/>
          <p:nvPr/>
        </p:nvSpPr>
        <p:spPr>
          <a:xfrm>
            <a:off x="457200" y="457200"/>
            <a:ext cx="8229600" cy="731520"/>
          </a:xfrm>
          <a:prstGeom prst="rect">
            <a:avLst/>
          </a:prstGeom>
          <a:noFill/>
          <a:ln/>
        </p:spPr>
        <p:txBody>
          <a:bodyPr wrap="square" rtlCol="0" anchor="ctr"/>
          <a:lstStyle/>
          <a:p>
            <a:pPr marL="0" indent="0">
              <a:buNone/>
            </a:pPr>
            <a:r>
              <a:rPr lang="en-US" sz="3000" b="1" dirty="0">
                <a:solidFill>
                  <a:srgbClr val="FFFFFF"/>
                </a:solidFill>
              </a:rPr>
              <a:t>The Proposed System</a:t>
            </a:r>
            <a:endParaRPr lang="en-US" sz="3000" dirty="0"/>
          </a:p>
        </p:txBody>
      </p:sp>
      <p:sp>
        <p:nvSpPr>
          <p:cNvPr id="7" name="Shape 5"/>
          <p:cNvSpPr/>
          <p:nvPr/>
        </p:nvSpPr>
        <p:spPr>
          <a:xfrm>
            <a:off x="365760" y="1371600"/>
            <a:ext cx="8412480" cy="2560320"/>
          </a:xfrm>
          <a:prstGeom prst="rect">
            <a:avLst/>
          </a:prstGeom>
          <a:solidFill>
            <a:srgbClr val="1A2744">
              <a:alpha val="28000"/>
            </a:srgbClr>
          </a:solidFill>
          <a:ln w="12700">
            <a:solidFill>
              <a:srgbClr val="1E3A5F"/>
            </a:solidFill>
            <a:prstDash val="solid"/>
          </a:ln>
        </p:spPr>
      </p:sp>
      <p:sp>
        <p:nvSpPr>
          <p:cNvPr id="8" name="Text 6"/>
          <p:cNvSpPr/>
          <p:nvPr/>
        </p:nvSpPr>
        <p:spPr>
          <a:xfrm>
            <a:off x="640080" y="1508760"/>
            <a:ext cx="7955280" cy="640080"/>
          </a:xfrm>
          <a:prstGeom prst="rect">
            <a:avLst/>
          </a:prstGeom>
          <a:noFill/>
          <a:ln/>
        </p:spPr>
        <p:txBody>
          <a:bodyPr wrap="square" rtlCol="0" anchor="ctr"/>
          <a:lstStyle/>
          <a:p>
            <a:pPr marL="0" indent="0" algn="ctr">
              <a:buNone/>
            </a:pPr>
            <a:r>
              <a:rPr lang="en-US" sz="1500" i="1" dirty="0">
                <a:solidFill>
                  <a:srgbClr val="E0E6F0"/>
                </a:solidFill>
              </a:rPr>
              <a:t>An automated, platform-agnostic pipeline that transforms raw audit logs into structured quality intelligence.</a:t>
            </a:r>
            <a:endParaRPr lang="en-US" sz="1500" dirty="0"/>
          </a:p>
        </p:txBody>
      </p:sp>
      <p:sp>
        <p:nvSpPr>
          <p:cNvPr id="9" name="Shape 7"/>
          <p:cNvSpPr/>
          <p:nvPr/>
        </p:nvSpPr>
        <p:spPr>
          <a:xfrm>
            <a:off x="594360" y="2286000"/>
            <a:ext cx="1874520" cy="1371600"/>
          </a:xfrm>
          <a:prstGeom prst="rect">
            <a:avLst/>
          </a:prstGeom>
          <a:solidFill>
            <a:srgbClr val="1A2744">
              <a:alpha val="32000"/>
            </a:srgbClr>
          </a:solidFill>
          <a:ln w="12700">
            <a:solidFill>
              <a:srgbClr val="1E3A5F"/>
            </a:solidFill>
            <a:prstDash val="solid"/>
          </a:ln>
        </p:spPr>
      </p:sp>
      <p:sp>
        <p:nvSpPr>
          <p:cNvPr id="10" name="Shape 8"/>
          <p:cNvSpPr/>
          <p:nvPr/>
        </p:nvSpPr>
        <p:spPr>
          <a:xfrm>
            <a:off x="594360" y="2286000"/>
            <a:ext cx="1874520" cy="45720"/>
          </a:xfrm>
          <a:prstGeom prst="rect">
            <a:avLst/>
          </a:prstGeom>
          <a:solidFill>
            <a:srgbClr val="00B4D8"/>
          </a:solidFill>
          <a:ln w="12700">
            <a:solidFill>
              <a:srgbClr val="00B4D8">
                <a:alpha val="0"/>
              </a:srgbClr>
            </a:solidFill>
            <a:prstDash val="solid"/>
          </a:ln>
        </p:spPr>
      </p:sp>
      <p:sp>
        <p:nvSpPr>
          <p:cNvPr id="11" name="Text 9"/>
          <p:cNvSpPr/>
          <p:nvPr/>
        </p:nvSpPr>
        <p:spPr>
          <a:xfrm>
            <a:off x="685800" y="2395728"/>
            <a:ext cx="1691640" cy="502920"/>
          </a:xfrm>
          <a:prstGeom prst="rect">
            <a:avLst/>
          </a:prstGeom>
          <a:noFill/>
          <a:ln/>
        </p:spPr>
        <p:txBody>
          <a:bodyPr wrap="square" rtlCol="0" anchor="ctr"/>
          <a:lstStyle/>
          <a:p>
            <a:pPr marL="0" indent="0" algn="ctr">
              <a:buNone/>
            </a:pPr>
            <a:r>
              <a:rPr lang="en-US" sz="1600" b="1" dirty="0">
                <a:solidFill>
                  <a:srgbClr val="00B4D8"/>
                </a:solidFill>
              </a:rPr>
              <a:t>40 Features</a:t>
            </a:r>
            <a:endParaRPr lang="en-US" sz="1600" dirty="0"/>
          </a:p>
        </p:txBody>
      </p:sp>
      <p:sp>
        <p:nvSpPr>
          <p:cNvPr id="12" name="Text 10"/>
          <p:cNvSpPr/>
          <p:nvPr/>
        </p:nvSpPr>
        <p:spPr>
          <a:xfrm>
            <a:off x="685800" y="2926080"/>
            <a:ext cx="1691640" cy="548640"/>
          </a:xfrm>
          <a:prstGeom prst="rect">
            <a:avLst/>
          </a:prstGeom>
          <a:noFill/>
          <a:ln/>
        </p:spPr>
        <p:txBody>
          <a:bodyPr wrap="square" rtlCol="0" anchor="ctr"/>
          <a:lstStyle/>
          <a:p>
            <a:pPr marL="0" indent="0" algn="ctr">
              <a:buNone/>
            </a:pPr>
            <a:r>
              <a:rPr lang="en-US" sz="1000" dirty="0">
                <a:solidFill>
                  <a:srgbClr val="8899BB"/>
                </a:solidFill>
              </a:rPr>
              <a:t>Question · Section · Survey</a:t>
            </a:r>
            <a:endParaRPr lang="en-US" sz="1000" dirty="0"/>
          </a:p>
        </p:txBody>
      </p:sp>
      <p:sp>
        <p:nvSpPr>
          <p:cNvPr id="13" name="Shape 11"/>
          <p:cNvSpPr/>
          <p:nvPr/>
        </p:nvSpPr>
        <p:spPr>
          <a:xfrm>
            <a:off x="2697480" y="2286000"/>
            <a:ext cx="1874520" cy="1371600"/>
          </a:xfrm>
          <a:prstGeom prst="rect">
            <a:avLst/>
          </a:prstGeom>
          <a:solidFill>
            <a:srgbClr val="1A2744">
              <a:alpha val="32000"/>
            </a:srgbClr>
          </a:solidFill>
          <a:ln w="12700">
            <a:solidFill>
              <a:srgbClr val="1E3A5F"/>
            </a:solidFill>
            <a:prstDash val="solid"/>
          </a:ln>
        </p:spPr>
      </p:sp>
      <p:sp>
        <p:nvSpPr>
          <p:cNvPr id="14" name="Shape 12"/>
          <p:cNvSpPr/>
          <p:nvPr/>
        </p:nvSpPr>
        <p:spPr>
          <a:xfrm>
            <a:off x="2697480" y="2286000"/>
            <a:ext cx="1874520" cy="45720"/>
          </a:xfrm>
          <a:prstGeom prst="rect">
            <a:avLst/>
          </a:prstGeom>
          <a:solidFill>
            <a:srgbClr val="9D4EDD"/>
          </a:solidFill>
          <a:ln w="12700">
            <a:solidFill>
              <a:srgbClr val="9D4EDD">
                <a:alpha val="0"/>
              </a:srgbClr>
            </a:solidFill>
            <a:prstDash val="solid"/>
          </a:ln>
        </p:spPr>
      </p:sp>
      <p:sp>
        <p:nvSpPr>
          <p:cNvPr id="15" name="Text 13"/>
          <p:cNvSpPr/>
          <p:nvPr/>
        </p:nvSpPr>
        <p:spPr>
          <a:xfrm>
            <a:off x="2788920" y="2395728"/>
            <a:ext cx="1691640" cy="502920"/>
          </a:xfrm>
          <a:prstGeom prst="rect">
            <a:avLst/>
          </a:prstGeom>
          <a:noFill/>
          <a:ln/>
        </p:spPr>
        <p:txBody>
          <a:bodyPr wrap="square" rtlCol="0" anchor="ctr"/>
          <a:lstStyle/>
          <a:p>
            <a:pPr marL="0" indent="0" algn="ctr">
              <a:buNone/>
            </a:pPr>
            <a:r>
              <a:rPr lang="en-US" sz="1600" b="1" dirty="0">
                <a:solidFill>
                  <a:srgbClr val="9D4EDD"/>
                </a:solidFill>
              </a:rPr>
              <a:t>2 Platforms</a:t>
            </a:r>
            <a:endParaRPr lang="en-US" sz="1600" dirty="0"/>
          </a:p>
        </p:txBody>
      </p:sp>
      <p:sp>
        <p:nvSpPr>
          <p:cNvPr id="16" name="Text 14"/>
          <p:cNvSpPr/>
          <p:nvPr/>
        </p:nvSpPr>
        <p:spPr>
          <a:xfrm>
            <a:off x="2788920" y="2926080"/>
            <a:ext cx="1691640" cy="548640"/>
          </a:xfrm>
          <a:prstGeom prst="rect">
            <a:avLst/>
          </a:prstGeom>
          <a:noFill/>
          <a:ln/>
        </p:spPr>
        <p:txBody>
          <a:bodyPr wrap="square" rtlCol="0" anchor="ctr"/>
          <a:lstStyle/>
          <a:p>
            <a:pPr marL="0" indent="0" algn="ctr">
              <a:buNone/>
            </a:pPr>
            <a:r>
              <a:rPr lang="en-US" sz="1000" dirty="0">
                <a:solidFill>
                  <a:srgbClr val="8899BB"/>
                </a:solidFill>
              </a:rPr>
              <a:t>SurveyCTO + ODK</a:t>
            </a:r>
            <a:endParaRPr lang="en-US" sz="1000" dirty="0"/>
          </a:p>
        </p:txBody>
      </p:sp>
      <p:sp>
        <p:nvSpPr>
          <p:cNvPr id="17" name="Shape 15"/>
          <p:cNvSpPr/>
          <p:nvPr/>
        </p:nvSpPr>
        <p:spPr>
          <a:xfrm>
            <a:off x="4800600" y="2286000"/>
            <a:ext cx="1874520" cy="1371600"/>
          </a:xfrm>
          <a:prstGeom prst="rect">
            <a:avLst/>
          </a:prstGeom>
          <a:solidFill>
            <a:srgbClr val="1A2744">
              <a:alpha val="32000"/>
            </a:srgbClr>
          </a:solidFill>
          <a:ln w="12700">
            <a:solidFill>
              <a:srgbClr val="1E3A5F"/>
            </a:solidFill>
            <a:prstDash val="solid"/>
          </a:ln>
        </p:spPr>
      </p:sp>
      <p:sp>
        <p:nvSpPr>
          <p:cNvPr id="18" name="Shape 16"/>
          <p:cNvSpPr/>
          <p:nvPr/>
        </p:nvSpPr>
        <p:spPr>
          <a:xfrm>
            <a:off x="4800600" y="2286000"/>
            <a:ext cx="1874520" cy="45720"/>
          </a:xfrm>
          <a:prstGeom prst="rect">
            <a:avLst/>
          </a:prstGeom>
          <a:solidFill>
            <a:srgbClr val="06D6A0"/>
          </a:solidFill>
          <a:ln w="12700">
            <a:solidFill>
              <a:srgbClr val="06D6A0">
                <a:alpha val="0"/>
              </a:srgbClr>
            </a:solidFill>
            <a:prstDash val="solid"/>
          </a:ln>
        </p:spPr>
      </p:sp>
      <p:sp>
        <p:nvSpPr>
          <p:cNvPr id="19" name="Text 17"/>
          <p:cNvSpPr/>
          <p:nvPr/>
        </p:nvSpPr>
        <p:spPr>
          <a:xfrm>
            <a:off x="4892040" y="2395728"/>
            <a:ext cx="1691640" cy="502920"/>
          </a:xfrm>
          <a:prstGeom prst="rect">
            <a:avLst/>
          </a:prstGeom>
          <a:noFill/>
          <a:ln/>
        </p:spPr>
        <p:txBody>
          <a:bodyPr wrap="square" rtlCol="0" anchor="ctr"/>
          <a:lstStyle/>
          <a:p>
            <a:pPr marL="0" indent="0" algn="ctr">
              <a:buNone/>
            </a:pPr>
            <a:r>
              <a:rPr lang="en-US" sz="1600" b="1" dirty="0">
                <a:solidFill>
                  <a:srgbClr val="06D6A0"/>
                </a:solidFill>
              </a:rPr>
              <a:t>2-Layer Detection</a:t>
            </a:r>
            <a:endParaRPr lang="en-US" sz="1600" dirty="0"/>
          </a:p>
        </p:txBody>
      </p:sp>
      <p:sp>
        <p:nvSpPr>
          <p:cNvPr id="20" name="Text 18"/>
          <p:cNvSpPr/>
          <p:nvPr/>
        </p:nvSpPr>
        <p:spPr>
          <a:xfrm>
            <a:off x="4892040" y="2926080"/>
            <a:ext cx="1691640" cy="548640"/>
          </a:xfrm>
          <a:prstGeom prst="rect">
            <a:avLst/>
          </a:prstGeom>
          <a:noFill/>
          <a:ln/>
        </p:spPr>
        <p:txBody>
          <a:bodyPr wrap="square" rtlCol="0" anchor="ctr"/>
          <a:lstStyle/>
          <a:p>
            <a:pPr marL="0" indent="0" algn="ctr">
              <a:buNone/>
            </a:pPr>
            <a:r>
              <a:rPr lang="en-US" sz="1000" dirty="0">
                <a:solidFill>
                  <a:srgbClr val="8899BB"/>
                </a:solidFill>
              </a:rPr>
              <a:t>Statistical + Rule-Based</a:t>
            </a:r>
            <a:endParaRPr lang="en-US" sz="1000" dirty="0"/>
          </a:p>
        </p:txBody>
      </p:sp>
      <p:sp>
        <p:nvSpPr>
          <p:cNvPr id="21" name="Shape 19"/>
          <p:cNvSpPr/>
          <p:nvPr/>
        </p:nvSpPr>
        <p:spPr>
          <a:xfrm>
            <a:off x="6903720" y="2286000"/>
            <a:ext cx="1874520" cy="1371600"/>
          </a:xfrm>
          <a:prstGeom prst="rect">
            <a:avLst/>
          </a:prstGeom>
          <a:solidFill>
            <a:srgbClr val="1A2744">
              <a:alpha val="32000"/>
            </a:srgbClr>
          </a:solidFill>
          <a:ln w="12700">
            <a:solidFill>
              <a:srgbClr val="1E3A5F"/>
            </a:solidFill>
            <a:prstDash val="solid"/>
          </a:ln>
        </p:spPr>
      </p:sp>
      <p:sp>
        <p:nvSpPr>
          <p:cNvPr id="22" name="Shape 20"/>
          <p:cNvSpPr/>
          <p:nvPr/>
        </p:nvSpPr>
        <p:spPr>
          <a:xfrm>
            <a:off x="6903720" y="2286000"/>
            <a:ext cx="1874520" cy="45720"/>
          </a:xfrm>
          <a:prstGeom prst="rect">
            <a:avLst/>
          </a:prstGeom>
          <a:solidFill>
            <a:srgbClr val="FFD166"/>
          </a:solidFill>
          <a:ln w="12700">
            <a:solidFill>
              <a:srgbClr val="FFD166">
                <a:alpha val="0"/>
              </a:srgbClr>
            </a:solidFill>
            <a:prstDash val="solid"/>
          </a:ln>
        </p:spPr>
      </p:sp>
      <p:sp>
        <p:nvSpPr>
          <p:cNvPr id="23" name="Text 21"/>
          <p:cNvSpPr/>
          <p:nvPr/>
        </p:nvSpPr>
        <p:spPr>
          <a:xfrm>
            <a:off x="6995160" y="2395728"/>
            <a:ext cx="1691640" cy="502920"/>
          </a:xfrm>
          <a:prstGeom prst="rect">
            <a:avLst/>
          </a:prstGeom>
          <a:noFill/>
          <a:ln/>
        </p:spPr>
        <p:txBody>
          <a:bodyPr wrap="square" rtlCol="0" anchor="ctr"/>
          <a:lstStyle/>
          <a:p>
            <a:pPr marL="0" indent="0" algn="ctr">
              <a:buNone/>
            </a:pPr>
            <a:r>
              <a:rPr lang="en-US" sz="1600" b="1" dirty="0">
                <a:solidFill>
                  <a:srgbClr val="FFD166"/>
                </a:solidFill>
              </a:rPr>
              <a:t>100% Python</a:t>
            </a:r>
            <a:endParaRPr lang="en-US" sz="1600" dirty="0"/>
          </a:p>
        </p:txBody>
      </p:sp>
      <p:sp>
        <p:nvSpPr>
          <p:cNvPr id="24" name="Text 22"/>
          <p:cNvSpPr/>
          <p:nvPr/>
        </p:nvSpPr>
        <p:spPr>
          <a:xfrm>
            <a:off x="6995160" y="2926080"/>
            <a:ext cx="1691640" cy="548640"/>
          </a:xfrm>
          <a:prstGeom prst="rect">
            <a:avLst/>
          </a:prstGeom>
          <a:noFill/>
          <a:ln/>
        </p:spPr>
        <p:txBody>
          <a:bodyPr wrap="square" rtlCol="0" anchor="ctr"/>
          <a:lstStyle/>
          <a:p>
            <a:pPr marL="0" indent="0" algn="ctr">
              <a:buNone/>
            </a:pPr>
            <a:r>
              <a:rPr lang="en-US" sz="1000" dirty="0">
                <a:solidFill>
                  <a:srgbClr val="8899BB"/>
                </a:solidFill>
              </a:rPr>
              <a:t>Open, reproducible, documented</a:t>
            </a:r>
            <a:endParaRPr lang="en-US" sz="1000" dirty="0"/>
          </a:p>
        </p:txBody>
      </p:sp>
      <p:sp>
        <p:nvSpPr>
          <p:cNvPr id="25" name="Shape 23"/>
          <p:cNvSpPr/>
          <p:nvPr/>
        </p:nvSpPr>
        <p:spPr>
          <a:xfrm>
            <a:off x="365760" y="4114800"/>
            <a:ext cx="8412480" cy="731520"/>
          </a:xfrm>
          <a:prstGeom prst="rect">
            <a:avLst/>
          </a:prstGeom>
          <a:solidFill>
            <a:srgbClr val="1A2744">
              <a:alpha val="22000"/>
            </a:srgbClr>
          </a:solidFill>
          <a:ln w="12700">
            <a:solidFill>
              <a:srgbClr val="1E3A5F"/>
            </a:solidFill>
            <a:prstDash val="solid"/>
          </a:ln>
        </p:spPr>
      </p:sp>
      <p:sp>
        <p:nvSpPr>
          <p:cNvPr id="26" name="Shape 24"/>
          <p:cNvSpPr/>
          <p:nvPr/>
        </p:nvSpPr>
        <p:spPr>
          <a:xfrm>
            <a:off x="365760" y="4114800"/>
            <a:ext cx="54864" cy="731520"/>
          </a:xfrm>
          <a:prstGeom prst="rect">
            <a:avLst/>
          </a:prstGeom>
          <a:solidFill>
            <a:srgbClr val="06D6A0"/>
          </a:solidFill>
          <a:ln w="12700">
            <a:solidFill>
              <a:srgbClr val="06D6A0">
                <a:alpha val="0"/>
              </a:srgbClr>
            </a:solidFill>
            <a:prstDash val="solid"/>
          </a:ln>
        </p:spPr>
      </p:sp>
      <p:sp>
        <p:nvSpPr>
          <p:cNvPr id="27" name="Text 25"/>
          <p:cNvSpPr/>
          <p:nvPr/>
        </p:nvSpPr>
        <p:spPr>
          <a:xfrm>
            <a:off x="594360" y="4187952"/>
            <a:ext cx="8138160" cy="594360"/>
          </a:xfrm>
          <a:prstGeom prst="rect">
            <a:avLst/>
          </a:prstGeom>
          <a:noFill/>
          <a:ln/>
        </p:spPr>
        <p:txBody>
          <a:bodyPr wrap="square" rtlCol="0" anchor="ctr"/>
          <a:lstStyle/>
          <a:p>
            <a:pPr marL="0" indent="0">
              <a:buNone/>
            </a:pPr>
            <a:r>
              <a:rPr lang="en-US" sz="1100" dirty="0">
                <a:solidFill>
                  <a:srgbClr val="E0E6F0"/>
                </a:solidFill>
              </a:rPr>
              <a:t>Aim:  Design and implement an automated pipeline for extracting, cataloguing, and analyzing timing-based paradata features from SurveyCTO and ODK audit logs — supporting scalable survey quality assessment.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6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00B4D8"/>
                </a:solidFill>
              </a:rPr>
              <a:t>ARCHITECTURE</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800" b="1" dirty="0">
                <a:solidFill>
                  <a:srgbClr val="FFFFFF"/>
                </a:solidFill>
              </a:rPr>
              <a:t>System Pipeline</a:t>
            </a:r>
            <a:endParaRPr lang="en-US" sz="2800" dirty="0"/>
          </a:p>
        </p:txBody>
      </p:sp>
      <p:sp>
        <p:nvSpPr>
          <p:cNvPr id="7" name="Shape 5"/>
          <p:cNvSpPr/>
          <p:nvPr/>
        </p:nvSpPr>
        <p:spPr>
          <a:xfrm>
            <a:off x="182880" y="1280160"/>
            <a:ext cx="1097280" cy="1828800"/>
          </a:xfrm>
          <a:prstGeom prst="rect">
            <a:avLst/>
          </a:prstGeom>
          <a:solidFill>
            <a:srgbClr val="1A2744">
              <a:alpha val="28000"/>
            </a:srgbClr>
          </a:solidFill>
          <a:ln w="12700">
            <a:solidFill>
              <a:srgbClr val="1E3A5F"/>
            </a:solidFill>
            <a:prstDash val="solid"/>
          </a:ln>
        </p:spPr>
      </p:sp>
      <p:sp>
        <p:nvSpPr>
          <p:cNvPr id="8" name="Shape 6"/>
          <p:cNvSpPr/>
          <p:nvPr/>
        </p:nvSpPr>
        <p:spPr>
          <a:xfrm>
            <a:off x="182880" y="1280160"/>
            <a:ext cx="1097280" cy="64008"/>
          </a:xfrm>
          <a:prstGeom prst="rect">
            <a:avLst/>
          </a:prstGeom>
          <a:solidFill>
            <a:srgbClr val="8899BB"/>
          </a:solidFill>
          <a:ln w="12700">
            <a:solidFill>
              <a:srgbClr val="8899BB">
                <a:alpha val="0"/>
              </a:srgbClr>
            </a:solidFill>
            <a:prstDash val="solid"/>
          </a:ln>
        </p:spPr>
      </p:sp>
      <p:sp>
        <p:nvSpPr>
          <p:cNvPr id="9" name="Text 7"/>
          <p:cNvSpPr/>
          <p:nvPr/>
        </p:nvSpPr>
        <p:spPr>
          <a:xfrm>
            <a:off x="256032" y="1417320"/>
            <a:ext cx="950976" cy="731520"/>
          </a:xfrm>
          <a:prstGeom prst="rect">
            <a:avLst/>
          </a:prstGeom>
          <a:noFill/>
          <a:ln/>
        </p:spPr>
        <p:txBody>
          <a:bodyPr wrap="square" rtlCol="0" anchor="ctr"/>
          <a:lstStyle/>
          <a:p>
            <a:pPr marL="0" indent="0" algn="ctr">
              <a:buNone/>
            </a:pPr>
            <a:r>
              <a:rPr lang="en-US" sz="1200" b="1" dirty="0">
                <a:solidFill>
                  <a:srgbClr val="8899BB"/>
                </a:solidFill>
              </a:rPr>
              <a:t>Audit</a:t>
            </a:r>
            <a:endParaRPr lang="en-US" sz="1200" dirty="0"/>
          </a:p>
          <a:p>
            <a:pPr marL="0" indent="0" algn="ctr">
              <a:buNone/>
            </a:pPr>
            <a:r>
              <a:rPr lang="en-US" sz="1200" b="1" dirty="0">
                <a:solidFill>
                  <a:srgbClr val="8899BB"/>
                </a:solidFill>
              </a:rPr>
              <a:t>Logs</a:t>
            </a:r>
            <a:endParaRPr lang="en-US" sz="1200" dirty="0"/>
          </a:p>
        </p:txBody>
      </p:sp>
      <p:sp>
        <p:nvSpPr>
          <p:cNvPr id="10" name="Text 8"/>
          <p:cNvSpPr/>
          <p:nvPr/>
        </p:nvSpPr>
        <p:spPr>
          <a:xfrm>
            <a:off x="256032" y="2212848"/>
            <a:ext cx="950976" cy="685800"/>
          </a:xfrm>
          <a:prstGeom prst="rect">
            <a:avLst/>
          </a:prstGeom>
          <a:noFill/>
          <a:ln/>
        </p:spPr>
        <p:txBody>
          <a:bodyPr wrap="square" rtlCol="0" anchor="ctr"/>
          <a:lstStyle/>
          <a:p>
            <a:pPr marL="0" indent="0" algn="ctr">
              <a:buNone/>
            </a:pPr>
            <a:r>
              <a:rPr lang="en-US" sz="950" dirty="0">
                <a:solidFill>
                  <a:srgbClr val="8899BB"/>
                </a:solidFill>
              </a:rPr>
              <a:t>SurveyCTO</a:t>
            </a:r>
            <a:endParaRPr lang="en-US" sz="950" dirty="0"/>
          </a:p>
          <a:p>
            <a:pPr marL="0" indent="0" algn="ctr">
              <a:buNone/>
            </a:pPr>
            <a:r>
              <a:rPr lang="en-US" sz="950" dirty="0">
                <a:solidFill>
                  <a:srgbClr val="8899BB"/>
                </a:solidFill>
              </a:rPr>
              <a:t>&amp; ODK CSV</a:t>
            </a:r>
            <a:endParaRPr lang="en-US" sz="950" dirty="0"/>
          </a:p>
        </p:txBody>
      </p:sp>
      <p:sp>
        <p:nvSpPr>
          <p:cNvPr id="11" name="Shape 9"/>
          <p:cNvSpPr/>
          <p:nvPr/>
        </p:nvSpPr>
        <p:spPr>
          <a:xfrm>
            <a:off x="1316736" y="2103120"/>
            <a:ext cx="109728" cy="36576"/>
          </a:xfrm>
          <a:prstGeom prst="rect">
            <a:avLst/>
          </a:prstGeom>
          <a:solidFill>
            <a:srgbClr val="8899BB">
              <a:alpha val="70000"/>
            </a:srgbClr>
          </a:solidFill>
          <a:ln w="12700">
            <a:solidFill>
              <a:srgbClr val="8899BB">
                <a:alpha val="0"/>
              </a:srgbClr>
            </a:solidFill>
            <a:prstDash val="solid"/>
          </a:ln>
        </p:spPr>
      </p:sp>
      <p:sp>
        <p:nvSpPr>
          <p:cNvPr id="12" name="Shape 10"/>
          <p:cNvSpPr/>
          <p:nvPr/>
        </p:nvSpPr>
        <p:spPr>
          <a:xfrm>
            <a:off x="1463040" y="1280160"/>
            <a:ext cx="1417320" cy="1828800"/>
          </a:xfrm>
          <a:prstGeom prst="rect">
            <a:avLst/>
          </a:prstGeom>
          <a:solidFill>
            <a:srgbClr val="1A2744">
              <a:alpha val="28000"/>
            </a:srgbClr>
          </a:solidFill>
          <a:ln w="12700">
            <a:solidFill>
              <a:srgbClr val="1E3A5F"/>
            </a:solidFill>
            <a:prstDash val="solid"/>
          </a:ln>
        </p:spPr>
      </p:sp>
      <p:sp>
        <p:nvSpPr>
          <p:cNvPr id="13" name="Shape 11"/>
          <p:cNvSpPr/>
          <p:nvPr/>
        </p:nvSpPr>
        <p:spPr>
          <a:xfrm>
            <a:off x="1463040" y="1280160"/>
            <a:ext cx="1417320" cy="64008"/>
          </a:xfrm>
          <a:prstGeom prst="rect">
            <a:avLst/>
          </a:prstGeom>
          <a:solidFill>
            <a:srgbClr val="00B4D8"/>
          </a:solidFill>
          <a:ln w="12700">
            <a:solidFill>
              <a:srgbClr val="00B4D8">
                <a:alpha val="0"/>
              </a:srgbClr>
            </a:solidFill>
            <a:prstDash val="solid"/>
          </a:ln>
        </p:spPr>
      </p:sp>
      <p:sp>
        <p:nvSpPr>
          <p:cNvPr id="14" name="Text 12"/>
          <p:cNvSpPr/>
          <p:nvPr/>
        </p:nvSpPr>
        <p:spPr>
          <a:xfrm>
            <a:off x="1536192" y="1417320"/>
            <a:ext cx="1271016" cy="731520"/>
          </a:xfrm>
          <a:prstGeom prst="rect">
            <a:avLst/>
          </a:prstGeom>
          <a:noFill/>
          <a:ln/>
        </p:spPr>
        <p:txBody>
          <a:bodyPr wrap="square" rtlCol="0" anchor="ctr"/>
          <a:lstStyle/>
          <a:p>
            <a:pPr marL="0" indent="0" algn="ctr">
              <a:buNone/>
            </a:pPr>
            <a:r>
              <a:rPr lang="en-US" sz="1200" b="1" dirty="0">
                <a:solidFill>
                  <a:srgbClr val="00B4D8"/>
                </a:solidFill>
              </a:rPr>
              <a:t>Format-Aware</a:t>
            </a:r>
            <a:endParaRPr lang="en-US" sz="1200" dirty="0"/>
          </a:p>
          <a:p>
            <a:pPr marL="0" indent="0" algn="ctr">
              <a:buNone/>
            </a:pPr>
            <a:r>
              <a:rPr lang="en-US" sz="1200" b="1" dirty="0">
                <a:solidFill>
                  <a:srgbClr val="00B4D8"/>
                </a:solidFill>
              </a:rPr>
              <a:t>Parsers</a:t>
            </a:r>
            <a:endParaRPr lang="en-US" sz="1200" dirty="0"/>
          </a:p>
        </p:txBody>
      </p:sp>
      <p:sp>
        <p:nvSpPr>
          <p:cNvPr id="15" name="Text 13"/>
          <p:cNvSpPr/>
          <p:nvPr/>
        </p:nvSpPr>
        <p:spPr>
          <a:xfrm>
            <a:off x="1536192" y="2212848"/>
            <a:ext cx="1271016" cy="685800"/>
          </a:xfrm>
          <a:prstGeom prst="rect">
            <a:avLst/>
          </a:prstGeom>
          <a:noFill/>
          <a:ln/>
        </p:spPr>
        <p:txBody>
          <a:bodyPr wrap="square" rtlCol="0" anchor="ctr"/>
          <a:lstStyle/>
          <a:p>
            <a:pPr marL="0" indent="0" algn="ctr">
              <a:buNone/>
            </a:pPr>
            <a:r>
              <a:rPr lang="en-US" sz="950" dirty="0">
                <a:solidFill>
                  <a:srgbClr val="8899BB"/>
                </a:solidFill>
              </a:rPr>
              <a:t>Normalize to CIR</a:t>
            </a:r>
            <a:endParaRPr lang="en-US" sz="950" dirty="0"/>
          </a:p>
        </p:txBody>
      </p:sp>
      <p:sp>
        <p:nvSpPr>
          <p:cNvPr id="16" name="Shape 14"/>
          <p:cNvSpPr/>
          <p:nvPr/>
        </p:nvSpPr>
        <p:spPr>
          <a:xfrm>
            <a:off x="2916936" y="2103120"/>
            <a:ext cx="109728" cy="36576"/>
          </a:xfrm>
          <a:prstGeom prst="rect">
            <a:avLst/>
          </a:prstGeom>
          <a:solidFill>
            <a:srgbClr val="00B4D8">
              <a:alpha val="70000"/>
            </a:srgbClr>
          </a:solidFill>
          <a:ln w="12700">
            <a:solidFill>
              <a:srgbClr val="00B4D8">
                <a:alpha val="0"/>
              </a:srgbClr>
            </a:solidFill>
            <a:prstDash val="solid"/>
          </a:ln>
        </p:spPr>
      </p:sp>
      <p:sp>
        <p:nvSpPr>
          <p:cNvPr id="17" name="Shape 15"/>
          <p:cNvSpPr/>
          <p:nvPr/>
        </p:nvSpPr>
        <p:spPr>
          <a:xfrm>
            <a:off x="3063240" y="1280160"/>
            <a:ext cx="1417320" cy="1828800"/>
          </a:xfrm>
          <a:prstGeom prst="rect">
            <a:avLst/>
          </a:prstGeom>
          <a:solidFill>
            <a:srgbClr val="1A2744">
              <a:alpha val="28000"/>
            </a:srgbClr>
          </a:solidFill>
          <a:ln w="12700">
            <a:solidFill>
              <a:srgbClr val="1E3A5F"/>
            </a:solidFill>
            <a:prstDash val="solid"/>
          </a:ln>
        </p:spPr>
      </p:sp>
      <p:sp>
        <p:nvSpPr>
          <p:cNvPr id="18" name="Shape 16"/>
          <p:cNvSpPr/>
          <p:nvPr/>
        </p:nvSpPr>
        <p:spPr>
          <a:xfrm>
            <a:off x="3063240" y="1280160"/>
            <a:ext cx="1417320" cy="64008"/>
          </a:xfrm>
          <a:prstGeom prst="rect">
            <a:avLst/>
          </a:prstGeom>
          <a:solidFill>
            <a:srgbClr val="9D4EDD"/>
          </a:solidFill>
          <a:ln w="12700">
            <a:solidFill>
              <a:srgbClr val="9D4EDD">
                <a:alpha val="0"/>
              </a:srgbClr>
            </a:solidFill>
            <a:prstDash val="solid"/>
          </a:ln>
        </p:spPr>
      </p:sp>
      <p:sp>
        <p:nvSpPr>
          <p:cNvPr id="19" name="Text 17"/>
          <p:cNvSpPr/>
          <p:nvPr/>
        </p:nvSpPr>
        <p:spPr>
          <a:xfrm>
            <a:off x="3136392" y="1417320"/>
            <a:ext cx="1271016" cy="731520"/>
          </a:xfrm>
          <a:prstGeom prst="rect">
            <a:avLst/>
          </a:prstGeom>
          <a:noFill/>
          <a:ln/>
        </p:spPr>
        <p:txBody>
          <a:bodyPr wrap="square" rtlCol="0" anchor="ctr"/>
          <a:lstStyle/>
          <a:p>
            <a:pPr marL="0" indent="0" algn="ctr">
              <a:buNone/>
            </a:pPr>
            <a:r>
              <a:rPr lang="en-US" sz="1200" b="1" dirty="0">
                <a:solidFill>
                  <a:srgbClr val="9D4EDD"/>
                </a:solidFill>
              </a:rPr>
              <a:t>Feature</a:t>
            </a:r>
            <a:endParaRPr lang="en-US" sz="1200" dirty="0"/>
          </a:p>
          <a:p>
            <a:pPr marL="0" indent="0" algn="ctr">
              <a:buNone/>
            </a:pPr>
            <a:r>
              <a:rPr lang="en-US" sz="1200" b="1" dirty="0">
                <a:solidFill>
                  <a:srgbClr val="9D4EDD"/>
                </a:solidFill>
              </a:rPr>
              <a:t>Extraction</a:t>
            </a:r>
            <a:endParaRPr lang="en-US" sz="1200" dirty="0"/>
          </a:p>
        </p:txBody>
      </p:sp>
      <p:sp>
        <p:nvSpPr>
          <p:cNvPr id="20" name="Text 18"/>
          <p:cNvSpPr/>
          <p:nvPr/>
        </p:nvSpPr>
        <p:spPr>
          <a:xfrm>
            <a:off x="3136392" y="2212848"/>
            <a:ext cx="1271016" cy="685800"/>
          </a:xfrm>
          <a:prstGeom prst="rect">
            <a:avLst/>
          </a:prstGeom>
          <a:noFill/>
          <a:ln/>
        </p:spPr>
        <p:txBody>
          <a:bodyPr wrap="square" rtlCol="0" anchor="ctr"/>
          <a:lstStyle/>
          <a:p>
            <a:pPr marL="0" indent="0" algn="ctr">
              <a:buNone/>
            </a:pPr>
            <a:r>
              <a:rPr lang="en-US" sz="950" dirty="0">
                <a:solidFill>
                  <a:srgbClr val="8899BB"/>
                </a:solidFill>
              </a:rPr>
              <a:t>40 indicators</a:t>
            </a:r>
            <a:endParaRPr lang="en-US" sz="950" dirty="0"/>
          </a:p>
        </p:txBody>
      </p:sp>
      <p:sp>
        <p:nvSpPr>
          <p:cNvPr id="21" name="Shape 19"/>
          <p:cNvSpPr/>
          <p:nvPr/>
        </p:nvSpPr>
        <p:spPr>
          <a:xfrm>
            <a:off x="4517136" y="2103120"/>
            <a:ext cx="109728" cy="36576"/>
          </a:xfrm>
          <a:prstGeom prst="rect">
            <a:avLst/>
          </a:prstGeom>
          <a:solidFill>
            <a:srgbClr val="9D4EDD">
              <a:alpha val="70000"/>
            </a:srgbClr>
          </a:solidFill>
          <a:ln w="12700">
            <a:solidFill>
              <a:srgbClr val="9D4EDD">
                <a:alpha val="0"/>
              </a:srgbClr>
            </a:solidFill>
            <a:prstDash val="solid"/>
          </a:ln>
        </p:spPr>
      </p:sp>
      <p:sp>
        <p:nvSpPr>
          <p:cNvPr id="22" name="Shape 20"/>
          <p:cNvSpPr/>
          <p:nvPr/>
        </p:nvSpPr>
        <p:spPr>
          <a:xfrm>
            <a:off x="4663440" y="1280160"/>
            <a:ext cx="1508760" cy="1828800"/>
          </a:xfrm>
          <a:prstGeom prst="rect">
            <a:avLst/>
          </a:prstGeom>
          <a:solidFill>
            <a:srgbClr val="1A2744">
              <a:alpha val="28000"/>
            </a:srgbClr>
          </a:solidFill>
          <a:ln w="12700">
            <a:solidFill>
              <a:srgbClr val="1E3A5F"/>
            </a:solidFill>
            <a:prstDash val="solid"/>
          </a:ln>
        </p:spPr>
      </p:sp>
      <p:sp>
        <p:nvSpPr>
          <p:cNvPr id="23" name="Shape 21"/>
          <p:cNvSpPr/>
          <p:nvPr/>
        </p:nvSpPr>
        <p:spPr>
          <a:xfrm>
            <a:off x="4663440" y="1280160"/>
            <a:ext cx="1508760" cy="64008"/>
          </a:xfrm>
          <a:prstGeom prst="rect">
            <a:avLst/>
          </a:prstGeom>
          <a:solidFill>
            <a:srgbClr val="C77DFF"/>
          </a:solidFill>
          <a:ln w="12700">
            <a:solidFill>
              <a:srgbClr val="C77DFF">
                <a:alpha val="0"/>
              </a:srgbClr>
            </a:solidFill>
            <a:prstDash val="solid"/>
          </a:ln>
        </p:spPr>
      </p:sp>
      <p:sp>
        <p:nvSpPr>
          <p:cNvPr id="24" name="Text 22"/>
          <p:cNvSpPr/>
          <p:nvPr/>
        </p:nvSpPr>
        <p:spPr>
          <a:xfrm>
            <a:off x="4736592" y="1417320"/>
            <a:ext cx="1362456" cy="731520"/>
          </a:xfrm>
          <a:prstGeom prst="rect">
            <a:avLst/>
          </a:prstGeom>
          <a:noFill/>
          <a:ln/>
        </p:spPr>
        <p:txBody>
          <a:bodyPr wrap="square" rtlCol="0" anchor="ctr"/>
          <a:lstStyle/>
          <a:p>
            <a:pPr marL="0" indent="0" algn="ctr">
              <a:buNone/>
            </a:pPr>
            <a:r>
              <a:rPr lang="en-US" sz="1200" b="1" dirty="0">
                <a:solidFill>
                  <a:srgbClr val="C77DFF"/>
                </a:solidFill>
              </a:rPr>
              <a:t>Statistical</a:t>
            </a:r>
            <a:endParaRPr lang="en-US" sz="1200" dirty="0"/>
          </a:p>
          <a:p>
            <a:pPr marL="0" indent="0" algn="ctr">
              <a:buNone/>
            </a:pPr>
            <a:r>
              <a:rPr lang="en-US" sz="1200" b="1" dirty="0">
                <a:solidFill>
                  <a:srgbClr val="C77DFF"/>
                </a:solidFill>
              </a:rPr>
              <a:t>Characterization</a:t>
            </a:r>
            <a:endParaRPr lang="en-US" sz="1200" dirty="0"/>
          </a:p>
        </p:txBody>
      </p:sp>
      <p:sp>
        <p:nvSpPr>
          <p:cNvPr id="25" name="Text 23"/>
          <p:cNvSpPr/>
          <p:nvPr/>
        </p:nvSpPr>
        <p:spPr>
          <a:xfrm>
            <a:off x="4736592" y="2212848"/>
            <a:ext cx="1362456" cy="685800"/>
          </a:xfrm>
          <a:prstGeom prst="rect">
            <a:avLst/>
          </a:prstGeom>
          <a:noFill/>
          <a:ln/>
        </p:spPr>
        <p:txBody>
          <a:bodyPr wrap="square" rtlCol="0" anchor="ctr"/>
          <a:lstStyle/>
          <a:p>
            <a:pPr marL="0" indent="0" algn="ctr">
              <a:buNone/>
            </a:pPr>
            <a:r>
              <a:rPr lang="en-US" sz="950" dirty="0">
                <a:solidFill>
                  <a:srgbClr val="8899BB"/>
                </a:solidFill>
              </a:rPr>
              <a:t>Variance, IQR,</a:t>
            </a:r>
            <a:endParaRPr lang="en-US" sz="950" dirty="0"/>
          </a:p>
          <a:p>
            <a:pPr marL="0" indent="0" algn="ctr">
              <a:buNone/>
            </a:pPr>
            <a:r>
              <a:rPr lang="en-US" sz="950" dirty="0">
                <a:solidFill>
                  <a:srgbClr val="8899BB"/>
                </a:solidFill>
              </a:rPr>
              <a:t>Entropy, Kurtosis</a:t>
            </a:r>
            <a:endParaRPr lang="en-US" sz="950" dirty="0"/>
          </a:p>
        </p:txBody>
      </p:sp>
      <p:sp>
        <p:nvSpPr>
          <p:cNvPr id="26" name="Shape 24"/>
          <p:cNvSpPr/>
          <p:nvPr/>
        </p:nvSpPr>
        <p:spPr>
          <a:xfrm>
            <a:off x="6208776" y="2103120"/>
            <a:ext cx="109728" cy="36576"/>
          </a:xfrm>
          <a:prstGeom prst="rect">
            <a:avLst/>
          </a:prstGeom>
          <a:solidFill>
            <a:srgbClr val="C77DFF">
              <a:alpha val="70000"/>
            </a:srgbClr>
          </a:solidFill>
          <a:ln w="12700">
            <a:solidFill>
              <a:srgbClr val="C77DFF">
                <a:alpha val="0"/>
              </a:srgbClr>
            </a:solidFill>
            <a:prstDash val="solid"/>
          </a:ln>
        </p:spPr>
      </p:sp>
      <p:sp>
        <p:nvSpPr>
          <p:cNvPr id="27" name="Shape 25"/>
          <p:cNvSpPr/>
          <p:nvPr/>
        </p:nvSpPr>
        <p:spPr>
          <a:xfrm>
            <a:off x="6355080" y="1280160"/>
            <a:ext cx="1417320" cy="1828800"/>
          </a:xfrm>
          <a:prstGeom prst="rect">
            <a:avLst/>
          </a:prstGeom>
          <a:solidFill>
            <a:srgbClr val="1A2744">
              <a:alpha val="28000"/>
            </a:srgbClr>
          </a:solidFill>
          <a:ln w="12700">
            <a:solidFill>
              <a:srgbClr val="1E3A5F"/>
            </a:solidFill>
            <a:prstDash val="solid"/>
          </a:ln>
        </p:spPr>
      </p:sp>
      <p:sp>
        <p:nvSpPr>
          <p:cNvPr id="28" name="Shape 26"/>
          <p:cNvSpPr/>
          <p:nvPr/>
        </p:nvSpPr>
        <p:spPr>
          <a:xfrm>
            <a:off x="6355080" y="1280160"/>
            <a:ext cx="1417320" cy="64008"/>
          </a:xfrm>
          <a:prstGeom prst="rect">
            <a:avLst/>
          </a:prstGeom>
          <a:solidFill>
            <a:srgbClr val="FF4D6D"/>
          </a:solidFill>
          <a:ln w="12700">
            <a:solidFill>
              <a:srgbClr val="FF4D6D">
                <a:alpha val="0"/>
              </a:srgbClr>
            </a:solidFill>
            <a:prstDash val="solid"/>
          </a:ln>
        </p:spPr>
      </p:sp>
      <p:sp>
        <p:nvSpPr>
          <p:cNvPr id="29" name="Text 27"/>
          <p:cNvSpPr/>
          <p:nvPr/>
        </p:nvSpPr>
        <p:spPr>
          <a:xfrm>
            <a:off x="6428232" y="1417320"/>
            <a:ext cx="1271016" cy="731520"/>
          </a:xfrm>
          <a:prstGeom prst="rect">
            <a:avLst/>
          </a:prstGeom>
          <a:noFill/>
          <a:ln/>
        </p:spPr>
        <p:txBody>
          <a:bodyPr wrap="square" rtlCol="0" anchor="ctr"/>
          <a:lstStyle/>
          <a:p>
            <a:pPr marL="0" indent="0" algn="ctr">
              <a:buNone/>
            </a:pPr>
            <a:r>
              <a:rPr lang="en-US" sz="1200" b="1" dirty="0">
                <a:solidFill>
                  <a:srgbClr val="FF4D6D"/>
                </a:solidFill>
              </a:rPr>
              <a:t>Anomaly</a:t>
            </a:r>
            <a:endParaRPr lang="en-US" sz="1200" dirty="0"/>
          </a:p>
          <a:p>
            <a:pPr marL="0" indent="0" algn="ctr">
              <a:buNone/>
            </a:pPr>
            <a:r>
              <a:rPr lang="en-US" sz="1200" b="1" dirty="0">
                <a:solidFill>
                  <a:srgbClr val="FF4D6D"/>
                </a:solidFill>
              </a:rPr>
              <a:t>Detection</a:t>
            </a:r>
            <a:endParaRPr lang="en-US" sz="1200" dirty="0"/>
          </a:p>
        </p:txBody>
      </p:sp>
      <p:sp>
        <p:nvSpPr>
          <p:cNvPr id="30" name="Text 28"/>
          <p:cNvSpPr/>
          <p:nvPr/>
        </p:nvSpPr>
        <p:spPr>
          <a:xfrm>
            <a:off x="6428232" y="2212848"/>
            <a:ext cx="1271016" cy="685800"/>
          </a:xfrm>
          <a:prstGeom prst="rect">
            <a:avLst/>
          </a:prstGeom>
          <a:noFill/>
          <a:ln/>
        </p:spPr>
        <p:txBody>
          <a:bodyPr wrap="square" rtlCol="0" anchor="ctr"/>
          <a:lstStyle/>
          <a:p>
            <a:pPr marL="0" indent="0" algn="ctr">
              <a:buNone/>
            </a:pPr>
            <a:r>
              <a:rPr lang="en-US" sz="950" dirty="0">
                <a:solidFill>
                  <a:srgbClr val="8899BB"/>
                </a:solidFill>
              </a:rPr>
              <a:t>IQR + Rule-Based</a:t>
            </a:r>
            <a:endParaRPr lang="en-US" sz="950" dirty="0"/>
          </a:p>
        </p:txBody>
      </p:sp>
      <p:sp>
        <p:nvSpPr>
          <p:cNvPr id="31" name="Shape 29"/>
          <p:cNvSpPr/>
          <p:nvPr/>
        </p:nvSpPr>
        <p:spPr>
          <a:xfrm>
            <a:off x="7808976" y="2103120"/>
            <a:ext cx="109728" cy="36576"/>
          </a:xfrm>
          <a:prstGeom prst="rect">
            <a:avLst/>
          </a:prstGeom>
          <a:solidFill>
            <a:srgbClr val="FF4D6D">
              <a:alpha val="70000"/>
            </a:srgbClr>
          </a:solidFill>
          <a:ln w="12700">
            <a:solidFill>
              <a:srgbClr val="FF4D6D">
                <a:alpha val="0"/>
              </a:srgbClr>
            </a:solidFill>
            <a:prstDash val="solid"/>
          </a:ln>
        </p:spPr>
      </p:sp>
      <p:sp>
        <p:nvSpPr>
          <p:cNvPr id="32" name="Shape 30"/>
          <p:cNvSpPr/>
          <p:nvPr/>
        </p:nvSpPr>
        <p:spPr>
          <a:xfrm>
            <a:off x="7955280" y="1280160"/>
            <a:ext cx="1097280" cy="1828800"/>
          </a:xfrm>
          <a:prstGeom prst="rect">
            <a:avLst/>
          </a:prstGeom>
          <a:solidFill>
            <a:srgbClr val="1A2744">
              <a:alpha val="28000"/>
            </a:srgbClr>
          </a:solidFill>
          <a:ln w="12700">
            <a:solidFill>
              <a:srgbClr val="1E3A5F"/>
            </a:solidFill>
            <a:prstDash val="solid"/>
          </a:ln>
        </p:spPr>
      </p:sp>
      <p:sp>
        <p:nvSpPr>
          <p:cNvPr id="33" name="Shape 31"/>
          <p:cNvSpPr/>
          <p:nvPr/>
        </p:nvSpPr>
        <p:spPr>
          <a:xfrm>
            <a:off x="7955280" y="1280160"/>
            <a:ext cx="1097280" cy="64008"/>
          </a:xfrm>
          <a:prstGeom prst="rect">
            <a:avLst/>
          </a:prstGeom>
          <a:solidFill>
            <a:srgbClr val="06D6A0"/>
          </a:solidFill>
          <a:ln w="12700">
            <a:solidFill>
              <a:srgbClr val="06D6A0">
                <a:alpha val="0"/>
              </a:srgbClr>
            </a:solidFill>
            <a:prstDash val="solid"/>
          </a:ln>
        </p:spPr>
      </p:sp>
      <p:sp>
        <p:nvSpPr>
          <p:cNvPr id="34" name="Text 32"/>
          <p:cNvSpPr/>
          <p:nvPr/>
        </p:nvSpPr>
        <p:spPr>
          <a:xfrm>
            <a:off x="8028432" y="1417320"/>
            <a:ext cx="950976" cy="731520"/>
          </a:xfrm>
          <a:prstGeom prst="rect">
            <a:avLst/>
          </a:prstGeom>
          <a:noFill/>
          <a:ln/>
        </p:spPr>
        <p:txBody>
          <a:bodyPr wrap="square" rtlCol="0" anchor="ctr"/>
          <a:lstStyle/>
          <a:p>
            <a:pPr marL="0" indent="0" algn="ctr">
              <a:buNone/>
            </a:pPr>
            <a:r>
              <a:rPr lang="en-US" sz="1200" b="1" dirty="0">
                <a:solidFill>
                  <a:srgbClr val="06D6A0"/>
                </a:solidFill>
              </a:rPr>
              <a:t>Output</a:t>
            </a:r>
            <a:endParaRPr lang="en-US" sz="1200" dirty="0"/>
          </a:p>
          <a:p>
            <a:pPr marL="0" indent="0" algn="ctr">
              <a:buNone/>
            </a:pPr>
            <a:r>
              <a:rPr lang="en-US" sz="1200" b="1" dirty="0">
                <a:solidFill>
                  <a:srgbClr val="06D6A0"/>
                </a:solidFill>
              </a:rPr>
              <a:t>Datasets</a:t>
            </a:r>
            <a:endParaRPr lang="en-US" sz="1200" dirty="0"/>
          </a:p>
        </p:txBody>
      </p:sp>
      <p:sp>
        <p:nvSpPr>
          <p:cNvPr id="35" name="Text 33"/>
          <p:cNvSpPr/>
          <p:nvPr/>
        </p:nvSpPr>
        <p:spPr>
          <a:xfrm>
            <a:off x="8028432" y="2212848"/>
            <a:ext cx="950976" cy="685800"/>
          </a:xfrm>
          <a:prstGeom prst="rect">
            <a:avLst/>
          </a:prstGeom>
          <a:noFill/>
          <a:ln/>
        </p:spPr>
        <p:txBody>
          <a:bodyPr wrap="square" rtlCol="0" anchor="ctr"/>
          <a:lstStyle/>
          <a:p>
            <a:pPr marL="0" indent="0" algn="ctr">
              <a:buNone/>
            </a:pPr>
            <a:r>
              <a:rPr lang="en-US" sz="950" dirty="0">
                <a:solidFill>
                  <a:srgbClr val="8899BB"/>
                </a:solidFill>
              </a:rPr>
              <a:t>Reports &amp; Library</a:t>
            </a:r>
            <a:endParaRPr lang="en-US" sz="950" dirty="0"/>
          </a:p>
        </p:txBody>
      </p:sp>
      <p:sp>
        <p:nvSpPr>
          <p:cNvPr id="36" name="Shape 34"/>
          <p:cNvSpPr/>
          <p:nvPr/>
        </p:nvSpPr>
        <p:spPr>
          <a:xfrm>
            <a:off x="1097280" y="3310128"/>
            <a:ext cx="3291840" cy="457200"/>
          </a:xfrm>
          <a:prstGeom prst="rect">
            <a:avLst/>
          </a:prstGeom>
          <a:solidFill>
            <a:srgbClr val="1A2744">
              <a:alpha val="25000"/>
            </a:srgbClr>
          </a:solidFill>
          <a:ln w="12700">
            <a:solidFill>
              <a:srgbClr val="1E3A5F"/>
            </a:solidFill>
            <a:prstDash val="solid"/>
          </a:ln>
        </p:spPr>
      </p:sp>
      <p:sp>
        <p:nvSpPr>
          <p:cNvPr id="37" name="Text 35"/>
          <p:cNvSpPr/>
          <p:nvPr/>
        </p:nvSpPr>
        <p:spPr>
          <a:xfrm>
            <a:off x="1143000" y="3383280"/>
            <a:ext cx="3200400" cy="320040"/>
          </a:xfrm>
          <a:prstGeom prst="rect">
            <a:avLst/>
          </a:prstGeom>
          <a:noFill/>
          <a:ln/>
        </p:spPr>
        <p:txBody>
          <a:bodyPr wrap="square" rtlCol="0" anchor="ctr"/>
          <a:lstStyle/>
          <a:p>
            <a:pPr marL="0" indent="0" algn="ctr">
              <a:buNone/>
            </a:pPr>
            <a:r>
              <a:rPr lang="en-US" sz="1000" i="1" dirty="0">
                <a:solidFill>
                  <a:srgbClr val="00B4D8"/>
                </a:solidFill>
              </a:rPr>
              <a:t>Common Intermediate Representation (CIR)</a:t>
            </a:r>
            <a:endParaRPr lang="en-US" sz="1000" dirty="0"/>
          </a:p>
        </p:txBody>
      </p:sp>
      <p:sp>
        <p:nvSpPr>
          <p:cNvPr id="38" name="Shape 36"/>
          <p:cNvSpPr/>
          <p:nvPr/>
        </p:nvSpPr>
        <p:spPr>
          <a:xfrm>
            <a:off x="1417320" y="3310128"/>
            <a:ext cx="0" cy="0"/>
          </a:xfrm>
          <a:prstGeom prst="line">
            <a:avLst/>
          </a:prstGeom>
          <a:noFill/>
          <a:ln w="12700">
            <a:solidFill>
              <a:srgbClr val="00B4D8">
                <a:alpha val="0"/>
              </a:srgbClr>
            </a:solidFill>
            <a:prstDash val="solid"/>
          </a:ln>
        </p:spPr>
      </p:sp>
      <p:sp>
        <p:nvSpPr>
          <p:cNvPr id="39" name="Shape 37"/>
          <p:cNvSpPr/>
          <p:nvPr/>
        </p:nvSpPr>
        <p:spPr>
          <a:xfrm>
            <a:off x="365760" y="3931920"/>
            <a:ext cx="8412480" cy="822960"/>
          </a:xfrm>
          <a:prstGeom prst="rect">
            <a:avLst/>
          </a:prstGeom>
          <a:solidFill>
            <a:srgbClr val="1A2744">
              <a:alpha val="20000"/>
            </a:srgbClr>
          </a:solidFill>
          <a:ln w="12700">
            <a:solidFill>
              <a:srgbClr val="1E3A5F"/>
            </a:solidFill>
            <a:prstDash val="solid"/>
          </a:ln>
        </p:spPr>
      </p:sp>
      <p:sp>
        <p:nvSpPr>
          <p:cNvPr id="40" name="Shape 38"/>
          <p:cNvSpPr/>
          <p:nvPr/>
        </p:nvSpPr>
        <p:spPr>
          <a:xfrm>
            <a:off x="365760" y="3931920"/>
            <a:ext cx="54864" cy="822960"/>
          </a:xfrm>
          <a:prstGeom prst="rect">
            <a:avLst/>
          </a:prstGeom>
          <a:solidFill>
            <a:srgbClr val="00B4D8"/>
          </a:solidFill>
          <a:ln w="12700">
            <a:solidFill>
              <a:srgbClr val="00B4D8">
                <a:alpha val="0"/>
              </a:srgbClr>
            </a:solidFill>
            <a:prstDash val="solid"/>
          </a:ln>
        </p:spPr>
      </p:sp>
      <p:sp>
        <p:nvSpPr>
          <p:cNvPr id="41" name="Text 39"/>
          <p:cNvSpPr/>
          <p:nvPr/>
        </p:nvSpPr>
        <p:spPr>
          <a:xfrm>
            <a:off x="594360" y="4069080"/>
            <a:ext cx="8138160" cy="502920"/>
          </a:xfrm>
          <a:prstGeom prst="rect">
            <a:avLst/>
          </a:prstGeom>
          <a:noFill/>
          <a:ln/>
        </p:spPr>
        <p:txBody>
          <a:bodyPr wrap="square" rtlCol="0" anchor="ctr"/>
          <a:lstStyle/>
          <a:p>
            <a:pPr marL="0" indent="0">
              <a:buNone/>
            </a:pPr>
            <a:r>
              <a:rPr lang="en-US" sz="1200" b="1" dirty="0">
                <a:solidFill>
                  <a:srgbClr val="00B4D8"/>
                </a:solidFill>
              </a:rPr>
              <a:t>Modular Design:</a:t>
            </a:r>
            <a:r>
              <a:rPr lang="en-US" sz="1200" dirty="0">
                <a:solidFill>
                  <a:srgbClr val="E0E6F0"/>
                </a:solidFill>
              </a:rPr>
              <a:t>  New platform support = new parser only. All downstream modules remain unchanged.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7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9D4EDD"/>
                </a:solidFill>
              </a:rPr>
              <a:t>DATA PIPELINE</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600" b="1" dirty="0">
                <a:solidFill>
                  <a:srgbClr val="FFFFFF"/>
                </a:solidFill>
              </a:rPr>
              <a:t>From Raw Log to Structured Intelligence</a:t>
            </a:r>
            <a:endParaRPr lang="en-US" sz="2600" dirty="0"/>
          </a:p>
        </p:txBody>
      </p:sp>
      <p:sp>
        <p:nvSpPr>
          <p:cNvPr id="7" name="Shape 5"/>
          <p:cNvSpPr/>
          <p:nvPr/>
        </p:nvSpPr>
        <p:spPr>
          <a:xfrm>
            <a:off x="274320" y="1188720"/>
            <a:ext cx="2194560" cy="914400"/>
          </a:xfrm>
          <a:prstGeom prst="rect">
            <a:avLst/>
          </a:prstGeom>
          <a:solidFill>
            <a:srgbClr val="1A2744">
              <a:alpha val="25000"/>
            </a:srgbClr>
          </a:solidFill>
          <a:ln w="12700">
            <a:solidFill>
              <a:srgbClr val="1E3A5F"/>
            </a:solidFill>
            <a:prstDash val="solid"/>
          </a:ln>
        </p:spPr>
      </p:sp>
      <p:sp>
        <p:nvSpPr>
          <p:cNvPr id="8" name="Text 6"/>
          <p:cNvSpPr/>
          <p:nvPr/>
        </p:nvSpPr>
        <p:spPr>
          <a:xfrm>
            <a:off x="411480" y="1280160"/>
            <a:ext cx="1920240" cy="320040"/>
          </a:xfrm>
          <a:prstGeom prst="rect">
            <a:avLst/>
          </a:prstGeom>
          <a:noFill/>
          <a:ln/>
        </p:spPr>
        <p:txBody>
          <a:bodyPr wrap="square" rtlCol="0" anchor="ctr"/>
          <a:lstStyle/>
          <a:p>
            <a:pPr marL="0" indent="0">
              <a:buNone/>
            </a:pPr>
            <a:r>
              <a:rPr lang="en-US" sz="1300" b="1" dirty="0">
                <a:solidFill>
                  <a:srgbClr val="00B4D8"/>
                </a:solidFill>
              </a:rPr>
              <a:t>SurveyCTO</a:t>
            </a:r>
            <a:endParaRPr lang="en-US" sz="1300" dirty="0"/>
          </a:p>
        </p:txBody>
      </p:sp>
      <p:sp>
        <p:nvSpPr>
          <p:cNvPr id="9" name="Text 7"/>
          <p:cNvSpPr/>
          <p:nvPr/>
        </p:nvSpPr>
        <p:spPr>
          <a:xfrm>
            <a:off x="411480" y="1600200"/>
            <a:ext cx="1920240" cy="411480"/>
          </a:xfrm>
          <a:prstGeom prst="rect">
            <a:avLst/>
          </a:prstGeom>
          <a:noFill/>
          <a:ln/>
        </p:spPr>
        <p:txBody>
          <a:bodyPr wrap="square" rtlCol="0" anchor="ctr"/>
          <a:lstStyle/>
          <a:p>
            <a:pPr marL="0" indent="0">
              <a:buNone/>
            </a:pPr>
            <a:r>
              <a:rPr lang="en-US" sz="900" dirty="0">
                <a:solidFill>
                  <a:srgbClr val="8899BB"/>
                </a:solidFill>
              </a:rPr>
              <a:t>event, node, start_ms, end_ms</a:t>
            </a:r>
            <a:endParaRPr lang="en-US" sz="900" dirty="0"/>
          </a:p>
          <a:p>
            <a:pPr marL="0" indent="0">
              <a:buNone/>
            </a:pPr>
            <a:r>
              <a:rPr lang="en-US" sz="900" dirty="0">
                <a:solidFill>
                  <a:srgbClr val="8899BB"/>
                </a:solidFill>
              </a:rPr>
              <a:t>form-start | constraint | end</a:t>
            </a:r>
            <a:endParaRPr lang="en-US" sz="900" dirty="0"/>
          </a:p>
        </p:txBody>
      </p:sp>
      <p:sp>
        <p:nvSpPr>
          <p:cNvPr id="10" name="Shape 8"/>
          <p:cNvSpPr/>
          <p:nvPr/>
        </p:nvSpPr>
        <p:spPr>
          <a:xfrm>
            <a:off x="274320" y="2286000"/>
            <a:ext cx="2194560" cy="914400"/>
          </a:xfrm>
          <a:prstGeom prst="rect">
            <a:avLst/>
          </a:prstGeom>
          <a:solidFill>
            <a:srgbClr val="1A2744">
              <a:alpha val="25000"/>
            </a:srgbClr>
          </a:solidFill>
          <a:ln w="12700">
            <a:solidFill>
              <a:srgbClr val="1E3A5F"/>
            </a:solidFill>
            <a:prstDash val="solid"/>
          </a:ln>
        </p:spPr>
      </p:sp>
      <p:sp>
        <p:nvSpPr>
          <p:cNvPr id="11" name="Text 9"/>
          <p:cNvSpPr/>
          <p:nvPr/>
        </p:nvSpPr>
        <p:spPr>
          <a:xfrm>
            <a:off x="411480" y="2377440"/>
            <a:ext cx="1920240" cy="320040"/>
          </a:xfrm>
          <a:prstGeom prst="rect">
            <a:avLst/>
          </a:prstGeom>
          <a:noFill/>
          <a:ln/>
        </p:spPr>
        <p:txBody>
          <a:bodyPr wrap="square" rtlCol="0" anchor="ctr"/>
          <a:lstStyle/>
          <a:p>
            <a:pPr marL="0" indent="0">
              <a:buNone/>
            </a:pPr>
            <a:r>
              <a:rPr lang="en-US" sz="1300" b="1" dirty="0">
                <a:solidFill>
                  <a:srgbClr val="C77DFF"/>
                </a:solidFill>
              </a:rPr>
              <a:t>ODK</a:t>
            </a:r>
            <a:endParaRPr lang="en-US" sz="1300" dirty="0"/>
          </a:p>
        </p:txBody>
      </p:sp>
      <p:sp>
        <p:nvSpPr>
          <p:cNvPr id="12" name="Text 10"/>
          <p:cNvSpPr/>
          <p:nvPr/>
        </p:nvSpPr>
        <p:spPr>
          <a:xfrm>
            <a:off x="411480" y="2697480"/>
            <a:ext cx="1920240" cy="411480"/>
          </a:xfrm>
          <a:prstGeom prst="rect">
            <a:avLst/>
          </a:prstGeom>
          <a:noFill/>
          <a:ln/>
        </p:spPr>
        <p:txBody>
          <a:bodyPr wrap="square" rtlCol="0" anchor="ctr"/>
          <a:lstStyle/>
          <a:p>
            <a:pPr marL="0" indent="0">
              <a:buNone/>
            </a:pPr>
            <a:r>
              <a:rPr lang="en-US" sz="900" dirty="0">
                <a:solidFill>
                  <a:srgbClr val="8899BB"/>
                </a:solidFill>
              </a:rPr>
              <a:t>event, node, start (ISO)</a:t>
            </a:r>
            <a:endParaRPr lang="en-US" sz="900" dirty="0"/>
          </a:p>
          <a:p>
            <a:pPr marL="0" indent="0">
              <a:buNone/>
            </a:pPr>
            <a:r>
              <a:rPr lang="en-US" sz="900" dirty="0">
                <a:solidFill>
                  <a:srgbClr val="8899BB"/>
                </a:solidFill>
              </a:rPr>
              <a:t>"question" taxonomy</a:t>
            </a:r>
            <a:endParaRPr lang="en-US" sz="900" dirty="0"/>
          </a:p>
        </p:txBody>
      </p:sp>
      <p:sp>
        <p:nvSpPr>
          <p:cNvPr id="13" name="Shape 11"/>
          <p:cNvSpPr/>
          <p:nvPr/>
        </p:nvSpPr>
        <p:spPr>
          <a:xfrm>
            <a:off x="2514600" y="1600200"/>
            <a:ext cx="548640" cy="36576"/>
          </a:xfrm>
          <a:prstGeom prst="rect">
            <a:avLst/>
          </a:prstGeom>
          <a:solidFill>
            <a:srgbClr val="00B4D8"/>
          </a:solidFill>
          <a:ln w="12700">
            <a:solidFill>
              <a:srgbClr val="00B4D8">
                <a:alpha val="0"/>
              </a:srgbClr>
            </a:solidFill>
            <a:prstDash val="solid"/>
          </a:ln>
        </p:spPr>
      </p:sp>
      <p:sp>
        <p:nvSpPr>
          <p:cNvPr id="14" name="Shape 12"/>
          <p:cNvSpPr/>
          <p:nvPr/>
        </p:nvSpPr>
        <p:spPr>
          <a:xfrm>
            <a:off x="2514600" y="2697480"/>
            <a:ext cx="548640" cy="36576"/>
          </a:xfrm>
          <a:prstGeom prst="rect">
            <a:avLst/>
          </a:prstGeom>
          <a:solidFill>
            <a:srgbClr val="C77DFF"/>
          </a:solidFill>
          <a:ln w="12700">
            <a:solidFill>
              <a:srgbClr val="C77DFF">
                <a:alpha val="0"/>
              </a:srgbClr>
            </a:solidFill>
            <a:prstDash val="solid"/>
          </a:ln>
        </p:spPr>
      </p:sp>
      <p:sp>
        <p:nvSpPr>
          <p:cNvPr id="15" name="Shape 13"/>
          <p:cNvSpPr/>
          <p:nvPr/>
        </p:nvSpPr>
        <p:spPr>
          <a:xfrm>
            <a:off x="3108960" y="1645920"/>
            <a:ext cx="2011680" cy="1371600"/>
          </a:xfrm>
          <a:prstGeom prst="rect">
            <a:avLst/>
          </a:prstGeom>
          <a:solidFill>
            <a:srgbClr val="1A2744">
              <a:alpha val="30000"/>
            </a:srgbClr>
          </a:solidFill>
          <a:ln w="12700">
            <a:solidFill>
              <a:srgbClr val="1E3A5F"/>
            </a:solidFill>
            <a:prstDash val="solid"/>
          </a:ln>
        </p:spPr>
      </p:sp>
      <p:sp>
        <p:nvSpPr>
          <p:cNvPr id="16" name="Shape 14"/>
          <p:cNvSpPr/>
          <p:nvPr/>
        </p:nvSpPr>
        <p:spPr>
          <a:xfrm>
            <a:off x="3108960" y="1645920"/>
            <a:ext cx="2011680" cy="54864"/>
          </a:xfrm>
          <a:prstGeom prst="rect">
            <a:avLst/>
          </a:prstGeom>
          <a:solidFill>
            <a:srgbClr val="9D4EDD"/>
          </a:solidFill>
          <a:ln w="12700">
            <a:solidFill>
              <a:srgbClr val="9D4EDD">
                <a:alpha val="0"/>
              </a:srgbClr>
            </a:solidFill>
            <a:prstDash val="solid"/>
          </a:ln>
        </p:spPr>
      </p:sp>
      <p:sp>
        <p:nvSpPr>
          <p:cNvPr id="17" name="Text 15"/>
          <p:cNvSpPr/>
          <p:nvPr/>
        </p:nvSpPr>
        <p:spPr>
          <a:xfrm>
            <a:off x="3200400" y="1755648"/>
            <a:ext cx="1828800" cy="320040"/>
          </a:xfrm>
          <a:prstGeom prst="rect">
            <a:avLst/>
          </a:prstGeom>
          <a:noFill/>
          <a:ln/>
        </p:spPr>
        <p:txBody>
          <a:bodyPr wrap="square" rtlCol="0" anchor="ctr"/>
          <a:lstStyle/>
          <a:p>
            <a:pPr marL="0" indent="0" algn="ctr">
              <a:buNone/>
            </a:pPr>
            <a:r>
              <a:rPr lang="en-US" sz="1300" b="1" dirty="0">
                <a:solidFill>
                  <a:srgbClr val="9D4EDD"/>
                </a:solidFill>
              </a:rPr>
              <a:t>Parser Layer</a:t>
            </a:r>
            <a:endParaRPr lang="en-US" sz="1300" dirty="0"/>
          </a:p>
        </p:txBody>
      </p:sp>
      <p:sp>
        <p:nvSpPr>
          <p:cNvPr id="18" name="Text 16"/>
          <p:cNvSpPr/>
          <p:nvPr/>
        </p:nvSpPr>
        <p:spPr>
          <a:xfrm>
            <a:off x="3200400" y="2121408"/>
            <a:ext cx="1828800" cy="685800"/>
          </a:xfrm>
          <a:prstGeom prst="rect">
            <a:avLst/>
          </a:prstGeom>
          <a:noFill/>
          <a:ln/>
        </p:spPr>
        <p:txBody>
          <a:bodyPr wrap="square" rtlCol="0" anchor="ctr"/>
          <a:lstStyle/>
          <a:p>
            <a:pPr marL="0" indent="0" algn="ctr">
              <a:buNone/>
            </a:pPr>
            <a:r>
              <a:rPr lang="en-US" sz="1000" dirty="0">
                <a:solidFill>
                  <a:srgbClr val="E0E6F0"/>
                </a:solidFill>
              </a:rPr>
              <a:t>SurveyCTOParser</a:t>
            </a:r>
            <a:endParaRPr lang="en-US" sz="1000" dirty="0"/>
          </a:p>
          <a:p>
            <a:pPr marL="0" indent="0" algn="ctr">
              <a:buNone/>
            </a:pPr>
            <a:r>
              <a:rPr lang="en-US" sz="1000" dirty="0">
                <a:solidFill>
                  <a:srgbClr val="E0E6F0"/>
                </a:solidFill>
              </a:rPr>
              <a:t>ODKParser</a:t>
            </a:r>
            <a:endParaRPr lang="en-US" sz="1000" dirty="0"/>
          </a:p>
          <a:p>
            <a:pPr marL="0" indent="0" algn="ctr">
              <a:buNone/>
            </a:pPr>
            <a:r>
              <a:rPr lang="en-US" sz="1000" dirty="0">
                <a:solidFill>
                  <a:srgbClr val="E0E6F0"/>
                </a:solidFill>
              </a:rPr>
              <a:t>ParadataParser (base)</a:t>
            </a:r>
            <a:endParaRPr lang="en-US" sz="1000" dirty="0"/>
          </a:p>
        </p:txBody>
      </p:sp>
      <p:sp>
        <p:nvSpPr>
          <p:cNvPr id="19" name="Shape 17"/>
          <p:cNvSpPr/>
          <p:nvPr/>
        </p:nvSpPr>
        <p:spPr>
          <a:xfrm>
            <a:off x="5166360" y="2304288"/>
            <a:ext cx="457200" cy="36576"/>
          </a:xfrm>
          <a:prstGeom prst="rect">
            <a:avLst/>
          </a:prstGeom>
          <a:solidFill>
            <a:srgbClr val="9D4EDD"/>
          </a:solidFill>
          <a:ln w="12700">
            <a:solidFill>
              <a:srgbClr val="9D4EDD">
                <a:alpha val="0"/>
              </a:srgbClr>
            </a:solidFill>
            <a:prstDash val="solid"/>
          </a:ln>
        </p:spPr>
      </p:sp>
      <p:sp>
        <p:nvSpPr>
          <p:cNvPr id="20" name="Shape 18"/>
          <p:cNvSpPr/>
          <p:nvPr/>
        </p:nvSpPr>
        <p:spPr>
          <a:xfrm>
            <a:off x="5669280" y="1645920"/>
            <a:ext cx="3200400" cy="1371600"/>
          </a:xfrm>
          <a:prstGeom prst="rect">
            <a:avLst/>
          </a:prstGeom>
          <a:solidFill>
            <a:srgbClr val="1A2744">
              <a:alpha val="30000"/>
            </a:srgbClr>
          </a:solidFill>
          <a:ln w="12700">
            <a:solidFill>
              <a:srgbClr val="1E3A5F"/>
            </a:solidFill>
            <a:prstDash val="solid"/>
          </a:ln>
        </p:spPr>
      </p:sp>
      <p:sp>
        <p:nvSpPr>
          <p:cNvPr id="21" name="Shape 19"/>
          <p:cNvSpPr/>
          <p:nvPr/>
        </p:nvSpPr>
        <p:spPr>
          <a:xfrm>
            <a:off x="5669280" y="1645920"/>
            <a:ext cx="3200400" cy="54864"/>
          </a:xfrm>
          <a:prstGeom prst="rect">
            <a:avLst/>
          </a:prstGeom>
          <a:solidFill>
            <a:srgbClr val="06D6A0"/>
          </a:solidFill>
          <a:ln w="12700">
            <a:solidFill>
              <a:srgbClr val="06D6A0">
                <a:alpha val="0"/>
              </a:srgbClr>
            </a:solidFill>
            <a:prstDash val="solid"/>
          </a:ln>
        </p:spPr>
      </p:sp>
      <p:sp>
        <p:nvSpPr>
          <p:cNvPr id="22" name="Text 20"/>
          <p:cNvSpPr/>
          <p:nvPr/>
        </p:nvSpPr>
        <p:spPr>
          <a:xfrm>
            <a:off x="5760720" y="1755648"/>
            <a:ext cx="3017520" cy="320040"/>
          </a:xfrm>
          <a:prstGeom prst="rect">
            <a:avLst/>
          </a:prstGeom>
          <a:noFill/>
          <a:ln/>
        </p:spPr>
        <p:txBody>
          <a:bodyPr wrap="square" rtlCol="0" anchor="ctr"/>
          <a:lstStyle/>
          <a:p>
            <a:pPr marL="0" indent="0" algn="ctr">
              <a:buNone/>
            </a:pPr>
            <a:r>
              <a:rPr lang="en-US" sz="1300" b="1" dirty="0">
                <a:solidFill>
                  <a:srgbClr val="06D6A0"/>
                </a:solidFill>
              </a:rPr>
              <a:t>CIR DataFrame</a:t>
            </a:r>
            <a:endParaRPr lang="en-US" sz="1300" dirty="0"/>
          </a:p>
        </p:txBody>
      </p:sp>
      <p:sp>
        <p:nvSpPr>
          <p:cNvPr id="23" name="Text 21"/>
          <p:cNvSpPr/>
          <p:nvPr/>
        </p:nvSpPr>
        <p:spPr>
          <a:xfrm>
            <a:off x="5760720" y="2121408"/>
            <a:ext cx="3017520" cy="685800"/>
          </a:xfrm>
          <a:prstGeom prst="rect">
            <a:avLst/>
          </a:prstGeom>
          <a:noFill/>
          <a:ln/>
        </p:spPr>
        <p:txBody>
          <a:bodyPr wrap="square" rtlCol="0" anchor="ctr"/>
          <a:lstStyle/>
          <a:p>
            <a:pPr marL="0" indent="0" algn="ctr">
              <a:buNone/>
            </a:pPr>
            <a:r>
              <a:rPr lang="en-US" sz="1000" dirty="0">
                <a:solidFill>
                  <a:srgbClr val="E0E6F0"/>
                </a:solidFill>
              </a:rPr>
              <a:t>interview_id  |  field_name  |  event_type</a:t>
            </a:r>
            <a:endParaRPr lang="en-US" sz="1000" dirty="0"/>
          </a:p>
          <a:p>
            <a:pPr marL="0" indent="0" algn="ctr">
              <a:buNone/>
            </a:pPr>
            <a:r>
              <a:rPr lang="en-US" sz="1000" dirty="0">
                <a:solidFill>
                  <a:srgbClr val="E0E6F0"/>
                </a:solidFill>
              </a:rPr>
              <a:t>start_ms  |  end_ms  |  duration_ms</a:t>
            </a:r>
            <a:endParaRPr lang="en-US" sz="1000" dirty="0"/>
          </a:p>
        </p:txBody>
      </p:sp>
      <p:sp>
        <p:nvSpPr>
          <p:cNvPr id="24" name="Shape 22"/>
          <p:cNvSpPr/>
          <p:nvPr/>
        </p:nvSpPr>
        <p:spPr>
          <a:xfrm>
            <a:off x="7223760" y="3063240"/>
            <a:ext cx="36576" cy="365760"/>
          </a:xfrm>
          <a:prstGeom prst="rect">
            <a:avLst/>
          </a:prstGeom>
          <a:solidFill>
            <a:srgbClr val="06D6A0"/>
          </a:solidFill>
          <a:ln w="12700">
            <a:solidFill>
              <a:srgbClr val="06D6A0">
                <a:alpha val="0"/>
              </a:srgbClr>
            </a:solidFill>
            <a:prstDash val="solid"/>
          </a:ln>
        </p:spPr>
      </p:sp>
      <p:sp>
        <p:nvSpPr>
          <p:cNvPr id="25" name="Shape 23"/>
          <p:cNvSpPr/>
          <p:nvPr/>
        </p:nvSpPr>
        <p:spPr>
          <a:xfrm>
            <a:off x="274320" y="3566160"/>
            <a:ext cx="8503920" cy="1234440"/>
          </a:xfrm>
          <a:prstGeom prst="rect">
            <a:avLst/>
          </a:prstGeom>
          <a:solidFill>
            <a:srgbClr val="1A2744">
              <a:alpha val="25000"/>
            </a:srgbClr>
          </a:solidFill>
          <a:ln w="12700">
            <a:solidFill>
              <a:srgbClr val="1E3A5F"/>
            </a:solidFill>
            <a:prstDash val="solid"/>
          </a:ln>
        </p:spPr>
      </p:sp>
      <p:sp>
        <p:nvSpPr>
          <p:cNvPr id="26" name="Shape 24"/>
          <p:cNvSpPr/>
          <p:nvPr/>
        </p:nvSpPr>
        <p:spPr>
          <a:xfrm>
            <a:off x="274320" y="3566160"/>
            <a:ext cx="54864" cy="1234440"/>
          </a:xfrm>
          <a:prstGeom prst="rect">
            <a:avLst/>
          </a:prstGeom>
          <a:solidFill>
            <a:srgbClr val="06D6A0"/>
          </a:solidFill>
          <a:ln w="12700">
            <a:solidFill>
              <a:srgbClr val="06D6A0">
                <a:alpha val="0"/>
              </a:srgbClr>
            </a:solidFill>
            <a:prstDash val="solid"/>
          </a:ln>
        </p:spPr>
      </p:sp>
      <p:sp>
        <p:nvSpPr>
          <p:cNvPr id="27" name="Text 25"/>
          <p:cNvSpPr/>
          <p:nvPr/>
        </p:nvSpPr>
        <p:spPr>
          <a:xfrm>
            <a:off x="502920" y="3639312"/>
            <a:ext cx="3657600" cy="347472"/>
          </a:xfrm>
          <a:prstGeom prst="rect">
            <a:avLst/>
          </a:prstGeom>
          <a:noFill/>
          <a:ln/>
        </p:spPr>
        <p:txBody>
          <a:bodyPr wrap="square" rtlCol="0" anchor="ctr"/>
          <a:lstStyle/>
          <a:p>
            <a:pPr marL="0" indent="0">
              <a:buNone/>
            </a:pPr>
            <a:r>
              <a:rPr lang="en-US" sz="1400" b="1" dirty="0">
                <a:solidFill>
                  <a:srgbClr val="06D6A0"/>
                </a:solidFill>
              </a:rPr>
              <a:t>Feature Extraction Module</a:t>
            </a:r>
            <a:endParaRPr lang="en-US" sz="1400" dirty="0"/>
          </a:p>
        </p:txBody>
      </p:sp>
      <p:sp>
        <p:nvSpPr>
          <p:cNvPr id="28" name="Text 26"/>
          <p:cNvSpPr/>
          <p:nvPr/>
        </p:nvSpPr>
        <p:spPr>
          <a:xfrm>
            <a:off x="502920" y="4096512"/>
            <a:ext cx="2011680" cy="548640"/>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E0E6F0"/>
                </a:solidFill>
              </a:rPr>
              <a:t>Question-Level (Q01–Q10)</a:t>
            </a:r>
            <a:endParaRPr lang="en-US" sz="1000" dirty="0"/>
          </a:p>
        </p:txBody>
      </p:sp>
      <p:sp>
        <p:nvSpPr>
          <p:cNvPr id="29" name="Text 27"/>
          <p:cNvSpPr/>
          <p:nvPr/>
        </p:nvSpPr>
        <p:spPr>
          <a:xfrm>
            <a:off x="2606040" y="4096512"/>
            <a:ext cx="2011680" cy="548640"/>
          </a:xfrm>
          <a:prstGeom prst="rect">
            <a:avLst/>
          </a:prstGeom>
          <a:noFill/>
          <a:ln/>
        </p:spPr>
        <p:txBody>
          <a:bodyPr wrap="square" rtlCol="0" anchor="ctr"/>
          <a:lstStyle/>
          <a:p>
            <a:pPr marL="0" indent="0">
              <a:buNone/>
            </a:pPr>
            <a:r>
              <a:rPr lang="en-US" sz="1000" b="1" dirty="0">
                <a:solidFill>
                  <a:srgbClr val="9D4EDD"/>
                </a:solidFill>
              </a:rPr>
              <a:t>▸  </a:t>
            </a:r>
            <a:r>
              <a:rPr lang="en-US" sz="1000" dirty="0">
                <a:solidFill>
                  <a:srgbClr val="E0E6F0"/>
                </a:solidFill>
              </a:rPr>
              <a:t>Section-Level (S01–S10)</a:t>
            </a:r>
            <a:endParaRPr lang="en-US" sz="1000" dirty="0"/>
          </a:p>
        </p:txBody>
      </p:sp>
      <p:sp>
        <p:nvSpPr>
          <p:cNvPr id="30" name="Text 28"/>
          <p:cNvSpPr/>
          <p:nvPr/>
        </p:nvSpPr>
        <p:spPr>
          <a:xfrm>
            <a:off x="4709160" y="4096512"/>
            <a:ext cx="2011680" cy="548640"/>
          </a:xfrm>
          <a:prstGeom prst="rect">
            <a:avLst/>
          </a:prstGeom>
          <a:noFill/>
          <a:ln/>
        </p:spPr>
        <p:txBody>
          <a:bodyPr wrap="square" rtlCol="0" anchor="ctr"/>
          <a:lstStyle/>
          <a:p>
            <a:pPr marL="0" indent="0">
              <a:buNone/>
            </a:pPr>
            <a:r>
              <a:rPr lang="en-US" sz="1000" b="1" dirty="0">
                <a:solidFill>
                  <a:srgbClr val="C77DFF"/>
                </a:solidFill>
              </a:rPr>
              <a:t>▸  </a:t>
            </a:r>
            <a:r>
              <a:rPr lang="en-US" sz="1000" dirty="0">
                <a:solidFill>
                  <a:srgbClr val="E0E6F0"/>
                </a:solidFill>
              </a:rPr>
              <a:t>Survey-Level (V01–V10)</a:t>
            </a:r>
            <a:endParaRPr lang="en-US" sz="1000" dirty="0"/>
          </a:p>
        </p:txBody>
      </p:sp>
      <p:sp>
        <p:nvSpPr>
          <p:cNvPr id="31" name="Text 29"/>
          <p:cNvSpPr/>
          <p:nvPr/>
        </p:nvSpPr>
        <p:spPr>
          <a:xfrm>
            <a:off x="6812280" y="4096512"/>
            <a:ext cx="2011680" cy="548640"/>
          </a:xfrm>
          <a:prstGeom prst="rect">
            <a:avLst/>
          </a:prstGeom>
          <a:noFill/>
          <a:ln/>
        </p:spPr>
        <p:txBody>
          <a:bodyPr wrap="square" rtlCol="0" anchor="ctr"/>
          <a:lstStyle/>
          <a:p>
            <a:pPr marL="0" indent="0">
              <a:buNone/>
            </a:pPr>
            <a:r>
              <a:rPr lang="en-US" sz="1000" b="1" dirty="0">
                <a:solidFill>
                  <a:srgbClr val="FFD166"/>
                </a:solidFill>
              </a:rPr>
              <a:t>▸  </a:t>
            </a:r>
            <a:r>
              <a:rPr lang="en-US" sz="1000" dirty="0">
                <a:solidFill>
                  <a:srgbClr val="E0E6F0"/>
                </a:solidFill>
              </a:rPr>
              <a:t>Statistical (T01–T10)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8 / 16</a:t>
            </a:r>
            <a:endParaRPr lang="en-US" sz="900" dirty="0"/>
          </a:p>
        </p:txBody>
      </p:sp>
      <p:sp>
        <p:nvSpPr>
          <p:cNvPr id="5" name="Text 3"/>
          <p:cNvSpPr/>
          <p:nvPr/>
        </p:nvSpPr>
        <p:spPr>
          <a:xfrm>
            <a:off x="457200" y="164592"/>
            <a:ext cx="4572000" cy="228600"/>
          </a:xfrm>
          <a:prstGeom prst="rect">
            <a:avLst/>
          </a:prstGeom>
          <a:noFill/>
          <a:ln/>
        </p:spPr>
        <p:txBody>
          <a:bodyPr wrap="square" rtlCol="0" anchor="ctr"/>
          <a:lstStyle/>
          <a:p>
            <a:pPr marL="0" indent="0">
              <a:buNone/>
            </a:pPr>
            <a:r>
              <a:rPr lang="en-US" sz="900" b="1" kern="0" spc="300" dirty="0">
                <a:solidFill>
                  <a:srgbClr val="C77DFF"/>
                </a:solidFill>
              </a:rPr>
              <a:t>FEATURE ENGINEERING</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800" b="1" dirty="0">
                <a:solidFill>
                  <a:srgbClr val="FFFFFF"/>
                </a:solidFill>
              </a:rPr>
              <a:t>40 Timing-Based Features</a:t>
            </a:r>
            <a:endParaRPr lang="en-US" sz="2800" dirty="0"/>
          </a:p>
        </p:txBody>
      </p:sp>
      <p:sp>
        <p:nvSpPr>
          <p:cNvPr id="7" name="Shape 5"/>
          <p:cNvSpPr/>
          <p:nvPr/>
        </p:nvSpPr>
        <p:spPr>
          <a:xfrm>
            <a:off x="274320" y="1188720"/>
            <a:ext cx="2103120" cy="3520440"/>
          </a:xfrm>
          <a:prstGeom prst="rect">
            <a:avLst/>
          </a:prstGeom>
          <a:solidFill>
            <a:srgbClr val="1A2744">
              <a:alpha val="28000"/>
            </a:srgbClr>
          </a:solidFill>
          <a:ln w="12700">
            <a:solidFill>
              <a:srgbClr val="1E3A5F"/>
            </a:solidFill>
            <a:prstDash val="solid"/>
          </a:ln>
        </p:spPr>
      </p:sp>
      <p:sp>
        <p:nvSpPr>
          <p:cNvPr id="8" name="Shape 6"/>
          <p:cNvSpPr/>
          <p:nvPr/>
        </p:nvSpPr>
        <p:spPr>
          <a:xfrm>
            <a:off x="274320" y="1188720"/>
            <a:ext cx="2103120" cy="54864"/>
          </a:xfrm>
          <a:prstGeom prst="rect">
            <a:avLst/>
          </a:prstGeom>
          <a:solidFill>
            <a:srgbClr val="00B4D8"/>
          </a:solidFill>
          <a:ln w="12700">
            <a:solidFill>
              <a:srgbClr val="00B4D8">
                <a:alpha val="0"/>
              </a:srgbClr>
            </a:solidFill>
            <a:prstDash val="solid"/>
          </a:ln>
        </p:spPr>
      </p:sp>
      <p:sp>
        <p:nvSpPr>
          <p:cNvPr id="9" name="Text 7"/>
          <p:cNvSpPr/>
          <p:nvPr/>
        </p:nvSpPr>
        <p:spPr>
          <a:xfrm>
            <a:off x="365760" y="1280160"/>
            <a:ext cx="1920240" cy="347472"/>
          </a:xfrm>
          <a:prstGeom prst="rect">
            <a:avLst/>
          </a:prstGeom>
          <a:noFill/>
          <a:ln/>
        </p:spPr>
        <p:txBody>
          <a:bodyPr wrap="square" rtlCol="0" anchor="ctr"/>
          <a:lstStyle/>
          <a:p>
            <a:pPr marL="0" indent="0">
              <a:buNone/>
            </a:pPr>
            <a:r>
              <a:rPr lang="en-US" sz="1300" b="1" dirty="0">
                <a:solidFill>
                  <a:srgbClr val="00B4D8"/>
                </a:solidFill>
              </a:rPr>
              <a:t>Question-Level</a:t>
            </a:r>
            <a:endParaRPr lang="en-US" sz="1300" dirty="0"/>
          </a:p>
        </p:txBody>
      </p:sp>
      <p:sp>
        <p:nvSpPr>
          <p:cNvPr id="10" name="Text 8"/>
          <p:cNvSpPr/>
          <p:nvPr/>
        </p:nvSpPr>
        <p:spPr>
          <a:xfrm>
            <a:off x="365760" y="1645920"/>
            <a:ext cx="1920240" cy="256032"/>
          </a:xfrm>
          <a:prstGeom prst="rect">
            <a:avLst/>
          </a:prstGeom>
          <a:noFill/>
          <a:ln/>
        </p:spPr>
        <p:txBody>
          <a:bodyPr wrap="square" rtlCol="0" anchor="ctr"/>
          <a:lstStyle/>
          <a:p>
            <a:pPr marL="0" indent="0">
              <a:buNone/>
            </a:pPr>
            <a:r>
              <a:rPr lang="en-US" sz="1000" dirty="0">
                <a:solidFill>
                  <a:srgbClr val="8899BB"/>
                </a:solidFill>
              </a:rPr>
              <a:t>Q01–Q10</a:t>
            </a:r>
            <a:endParaRPr lang="en-US" sz="1000" dirty="0"/>
          </a:p>
        </p:txBody>
      </p:sp>
      <p:sp>
        <p:nvSpPr>
          <p:cNvPr id="11" name="Text 9"/>
          <p:cNvSpPr/>
          <p:nvPr/>
        </p:nvSpPr>
        <p:spPr>
          <a:xfrm>
            <a:off x="365760" y="2011680"/>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Response time (ms)</a:t>
            </a:r>
            <a:endParaRPr lang="en-US" sz="1000" dirty="0"/>
          </a:p>
        </p:txBody>
      </p:sp>
      <p:sp>
        <p:nvSpPr>
          <p:cNvPr id="12" name="Text 10"/>
          <p:cNvSpPr/>
          <p:nvPr/>
        </p:nvSpPr>
        <p:spPr>
          <a:xfrm>
            <a:off x="365760" y="2414016"/>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Time-to-first-interaction</a:t>
            </a:r>
            <a:endParaRPr lang="en-US" sz="1000" dirty="0"/>
          </a:p>
        </p:txBody>
      </p:sp>
      <p:sp>
        <p:nvSpPr>
          <p:cNvPr id="13" name="Text 11"/>
          <p:cNvSpPr/>
          <p:nvPr/>
        </p:nvSpPr>
        <p:spPr>
          <a:xfrm>
            <a:off x="365760" y="2816352"/>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Edit count</a:t>
            </a:r>
            <a:endParaRPr lang="en-US" sz="1000" dirty="0"/>
          </a:p>
        </p:txBody>
      </p:sp>
      <p:sp>
        <p:nvSpPr>
          <p:cNvPr id="14" name="Text 12"/>
          <p:cNvSpPr/>
          <p:nvPr/>
        </p:nvSpPr>
        <p:spPr>
          <a:xfrm>
            <a:off x="365760" y="3218688"/>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Revisit flag &amp; count</a:t>
            </a:r>
            <a:endParaRPr lang="en-US" sz="1000" dirty="0"/>
          </a:p>
        </p:txBody>
      </p:sp>
      <p:sp>
        <p:nvSpPr>
          <p:cNvPr id="15" name="Text 13"/>
          <p:cNvSpPr/>
          <p:nvPr/>
        </p:nvSpPr>
        <p:spPr>
          <a:xfrm>
            <a:off x="365760" y="3621024"/>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Idle time</a:t>
            </a:r>
            <a:endParaRPr lang="en-US" sz="1000" dirty="0"/>
          </a:p>
        </p:txBody>
      </p:sp>
      <p:sp>
        <p:nvSpPr>
          <p:cNvPr id="16" name="Text 14"/>
          <p:cNvSpPr/>
          <p:nvPr/>
        </p:nvSpPr>
        <p:spPr>
          <a:xfrm>
            <a:off x="365760" y="4023360"/>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Keystroke count</a:t>
            </a:r>
            <a:endParaRPr lang="en-US" sz="1000" dirty="0"/>
          </a:p>
        </p:txBody>
      </p:sp>
      <p:sp>
        <p:nvSpPr>
          <p:cNvPr id="17" name="Text 15"/>
          <p:cNvSpPr/>
          <p:nvPr/>
        </p:nvSpPr>
        <p:spPr>
          <a:xfrm>
            <a:off x="365760" y="4425696"/>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Constraint triggers</a:t>
            </a:r>
            <a:endParaRPr lang="en-US" sz="1000" dirty="0"/>
          </a:p>
        </p:txBody>
      </p:sp>
      <p:sp>
        <p:nvSpPr>
          <p:cNvPr id="18" name="Shape 16"/>
          <p:cNvSpPr/>
          <p:nvPr/>
        </p:nvSpPr>
        <p:spPr>
          <a:xfrm>
            <a:off x="2560320" y="1188720"/>
            <a:ext cx="2103120" cy="3520440"/>
          </a:xfrm>
          <a:prstGeom prst="rect">
            <a:avLst/>
          </a:prstGeom>
          <a:solidFill>
            <a:srgbClr val="1A2744">
              <a:alpha val="28000"/>
            </a:srgbClr>
          </a:solidFill>
          <a:ln w="12700">
            <a:solidFill>
              <a:srgbClr val="1E3A5F"/>
            </a:solidFill>
            <a:prstDash val="solid"/>
          </a:ln>
        </p:spPr>
      </p:sp>
      <p:sp>
        <p:nvSpPr>
          <p:cNvPr id="19" name="Shape 17"/>
          <p:cNvSpPr/>
          <p:nvPr/>
        </p:nvSpPr>
        <p:spPr>
          <a:xfrm>
            <a:off x="2560320" y="1188720"/>
            <a:ext cx="2103120" cy="54864"/>
          </a:xfrm>
          <a:prstGeom prst="rect">
            <a:avLst/>
          </a:prstGeom>
          <a:solidFill>
            <a:srgbClr val="9D4EDD"/>
          </a:solidFill>
          <a:ln w="12700">
            <a:solidFill>
              <a:srgbClr val="9D4EDD">
                <a:alpha val="0"/>
              </a:srgbClr>
            </a:solidFill>
            <a:prstDash val="solid"/>
          </a:ln>
        </p:spPr>
      </p:sp>
      <p:sp>
        <p:nvSpPr>
          <p:cNvPr id="20" name="Text 18"/>
          <p:cNvSpPr/>
          <p:nvPr/>
        </p:nvSpPr>
        <p:spPr>
          <a:xfrm>
            <a:off x="2651760" y="1280160"/>
            <a:ext cx="1920240" cy="347472"/>
          </a:xfrm>
          <a:prstGeom prst="rect">
            <a:avLst/>
          </a:prstGeom>
          <a:noFill/>
          <a:ln/>
        </p:spPr>
        <p:txBody>
          <a:bodyPr wrap="square" rtlCol="0" anchor="ctr"/>
          <a:lstStyle/>
          <a:p>
            <a:pPr marL="0" indent="0">
              <a:buNone/>
            </a:pPr>
            <a:r>
              <a:rPr lang="en-US" sz="1300" b="1" dirty="0">
                <a:solidFill>
                  <a:srgbClr val="9D4EDD"/>
                </a:solidFill>
              </a:rPr>
              <a:t>Section-Level</a:t>
            </a:r>
            <a:endParaRPr lang="en-US" sz="1300" dirty="0"/>
          </a:p>
        </p:txBody>
      </p:sp>
      <p:sp>
        <p:nvSpPr>
          <p:cNvPr id="21" name="Text 19"/>
          <p:cNvSpPr/>
          <p:nvPr/>
        </p:nvSpPr>
        <p:spPr>
          <a:xfrm>
            <a:off x="2651760" y="1645920"/>
            <a:ext cx="1920240" cy="256032"/>
          </a:xfrm>
          <a:prstGeom prst="rect">
            <a:avLst/>
          </a:prstGeom>
          <a:noFill/>
          <a:ln/>
        </p:spPr>
        <p:txBody>
          <a:bodyPr wrap="square" rtlCol="0" anchor="ctr"/>
          <a:lstStyle/>
          <a:p>
            <a:pPr marL="0" indent="0">
              <a:buNone/>
            </a:pPr>
            <a:r>
              <a:rPr lang="en-US" sz="1000" dirty="0">
                <a:solidFill>
                  <a:srgbClr val="8899BB"/>
                </a:solidFill>
              </a:rPr>
              <a:t>S01–S10</a:t>
            </a:r>
            <a:endParaRPr lang="en-US" sz="1000" dirty="0"/>
          </a:p>
        </p:txBody>
      </p:sp>
      <p:sp>
        <p:nvSpPr>
          <p:cNvPr id="22" name="Text 20"/>
          <p:cNvSpPr/>
          <p:nvPr/>
        </p:nvSpPr>
        <p:spPr>
          <a:xfrm>
            <a:off x="2651760" y="2011680"/>
            <a:ext cx="1920240" cy="347472"/>
          </a:xfrm>
          <a:prstGeom prst="rect">
            <a:avLst/>
          </a:prstGeom>
          <a:noFill/>
          <a:ln/>
        </p:spPr>
        <p:txBody>
          <a:bodyPr wrap="square" rtlCol="0" anchor="ctr"/>
          <a:lstStyle/>
          <a:p>
            <a:pPr marL="0" indent="0">
              <a:buNone/>
            </a:pPr>
            <a:r>
              <a:rPr lang="en-US" sz="1000" dirty="0">
                <a:solidFill>
                  <a:srgbClr val="9D4EDD"/>
                </a:solidFill>
              </a:rPr>
              <a:t>›  </a:t>
            </a:r>
            <a:r>
              <a:rPr lang="en-US" sz="1000" dirty="0">
                <a:solidFill>
                  <a:srgbClr val="E0E6F0"/>
                </a:solidFill>
              </a:rPr>
              <a:t>Mean section pace</a:t>
            </a:r>
            <a:endParaRPr lang="en-US" sz="1000" dirty="0"/>
          </a:p>
        </p:txBody>
      </p:sp>
      <p:sp>
        <p:nvSpPr>
          <p:cNvPr id="23" name="Text 21"/>
          <p:cNvSpPr/>
          <p:nvPr/>
        </p:nvSpPr>
        <p:spPr>
          <a:xfrm>
            <a:off x="2651760" y="2414016"/>
            <a:ext cx="1920240" cy="347472"/>
          </a:xfrm>
          <a:prstGeom prst="rect">
            <a:avLst/>
          </a:prstGeom>
          <a:noFill/>
          <a:ln/>
        </p:spPr>
        <p:txBody>
          <a:bodyPr wrap="square" rtlCol="0" anchor="ctr"/>
          <a:lstStyle/>
          <a:p>
            <a:pPr marL="0" indent="0">
              <a:buNone/>
            </a:pPr>
            <a:r>
              <a:rPr lang="en-US" sz="1000" dirty="0">
                <a:solidFill>
                  <a:srgbClr val="9D4EDD"/>
                </a:solidFill>
              </a:rPr>
              <a:t>›  </a:t>
            </a:r>
            <a:r>
              <a:rPr lang="en-US" sz="1000" dirty="0">
                <a:solidFill>
                  <a:srgbClr val="E0E6F0"/>
                </a:solidFill>
              </a:rPr>
              <a:t>Within-section variance</a:t>
            </a:r>
            <a:endParaRPr lang="en-US" sz="1000" dirty="0"/>
          </a:p>
        </p:txBody>
      </p:sp>
      <p:sp>
        <p:nvSpPr>
          <p:cNvPr id="24" name="Text 22"/>
          <p:cNvSpPr/>
          <p:nvPr/>
        </p:nvSpPr>
        <p:spPr>
          <a:xfrm>
            <a:off x="2651760" y="2816352"/>
            <a:ext cx="1920240" cy="347472"/>
          </a:xfrm>
          <a:prstGeom prst="rect">
            <a:avLst/>
          </a:prstGeom>
          <a:noFill/>
          <a:ln/>
        </p:spPr>
        <p:txBody>
          <a:bodyPr wrap="square" rtlCol="0" anchor="ctr"/>
          <a:lstStyle/>
          <a:p>
            <a:pPr marL="0" indent="0">
              <a:buNone/>
            </a:pPr>
            <a:r>
              <a:rPr lang="en-US" sz="1000" dirty="0">
                <a:solidFill>
                  <a:srgbClr val="9D4EDD"/>
                </a:solidFill>
              </a:rPr>
              <a:t>›  </a:t>
            </a:r>
            <a:r>
              <a:rPr lang="en-US" sz="1000" dirty="0">
                <a:solidFill>
                  <a:srgbClr val="E0E6F0"/>
                </a:solidFill>
              </a:rPr>
              <a:t>Pause count (&gt;5s, &gt;30s)</a:t>
            </a:r>
            <a:endParaRPr lang="en-US" sz="1000" dirty="0"/>
          </a:p>
        </p:txBody>
      </p:sp>
      <p:sp>
        <p:nvSpPr>
          <p:cNvPr id="25" name="Text 23"/>
          <p:cNvSpPr/>
          <p:nvPr/>
        </p:nvSpPr>
        <p:spPr>
          <a:xfrm>
            <a:off x="2651760" y="3218688"/>
            <a:ext cx="1920240" cy="347472"/>
          </a:xfrm>
          <a:prstGeom prst="rect">
            <a:avLst/>
          </a:prstGeom>
          <a:noFill/>
          <a:ln/>
        </p:spPr>
        <p:txBody>
          <a:bodyPr wrap="square" rtlCol="0" anchor="ctr"/>
          <a:lstStyle/>
          <a:p>
            <a:pPr marL="0" indent="0">
              <a:buNone/>
            </a:pPr>
            <a:r>
              <a:rPr lang="en-US" sz="1000" dirty="0">
                <a:solidFill>
                  <a:srgbClr val="9D4EDD"/>
                </a:solidFill>
              </a:rPr>
              <a:t>›  </a:t>
            </a:r>
            <a:r>
              <a:rPr lang="en-US" sz="1000" dirty="0">
                <a:solidFill>
                  <a:srgbClr val="E0E6F0"/>
                </a:solidFill>
              </a:rPr>
              <a:t>Max pause duration</a:t>
            </a:r>
            <a:endParaRPr lang="en-US" sz="1000" dirty="0"/>
          </a:p>
        </p:txBody>
      </p:sp>
      <p:sp>
        <p:nvSpPr>
          <p:cNvPr id="26" name="Text 24"/>
          <p:cNvSpPr/>
          <p:nvPr/>
        </p:nvSpPr>
        <p:spPr>
          <a:xfrm>
            <a:off x="2651760" y="3621024"/>
            <a:ext cx="1920240" cy="347472"/>
          </a:xfrm>
          <a:prstGeom prst="rect">
            <a:avLst/>
          </a:prstGeom>
          <a:noFill/>
          <a:ln/>
        </p:spPr>
        <p:txBody>
          <a:bodyPr wrap="square" rtlCol="0" anchor="ctr"/>
          <a:lstStyle/>
          <a:p>
            <a:pPr marL="0" indent="0">
              <a:buNone/>
            </a:pPr>
            <a:r>
              <a:rPr lang="en-US" sz="1000" dirty="0">
                <a:solidFill>
                  <a:srgbClr val="9D4EDD"/>
                </a:solidFill>
              </a:rPr>
              <a:t>›  </a:t>
            </a:r>
            <a:r>
              <a:rPr lang="en-US" sz="1000" dirty="0">
                <a:solidFill>
                  <a:srgbClr val="E0E6F0"/>
                </a:solidFill>
              </a:rPr>
              <a:t>Back-nav count</a:t>
            </a:r>
            <a:endParaRPr lang="en-US" sz="1000" dirty="0"/>
          </a:p>
        </p:txBody>
      </p:sp>
      <p:sp>
        <p:nvSpPr>
          <p:cNvPr id="27" name="Text 25"/>
          <p:cNvSpPr/>
          <p:nvPr/>
        </p:nvSpPr>
        <p:spPr>
          <a:xfrm>
            <a:off x="2651760" y="4023360"/>
            <a:ext cx="1920240" cy="347472"/>
          </a:xfrm>
          <a:prstGeom prst="rect">
            <a:avLst/>
          </a:prstGeom>
          <a:noFill/>
          <a:ln/>
        </p:spPr>
        <p:txBody>
          <a:bodyPr wrap="square" rtlCol="0" anchor="ctr"/>
          <a:lstStyle/>
          <a:p>
            <a:pPr marL="0" indent="0">
              <a:buNone/>
            </a:pPr>
            <a:r>
              <a:rPr lang="en-US" sz="1000" dirty="0">
                <a:solidFill>
                  <a:srgbClr val="9D4EDD"/>
                </a:solidFill>
              </a:rPr>
              <a:t>›  </a:t>
            </a:r>
            <a:r>
              <a:rPr lang="en-US" sz="1000" dirty="0">
                <a:solidFill>
                  <a:srgbClr val="E0E6F0"/>
                </a:solidFill>
              </a:rPr>
              <a:t>Section completion rate</a:t>
            </a:r>
            <a:endParaRPr lang="en-US" sz="1000" dirty="0"/>
          </a:p>
        </p:txBody>
      </p:sp>
      <p:sp>
        <p:nvSpPr>
          <p:cNvPr id="28" name="Shape 26"/>
          <p:cNvSpPr/>
          <p:nvPr/>
        </p:nvSpPr>
        <p:spPr>
          <a:xfrm>
            <a:off x="4846320" y="1188720"/>
            <a:ext cx="2103120" cy="3520440"/>
          </a:xfrm>
          <a:prstGeom prst="rect">
            <a:avLst/>
          </a:prstGeom>
          <a:solidFill>
            <a:srgbClr val="1A2744">
              <a:alpha val="28000"/>
            </a:srgbClr>
          </a:solidFill>
          <a:ln w="12700">
            <a:solidFill>
              <a:srgbClr val="1E3A5F"/>
            </a:solidFill>
            <a:prstDash val="solid"/>
          </a:ln>
        </p:spPr>
      </p:sp>
      <p:sp>
        <p:nvSpPr>
          <p:cNvPr id="29" name="Shape 27"/>
          <p:cNvSpPr/>
          <p:nvPr/>
        </p:nvSpPr>
        <p:spPr>
          <a:xfrm>
            <a:off x="4846320" y="1188720"/>
            <a:ext cx="2103120" cy="54864"/>
          </a:xfrm>
          <a:prstGeom prst="rect">
            <a:avLst/>
          </a:prstGeom>
          <a:solidFill>
            <a:srgbClr val="C77DFF"/>
          </a:solidFill>
          <a:ln w="12700">
            <a:solidFill>
              <a:srgbClr val="C77DFF">
                <a:alpha val="0"/>
              </a:srgbClr>
            </a:solidFill>
            <a:prstDash val="solid"/>
          </a:ln>
        </p:spPr>
      </p:sp>
      <p:sp>
        <p:nvSpPr>
          <p:cNvPr id="30" name="Text 28"/>
          <p:cNvSpPr/>
          <p:nvPr/>
        </p:nvSpPr>
        <p:spPr>
          <a:xfrm>
            <a:off x="4937760" y="1280160"/>
            <a:ext cx="1920240" cy="347472"/>
          </a:xfrm>
          <a:prstGeom prst="rect">
            <a:avLst/>
          </a:prstGeom>
          <a:noFill/>
          <a:ln/>
        </p:spPr>
        <p:txBody>
          <a:bodyPr wrap="square" rtlCol="0" anchor="ctr"/>
          <a:lstStyle/>
          <a:p>
            <a:pPr marL="0" indent="0">
              <a:buNone/>
            </a:pPr>
            <a:r>
              <a:rPr lang="en-US" sz="1300" b="1" dirty="0">
                <a:solidFill>
                  <a:srgbClr val="C77DFF"/>
                </a:solidFill>
              </a:rPr>
              <a:t>Survey-Level</a:t>
            </a:r>
            <a:endParaRPr lang="en-US" sz="1300" dirty="0"/>
          </a:p>
        </p:txBody>
      </p:sp>
      <p:sp>
        <p:nvSpPr>
          <p:cNvPr id="31" name="Text 29"/>
          <p:cNvSpPr/>
          <p:nvPr/>
        </p:nvSpPr>
        <p:spPr>
          <a:xfrm>
            <a:off x="4937760" y="1645920"/>
            <a:ext cx="1920240" cy="256032"/>
          </a:xfrm>
          <a:prstGeom prst="rect">
            <a:avLst/>
          </a:prstGeom>
          <a:noFill/>
          <a:ln/>
        </p:spPr>
        <p:txBody>
          <a:bodyPr wrap="square" rtlCol="0" anchor="ctr"/>
          <a:lstStyle/>
          <a:p>
            <a:pPr marL="0" indent="0">
              <a:buNone/>
            </a:pPr>
            <a:r>
              <a:rPr lang="en-US" sz="1000" dirty="0">
                <a:solidFill>
                  <a:srgbClr val="8899BB"/>
                </a:solidFill>
              </a:rPr>
              <a:t>V01–V10</a:t>
            </a:r>
            <a:endParaRPr lang="en-US" sz="1000" dirty="0"/>
          </a:p>
        </p:txBody>
      </p:sp>
      <p:sp>
        <p:nvSpPr>
          <p:cNvPr id="32" name="Text 30"/>
          <p:cNvSpPr/>
          <p:nvPr/>
        </p:nvSpPr>
        <p:spPr>
          <a:xfrm>
            <a:off x="4937760" y="2011680"/>
            <a:ext cx="1920240" cy="347472"/>
          </a:xfrm>
          <a:prstGeom prst="rect">
            <a:avLst/>
          </a:prstGeom>
          <a:noFill/>
          <a:ln/>
        </p:spPr>
        <p:txBody>
          <a:bodyPr wrap="square" rtlCol="0" anchor="ctr"/>
          <a:lstStyle/>
          <a:p>
            <a:pPr marL="0" indent="0">
              <a:buNone/>
            </a:pPr>
            <a:r>
              <a:rPr lang="en-US" sz="1000" dirty="0">
                <a:solidFill>
                  <a:srgbClr val="C77DFF"/>
                </a:solidFill>
              </a:rPr>
              <a:t>›  </a:t>
            </a:r>
            <a:r>
              <a:rPr lang="en-US" sz="1000" dirty="0">
                <a:solidFill>
                  <a:srgbClr val="E0E6F0"/>
                </a:solidFill>
              </a:rPr>
              <a:t>Total interview duration</a:t>
            </a:r>
            <a:endParaRPr lang="en-US" sz="1000" dirty="0"/>
          </a:p>
        </p:txBody>
      </p:sp>
      <p:sp>
        <p:nvSpPr>
          <p:cNvPr id="33" name="Text 31"/>
          <p:cNvSpPr/>
          <p:nvPr/>
        </p:nvSpPr>
        <p:spPr>
          <a:xfrm>
            <a:off x="4937760" y="2414016"/>
            <a:ext cx="1920240" cy="347472"/>
          </a:xfrm>
          <a:prstGeom prst="rect">
            <a:avLst/>
          </a:prstGeom>
          <a:noFill/>
          <a:ln/>
        </p:spPr>
        <p:txBody>
          <a:bodyPr wrap="square" rtlCol="0" anchor="ctr"/>
          <a:lstStyle/>
          <a:p>
            <a:pPr marL="0" indent="0">
              <a:buNone/>
            </a:pPr>
            <a:r>
              <a:rPr lang="en-US" sz="1000" dirty="0">
                <a:solidFill>
                  <a:srgbClr val="C77DFF"/>
                </a:solidFill>
              </a:rPr>
              <a:t>›  </a:t>
            </a:r>
            <a:r>
              <a:rPr lang="en-US" sz="1000" dirty="0">
                <a:solidFill>
                  <a:srgbClr val="E0E6F0"/>
                </a:solidFill>
              </a:rPr>
              <a:t>Speed trajectory (early vs late)</a:t>
            </a:r>
            <a:endParaRPr lang="en-US" sz="1000" dirty="0"/>
          </a:p>
        </p:txBody>
      </p:sp>
      <p:sp>
        <p:nvSpPr>
          <p:cNvPr id="34" name="Text 32"/>
          <p:cNvSpPr/>
          <p:nvPr/>
        </p:nvSpPr>
        <p:spPr>
          <a:xfrm>
            <a:off x="4937760" y="2816352"/>
            <a:ext cx="1920240" cy="347472"/>
          </a:xfrm>
          <a:prstGeom prst="rect">
            <a:avLst/>
          </a:prstGeom>
          <a:noFill/>
          <a:ln/>
        </p:spPr>
        <p:txBody>
          <a:bodyPr wrap="square" rtlCol="0" anchor="ctr"/>
          <a:lstStyle/>
          <a:p>
            <a:pPr marL="0" indent="0">
              <a:buNone/>
            </a:pPr>
            <a:r>
              <a:rPr lang="en-US" sz="1000" dirty="0">
                <a:solidFill>
                  <a:srgbClr val="C77DFF"/>
                </a:solidFill>
              </a:rPr>
              <a:t>›  </a:t>
            </a:r>
            <a:r>
              <a:rPr lang="en-US" sz="1000" dirty="0">
                <a:solidFill>
                  <a:srgbClr val="E0E6F0"/>
                </a:solidFill>
              </a:rPr>
              <a:t>Back-navigation rate</a:t>
            </a:r>
            <a:endParaRPr lang="en-US" sz="1000" dirty="0"/>
          </a:p>
        </p:txBody>
      </p:sp>
      <p:sp>
        <p:nvSpPr>
          <p:cNvPr id="35" name="Text 33"/>
          <p:cNvSpPr/>
          <p:nvPr/>
        </p:nvSpPr>
        <p:spPr>
          <a:xfrm>
            <a:off x="4937760" y="3218688"/>
            <a:ext cx="1920240" cy="347472"/>
          </a:xfrm>
          <a:prstGeom prst="rect">
            <a:avLst/>
          </a:prstGeom>
          <a:noFill/>
          <a:ln/>
        </p:spPr>
        <p:txBody>
          <a:bodyPr wrap="square" rtlCol="0" anchor="ctr"/>
          <a:lstStyle/>
          <a:p>
            <a:pPr marL="0" indent="0">
              <a:buNone/>
            </a:pPr>
            <a:r>
              <a:rPr lang="en-US" sz="1000" dirty="0">
                <a:solidFill>
                  <a:srgbClr val="C77DFF"/>
                </a:solidFill>
              </a:rPr>
              <a:t>›  </a:t>
            </a:r>
            <a:r>
              <a:rPr lang="en-US" sz="1000" dirty="0">
                <a:solidFill>
                  <a:srgbClr val="E0E6F0"/>
                </a:solidFill>
              </a:rPr>
              <a:t>Time-of-day hour</a:t>
            </a:r>
            <a:endParaRPr lang="en-US" sz="1000" dirty="0"/>
          </a:p>
        </p:txBody>
      </p:sp>
      <p:sp>
        <p:nvSpPr>
          <p:cNvPr id="36" name="Text 34"/>
          <p:cNvSpPr/>
          <p:nvPr/>
        </p:nvSpPr>
        <p:spPr>
          <a:xfrm>
            <a:off x="4937760" y="3621024"/>
            <a:ext cx="1920240" cy="347472"/>
          </a:xfrm>
          <a:prstGeom prst="rect">
            <a:avLst/>
          </a:prstGeom>
          <a:noFill/>
          <a:ln/>
        </p:spPr>
        <p:txBody>
          <a:bodyPr wrap="square" rtlCol="0" anchor="ctr"/>
          <a:lstStyle/>
          <a:p>
            <a:pPr marL="0" indent="0">
              <a:buNone/>
            </a:pPr>
            <a:r>
              <a:rPr lang="en-US" sz="1000" dirty="0">
                <a:solidFill>
                  <a:srgbClr val="C77DFF"/>
                </a:solidFill>
              </a:rPr>
              <a:t>›  </a:t>
            </a:r>
            <a:r>
              <a:rPr lang="en-US" sz="1000" dirty="0">
                <a:solidFill>
                  <a:srgbClr val="E0E6F0"/>
                </a:solidFill>
              </a:rPr>
              <a:t>Session vs median length</a:t>
            </a:r>
            <a:endParaRPr lang="en-US" sz="1000" dirty="0"/>
          </a:p>
        </p:txBody>
      </p:sp>
      <p:sp>
        <p:nvSpPr>
          <p:cNvPr id="37" name="Text 35"/>
          <p:cNvSpPr/>
          <p:nvPr/>
        </p:nvSpPr>
        <p:spPr>
          <a:xfrm>
            <a:off x="4937760" y="4023360"/>
            <a:ext cx="1920240" cy="347472"/>
          </a:xfrm>
          <a:prstGeom prst="rect">
            <a:avLst/>
          </a:prstGeom>
          <a:noFill/>
          <a:ln/>
        </p:spPr>
        <p:txBody>
          <a:bodyPr wrap="square" rtlCol="0" anchor="ctr"/>
          <a:lstStyle/>
          <a:p>
            <a:pPr marL="0" indent="0">
              <a:buNone/>
            </a:pPr>
            <a:r>
              <a:rPr lang="en-US" sz="1000" dirty="0">
                <a:solidFill>
                  <a:srgbClr val="C77DFF"/>
                </a:solidFill>
              </a:rPr>
              <a:t>›  </a:t>
            </a:r>
            <a:r>
              <a:rPr lang="en-US" sz="1000" dirty="0">
                <a:solidFill>
                  <a:srgbClr val="E0E6F0"/>
                </a:solidFill>
              </a:rPr>
              <a:t>Zero back-nav flag</a:t>
            </a:r>
            <a:endParaRPr lang="en-US" sz="1000" dirty="0"/>
          </a:p>
        </p:txBody>
      </p:sp>
      <p:sp>
        <p:nvSpPr>
          <p:cNvPr id="38" name="Shape 36"/>
          <p:cNvSpPr/>
          <p:nvPr/>
        </p:nvSpPr>
        <p:spPr>
          <a:xfrm>
            <a:off x="7132320" y="1188720"/>
            <a:ext cx="2103120" cy="3520440"/>
          </a:xfrm>
          <a:prstGeom prst="rect">
            <a:avLst/>
          </a:prstGeom>
          <a:solidFill>
            <a:srgbClr val="1A2744">
              <a:alpha val="28000"/>
            </a:srgbClr>
          </a:solidFill>
          <a:ln w="12700">
            <a:solidFill>
              <a:srgbClr val="1E3A5F"/>
            </a:solidFill>
            <a:prstDash val="solid"/>
          </a:ln>
        </p:spPr>
      </p:sp>
      <p:sp>
        <p:nvSpPr>
          <p:cNvPr id="39" name="Shape 37"/>
          <p:cNvSpPr/>
          <p:nvPr/>
        </p:nvSpPr>
        <p:spPr>
          <a:xfrm>
            <a:off x="7132320" y="1188720"/>
            <a:ext cx="2103120" cy="54864"/>
          </a:xfrm>
          <a:prstGeom prst="rect">
            <a:avLst/>
          </a:prstGeom>
          <a:solidFill>
            <a:srgbClr val="FFD166"/>
          </a:solidFill>
          <a:ln w="12700">
            <a:solidFill>
              <a:srgbClr val="FFD166">
                <a:alpha val="0"/>
              </a:srgbClr>
            </a:solidFill>
            <a:prstDash val="solid"/>
          </a:ln>
        </p:spPr>
      </p:sp>
      <p:sp>
        <p:nvSpPr>
          <p:cNvPr id="40" name="Text 38"/>
          <p:cNvSpPr/>
          <p:nvPr/>
        </p:nvSpPr>
        <p:spPr>
          <a:xfrm>
            <a:off x="7223760" y="1280160"/>
            <a:ext cx="1920240" cy="347472"/>
          </a:xfrm>
          <a:prstGeom prst="rect">
            <a:avLst/>
          </a:prstGeom>
          <a:noFill/>
          <a:ln/>
        </p:spPr>
        <p:txBody>
          <a:bodyPr wrap="square" rtlCol="0" anchor="ctr"/>
          <a:lstStyle/>
          <a:p>
            <a:pPr marL="0" indent="0">
              <a:buNone/>
            </a:pPr>
            <a:r>
              <a:rPr lang="en-US" sz="1300" b="1" dirty="0">
                <a:solidFill>
                  <a:srgbClr val="FFD166"/>
                </a:solidFill>
              </a:rPr>
              <a:t>Statistical</a:t>
            </a:r>
            <a:endParaRPr lang="en-US" sz="1300" dirty="0"/>
          </a:p>
        </p:txBody>
      </p:sp>
      <p:sp>
        <p:nvSpPr>
          <p:cNvPr id="41" name="Text 39"/>
          <p:cNvSpPr/>
          <p:nvPr/>
        </p:nvSpPr>
        <p:spPr>
          <a:xfrm>
            <a:off x="7223760" y="1645920"/>
            <a:ext cx="1920240" cy="256032"/>
          </a:xfrm>
          <a:prstGeom prst="rect">
            <a:avLst/>
          </a:prstGeom>
          <a:noFill/>
          <a:ln/>
        </p:spPr>
        <p:txBody>
          <a:bodyPr wrap="square" rtlCol="0" anchor="ctr"/>
          <a:lstStyle/>
          <a:p>
            <a:pPr marL="0" indent="0">
              <a:buNone/>
            </a:pPr>
            <a:r>
              <a:rPr lang="en-US" sz="1000" dirty="0">
                <a:solidFill>
                  <a:srgbClr val="8899BB"/>
                </a:solidFill>
              </a:rPr>
              <a:t>T01–T10</a:t>
            </a:r>
            <a:endParaRPr lang="en-US" sz="1000" dirty="0"/>
          </a:p>
        </p:txBody>
      </p:sp>
      <p:sp>
        <p:nvSpPr>
          <p:cNvPr id="42" name="Text 40"/>
          <p:cNvSpPr/>
          <p:nvPr/>
        </p:nvSpPr>
        <p:spPr>
          <a:xfrm>
            <a:off x="7223760" y="2011680"/>
            <a:ext cx="1920240" cy="347472"/>
          </a:xfrm>
          <a:prstGeom prst="rect">
            <a:avLst/>
          </a:prstGeom>
          <a:noFill/>
          <a:ln/>
        </p:spPr>
        <p:txBody>
          <a:bodyPr wrap="square" rtlCol="0" anchor="ctr"/>
          <a:lstStyle/>
          <a:p>
            <a:pPr marL="0" indent="0">
              <a:buNone/>
            </a:pPr>
            <a:r>
              <a:rPr lang="en-US" sz="1000" dirty="0">
                <a:solidFill>
                  <a:srgbClr val="FFD166"/>
                </a:solidFill>
              </a:rPr>
              <a:t>›  </a:t>
            </a:r>
            <a:r>
              <a:rPr lang="en-US" sz="1000" dirty="0">
                <a:solidFill>
                  <a:srgbClr val="E0E6F0"/>
                </a:solidFill>
              </a:rPr>
              <a:t>Variance &amp; IQR</a:t>
            </a:r>
            <a:endParaRPr lang="en-US" sz="1000" dirty="0"/>
          </a:p>
        </p:txBody>
      </p:sp>
      <p:sp>
        <p:nvSpPr>
          <p:cNvPr id="43" name="Text 41"/>
          <p:cNvSpPr/>
          <p:nvPr/>
        </p:nvSpPr>
        <p:spPr>
          <a:xfrm>
            <a:off x="7223760" y="2414016"/>
            <a:ext cx="1920240" cy="347472"/>
          </a:xfrm>
          <a:prstGeom prst="rect">
            <a:avLst/>
          </a:prstGeom>
          <a:noFill/>
          <a:ln/>
        </p:spPr>
        <p:txBody>
          <a:bodyPr wrap="square" rtlCol="0" anchor="ctr"/>
          <a:lstStyle/>
          <a:p>
            <a:pPr marL="0" indent="0">
              <a:buNone/>
            </a:pPr>
            <a:r>
              <a:rPr lang="en-US" sz="1000" dirty="0">
                <a:solidFill>
                  <a:srgbClr val="FFD166"/>
                </a:solidFill>
              </a:rPr>
              <a:t>›  </a:t>
            </a:r>
            <a:r>
              <a:rPr lang="en-US" sz="1000" dirty="0">
                <a:solidFill>
                  <a:srgbClr val="E0E6F0"/>
                </a:solidFill>
              </a:rPr>
              <a:t>Shannon entropy</a:t>
            </a:r>
            <a:endParaRPr lang="en-US" sz="1000" dirty="0"/>
          </a:p>
        </p:txBody>
      </p:sp>
      <p:sp>
        <p:nvSpPr>
          <p:cNvPr id="44" name="Text 42"/>
          <p:cNvSpPr/>
          <p:nvPr/>
        </p:nvSpPr>
        <p:spPr>
          <a:xfrm>
            <a:off x="7223760" y="2816352"/>
            <a:ext cx="1920240" cy="347472"/>
          </a:xfrm>
          <a:prstGeom prst="rect">
            <a:avLst/>
          </a:prstGeom>
          <a:noFill/>
          <a:ln/>
        </p:spPr>
        <p:txBody>
          <a:bodyPr wrap="square" rtlCol="0" anchor="ctr"/>
          <a:lstStyle/>
          <a:p>
            <a:pPr marL="0" indent="0">
              <a:buNone/>
            </a:pPr>
            <a:r>
              <a:rPr lang="en-US" sz="1000" dirty="0">
                <a:solidFill>
                  <a:srgbClr val="FFD166"/>
                </a:solidFill>
              </a:rPr>
              <a:t>›  </a:t>
            </a:r>
            <a:r>
              <a:rPr lang="en-US" sz="1000" dirty="0">
                <a:solidFill>
                  <a:srgbClr val="E0E6F0"/>
                </a:solidFill>
              </a:rPr>
              <a:t>Skewness &amp; kurtosis</a:t>
            </a:r>
            <a:endParaRPr lang="en-US" sz="1000" dirty="0"/>
          </a:p>
        </p:txBody>
      </p:sp>
      <p:sp>
        <p:nvSpPr>
          <p:cNvPr id="45" name="Text 43"/>
          <p:cNvSpPr/>
          <p:nvPr/>
        </p:nvSpPr>
        <p:spPr>
          <a:xfrm>
            <a:off x="7223760" y="3218688"/>
            <a:ext cx="1920240" cy="347472"/>
          </a:xfrm>
          <a:prstGeom prst="rect">
            <a:avLst/>
          </a:prstGeom>
          <a:noFill/>
          <a:ln/>
        </p:spPr>
        <p:txBody>
          <a:bodyPr wrap="square" rtlCol="0" anchor="ctr"/>
          <a:lstStyle/>
          <a:p>
            <a:pPr marL="0" indent="0">
              <a:buNone/>
            </a:pPr>
            <a:r>
              <a:rPr lang="en-US" sz="1000" dirty="0">
                <a:solidFill>
                  <a:srgbClr val="FFD166"/>
                </a:solidFill>
              </a:rPr>
              <a:t>›  </a:t>
            </a:r>
            <a:r>
              <a:rPr lang="en-US" sz="1000" dirty="0">
                <a:solidFill>
                  <a:srgbClr val="E0E6F0"/>
                </a:solidFill>
              </a:rPr>
              <a:t>Mean &amp; median RT</a:t>
            </a:r>
            <a:endParaRPr lang="en-US" sz="1000" dirty="0"/>
          </a:p>
        </p:txBody>
      </p:sp>
      <p:sp>
        <p:nvSpPr>
          <p:cNvPr id="46" name="Text 44"/>
          <p:cNvSpPr/>
          <p:nvPr/>
        </p:nvSpPr>
        <p:spPr>
          <a:xfrm>
            <a:off x="7223760" y="3621024"/>
            <a:ext cx="1920240" cy="347472"/>
          </a:xfrm>
          <a:prstGeom prst="rect">
            <a:avLst/>
          </a:prstGeom>
          <a:noFill/>
          <a:ln/>
        </p:spPr>
        <p:txBody>
          <a:bodyPr wrap="square" rtlCol="0" anchor="ctr"/>
          <a:lstStyle/>
          <a:p>
            <a:pPr marL="0" indent="0">
              <a:buNone/>
            </a:pPr>
            <a:r>
              <a:rPr lang="en-US" sz="1000" dirty="0">
                <a:solidFill>
                  <a:srgbClr val="FFD166"/>
                </a:solidFill>
              </a:rPr>
              <a:t>›  </a:t>
            </a:r>
            <a:r>
              <a:rPr lang="en-US" sz="1000" dirty="0">
                <a:solidFill>
                  <a:srgbClr val="E0E6F0"/>
                </a:solidFill>
              </a:rPr>
              <a:t>Min / Max RT</a:t>
            </a:r>
            <a:endParaRPr lang="en-US" sz="1000" dirty="0"/>
          </a:p>
        </p:txBody>
      </p:sp>
      <p:sp>
        <p:nvSpPr>
          <p:cNvPr id="47" name="Text 45"/>
          <p:cNvSpPr/>
          <p:nvPr/>
        </p:nvSpPr>
        <p:spPr>
          <a:xfrm>
            <a:off x="7223760" y="4023360"/>
            <a:ext cx="1920240" cy="347472"/>
          </a:xfrm>
          <a:prstGeom prst="rect">
            <a:avLst/>
          </a:prstGeom>
          <a:noFill/>
          <a:ln/>
        </p:spPr>
        <p:txBody>
          <a:bodyPr wrap="square" rtlCol="0" anchor="ctr"/>
          <a:lstStyle/>
          <a:p>
            <a:pPr marL="0" indent="0">
              <a:buNone/>
            </a:pPr>
            <a:r>
              <a:rPr lang="en-US" sz="1000" dirty="0">
                <a:solidFill>
                  <a:srgbClr val="FFD166"/>
                </a:solidFill>
              </a:rPr>
              <a:t>›  </a:t>
            </a:r>
            <a:r>
              <a:rPr lang="en-US" sz="1000" dirty="0">
                <a:solidFill>
                  <a:srgbClr val="E0E6F0"/>
                </a:solidFill>
              </a:rPr>
              <a:t>Coefficient of variation</a:t>
            </a:r>
            <a:endParaRPr lang="en-US" sz="1000" dirty="0"/>
          </a:p>
        </p:txBody>
      </p:sp>
      <p:sp>
        <p:nvSpPr>
          <p:cNvPr id="48" name="Shape 46"/>
          <p:cNvSpPr/>
          <p:nvPr/>
        </p:nvSpPr>
        <p:spPr>
          <a:xfrm>
            <a:off x="274320" y="4754880"/>
            <a:ext cx="8686800" cy="274320"/>
          </a:xfrm>
          <a:prstGeom prst="rect">
            <a:avLst/>
          </a:prstGeom>
          <a:solidFill>
            <a:srgbClr val="1A2744">
              <a:alpha val="20000"/>
            </a:srgbClr>
          </a:solidFill>
          <a:ln w="12700">
            <a:solidFill>
              <a:srgbClr val="1E3A5F"/>
            </a:solidFill>
            <a:prstDash val="solid"/>
          </a:ln>
        </p:spPr>
      </p:sp>
      <p:sp>
        <p:nvSpPr>
          <p:cNvPr id="49" name="Text 47"/>
          <p:cNvSpPr/>
          <p:nvPr/>
        </p:nvSpPr>
        <p:spPr>
          <a:xfrm>
            <a:off x="457200" y="4773168"/>
            <a:ext cx="8503920" cy="237744"/>
          </a:xfrm>
          <a:prstGeom prst="rect">
            <a:avLst/>
          </a:prstGeom>
          <a:noFill/>
          <a:ln/>
        </p:spPr>
        <p:txBody>
          <a:bodyPr wrap="square" rtlCol="0" anchor="ctr"/>
          <a:lstStyle/>
          <a:p>
            <a:pPr marL="0" indent="0" algn="ctr">
              <a:buNone/>
            </a:pPr>
            <a:r>
              <a:rPr lang="en-US" sz="950" dirty="0">
                <a:solidFill>
                  <a:srgbClr val="8899BB"/>
                </a:solidFill>
              </a:rPr>
              <a:t>All features grounded in peer-reviewed survey methodology literature  •  Mann-Whitney U validated  •  Fully documented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9 / 16</a:t>
            </a:r>
            <a:endParaRPr lang="en-US" sz="900" dirty="0"/>
          </a:p>
        </p:txBody>
      </p:sp>
      <p:sp>
        <p:nvSpPr>
          <p:cNvPr id="5" name="Text 3"/>
          <p:cNvSpPr/>
          <p:nvPr/>
        </p:nvSpPr>
        <p:spPr>
          <a:xfrm>
            <a:off x="457200" y="164592"/>
            <a:ext cx="4572000" cy="228600"/>
          </a:xfrm>
          <a:prstGeom prst="rect">
            <a:avLst/>
          </a:prstGeom>
          <a:noFill/>
          <a:ln/>
        </p:spPr>
        <p:txBody>
          <a:bodyPr wrap="square" rtlCol="0" anchor="ctr"/>
          <a:lstStyle/>
          <a:p>
            <a:pPr marL="0" indent="0">
              <a:buNone/>
            </a:pPr>
            <a:r>
              <a:rPr lang="en-US" sz="900" b="1" kern="0" spc="300" dirty="0">
                <a:solidFill>
                  <a:srgbClr val="FF4D6D"/>
                </a:solidFill>
              </a:rPr>
              <a:t>ANOMALY DETECTION</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800" b="1" dirty="0">
                <a:solidFill>
                  <a:srgbClr val="FFFFFF"/>
                </a:solidFill>
              </a:rPr>
              <a:t>Two-Layer Detection System</a:t>
            </a:r>
            <a:endParaRPr lang="en-US" sz="2800" dirty="0"/>
          </a:p>
        </p:txBody>
      </p:sp>
      <p:sp>
        <p:nvSpPr>
          <p:cNvPr id="7" name="Shape 5"/>
          <p:cNvSpPr/>
          <p:nvPr/>
        </p:nvSpPr>
        <p:spPr>
          <a:xfrm>
            <a:off x="274320" y="1188720"/>
            <a:ext cx="4023360" cy="2743200"/>
          </a:xfrm>
          <a:prstGeom prst="rect">
            <a:avLst/>
          </a:prstGeom>
          <a:solidFill>
            <a:srgbClr val="1A2744">
              <a:alpha val="28000"/>
            </a:srgbClr>
          </a:solidFill>
          <a:ln w="12700">
            <a:solidFill>
              <a:srgbClr val="1E3A5F"/>
            </a:solidFill>
            <a:prstDash val="solid"/>
          </a:ln>
        </p:spPr>
      </p:sp>
      <p:sp>
        <p:nvSpPr>
          <p:cNvPr id="8" name="Shape 6"/>
          <p:cNvSpPr/>
          <p:nvPr/>
        </p:nvSpPr>
        <p:spPr>
          <a:xfrm>
            <a:off x="274320" y="1188720"/>
            <a:ext cx="4023360" cy="54864"/>
          </a:xfrm>
          <a:prstGeom prst="rect">
            <a:avLst/>
          </a:prstGeom>
          <a:solidFill>
            <a:srgbClr val="FF4D6D"/>
          </a:solidFill>
          <a:ln w="12700">
            <a:solidFill>
              <a:srgbClr val="FF4D6D">
                <a:alpha val="0"/>
              </a:srgbClr>
            </a:solidFill>
            <a:prstDash val="solid"/>
          </a:ln>
        </p:spPr>
      </p:sp>
      <p:sp>
        <p:nvSpPr>
          <p:cNvPr id="9" name="Text 7"/>
          <p:cNvSpPr/>
          <p:nvPr/>
        </p:nvSpPr>
        <p:spPr>
          <a:xfrm>
            <a:off x="411480" y="1298448"/>
            <a:ext cx="3749040" cy="411480"/>
          </a:xfrm>
          <a:prstGeom prst="rect">
            <a:avLst/>
          </a:prstGeom>
          <a:noFill/>
          <a:ln/>
        </p:spPr>
        <p:txBody>
          <a:bodyPr wrap="square" rtlCol="0" anchor="ctr"/>
          <a:lstStyle/>
          <a:p>
            <a:pPr marL="0" indent="0">
              <a:buNone/>
            </a:pPr>
            <a:r>
              <a:rPr lang="en-US" sz="1300" b="1" dirty="0">
                <a:solidFill>
                  <a:srgbClr val="FF4D6D"/>
                </a:solidFill>
              </a:rPr>
              <a:t>Layer 1 — Statistical IQR Detection</a:t>
            </a:r>
            <a:endParaRPr lang="en-US" sz="1300" dirty="0"/>
          </a:p>
        </p:txBody>
      </p:sp>
      <p:sp>
        <p:nvSpPr>
          <p:cNvPr id="10" name="Text 8"/>
          <p:cNvSpPr/>
          <p:nvPr/>
        </p:nvSpPr>
        <p:spPr>
          <a:xfrm>
            <a:off x="411480" y="1783080"/>
            <a:ext cx="3749040" cy="502920"/>
          </a:xfrm>
          <a:prstGeom prst="rect">
            <a:avLst/>
          </a:prstGeom>
          <a:noFill/>
          <a:ln/>
        </p:spPr>
        <p:txBody>
          <a:bodyPr wrap="square" rtlCol="0" anchor="ctr"/>
          <a:lstStyle/>
          <a:p>
            <a:pPr marL="0" indent="0">
              <a:buNone/>
            </a:pPr>
            <a:r>
              <a:rPr lang="en-US" sz="1100" dirty="0">
                <a:solidFill>
                  <a:srgbClr val="E0E6F0"/>
                </a:solidFill>
              </a:rPr>
              <a:t>For each timing feature, compute Q1 and Q3 across all interviews. Flag as anomaly if:</a:t>
            </a:r>
            <a:endParaRPr lang="en-US" sz="1100" dirty="0"/>
          </a:p>
        </p:txBody>
      </p:sp>
      <p:sp>
        <p:nvSpPr>
          <p:cNvPr id="11" name="Text 9"/>
          <p:cNvSpPr/>
          <p:nvPr/>
        </p:nvSpPr>
        <p:spPr>
          <a:xfrm>
            <a:off x="411480" y="2331720"/>
            <a:ext cx="3749040" cy="411480"/>
          </a:xfrm>
          <a:prstGeom prst="rect">
            <a:avLst/>
          </a:prstGeom>
          <a:noFill/>
          <a:ln/>
        </p:spPr>
        <p:txBody>
          <a:bodyPr wrap="square" rtlCol="0" anchor="ctr"/>
          <a:lstStyle/>
          <a:p>
            <a:pPr marL="0" indent="0" algn="ctr">
              <a:buNone/>
            </a:pPr>
            <a:r>
              <a:rPr lang="en-US" sz="1100" b="1" dirty="0">
                <a:solidFill>
                  <a:srgbClr val="FFD166"/>
                </a:solidFill>
                <a:latin typeface="Consolas" pitchFamily="34" charset="0"/>
                <a:ea typeface="Consolas" pitchFamily="34" charset="-122"/>
                <a:cs typeface="Consolas" pitchFamily="34" charset="-120"/>
              </a:rPr>
              <a:t>value &lt; Q1 − 1.5×IQR     OR     value &gt; Q3 + 1.5×IQR</a:t>
            </a:r>
            <a:endParaRPr lang="en-US" sz="1100" dirty="0"/>
          </a:p>
        </p:txBody>
      </p:sp>
      <p:sp>
        <p:nvSpPr>
          <p:cNvPr id="12" name="Text 10"/>
          <p:cNvSpPr/>
          <p:nvPr/>
        </p:nvSpPr>
        <p:spPr>
          <a:xfrm>
            <a:off x="411480" y="2834640"/>
            <a:ext cx="3749040" cy="594360"/>
          </a:xfrm>
          <a:prstGeom prst="rect">
            <a:avLst/>
          </a:prstGeom>
          <a:noFill/>
          <a:ln/>
        </p:spPr>
        <p:txBody>
          <a:bodyPr wrap="square" rtlCol="0" anchor="ctr"/>
          <a:lstStyle/>
          <a:p>
            <a:pPr marL="0" indent="0">
              <a:buNone/>
            </a:pPr>
            <a:r>
              <a:rPr lang="en-US" sz="1050" dirty="0">
                <a:solidFill>
                  <a:srgbClr val="8899BB"/>
                </a:solidFill>
              </a:rPr>
              <a:t>Anomaly score = number of features flagged</a:t>
            </a:r>
            <a:endParaRPr lang="en-US" sz="1050" dirty="0"/>
          </a:p>
          <a:p>
            <a:pPr marL="0" indent="0">
              <a:buNone/>
            </a:pPr>
            <a:r>
              <a:rPr lang="en-US" sz="1050" dirty="0">
                <a:solidFill>
                  <a:srgbClr val="8899BB"/>
                </a:solidFill>
              </a:rPr>
              <a:t>Robust to non-normal, right-skewed distributions (no normality assumption)</a:t>
            </a:r>
            <a:endParaRPr lang="en-US" sz="1050" dirty="0"/>
          </a:p>
        </p:txBody>
      </p:sp>
      <p:sp>
        <p:nvSpPr>
          <p:cNvPr id="13" name="Shape 11"/>
          <p:cNvSpPr/>
          <p:nvPr/>
        </p:nvSpPr>
        <p:spPr>
          <a:xfrm>
            <a:off x="4572000" y="1188720"/>
            <a:ext cx="4297680" cy="2743200"/>
          </a:xfrm>
          <a:prstGeom prst="rect">
            <a:avLst/>
          </a:prstGeom>
          <a:solidFill>
            <a:srgbClr val="1A2744">
              <a:alpha val="28000"/>
            </a:srgbClr>
          </a:solidFill>
          <a:ln w="12700">
            <a:solidFill>
              <a:srgbClr val="1E3A5F"/>
            </a:solidFill>
            <a:prstDash val="solid"/>
          </a:ln>
        </p:spPr>
      </p:sp>
      <p:sp>
        <p:nvSpPr>
          <p:cNvPr id="14" name="Shape 12"/>
          <p:cNvSpPr/>
          <p:nvPr/>
        </p:nvSpPr>
        <p:spPr>
          <a:xfrm>
            <a:off x="4572000" y="1188720"/>
            <a:ext cx="4297680" cy="54864"/>
          </a:xfrm>
          <a:prstGeom prst="rect">
            <a:avLst/>
          </a:prstGeom>
          <a:solidFill>
            <a:srgbClr val="FFD166"/>
          </a:solidFill>
          <a:ln w="12700">
            <a:solidFill>
              <a:srgbClr val="FFD166">
                <a:alpha val="0"/>
              </a:srgbClr>
            </a:solidFill>
            <a:prstDash val="solid"/>
          </a:ln>
        </p:spPr>
      </p:sp>
      <p:sp>
        <p:nvSpPr>
          <p:cNvPr id="15" name="Text 13"/>
          <p:cNvSpPr/>
          <p:nvPr/>
        </p:nvSpPr>
        <p:spPr>
          <a:xfrm>
            <a:off x="4709160" y="1298448"/>
            <a:ext cx="4023360" cy="411480"/>
          </a:xfrm>
          <a:prstGeom prst="rect">
            <a:avLst/>
          </a:prstGeom>
          <a:noFill/>
          <a:ln/>
        </p:spPr>
        <p:txBody>
          <a:bodyPr wrap="square" rtlCol="0" anchor="ctr"/>
          <a:lstStyle/>
          <a:p>
            <a:pPr marL="0" indent="0">
              <a:buNone/>
            </a:pPr>
            <a:r>
              <a:rPr lang="en-US" sz="1300" b="1" dirty="0">
                <a:solidFill>
                  <a:srgbClr val="FFD166"/>
                </a:solidFill>
              </a:rPr>
              <a:t>Layer 2 — Rule-Based Domain Logic</a:t>
            </a:r>
            <a:endParaRPr lang="en-US" sz="1300" dirty="0"/>
          </a:p>
        </p:txBody>
      </p:sp>
      <p:sp>
        <p:nvSpPr>
          <p:cNvPr id="16" name="Text 14"/>
          <p:cNvSpPr/>
          <p:nvPr/>
        </p:nvSpPr>
        <p:spPr>
          <a:xfrm>
            <a:off x="4709160" y="1783080"/>
            <a:ext cx="4023360" cy="402336"/>
          </a:xfrm>
          <a:prstGeom prst="rect">
            <a:avLst/>
          </a:prstGeom>
          <a:noFill/>
          <a:ln/>
        </p:spPr>
        <p:txBody>
          <a:bodyPr wrap="square" rtlCol="0" anchor="ctr"/>
          <a:lstStyle/>
          <a:p>
            <a:pPr marL="0" indent="0">
              <a:buNone/>
            </a:pPr>
            <a:r>
              <a:rPr lang="en-US" sz="1100" dirty="0">
                <a:solidFill>
                  <a:srgbClr val="FFD166"/>
                </a:solidFill>
              </a:rPr>
              <a:t>⚡  </a:t>
            </a:r>
            <a:r>
              <a:rPr lang="en-US" sz="1100" dirty="0">
                <a:solidFill>
                  <a:srgbClr val="E0E6F0"/>
                </a:solidFill>
              </a:rPr>
              <a:t>Total duration &lt; minimum plausible time</a:t>
            </a:r>
            <a:endParaRPr lang="en-US" sz="1100" dirty="0"/>
          </a:p>
        </p:txBody>
      </p:sp>
      <p:sp>
        <p:nvSpPr>
          <p:cNvPr id="17" name="Text 15"/>
          <p:cNvSpPr/>
          <p:nvPr/>
        </p:nvSpPr>
        <p:spPr>
          <a:xfrm>
            <a:off x="4709160" y="2258568"/>
            <a:ext cx="4023360" cy="402336"/>
          </a:xfrm>
          <a:prstGeom prst="rect">
            <a:avLst/>
          </a:prstGeom>
          <a:noFill/>
          <a:ln/>
        </p:spPr>
        <p:txBody>
          <a:bodyPr wrap="square" rtlCol="0" anchor="ctr"/>
          <a:lstStyle/>
          <a:p>
            <a:pPr marL="0" indent="0">
              <a:buNone/>
            </a:pPr>
            <a:r>
              <a:rPr lang="en-US" sz="1100" dirty="0">
                <a:solidFill>
                  <a:srgbClr val="FFD166"/>
                </a:solidFill>
              </a:rPr>
              <a:t>⚡  </a:t>
            </a:r>
            <a:r>
              <a:rPr lang="en-US" sz="1100" dirty="0">
                <a:solidFill>
                  <a:srgbClr val="E0E6F0"/>
                </a:solidFill>
              </a:rPr>
              <a:t>Zero back-navigation over 20+ consecutive questions</a:t>
            </a:r>
            <a:endParaRPr lang="en-US" sz="1100" dirty="0"/>
          </a:p>
        </p:txBody>
      </p:sp>
      <p:sp>
        <p:nvSpPr>
          <p:cNvPr id="18" name="Text 16"/>
          <p:cNvSpPr/>
          <p:nvPr/>
        </p:nvSpPr>
        <p:spPr>
          <a:xfrm>
            <a:off x="4709160" y="2734056"/>
            <a:ext cx="4023360" cy="402336"/>
          </a:xfrm>
          <a:prstGeom prst="rect">
            <a:avLst/>
          </a:prstGeom>
          <a:noFill/>
          <a:ln/>
        </p:spPr>
        <p:txBody>
          <a:bodyPr wrap="square" rtlCol="0" anchor="ctr"/>
          <a:lstStyle/>
          <a:p>
            <a:pPr marL="0" indent="0">
              <a:buNone/>
            </a:pPr>
            <a:r>
              <a:rPr lang="en-US" sz="1100" dirty="0">
                <a:solidFill>
                  <a:srgbClr val="FFD166"/>
                </a:solidFill>
              </a:rPr>
              <a:t>⚡  </a:t>
            </a:r>
            <a:r>
              <a:rPr lang="en-US" sz="1100" dirty="0">
                <a:solidFill>
                  <a:srgbClr val="E0E6F0"/>
                </a:solidFill>
              </a:rPr>
              <a:t>Timing entropy below defined floor</a:t>
            </a:r>
            <a:endParaRPr lang="en-US" sz="1100" dirty="0"/>
          </a:p>
        </p:txBody>
      </p:sp>
      <p:sp>
        <p:nvSpPr>
          <p:cNvPr id="19" name="Text 17"/>
          <p:cNvSpPr/>
          <p:nvPr/>
        </p:nvSpPr>
        <p:spPr>
          <a:xfrm>
            <a:off x="4709160" y="3209544"/>
            <a:ext cx="4023360" cy="402336"/>
          </a:xfrm>
          <a:prstGeom prst="rect">
            <a:avLst/>
          </a:prstGeom>
          <a:noFill/>
          <a:ln/>
        </p:spPr>
        <p:txBody>
          <a:bodyPr wrap="square" rtlCol="0" anchor="ctr"/>
          <a:lstStyle/>
          <a:p>
            <a:pPr marL="0" indent="0">
              <a:buNone/>
            </a:pPr>
            <a:r>
              <a:rPr lang="en-US" sz="1100" dirty="0">
                <a:solidFill>
                  <a:srgbClr val="FFD166"/>
                </a:solidFill>
              </a:rPr>
              <a:t>⚡  </a:t>
            </a:r>
            <a:r>
              <a:rPr lang="en-US" sz="1100" dirty="0">
                <a:solidFill>
                  <a:srgbClr val="E0E6F0"/>
                </a:solidFill>
              </a:rPr>
              <a:t>Uniform pacing regardless of question complexity</a:t>
            </a:r>
            <a:endParaRPr lang="en-US" sz="1100" dirty="0"/>
          </a:p>
        </p:txBody>
      </p:sp>
      <p:sp>
        <p:nvSpPr>
          <p:cNvPr id="20" name="Shape 18"/>
          <p:cNvSpPr/>
          <p:nvPr/>
        </p:nvSpPr>
        <p:spPr>
          <a:xfrm>
            <a:off x="274320" y="4114800"/>
            <a:ext cx="8595360" cy="731520"/>
          </a:xfrm>
          <a:prstGeom prst="rect">
            <a:avLst/>
          </a:prstGeom>
          <a:solidFill>
            <a:srgbClr val="1A2744">
              <a:alpha val="28000"/>
            </a:srgbClr>
          </a:solidFill>
          <a:ln w="12700">
            <a:solidFill>
              <a:srgbClr val="1E3A5F"/>
            </a:solidFill>
            <a:prstDash val="solid"/>
          </a:ln>
        </p:spPr>
      </p:sp>
      <p:sp>
        <p:nvSpPr>
          <p:cNvPr id="21" name="Shape 19"/>
          <p:cNvSpPr/>
          <p:nvPr/>
        </p:nvSpPr>
        <p:spPr>
          <a:xfrm>
            <a:off x="274320" y="4114800"/>
            <a:ext cx="54864" cy="731520"/>
          </a:xfrm>
          <a:prstGeom prst="rect">
            <a:avLst/>
          </a:prstGeom>
          <a:solidFill>
            <a:srgbClr val="06D6A0"/>
          </a:solidFill>
          <a:ln w="12700">
            <a:solidFill>
              <a:srgbClr val="06D6A0">
                <a:alpha val="0"/>
              </a:srgbClr>
            </a:solidFill>
            <a:prstDash val="solid"/>
          </a:ln>
        </p:spPr>
      </p:sp>
      <p:sp>
        <p:nvSpPr>
          <p:cNvPr id="22" name="Text 20"/>
          <p:cNvSpPr/>
          <p:nvPr/>
        </p:nvSpPr>
        <p:spPr>
          <a:xfrm>
            <a:off x="502920" y="4224528"/>
            <a:ext cx="8321040" cy="502920"/>
          </a:xfrm>
          <a:prstGeom prst="rect">
            <a:avLst/>
          </a:prstGeom>
          <a:noFill/>
          <a:ln/>
        </p:spPr>
        <p:txBody>
          <a:bodyPr wrap="square" rtlCol="0" anchor="ctr"/>
          <a:lstStyle/>
          <a:p>
            <a:pPr marL="0" indent="0">
              <a:buNone/>
            </a:pPr>
            <a:r>
              <a:rPr lang="en-US" sz="1300" b="1" dirty="0">
                <a:solidFill>
                  <a:srgbClr val="06D6A0"/>
                </a:solidFill>
              </a:rPr>
              <a:t>Combined Score: </a:t>
            </a:r>
            <a:r>
              <a:rPr lang="en-US" sz="1200" dirty="0">
                <a:solidFill>
                  <a:srgbClr val="E0E6F0"/>
                </a:solidFill>
              </a:rPr>
              <a:t>Statistical flags + Rule violations → composite anomaly index per interview. Precision ≥ 0.80  |  Recall ≥ 0.75  |  F1 reported.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10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00B4D8"/>
                </a:solidFill>
              </a:rPr>
              <a:t>VALIDATION DATA</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600" b="1" dirty="0">
                <a:solidFill>
                  <a:srgbClr val="FFFFFF"/>
                </a:solidFill>
              </a:rPr>
              <a:t>Synthetic Data Generation Strategy</a:t>
            </a:r>
            <a:endParaRPr lang="en-US" sz="2600" dirty="0"/>
          </a:p>
        </p:txBody>
      </p:sp>
      <p:sp>
        <p:nvSpPr>
          <p:cNvPr id="7" name="Shape 5"/>
          <p:cNvSpPr/>
          <p:nvPr/>
        </p:nvSpPr>
        <p:spPr>
          <a:xfrm>
            <a:off x="274320" y="1143000"/>
            <a:ext cx="4114800" cy="1417320"/>
          </a:xfrm>
          <a:prstGeom prst="rect">
            <a:avLst/>
          </a:prstGeom>
          <a:solidFill>
            <a:srgbClr val="1A2744">
              <a:alpha val="25000"/>
            </a:srgbClr>
          </a:solidFill>
          <a:ln w="12700">
            <a:solidFill>
              <a:srgbClr val="1E3A5F"/>
            </a:solidFill>
            <a:prstDash val="solid"/>
          </a:ln>
        </p:spPr>
      </p:sp>
      <p:sp>
        <p:nvSpPr>
          <p:cNvPr id="8" name="Shape 6"/>
          <p:cNvSpPr/>
          <p:nvPr/>
        </p:nvSpPr>
        <p:spPr>
          <a:xfrm>
            <a:off x="274320" y="1143000"/>
            <a:ext cx="54864" cy="1417320"/>
          </a:xfrm>
          <a:prstGeom prst="rect">
            <a:avLst/>
          </a:prstGeom>
          <a:solidFill>
            <a:srgbClr val="00B4D8"/>
          </a:solidFill>
          <a:ln w="12700">
            <a:solidFill>
              <a:srgbClr val="00B4D8">
                <a:alpha val="0"/>
              </a:srgbClr>
            </a:solidFill>
            <a:prstDash val="solid"/>
          </a:ln>
        </p:spPr>
      </p:sp>
      <p:sp>
        <p:nvSpPr>
          <p:cNvPr id="9" name="Text 7"/>
          <p:cNvSpPr/>
          <p:nvPr/>
        </p:nvSpPr>
        <p:spPr>
          <a:xfrm>
            <a:off x="475488" y="1216152"/>
            <a:ext cx="3749040" cy="347472"/>
          </a:xfrm>
          <a:prstGeom prst="rect">
            <a:avLst/>
          </a:prstGeom>
          <a:noFill/>
          <a:ln/>
        </p:spPr>
        <p:txBody>
          <a:bodyPr wrap="square" rtlCol="0" anchor="ctr"/>
          <a:lstStyle/>
          <a:p>
            <a:pPr marL="0" indent="0">
              <a:buNone/>
            </a:pPr>
            <a:r>
              <a:rPr lang="en-US" sz="1400" b="1" dirty="0">
                <a:solidFill>
                  <a:srgbClr val="00B4D8"/>
                </a:solidFill>
              </a:rPr>
              <a:t>Why Synthetic?</a:t>
            </a:r>
            <a:endParaRPr lang="en-US" sz="1400" dirty="0"/>
          </a:p>
        </p:txBody>
      </p:sp>
      <p:sp>
        <p:nvSpPr>
          <p:cNvPr id="10" name="Text 8"/>
          <p:cNvSpPr/>
          <p:nvPr/>
        </p:nvSpPr>
        <p:spPr>
          <a:xfrm>
            <a:off x="475488" y="1581912"/>
            <a:ext cx="3840480" cy="822960"/>
          </a:xfrm>
          <a:prstGeom prst="rect">
            <a:avLst/>
          </a:prstGeom>
          <a:noFill/>
          <a:ln/>
        </p:spPr>
        <p:txBody>
          <a:bodyPr wrap="square" rtlCol="0" anchor="ctr"/>
          <a:lstStyle/>
          <a:p>
            <a:pPr marL="0" indent="0">
              <a:buNone/>
            </a:pPr>
            <a:r>
              <a:rPr lang="en-US" sz="1100" dirty="0">
                <a:solidFill>
                  <a:srgbClr val="E0E6F0"/>
                </a:solidFill>
              </a:rPr>
              <a:t>No labelled real-world paradata exists. Synthetic generation enables controlled injection of known anomaly types with ground-truth labels — enabling rigorous, reproducible evaluation.</a:t>
            </a:r>
            <a:endParaRPr lang="en-US" sz="1100" dirty="0"/>
          </a:p>
        </p:txBody>
      </p:sp>
      <p:sp>
        <p:nvSpPr>
          <p:cNvPr id="11" name="Shape 9"/>
          <p:cNvSpPr/>
          <p:nvPr/>
        </p:nvSpPr>
        <p:spPr>
          <a:xfrm>
            <a:off x="4663440" y="1143000"/>
            <a:ext cx="4114800" cy="1417320"/>
          </a:xfrm>
          <a:prstGeom prst="rect">
            <a:avLst/>
          </a:prstGeom>
          <a:solidFill>
            <a:srgbClr val="1A2744">
              <a:alpha val="25000"/>
            </a:srgbClr>
          </a:solidFill>
          <a:ln w="12700">
            <a:solidFill>
              <a:srgbClr val="1E3A5F"/>
            </a:solidFill>
            <a:prstDash val="solid"/>
          </a:ln>
        </p:spPr>
      </p:sp>
      <p:sp>
        <p:nvSpPr>
          <p:cNvPr id="12" name="Shape 10"/>
          <p:cNvSpPr/>
          <p:nvPr/>
        </p:nvSpPr>
        <p:spPr>
          <a:xfrm>
            <a:off x="4663440" y="1143000"/>
            <a:ext cx="54864" cy="1417320"/>
          </a:xfrm>
          <a:prstGeom prst="rect">
            <a:avLst/>
          </a:prstGeom>
          <a:solidFill>
            <a:srgbClr val="9D4EDD"/>
          </a:solidFill>
          <a:ln w="12700">
            <a:solidFill>
              <a:srgbClr val="9D4EDD">
                <a:alpha val="0"/>
              </a:srgbClr>
            </a:solidFill>
            <a:prstDash val="solid"/>
          </a:ln>
        </p:spPr>
      </p:sp>
      <p:sp>
        <p:nvSpPr>
          <p:cNvPr id="13" name="Text 11"/>
          <p:cNvSpPr/>
          <p:nvPr/>
        </p:nvSpPr>
        <p:spPr>
          <a:xfrm>
            <a:off x="4846320" y="1216152"/>
            <a:ext cx="3749040" cy="347472"/>
          </a:xfrm>
          <a:prstGeom prst="rect">
            <a:avLst/>
          </a:prstGeom>
          <a:noFill/>
          <a:ln/>
        </p:spPr>
        <p:txBody>
          <a:bodyPr wrap="square" rtlCol="0" anchor="ctr"/>
          <a:lstStyle/>
          <a:p>
            <a:pPr marL="0" indent="0">
              <a:buNone/>
            </a:pPr>
            <a:r>
              <a:rPr lang="en-US" sz="1400" b="1" dirty="0">
                <a:solidFill>
                  <a:srgbClr val="9D4EDD"/>
                </a:solidFill>
              </a:rPr>
              <a:t>Base Distributions</a:t>
            </a:r>
            <a:endParaRPr lang="en-US" sz="1400" dirty="0"/>
          </a:p>
        </p:txBody>
      </p:sp>
      <p:sp>
        <p:nvSpPr>
          <p:cNvPr id="14" name="Text 12"/>
          <p:cNvSpPr/>
          <p:nvPr/>
        </p:nvSpPr>
        <p:spPr>
          <a:xfrm>
            <a:off x="4846320" y="1581912"/>
            <a:ext cx="3749040" cy="822960"/>
          </a:xfrm>
          <a:prstGeom prst="rect">
            <a:avLst/>
          </a:prstGeom>
          <a:noFill/>
          <a:ln/>
        </p:spPr>
        <p:txBody>
          <a:bodyPr wrap="square" rtlCol="0" anchor="ctr"/>
          <a:lstStyle/>
          <a:p>
            <a:pPr marL="0" indent="0">
              <a:buNone/>
            </a:pPr>
            <a:r>
              <a:rPr lang="en-US" sz="1100" dirty="0">
                <a:solidFill>
                  <a:srgbClr val="E0E6F0"/>
                </a:solidFill>
              </a:rPr>
              <a:t>Response times → Log-Normal (matches empirical RT data)</a:t>
            </a:r>
            <a:endParaRPr lang="en-US" sz="1100" dirty="0"/>
          </a:p>
          <a:p>
            <a:pPr marL="0" indent="0">
              <a:buNone/>
            </a:pPr>
            <a:r>
              <a:rPr lang="en-US" sz="1100" dirty="0">
                <a:solidFill>
                  <a:srgbClr val="E0E6F0"/>
                </a:solidFill>
              </a:rPr>
              <a:t>Navigation events → Poisson</a:t>
            </a:r>
            <a:endParaRPr lang="en-US" sz="1100" dirty="0"/>
          </a:p>
        </p:txBody>
      </p:sp>
      <p:sp>
        <p:nvSpPr>
          <p:cNvPr id="15" name="Text 13"/>
          <p:cNvSpPr/>
          <p:nvPr/>
        </p:nvSpPr>
        <p:spPr>
          <a:xfrm>
            <a:off x="457200" y="2743200"/>
            <a:ext cx="4572000" cy="365760"/>
          </a:xfrm>
          <a:prstGeom prst="rect">
            <a:avLst/>
          </a:prstGeom>
          <a:noFill/>
          <a:ln/>
        </p:spPr>
        <p:txBody>
          <a:bodyPr wrap="square" rtlCol="0" anchor="ctr"/>
          <a:lstStyle/>
          <a:p>
            <a:pPr marL="0" indent="0">
              <a:buNone/>
            </a:pPr>
            <a:r>
              <a:rPr lang="en-US" sz="1400" b="1" dirty="0">
                <a:solidFill>
                  <a:srgbClr val="FFFFFF"/>
                </a:solidFill>
              </a:rPr>
              <a:t>Injected Anomaly Types</a:t>
            </a:r>
            <a:endParaRPr lang="en-US" sz="1400" dirty="0"/>
          </a:p>
        </p:txBody>
      </p:sp>
      <p:sp>
        <p:nvSpPr>
          <p:cNvPr id="16" name="Shape 14"/>
          <p:cNvSpPr/>
          <p:nvPr/>
        </p:nvSpPr>
        <p:spPr>
          <a:xfrm>
            <a:off x="274320" y="3200400"/>
            <a:ext cx="2743200" cy="1234440"/>
          </a:xfrm>
          <a:prstGeom prst="rect">
            <a:avLst/>
          </a:prstGeom>
          <a:solidFill>
            <a:srgbClr val="1A2744">
              <a:alpha val="26000"/>
            </a:srgbClr>
          </a:solidFill>
          <a:ln w="12700">
            <a:solidFill>
              <a:srgbClr val="1E3A5F"/>
            </a:solidFill>
            <a:prstDash val="solid"/>
          </a:ln>
        </p:spPr>
      </p:sp>
      <p:sp>
        <p:nvSpPr>
          <p:cNvPr id="17" name="Shape 15"/>
          <p:cNvSpPr/>
          <p:nvPr/>
        </p:nvSpPr>
        <p:spPr>
          <a:xfrm>
            <a:off x="274320" y="3200400"/>
            <a:ext cx="2743200" cy="45720"/>
          </a:xfrm>
          <a:prstGeom prst="rect">
            <a:avLst/>
          </a:prstGeom>
          <a:solidFill>
            <a:srgbClr val="FF4D6D"/>
          </a:solidFill>
          <a:ln w="12700">
            <a:solidFill>
              <a:srgbClr val="FF4D6D">
                <a:alpha val="0"/>
              </a:srgbClr>
            </a:solidFill>
            <a:prstDash val="solid"/>
          </a:ln>
        </p:spPr>
      </p:sp>
      <p:sp>
        <p:nvSpPr>
          <p:cNvPr id="18" name="Text 16"/>
          <p:cNvSpPr/>
          <p:nvPr/>
        </p:nvSpPr>
        <p:spPr>
          <a:xfrm>
            <a:off x="411480" y="3291840"/>
            <a:ext cx="2560320" cy="347472"/>
          </a:xfrm>
          <a:prstGeom prst="rect">
            <a:avLst/>
          </a:prstGeom>
          <a:noFill/>
          <a:ln/>
        </p:spPr>
        <p:txBody>
          <a:bodyPr wrap="square" rtlCol="0" anchor="ctr"/>
          <a:lstStyle/>
          <a:p>
            <a:pPr marL="0" indent="0">
              <a:buNone/>
            </a:pPr>
            <a:r>
              <a:rPr lang="en-US" sz="1300" b="1" dirty="0">
                <a:solidFill>
                  <a:srgbClr val="FF4D6D"/>
                </a:solidFill>
              </a:rPr>
              <a:t>Fabrication</a:t>
            </a:r>
            <a:endParaRPr lang="en-US" sz="1300" dirty="0"/>
          </a:p>
        </p:txBody>
      </p:sp>
      <p:sp>
        <p:nvSpPr>
          <p:cNvPr id="19" name="Text 17"/>
          <p:cNvSpPr/>
          <p:nvPr/>
        </p:nvSpPr>
        <p:spPr>
          <a:xfrm>
            <a:off x="411480" y="3657600"/>
            <a:ext cx="2560320" cy="685800"/>
          </a:xfrm>
          <a:prstGeom prst="rect">
            <a:avLst/>
          </a:prstGeom>
          <a:noFill/>
          <a:ln/>
        </p:spPr>
        <p:txBody>
          <a:bodyPr wrap="square" rtlCol="0" anchor="ctr"/>
          <a:lstStyle/>
          <a:p>
            <a:pPr marL="0" indent="0">
              <a:buNone/>
            </a:pPr>
            <a:r>
              <a:rPr lang="en-US" sz="1050" dirty="0">
                <a:solidFill>
                  <a:srgbClr val="E0E6F0"/>
                </a:solidFill>
              </a:rPr>
              <a:t>Compressed RT IQR, near-zero back-nav, uniform pacing</a:t>
            </a:r>
            <a:endParaRPr lang="en-US" sz="1050" dirty="0"/>
          </a:p>
        </p:txBody>
      </p:sp>
      <p:sp>
        <p:nvSpPr>
          <p:cNvPr id="20" name="Shape 18"/>
          <p:cNvSpPr/>
          <p:nvPr/>
        </p:nvSpPr>
        <p:spPr>
          <a:xfrm>
            <a:off x="3200400" y="3200400"/>
            <a:ext cx="2743200" cy="1234440"/>
          </a:xfrm>
          <a:prstGeom prst="rect">
            <a:avLst/>
          </a:prstGeom>
          <a:solidFill>
            <a:srgbClr val="1A2744">
              <a:alpha val="26000"/>
            </a:srgbClr>
          </a:solidFill>
          <a:ln w="12700">
            <a:solidFill>
              <a:srgbClr val="1E3A5F"/>
            </a:solidFill>
            <a:prstDash val="solid"/>
          </a:ln>
        </p:spPr>
      </p:sp>
      <p:sp>
        <p:nvSpPr>
          <p:cNvPr id="21" name="Shape 19"/>
          <p:cNvSpPr/>
          <p:nvPr/>
        </p:nvSpPr>
        <p:spPr>
          <a:xfrm>
            <a:off x="3200400" y="3200400"/>
            <a:ext cx="2743200" cy="45720"/>
          </a:xfrm>
          <a:prstGeom prst="rect">
            <a:avLst/>
          </a:prstGeom>
          <a:solidFill>
            <a:srgbClr val="FFD166"/>
          </a:solidFill>
          <a:ln w="12700">
            <a:solidFill>
              <a:srgbClr val="FFD166">
                <a:alpha val="0"/>
              </a:srgbClr>
            </a:solidFill>
            <a:prstDash val="solid"/>
          </a:ln>
        </p:spPr>
      </p:sp>
      <p:sp>
        <p:nvSpPr>
          <p:cNvPr id="22" name="Text 20"/>
          <p:cNvSpPr/>
          <p:nvPr/>
        </p:nvSpPr>
        <p:spPr>
          <a:xfrm>
            <a:off x="3337560" y="3291840"/>
            <a:ext cx="2560320" cy="347472"/>
          </a:xfrm>
          <a:prstGeom prst="rect">
            <a:avLst/>
          </a:prstGeom>
          <a:noFill/>
          <a:ln/>
        </p:spPr>
        <p:txBody>
          <a:bodyPr wrap="square" rtlCol="0" anchor="ctr"/>
          <a:lstStyle/>
          <a:p>
            <a:pPr marL="0" indent="0">
              <a:buNone/>
            </a:pPr>
            <a:r>
              <a:rPr lang="en-US" sz="1300" b="1" dirty="0">
                <a:solidFill>
                  <a:srgbClr val="FFD166"/>
                </a:solidFill>
              </a:rPr>
              <a:t>Speeding</a:t>
            </a:r>
            <a:endParaRPr lang="en-US" sz="1300" dirty="0"/>
          </a:p>
        </p:txBody>
      </p:sp>
      <p:sp>
        <p:nvSpPr>
          <p:cNvPr id="23" name="Text 21"/>
          <p:cNvSpPr/>
          <p:nvPr/>
        </p:nvSpPr>
        <p:spPr>
          <a:xfrm>
            <a:off x="3337560" y="3657600"/>
            <a:ext cx="2560320" cy="685800"/>
          </a:xfrm>
          <a:prstGeom prst="rect">
            <a:avLst/>
          </a:prstGeom>
          <a:noFill/>
          <a:ln/>
        </p:spPr>
        <p:txBody>
          <a:bodyPr wrap="square" rtlCol="0" anchor="ctr"/>
          <a:lstStyle/>
          <a:p>
            <a:pPr marL="0" indent="0">
              <a:buNone/>
            </a:pPr>
            <a:r>
              <a:rPr lang="en-US" sz="1050" dirty="0">
                <a:solidFill>
                  <a:srgbClr val="E0E6F0"/>
                </a:solidFill>
              </a:rPr>
              <a:t>Response times below realistic thresholds across all questions</a:t>
            </a:r>
            <a:endParaRPr lang="en-US" sz="1050" dirty="0"/>
          </a:p>
        </p:txBody>
      </p:sp>
      <p:sp>
        <p:nvSpPr>
          <p:cNvPr id="24" name="Shape 22"/>
          <p:cNvSpPr/>
          <p:nvPr/>
        </p:nvSpPr>
        <p:spPr>
          <a:xfrm>
            <a:off x="6126480" y="3200400"/>
            <a:ext cx="2743200" cy="1234440"/>
          </a:xfrm>
          <a:prstGeom prst="rect">
            <a:avLst/>
          </a:prstGeom>
          <a:solidFill>
            <a:srgbClr val="1A2744">
              <a:alpha val="26000"/>
            </a:srgbClr>
          </a:solidFill>
          <a:ln w="12700">
            <a:solidFill>
              <a:srgbClr val="1E3A5F"/>
            </a:solidFill>
            <a:prstDash val="solid"/>
          </a:ln>
        </p:spPr>
      </p:sp>
      <p:sp>
        <p:nvSpPr>
          <p:cNvPr id="25" name="Shape 23"/>
          <p:cNvSpPr/>
          <p:nvPr/>
        </p:nvSpPr>
        <p:spPr>
          <a:xfrm>
            <a:off x="6126480" y="3200400"/>
            <a:ext cx="2743200" cy="45720"/>
          </a:xfrm>
          <a:prstGeom prst="rect">
            <a:avLst/>
          </a:prstGeom>
          <a:solidFill>
            <a:srgbClr val="C77DFF"/>
          </a:solidFill>
          <a:ln w="12700">
            <a:solidFill>
              <a:srgbClr val="C77DFF">
                <a:alpha val="0"/>
              </a:srgbClr>
            </a:solidFill>
            <a:prstDash val="solid"/>
          </a:ln>
        </p:spPr>
      </p:sp>
      <p:sp>
        <p:nvSpPr>
          <p:cNvPr id="26" name="Text 24"/>
          <p:cNvSpPr/>
          <p:nvPr/>
        </p:nvSpPr>
        <p:spPr>
          <a:xfrm>
            <a:off x="6263640" y="3291840"/>
            <a:ext cx="2560320" cy="347472"/>
          </a:xfrm>
          <a:prstGeom prst="rect">
            <a:avLst/>
          </a:prstGeom>
          <a:noFill/>
          <a:ln/>
        </p:spPr>
        <p:txBody>
          <a:bodyPr wrap="square" rtlCol="0" anchor="ctr"/>
          <a:lstStyle/>
          <a:p>
            <a:pPr marL="0" indent="0">
              <a:buNone/>
            </a:pPr>
            <a:r>
              <a:rPr lang="en-US" sz="1300" b="1" dirty="0">
                <a:solidFill>
                  <a:srgbClr val="C77DFF"/>
                </a:solidFill>
              </a:rPr>
              <a:t>Disengagement</a:t>
            </a:r>
            <a:endParaRPr lang="en-US" sz="1300" dirty="0"/>
          </a:p>
        </p:txBody>
      </p:sp>
      <p:sp>
        <p:nvSpPr>
          <p:cNvPr id="27" name="Text 25"/>
          <p:cNvSpPr/>
          <p:nvPr/>
        </p:nvSpPr>
        <p:spPr>
          <a:xfrm>
            <a:off x="6263640" y="3657600"/>
            <a:ext cx="2560320" cy="685800"/>
          </a:xfrm>
          <a:prstGeom prst="rect">
            <a:avLst/>
          </a:prstGeom>
          <a:noFill/>
          <a:ln/>
        </p:spPr>
        <p:txBody>
          <a:bodyPr wrap="square" rtlCol="0" anchor="ctr"/>
          <a:lstStyle/>
          <a:p>
            <a:pPr marL="0" indent="0">
              <a:buNone/>
            </a:pPr>
            <a:r>
              <a:rPr lang="en-US" sz="1050" dirty="0">
                <a:solidFill>
                  <a:srgbClr val="E0E6F0"/>
                </a:solidFill>
              </a:rPr>
              <a:t>Elevated pause frequency, erratic navigation sequences</a:t>
            </a:r>
            <a:endParaRPr lang="en-US" sz="1050" dirty="0"/>
          </a:p>
        </p:txBody>
      </p:sp>
      <p:sp>
        <p:nvSpPr>
          <p:cNvPr id="28" name="Shape 26"/>
          <p:cNvSpPr/>
          <p:nvPr/>
        </p:nvSpPr>
        <p:spPr>
          <a:xfrm>
            <a:off x="274320" y="4572000"/>
            <a:ext cx="8595360" cy="411480"/>
          </a:xfrm>
          <a:prstGeom prst="rect">
            <a:avLst/>
          </a:prstGeom>
          <a:solidFill>
            <a:srgbClr val="1A2744">
              <a:alpha val="20000"/>
            </a:srgbClr>
          </a:solidFill>
          <a:ln w="12700">
            <a:solidFill>
              <a:srgbClr val="1E3A5F"/>
            </a:solidFill>
            <a:prstDash val="solid"/>
          </a:ln>
        </p:spPr>
      </p:sp>
      <p:sp>
        <p:nvSpPr>
          <p:cNvPr id="29" name="Text 27"/>
          <p:cNvSpPr/>
          <p:nvPr/>
        </p:nvSpPr>
        <p:spPr>
          <a:xfrm>
            <a:off x="457200" y="4636008"/>
            <a:ext cx="8412480" cy="274320"/>
          </a:xfrm>
          <a:prstGeom prst="rect">
            <a:avLst/>
          </a:prstGeom>
          <a:noFill/>
          <a:ln/>
        </p:spPr>
        <p:txBody>
          <a:bodyPr wrap="square" rtlCol="0" anchor="ctr"/>
          <a:lstStyle/>
          <a:p>
            <a:pPr marL="0" indent="0" algn="ctr">
              <a:buNone/>
            </a:pPr>
            <a:r>
              <a:rPr lang="en-US" sz="1100" dirty="0">
                <a:solidFill>
                  <a:srgbClr val="8899BB"/>
                </a:solidFill>
              </a:rPr>
              <a:t>Dataset sizes:  500  ·  2,000  ·  10,000 simulated interviews  |  Class imbalance sensitivity analysis included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11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06D6A0"/>
                </a:solidFill>
              </a:rPr>
              <a:t>EVALUATION</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600" b="1" dirty="0">
                <a:solidFill>
                  <a:srgbClr val="FFFFFF"/>
                </a:solidFill>
              </a:rPr>
              <a:t>Rigorous Multi-Level Validation</a:t>
            </a:r>
            <a:endParaRPr lang="en-US" sz="2600" dirty="0"/>
          </a:p>
        </p:txBody>
      </p:sp>
      <p:sp>
        <p:nvSpPr>
          <p:cNvPr id="7" name="Shape 5"/>
          <p:cNvSpPr/>
          <p:nvPr/>
        </p:nvSpPr>
        <p:spPr>
          <a:xfrm>
            <a:off x="274320" y="1188720"/>
            <a:ext cx="4114800" cy="1965960"/>
          </a:xfrm>
          <a:prstGeom prst="rect">
            <a:avLst/>
          </a:prstGeom>
          <a:solidFill>
            <a:srgbClr val="1A2744">
              <a:alpha val="26000"/>
            </a:srgbClr>
          </a:solidFill>
          <a:ln w="12700">
            <a:solidFill>
              <a:srgbClr val="1E3A5F"/>
            </a:solidFill>
            <a:prstDash val="solid"/>
          </a:ln>
        </p:spPr>
      </p:sp>
      <p:sp>
        <p:nvSpPr>
          <p:cNvPr id="8" name="Shape 6"/>
          <p:cNvSpPr/>
          <p:nvPr/>
        </p:nvSpPr>
        <p:spPr>
          <a:xfrm>
            <a:off x="274320" y="1188720"/>
            <a:ext cx="54864" cy="1965960"/>
          </a:xfrm>
          <a:prstGeom prst="rect">
            <a:avLst/>
          </a:prstGeom>
          <a:solidFill>
            <a:srgbClr val="00B4D8"/>
          </a:solidFill>
          <a:ln w="12700">
            <a:solidFill>
              <a:srgbClr val="00B4D8">
                <a:alpha val="0"/>
              </a:srgbClr>
            </a:solidFill>
            <a:prstDash val="solid"/>
          </a:ln>
        </p:spPr>
      </p:sp>
      <p:sp>
        <p:nvSpPr>
          <p:cNvPr id="9" name="Text 7"/>
          <p:cNvSpPr/>
          <p:nvPr/>
        </p:nvSpPr>
        <p:spPr>
          <a:xfrm>
            <a:off x="475488" y="1261872"/>
            <a:ext cx="3749040" cy="347472"/>
          </a:xfrm>
          <a:prstGeom prst="rect">
            <a:avLst/>
          </a:prstGeom>
          <a:noFill/>
          <a:ln/>
        </p:spPr>
        <p:txBody>
          <a:bodyPr wrap="square" rtlCol="0" anchor="ctr"/>
          <a:lstStyle/>
          <a:p>
            <a:pPr marL="0" indent="0">
              <a:buNone/>
            </a:pPr>
            <a:r>
              <a:rPr lang="en-US" sz="1400" b="1" dirty="0">
                <a:solidFill>
                  <a:srgbClr val="00B4D8"/>
                </a:solidFill>
              </a:rPr>
              <a:t>Level 1 — Feature Validation</a:t>
            </a:r>
            <a:endParaRPr lang="en-US" sz="1400" dirty="0"/>
          </a:p>
        </p:txBody>
      </p:sp>
      <p:sp>
        <p:nvSpPr>
          <p:cNvPr id="10" name="Text 8"/>
          <p:cNvSpPr/>
          <p:nvPr/>
        </p:nvSpPr>
        <p:spPr>
          <a:xfrm>
            <a:off x="475488" y="1691640"/>
            <a:ext cx="3749040" cy="1234440"/>
          </a:xfrm>
          <a:prstGeom prst="rect">
            <a:avLst/>
          </a:prstGeom>
          <a:noFill/>
          <a:ln/>
        </p:spPr>
        <p:txBody>
          <a:bodyPr wrap="square" rtlCol="0" anchor="ctr"/>
          <a:lstStyle/>
          <a:p>
            <a:pPr marL="0" indent="0">
              <a:buNone/>
            </a:pPr>
            <a:r>
              <a:rPr lang="en-US" sz="1150" b="1" dirty="0">
                <a:solidFill>
                  <a:srgbClr val="E0E6F0"/>
                </a:solidFill>
              </a:rPr>
              <a:t>▸  Mann-Whitney U tests</a:t>
            </a:r>
            <a:r>
              <a:rPr lang="en-US" sz="1150" dirty="0">
                <a:solidFill>
                  <a:srgbClr val="E0E6F0"/>
                </a:solidFill>
              </a:rPr>
              <a:t> per feature (normal vs anomalous)
▸  Effect size (Cohen's d) reported
▸  Non-discriminative features excluded &amp; documented</a:t>
            </a:r>
            <a:endParaRPr lang="en-US" sz="1150" dirty="0"/>
          </a:p>
        </p:txBody>
      </p:sp>
      <p:sp>
        <p:nvSpPr>
          <p:cNvPr id="11" name="Shape 9"/>
          <p:cNvSpPr/>
          <p:nvPr/>
        </p:nvSpPr>
        <p:spPr>
          <a:xfrm>
            <a:off x="4663440" y="1188720"/>
            <a:ext cx="4114800" cy="1965960"/>
          </a:xfrm>
          <a:prstGeom prst="rect">
            <a:avLst/>
          </a:prstGeom>
          <a:solidFill>
            <a:srgbClr val="1A2744">
              <a:alpha val="26000"/>
            </a:srgbClr>
          </a:solidFill>
          <a:ln w="12700">
            <a:solidFill>
              <a:srgbClr val="1E3A5F"/>
            </a:solidFill>
            <a:prstDash val="solid"/>
          </a:ln>
        </p:spPr>
      </p:sp>
      <p:sp>
        <p:nvSpPr>
          <p:cNvPr id="12" name="Shape 10"/>
          <p:cNvSpPr/>
          <p:nvPr/>
        </p:nvSpPr>
        <p:spPr>
          <a:xfrm>
            <a:off x="4663440" y="1188720"/>
            <a:ext cx="54864" cy="1965960"/>
          </a:xfrm>
          <a:prstGeom prst="rect">
            <a:avLst/>
          </a:prstGeom>
          <a:solidFill>
            <a:srgbClr val="06D6A0"/>
          </a:solidFill>
          <a:ln w="12700">
            <a:solidFill>
              <a:srgbClr val="06D6A0">
                <a:alpha val="0"/>
              </a:srgbClr>
            </a:solidFill>
            <a:prstDash val="solid"/>
          </a:ln>
        </p:spPr>
      </p:sp>
      <p:sp>
        <p:nvSpPr>
          <p:cNvPr id="13" name="Text 11"/>
          <p:cNvSpPr/>
          <p:nvPr/>
        </p:nvSpPr>
        <p:spPr>
          <a:xfrm>
            <a:off x="4846320" y="1261872"/>
            <a:ext cx="3749040" cy="347472"/>
          </a:xfrm>
          <a:prstGeom prst="rect">
            <a:avLst/>
          </a:prstGeom>
          <a:noFill/>
          <a:ln/>
        </p:spPr>
        <p:txBody>
          <a:bodyPr wrap="square" rtlCol="0" anchor="ctr"/>
          <a:lstStyle/>
          <a:p>
            <a:pPr marL="0" indent="0">
              <a:buNone/>
            </a:pPr>
            <a:r>
              <a:rPr lang="en-US" sz="1400" b="1" dirty="0">
                <a:solidFill>
                  <a:srgbClr val="06D6A0"/>
                </a:solidFill>
              </a:rPr>
              <a:t>Level 2 — Detection Performance</a:t>
            </a:r>
            <a:endParaRPr lang="en-US" sz="1400" dirty="0"/>
          </a:p>
        </p:txBody>
      </p:sp>
      <p:sp>
        <p:nvSpPr>
          <p:cNvPr id="14" name="Text 12"/>
          <p:cNvSpPr/>
          <p:nvPr/>
        </p:nvSpPr>
        <p:spPr>
          <a:xfrm>
            <a:off x="4846320" y="1709928"/>
            <a:ext cx="1463040" cy="320040"/>
          </a:xfrm>
          <a:prstGeom prst="rect">
            <a:avLst/>
          </a:prstGeom>
          <a:noFill/>
          <a:ln/>
        </p:spPr>
        <p:txBody>
          <a:bodyPr wrap="square" rtlCol="0" anchor="ctr"/>
          <a:lstStyle/>
          <a:p>
            <a:pPr marL="0" indent="0">
              <a:buNone/>
            </a:pPr>
            <a:r>
              <a:rPr lang="en-US" sz="1200" dirty="0">
                <a:solidFill>
                  <a:srgbClr val="E0E6F0"/>
                </a:solidFill>
              </a:rPr>
              <a:t>▸  Precision: </a:t>
            </a:r>
            <a:endParaRPr lang="en-US" sz="1200" dirty="0"/>
          </a:p>
        </p:txBody>
      </p:sp>
      <p:sp>
        <p:nvSpPr>
          <p:cNvPr id="15" name="Text 13"/>
          <p:cNvSpPr/>
          <p:nvPr/>
        </p:nvSpPr>
        <p:spPr>
          <a:xfrm>
            <a:off x="6355080" y="1709928"/>
            <a:ext cx="2194560" cy="320040"/>
          </a:xfrm>
          <a:prstGeom prst="rect">
            <a:avLst/>
          </a:prstGeom>
          <a:noFill/>
          <a:ln/>
        </p:spPr>
        <p:txBody>
          <a:bodyPr wrap="square" rtlCol="0" anchor="ctr"/>
          <a:lstStyle/>
          <a:p>
            <a:pPr marL="0" indent="0">
              <a:buNone/>
            </a:pPr>
            <a:r>
              <a:rPr lang="en-US" sz="1200" b="1" dirty="0">
                <a:solidFill>
                  <a:srgbClr val="06D6A0"/>
                </a:solidFill>
              </a:rPr>
              <a:t>≥ 0.80</a:t>
            </a:r>
            <a:endParaRPr lang="en-US" sz="1200" dirty="0"/>
          </a:p>
        </p:txBody>
      </p:sp>
      <p:sp>
        <p:nvSpPr>
          <p:cNvPr id="16" name="Text 14"/>
          <p:cNvSpPr/>
          <p:nvPr/>
        </p:nvSpPr>
        <p:spPr>
          <a:xfrm>
            <a:off x="4846320" y="2112264"/>
            <a:ext cx="1463040" cy="320040"/>
          </a:xfrm>
          <a:prstGeom prst="rect">
            <a:avLst/>
          </a:prstGeom>
          <a:noFill/>
          <a:ln/>
        </p:spPr>
        <p:txBody>
          <a:bodyPr wrap="square" rtlCol="0" anchor="ctr"/>
          <a:lstStyle/>
          <a:p>
            <a:pPr marL="0" indent="0">
              <a:buNone/>
            </a:pPr>
            <a:r>
              <a:rPr lang="en-US" sz="1200" dirty="0">
                <a:solidFill>
                  <a:srgbClr val="E0E6F0"/>
                </a:solidFill>
              </a:rPr>
              <a:t>▸  Recall: </a:t>
            </a:r>
            <a:endParaRPr lang="en-US" sz="1200" dirty="0"/>
          </a:p>
        </p:txBody>
      </p:sp>
      <p:sp>
        <p:nvSpPr>
          <p:cNvPr id="17" name="Text 15"/>
          <p:cNvSpPr/>
          <p:nvPr/>
        </p:nvSpPr>
        <p:spPr>
          <a:xfrm>
            <a:off x="6355080" y="2112264"/>
            <a:ext cx="2194560" cy="320040"/>
          </a:xfrm>
          <a:prstGeom prst="rect">
            <a:avLst/>
          </a:prstGeom>
          <a:noFill/>
          <a:ln/>
        </p:spPr>
        <p:txBody>
          <a:bodyPr wrap="square" rtlCol="0" anchor="ctr"/>
          <a:lstStyle/>
          <a:p>
            <a:pPr marL="0" indent="0">
              <a:buNone/>
            </a:pPr>
            <a:r>
              <a:rPr lang="en-US" sz="1200" b="1" dirty="0">
                <a:solidFill>
                  <a:srgbClr val="00B4D8"/>
                </a:solidFill>
              </a:rPr>
              <a:t>≥ 0.75</a:t>
            </a:r>
            <a:endParaRPr lang="en-US" sz="1200" dirty="0"/>
          </a:p>
        </p:txBody>
      </p:sp>
      <p:sp>
        <p:nvSpPr>
          <p:cNvPr id="18" name="Text 16"/>
          <p:cNvSpPr/>
          <p:nvPr/>
        </p:nvSpPr>
        <p:spPr>
          <a:xfrm>
            <a:off x="4846320" y="2514600"/>
            <a:ext cx="1463040" cy="320040"/>
          </a:xfrm>
          <a:prstGeom prst="rect">
            <a:avLst/>
          </a:prstGeom>
          <a:noFill/>
          <a:ln/>
        </p:spPr>
        <p:txBody>
          <a:bodyPr wrap="square" rtlCol="0" anchor="ctr"/>
          <a:lstStyle/>
          <a:p>
            <a:pPr marL="0" indent="0">
              <a:buNone/>
            </a:pPr>
            <a:r>
              <a:rPr lang="en-US" sz="1200" dirty="0">
                <a:solidFill>
                  <a:srgbClr val="E0E6F0"/>
                </a:solidFill>
              </a:rPr>
              <a:t>▸  F1-Score: </a:t>
            </a:r>
            <a:endParaRPr lang="en-US" sz="1200" dirty="0"/>
          </a:p>
        </p:txBody>
      </p:sp>
      <p:sp>
        <p:nvSpPr>
          <p:cNvPr id="19" name="Text 17"/>
          <p:cNvSpPr/>
          <p:nvPr/>
        </p:nvSpPr>
        <p:spPr>
          <a:xfrm>
            <a:off x="6355080" y="2514600"/>
            <a:ext cx="2194560" cy="320040"/>
          </a:xfrm>
          <a:prstGeom prst="rect">
            <a:avLst/>
          </a:prstGeom>
          <a:noFill/>
          <a:ln/>
        </p:spPr>
        <p:txBody>
          <a:bodyPr wrap="square" rtlCol="0" anchor="ctr"/>
          <a:lstStyle/>
          <a:p>
            <a:pPr marL="0" indent="0">
              <a:buNone/>
            </a:pPr>
            <a:r>
              <a:rPr lang="en-US" sz="1200" b="1" dirty="0">
                <a:solidFill>
                  <a:srgbClr val="9D4EDD"/>
                </a:solidFill>
              </a:rPr>
              <a:t>Summary metric</a:t>
            </a:r>
            <a:endParaRPr lang="en-US" sz="1200" dirty="0"/>
          </a:p>
        </p:txBody>
      </p:sp>
      <p:sp>
        <p:nvSpPr>
          <p:cNvPr id="20" name="Shape 18"/>
          <p:cNvSpPr/>
          <p:nvPr/>
        </p:nvSpPr>
        <p:spPr>
          <a:xfrm>
            <a:off x="274320" y="3337560"/>
            <a:ext cx="8595360" cy="1508760"/>
          </a:xfrm>
          <a:prstGeom prst="rect">
            <a:avLst/>
          </a:prstGeom>
          <a:solidFill>
            <a:srgbClr val="1A2744">
              <a:alpha val="26000"/>
            </a:srgbClr>
          </a:solidFill>
          <a:ln w="12700">
            <a:solidFill>
              <a:srgbClr val="1E3A5F"/>
            </a:solidFill>
            <a:prstDash val="solid"/>
          </a:ln>
        </p:spPr>
      </p:sp>
      <p:sp>
        <p:nvSpPr>
          <p:cNvPr id="21" name="Shape 19"/>
          <p:cNvSpPr/>
          <p:nvPr/>
        </p:nvSpPr>
        <p:spPr>
          <a:xfrm>
            <a:off x="274320" y="3337560"/>
            <a:ext cx="8595360" cy="54864"/>
          </a:xfrm>
          <a:prstGeom prst="rect">
            <a:avLst/>
          </a:prstGeom>
          <a:solidFill>
            <a:srgbClr val="FFD166"/>
          </a:solidFill>
          <a:ln w="12700">
            <a:solidFill>
              <a:srgbClr val="FFD166">
                <a:alpha val="0"/>
              </a:srgbClr>
            </a:solidFill>
            <a:prstDash val="solid"/>
          </a:ln>
        </p:spPr>
      </p:sp>
      <p:sp>
        <p:nvSpPr>
          <p:cNvPr id="22" name="Text 20"/>
          <p:cNvSpPr/>
          <p:nvPr/>
        </p:nvSpPr>
        <p:spPr>
          <a:xfrm>
            <a:off x="457200" y="3447288"/>
            <a:ext cx="3657600" cy="347472"/>
          </a:xfrm>
          <a:prstGeom prst="rect">
            <a:avLst/>
          </a:prstGeom>
          <a:noFill/>
          <a:ln/>
        </p:spPr>
        <p:txBody>
          <a:bodyPr wrap="square" rtlCol="0" anchor="ctr"/>
          <a:lstStyle/>
          <a:p>
            <a:pPr marL="0" indent="0">
              <a:buNone/>
            </a:pPr>
            <a:r>
              <a:rPr lang="en-US" sz="1400" b="1" dirty="0">
                <a:solidFill>
                  <a:srgbClr val="FFD166"/>
                </a:solidFill>
              </a:rPr>
              <a:t>Baseline Comparison</a:t>
            </a:r>
            <a:endParaRPr lang="en-US" sz="1400" dirty="0"/>
          </a:p>
        </p:txBody>
      </p:sp>
      <p:sp>
        <p:nvSpPr>
          <p:cNvPr id="23" name="Text 21"/>
          <p:cNvSpPr/>
          <p:nvPr/>
        </p:nvSpPr>
        <p:spPr>
          <a:xfrm>
            <a:off x="457200" y="3840480"/>
            <a:ext cx="8321040" cy="347472"/>
          </a:xfrm>
          <a:prstGeom prst="rect">
            <a:avLst/>
          </a:prstGeom>
          <a:noFill/>
          <a:ln/>
        </p:spPr>
        <p:txBody>
          <a:bodyPr wrap="square" rtlCol="0" anchor="ctr"/>
          <a:lstStyle/>
          <a:p>
            <a:pPr marL="0" indent="0">
              <a:buNone/>
            </a:pPr>
            <a:r>
              <a:rPr lang="en-US" sz="1150" b="1" dirty="0">
                <a:solidFill>
                  <a:srgbClr val="FFD166"/>
                </a:solidFill>
              </a:rPr>
              <a:t>Baseline 1:  </a:t>
            </a:r>
            <a:r>
              <a:rPr lang="en-US" sz="1150" dirty="0">
                <a:solidFill>
                  <a:srgbClr val="E0E6F0"/>
                </a:solidFill>
              </a:rPr>
              <a:t>Duration-only threshold — industry standard; single-metric IQR on total interview time</a:t>
            </a:r>
            <a:endParaRPr lang="en-US" sz="1150" dirty="0"/>
          </a:p>
        </p:txBody>
      </p:sp>
      <p:sp>
        <p:nvSpPr>
          <p:cNvPr id="24" name="Text 22"/>
          <p:cNvSpPr/>
          <p:nvPr/>
        </p:nvSpPr>
        <p:spPr>
          <a:xfrm>
            <a:off x="457200" y="4251960"/>
            <a:ext cx="8321040" cy="347472"/>
          </a:xfrm>
          <a:prstGeom prst="rect">
            <a:avLst/>
          </a:prstGeom>
          <a:noFill/>
          <a:ln/>
        </p:spPr>
        <p:txBody>
          <a:bodyPr wrap="square" rtlCol="0" anchor="ctr"/>
          <a:lstStyle/>
          <a:p>
            <a:pPr marL="0" indent="0">
              <a:buNone/>
            </a:pPr>
            <a:r>
              <a:rPr lang="en-US" sz="1150" b="1" dirty="0">
                <a:solidFill>
                  <a:srgbClr val="FFD166"/>
                </a:solidFill>
              </a:rPr>
              <a:t>Baseline 2:  </a:t>
            </a:r>
            <a:r>
              <a:rPr lang="en-US" sz="1150" dirty="0">
                <a:solidFill>
                  <a:srgbClr val="E0E6F0"/>
                </a:solidFill>
              </a:rPr>
              <a:t>Zero back-nav flag only — minimal rule-based approach</a:t>
            </a:r>
            <a:endParaRPr lang="en-US" sz="1150" dirty="0"/>
          </a:p>
        </p:txBody>
      </p:sp>
      <p:sp>
        <p:nvSpPr>
          <p:cNvPr id="25" name="Text 23"/>
          <p:cNvSpPr/>
          <p:nvPr/>
        </p:nvSpPr>
        <p:spPr>
          <a:xfrm>
            <a:off x="457200" y="4773168"/>
            <a:ext cx="8229600" cy="228600"/>
          </a:xfrm>
          <a:prstGeom prst="rect">
            <a:avLst/>
          </a:prstGeom>
          <a:noFill/>
          <a:ln/>
        </p:spPr>
        <p:txBody>
          <a:bodyPr wrap="square" rtlCol="0" anchor="ctr"/>
          <a:lstStyle/>
          <a:p>
            <a:pPr marL="0" indent="0" algn="ctr">
              <a:buNone/>
            </a:pPr>
            <a:r>
              <a:rPr lang="en-US" sz="1000" dirty="0">
                <a:solidFill>
                  <a:srgbClr val="8899BB"/>
                </a:solidFill>
              </a:rPr>
              <a:t>Cross-format robustness tested separately on SurveyCTO-format and ODK-format synthetic datasets.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12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FF4D6D"/>
                </a:solidFill>
              </a:rPr>
              <a:t>LIVE DEMO</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400" b="1" dirty="0">
                <a:solidFill>
                  <a:srgbClr val="FFFFFF"/>
                </a:solidFill>
              </a:rPr>
              <a:t>Anomaly Detection — Simulated Output</a:t>
            </a:r>
            <a:endParaRPr lang="en-US" sz="2400" dirty="0"/>
          </a:p>
        </p:txBody>
      </p:sp>
      <p:sp>
        <p:nvSpPr>
          <p:cNvPr id="7" name="Shape 5"/>
          <p:cNvSpPr/>
          <p:nvPr/>
        </p:nvSpPr>
        <p:spPr>
          <a:xfrm>
            <a:off x="274320" y="1207008"/>
            <a:ext cx="8595360" cy="384048"/>
          </a:xfrm>
          <a:prstGeom prst="rect">
            <a:avLst/>
          </a:prstGeom>
          <a:solidFill>
            <a:srgbClr val="1A2744">
              <a:alpha val="40000"/>
            </a:srgbClr>
          </a:solidFill>
          <a:ln w="12700">
            <a:solidFill>
              <a:srgbClr val="1E3A5F"/>
            </a:solidFill>
            <a:prstDash val="solid"/>
          </a:ln>
        </p:spPr>
      </p:sp>
      <p:sp>
        <p:nvSpPr>
          <p:cNvPr id="8" name="Text 6"/>
          <p:cNvSpPr/>
          <p:nvPr/>
        </p:nvSpPr>
        <p:spPr>
          <a:xfrm>
            <a:off x="365760" y="1261872"/>
            <a:ext cx="1280160" cy="274320"/>
          </a:xfrm>
          <a:prstGeom prst="rect">
            <a:avLst/>
          </a:prstGeom>
          <a:noFill/>
          <a:ln/>
        </p:spPr>
        <p:txBody>
          <a:bodyPr wrap="square" rtlCol="0" anchor="ctr"/>
          <a:lstStyle/>
          <a:p>
            <a:pPr marL="0" indent="0">
              <a:buNone/>
            </a:pPr>
            <a:r>
              <a:rPr lang="en-US" sz="1000" b="1" dirty="0">
                <a:solidFill>
                  <a:srgbClr val="00B4D8"/>
                </a:solidFill>
              </a:rPr>
              <a:t>Interview ID</a:t>
            </a:r>
            <a:endParaRPr lang="en-US" sz="1000" dirty="0"/>
          </a:p>
        </p:txBody>
      </p:sp>
      <p:sp>
        <p:nvSpPr>
          <p:cNvPr id="9" name="Text 7"/>
          <p:cNvSpPr/>
          <p:nvPr/>
        </p:nvSpPr>
        <p:spPr>
          <a:xfrm>
            <a:off x="1737360" y="1261872"/>
            <a:ext cx="1188720" cy="274320"/>
          </a:xfrm>
          <a:prstGeom prst="rect">
            <a:avLst/>
          </a:prstGeom>
          <a:noFill/>
          <a:ln/>
        </p:spPr>
        <p:txBody>
          <a:bodyPr wrap="square" rtlCol="0" anchor="ctr"/>
          <a:lstStyle/>
          <a:p>
            <a:pPr marL="0" indent="0">
              <a:buNone/>
            </a:pPr>
            <a:r>
              <a:rPr lang="en-US" sz="1000" b="1" dirty="0">
                <a:solidFill>
                  <a:srgbClr val="00B4D8"/>
                </a:solidFill>
              </a:rPr>
              <a:t>Duration (s)</a:t>
            </a:r>
            <a:endParaRPr lang="en-US" sz="1000" dirty="0"/>
          </a:p>
        </p:txBody>
      </p:sp>
      <p:sp>
        <p:nvSpPr>
          <p:cNvPr id="10" name="Text 8"/>
          <p:cNvSpPr/>
          <p:nvPr/>
        </p:nvSpPr>
        <p:spPr>
          <a:xfrm>
            <a:off x="3017520" y="1261872"/>
            <a:ext cx="1097280" cy="274320"/>
          </a:xfrm>
          <a:prstGeom prst="rect">
            <a:avLst/>
          </a:prstGeom>
          <a:noFill/>
          <a:ln/>
        </p:spPr>
        <p:txBody>
          <a:bodyPr wrap="square" rtlCol="0" anchor="ctr"/>
          <a:lstStyle/>
          <a:p>
            <a:pPr marL="0" indent="0">
              <a:buNone/>
            </a:pPr>
            <a:r>
              <a:rPr lang="en-US" sz="1000" b="1" dirty="0">
                <a:solidFill>
                  <a:srgbClr val="00B4D8"/>
                </a:solidFill>
              </a:rPr>
              <a:t>IQR Flags</a:t>
            </a:r>
            <a:endParaRPr lang="en-US" sz="1000" dirty="0"/>
          </a:p>
        </p:txBody>
      </p:sp>
      <p:sp>
        <p:nvSpPr>
          <p:cNvPr id="11" name="Text 9"/>
          <p:cNvSpPr/>
          <p:nvPr/>
        </p:nvSpPr>
        <p:spPr>
          <a:xfrm>
            <a:off x="4206240" y="1261872"/>
            <a:ext cx="1097280" cy="274320"/>
          </a:xfrm>
          <a:prstGeom prst="rect">
            <a:avLst/>
          </a:prstGeom>
          <a:noFill/>
          <a:ln/>
        </p:spPr>
        <p:txBody>
          <a:bodyPr wrap="square" rtlCol="0" anchor="ctr"/>
          <a:lstStyle/>
          <a:p>
            <a:pPr marL="0" indent="0">
              <a:buNone/>
            </a:pPr>
            <a:r>
              <a:rPr lang="en-US" sz="1000" b="1" dirty="0">
                <a:solidFill>
                  <a:srgbClr val="00B4D8"/>
                </a:solidFill>
              </a:rPr>
              <a:t>Rule Flags</a:t>
            </a:r>
            <a:endParaRPr lang="en-US" sz="1000" dirty="0"/>
          </a:p>
        </p:txBody>
      </p:sp>
      <p:sp>
        <p:nvSpPr>
          <p:cNvPr id="12" name="Text 10"/>
          <p:cNvSpPr/>
          <p:nvPr/>
        </p:nvSpPr>
        <p:spPr>
          <a:xfrm>
            <a:off x="5394960" y="1261872"/>
            <a:ext cx="1371600" cy="274320"/>
          </a:xfrm>
          <a:prstGeom prst="rect">
            <a:avLst/>
          </a:prstGeom>
          <a:noFill/>
          <a:ln/>
        </p:spPr>
        <p:txBody>
          <a:bodyPr wrap="square" rtlCol="0" anchor="ctr"/>
          <a:lstStyle/>
          <a:p>
            <a:pPr marL="0" indent="0">
              <a:buNone/>
            </a:pPr>
            <a:r>
              <a:rPr lang="en-US" sz="1000" b="1" dirty="0">
                <a:solidFill>
                  <a:srgbClr val="00B4D8"/>
                </a:solidFill>
              </a:rPr>
              <a:t>Anomaly Score</a:t>
            </a:r>
            <a:endParaRPr lang="en-US" sz="1000" dirty="0"/>
          </a:p>
        </p:txBody>
      </p:sp>
      <p:sp>
        <p:nvSpPr>
          <p:cNvPr id="13" name="Text 11"/>
          <p:cNvSpPr/>
          <p:nvPr/>
        </p:nvSpPr>
        <p:spPr>
          <a:xfrm>
            <a:off x="6858000" y="1261872"/>
            <a:ext cx="1645920" cy="274320"/>
          </a:xfrm>
          <a:prstGeom prst="rect">
            <a:avLst/>
          </a:prstGeom>
          <a:noFill/>
          <a:ln/>
        </p:spPr>
        <p:txBody>
          <a:bodyPr wrap="square" rtlCol="0" anchor="ctr"/>
          <a:lstStyle/>
          <a:p>
            <a:pPr marL="0" indent="0">
              <a:buNone/>
            </a:pPr>
            <a:r>
              <a:rPr lang="en-US" sz="1000" b="1" dirty="0">
                <a:solidFill>
                  <a:srgbClr val="00B4D8"/>
                </a:solidFill>
              </a:rPr>
              <a:t>Status</a:t>
            </a:r>
            <a:endParaRPr lang="en-US" sz="1000" dirty="0"/>
          </a:p>
        </p:txBody>
      </p:sp>
      <p:sp>
        <p:nvSpPr>
          <p:cNvPr id="14" name="Shape 12"/>
          <p:cNvSpPr/>
          <p:nvPr/>
        </p:nvSpPr>
        <p:spPr>
          <a:xfrm>
            <a:off x="274320" y="1664208"/>
            <a:ext cx="8595360" cy="384048"/>
          </a:xfrm>
          <a:prstGeom prst="rect">
            <a:avLst/>
          </a:prstGeom>
          <a:solidFill>
            <a:srgbClr val="1A2744">
              <a:alpha val="20000"/>
            </a:srgbClr>
          </a:solidFill>
          <a:ln w="12700">
            <a:solidFill>
              <a:srgbClr val="1E3A5F"/>
            </a:solidFill>
            <a:prstDash val="solid"/>
          </a:ln>
        </p:spPr>
      </p:sp>
      <p:sp>
        <p:nvSpPr>
          <p:cNvPr id="15" name="Text 13"/>
          <p:cNvSpPr/>
          <p:nvPr/>
        </p:nvSpPr>
        <p:spPr>
          <a:xfrm>
            <a:off x="365760" y="1728216"/>
            <a:ext cx="1280160" cy="274320"/>
          </a:xfrm>
          <a:prstGeom prst="rect">
            <a:avLst/>
          </a:prstGeom>
          <a:noFill/>
          <a:ln/>
        </p:spPr>
        <p:txBody>
          <a:bodyPr wrap="square" rtlCol="0" anchor="ctr"/>
          <a:lstStyle/>
          <a:p>
            <a:pPr marL="0" indent="0">
              <a:buNone/>
            </a:pPr>
            <a:r>
              <a:rPr lang="en-US" sz="1050" dirty="0">
                <a:solidFill>
                  <a:srgbClr val="E0E6F0"/>
                </a:solidFill>
              </a:rPr>
              <a:t>INT-0042</a:t>
            </a:r>
            <a:endParaRPr lang="en-US" sz="1050" dirty="0"/>
          </a:p>
        </p:txBody>
      </p:sp>
      <p:sp>
        <p:nvSpPr>
          <p:cNvPr id="16" name="Text 14"/>
          <p:cNvSpPr/>
          <p:nvPr/>
        </p:nvSpPr>
        <p:spPr>
          <a:xfrm>
            <a:off x="1737360" y="1728216"/>
            <a:ext cx="1188720" cy="274320"/>
          </a:xfrm>
          <a:prstGeom prst="rect">
            <a:avLst/>
          </a:prstGeom>
          <a:noFill/>
          <a:ln/>
        </p:spPr>
        <p:txBody>
          <a:bodyPr wrap="square" rtlCol="0" anchor="ctr"/>
          <a:lstStyle/>
          <a:p>
            <a:pPr marL="0" indent="0">
              <a:buNone/>
            </a:pPr>
            <a:r>
              <a:rPr lang="en-US" sz="1050" dirty="0">
                <a:solidFill>
                  <a:srgbClr val="E0E6F0"/>
                </a:solidFill>
              </a:rPr>
              <a:t>287</a:t>
            </a:r>
            <a:endParaRPr lang="en-US" sz="1050" dirty="0"/>
          </a:p>
        </p:txBody>
      </p:sp>
      <p:sp>
        <p:nvSpPr>
          <p:cNvPr id="17" name="Text 15"/>
          <p:cNvSpPr/>
          <p:nvPr/>
        </p:nvSpPr>
        <p:spPr>
          <a:xfrm>
            <a:off x="3017520" y="1728216"/>
            <a:ext cx="109728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18" name="Text 16"/>
          <p:cNvSpPr/>
          <p:nvPr/>
        </p:nvSpPr>
        <p:spPr>
          <a:xfrm>
            <a:off x="4206240" y="1728216"/>
            <a:ext cx="109728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19" name="Text 17"/>
          <p:cNvSpPr/>
          <p:nvPr/>
        </p:nvSpPr>
        <p:spPr>
          <a:xfrm>
            <a:off x="5394960" y="1728216"/>
            <a:ext cx="137160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20" name="Text 18"/>
          <p:cNvSpPr/>
          <p:nvPr/>
        </p:nvSpPr>
        <p:spPr>
          <a:xfrm>
            <a:off x="6858000" y="1728216"/>
            <a:ext cx="1645920" cy="274320"/>
          </a:xfrm>
          <a:prstGeom prst="rect">
            <a:avLst/>
          </a:prstGeom>
          <a:noFill/>
          <a:ln/>
        </p:spPr>
        <p:txBody>
          <a:bodyPr wrap="square" rtlCol="0" anchor="ctr"/>
          <a:lstStyle/>
          <a:p>
            <a:pPr marL="0" indent="0">
              <a:buNone/>
            </a:pPr>
            <a:r>
              <a:rPr lang="en-US" sz="1050" b="1" dirty="0">
                <a:solidFill>
                  <a:srgbClr val="06D6A0"/>
                </a:solidFill>
              </a:rPr>
              <a:t>CLEAN</a:t>
            </a:r>
            <a:endParaRPr lang="en-US" sz="1050" dirty="0"/>
          </a:p>
        </p:txBody>
      </p:sp>
      <p:sp>
        <p:nvSpPr>
          <p:cNvPr id="21" name="Shape 19"/>
          <p:cNvSpPr/>
          <p:nvPr/>
        </p:nvSpPr>
        <p:spPr>
          <a:xfrm>
            <a:off x="274320" y="2103120"/>
            <a:ext cx="8595360" cy="384048"/>
          </a:xfrm>
          <a:prstGeom prst="rect">
            <a:avLst/>
          </a:prstGeom>
          <a:solidFill>
            <a:srgbClr val="1A2744">
              <a:alpha val="15000"/>
            </a:srgbClr>
          </a:solidFill>
          <a:ln w="12700">
            <a:solidFill>
              <a:srgbClr val="1E3A5F"/>
            </a:solidFill>
            <a:prstDash val="solid"/>
          </a:ln>
        </p:spPr>
      </p:sp>
      <p:sp>
        <p:nvSpPr>
          <p:cNvPr id="22" name="Text 20"/>
          <p:cNvSpPr/>
          <p:nvPr/>
        </p:nvSpPr>
        <p:spPr>
          <a:xfrm>
            <a:off x="365760" y="2167128"/>
            <a:ext cx="1280160" cy="274320"/>
          </a:xfrm>
          <a:prstGeom prst="rect">
            <a:avLst/>
          </a:prstGeom>
          <a:noFill/>
          <a:ln/>
        </p:spPr>
        <p:txBody>
          <a:bodyPr wrap="square" rtlCol="0" anchor="ctr"/>
          <a:lstStyle/>
          <a:p>
            <a:pPr marL="0" indent="0">
              <a:buNone/>
            </a:pPr>
            <a:r>
              <a:rPr lang="en-US" sz="1050" dirty="0">
                <a:solidFill>
                  <a:srgbClr val="E0E6F0"/>
                </a:solidFill>
              </a:rPr>
              <a:t>INT-0087</a:t>
            </a:r>
            <a:endParaRPr lang="en-US" sz="1050" dirty="0"/>
          </a:p>
        </p:txBody>
      </p:sp>
      <p:sp>
        <p:nvSpPr>
          <p:cNvPr id="23" name="Text 21"/>
          <p:cNvSpPr/>
          <p:nvPr/>
        </p:nvSpPr>
        <p:spPr>
          <a:xfrm>
            <a:off x="1737360" y="2167128"/>
            <a:ext cx="1188720" cy="274320"/>
          </a:xfrm>
          <a:prstGeom prst="rect">
            <a:avLst/>
          </a:prstGeom>
          <a:noFill/>
          <a:ln/>
        </p:spPr>
        <p:txBody>
          <a:bodyPr wrap="square" rtlCol="0" anchor="ctr"/>
          <a:lstStyle/>
          <a:p>
            <a:pPr marL="0" indent="0">
              <a:buNone/>
            </a:pPr>
            <a:r>
              <a:rPr lang="en-US" sz="1050" dirty="0">
                <a:solidFill>
                  <a:srgbClr val="E0E6F0"/>
                </a:solidFill>
              </a:rPr>
              <a:t>94</a:t>
            </a:r>
            <a:endParaRPr lang="en-US" sz="1050" dirty="0"/>
          </a:p>
        </p:txBody>
      </p:sp>
      <p:sp>
        <p:nvSpPr>
          <p:cNvPr id="24" name="Text 22"/>
          <p:cNvSpPr/>
          <p:nvPr/>
        </p:nvSpPr>
        <p:spPr>
          <a:xfrm>
            <a:off x="3017520" y="2167128"/>
            <a:ext cx="1097280" cy="274320"/>
          </a:xfrm>
          <a:prstGeom prst="rect">
            <a:avLst/>
          </a:prstGeom>
          <a:noFill/>
          <a:ln/>
        </p:spPr>
        <p:txBody>
          <a:bodyPr wrap="square" rtlCol="0" anchor="ctr"/>
          <a:lstStyle/>
          <a:p>
            <a:pPr marL="0" indent="0">
              <a:buNone/>
            </a:pPr>
            <a:r>
              <a:rPr lang="en-US" sz="1050" dirty="0">
                <a:solidFill>
                  <a:srgbClr val="E0E6F0"/>
                </a:solidFill>
              </a:rPr>
              <a:t>4</a:t>
            </a:r>
            <a:endParaRPr lang="en-US" sz="1050" dirty="0"/>
          </a:p>
        </p:txBody>
      </p:sp>
      <p:sp>
        <p:nvSpPr>
          <p:cNvPr id="25" name="Text 23"/>
          <p:cNvSpPr/>
          <p:nvPr/>
        </p:nvSpPr>
        <p:spPr>
          <a:xfrm>
            <a:off x="4206240" y="2167128"/>
            <a:ext cx="1097280" cy="274320"/>
          </a:xfrm>
          <a:prstGeom prst="rect">
            <a:avLst/>
          </a:prstGeom>
          <a:noFill/>
          <a:ln/>
        </p:spPr>
        <p:txBody>
          <a:bodyPr wrap="square" rtlCol="0" anchor="ctr"/>
          <a:lstStyle/>
          <a:p>
            <a:pPr marL="0" indent="0">
              <a:buNone/>
            </a:pPr>
            <a:r>
              <a:rPr lang="en-US" sz="1050" dirty="0">
                <a:solidFill>
                  <a:srgbClr val="E0E6F0"/>
                </a:solidFill>
              </a:rPr>
              <a:t>2</a:t>
            </a:r>
            <a:endParaRPr lang="en-US" sz="1050" dirty="0"/>
          </a:p>
        </p:txBody>
      </p:sp>
      <p:sp>
        <p:nvSpPr>
          <p:cNvPr id="26" name="Text 24"/>
          <p:cNvSpPr/>
          <p:nvPr/>
        </p:nvSpPr>
        <p:spPr>
          <a:xfrm>
            <a:off x="5394960" y="2167128"/>
            <a:ext cx="1371600" cy="274320"/>
          </a:xfrm>
          <a:prstGeom prst="rect">
            <a:avLst/>
          </a:prstGeom>
          <a:noFill/>
          <a:ln/>
        </p:spPr>
        <p:txBody>
          <a:bodyPr wrap="square" rtlCol="0" anchor="ctr"/>
          <a:lstStyle/>
          <a:p>
            <a:pPr marL="0" indent="0">
              <a:buNone/>
            </a:pPr>
            <a:r>
              <a:rPr lang="en-US" sz="1050" b="1" dirty="0">
                <a:solidFill>
                  <a:srgbClr val="FF4D6D"/>
                </a:solidFill>
              </a:rPr>
              <a:t>6</a:t>
            </a:r>
            <a:endParaRPr lang="en-US" sz="1050" dirty="0"/>
          </a:p>
        </p:txBody>
      </p:sp>
      <p:sp>
        <p:nvSpPr>
          <p:cNvPr id="27" name="Text 25"/>
          <p:cNvSpPr/>
          <p:nvPr/>
        </p:nvSpPr>
        <p:spPr>
          <a:xfrm>
            <a:off x="6858000" y="2167128"/>
            <a:ext cx="1645920" cy="274320"/>
          </a:xfrm>
          <a:prstGeom prst="rect">
            <a:avLst/>
          </a:prstGeom>
          <a:noFill/>
          <a:ln/>
        </p:spPr>
        <p:txBody>
          <a:bodyPr wrap="square" rtlCol="0" anchor="ctr"/>
          <a:lstStyle/>
          <a:p>
            <a:pPr marL="0" indent="0">
              <a:buNone/>
            </a:pPr>
            <a:r>
              <a:rPr lang="en-US" sz="1050" b="1" dirty="0">
                <a:solidFill>
                  <a:srgbClr val="FF4D6D"/>
                </a:solidFill>
              </a:rPr>
              <a:t>FLAGGED</a:t>
            </a:r>
            <a:endParaRPr lang="en-US" sz="1050" dirty="0"/>
          </a:p>
        </p:txBody>
      </p:sp>
      <p:sp>
        <p:nvSpPr>
          <p:cNvPr id="28" name="Shape 26"/>
          <p:cNvSpPr/>
          <p:nvPr/>
        </p:nvSpPr>
        <p:spPr>
          <a:xfrm>
            <a:off x="274320" y="2542032"/>
            <a:ext cx="8595360" cy="384048"/>
          </a:xfrm>
          <a:prstGeom prst="rect">
            <a:avLst/>
          </a:prstGeom>
          <a:solidFill>
            <a:srgbClr val="1A2744">
              <a:alpha val="20000"/>
            </a:srgbClr>
          </a:solidFill>
          <a:ln w="12700">
            <a:solidFill>
              <a:srgbClr val="1E3A5F"/>
            </a:solidFill>
            <a:prstDash val="solid"/>
          </a:ln>
        </p:spPr>
      </p:sp>
      <p:sp>
        <p:nvSpPr>
          <p:cNvPr id="29" name="Text 27"/>
          <p:cNvSpPr/>
          <p:nvPr/>
        </p:nvSpPr>
        <p:spPr>
          <a:xfrm>
            <a:off x="365760" y="2606040"/>
            <a:ext cx="1280160" cy="274320"/>
          </a:xfrm>
          <a:prstGeom prst="rect">
            <a:avLst/>
          </a:prstGeom>
          <a:noFill/>
          <a:ln/>
        </p:spPr>
        <p:txBody>
          <a:bodyPr wrap="square" rtlCol="0" anchor="ctr"/>
          <a:lstStyle/>
          <a:p>
            <a:pPr marL="0" indent="0">
              <a:buNone/>
            </a:pPr>
            <a:r>
              <a:rPr lang="en-US" sz="1050" dirty="0">
                <a:solidFill>
                  <a:srgbClr val="E0E6F0"/>
                </a:solidFill>
              </a:rPr>
              <a:t>INT-0103</a:t>
            </a:r>
            <a:endParaRPr lang="en-US" sz="1050" dirty="0"/>
          </a:p>
        </p:txBody>
      </p:sp>
      <p:sp>
        <p:nvSpPr>
          <p:cNvPr id="30" name="Text 28"/>
          <p:cNvSpPr/>
          <p:nvPr/>
        </p:nvSpPr>
        <p:spPr>
          <a:xfrm>
            <a:off x="1737360" y="2606040"/>
            <a:ext cx="1188720" cy="274320"/>
          </a:xfrm>
          <a:prstGeom prst="rect">
            <a:avLst/>
          </a:prstGeom>
          <a:noFill/>
          <a:ln/>
        </p:spPr>
        <p:txBody>
          <a:bodyPr wrap="square" rtlCol="0" anchor="ctr"/>
          <a:lstStyle/>
          <a:p>
            <a:pPr marL="0" indent="0">
              <a:buNone/>
            </a:pPr>
            <a:r>
              <a:rPr lang="en-US" sz="1050" dirty="0">
                <a:solidFill>
                  <a:srgbClr val="E0E6F0"/>
                </a:solidFill>
              </a:rPr>
              <a:t>312</a:t>
            </a:r>
            <a:endParaRPr lang="en-US" sz="1050" dirty="0"/>
          </a:p>
        </p:txBody>
      </p:sp>
      <p:sp>
        <p:nvSpPr>
          <p:cNvPr id="31" name="Text 29"/>
          <p:cNvSpPr/>
          <p:nvPr/>
        </p:nvSpPr>
        <p:spPr>
          <a:xfrm>
            <a:off x="3017520" y="2606040"/>
            <a:ext cx="1097280" cy="274320"/>
          </a:xfrm>
          <a:prstGeom prst="rect">
            <a:avLst/>
          </a:prstGeom>
          <a:noFill/>
          <a:ln/>
        </p:spPr>
        <p:txBody>
          <a:bodyPr wrap="square" rtlCol="0" anchor="ctr"/>
          <a:lstStyle/>
          <a:p>
            <a:pPr marL="0" indent="0">
              <a:buNone/>
            </a:pPr>
            <a:r>
              <a:rPr lang="en-US" sz="1050" dirty="0">
                <a:solidFill>
                  <a:srgbClr val="E0E6F0"/>
                </a:solidFill>
              </a:rPr>
              <a:t>1</a:t>
            </a:r>
            <a:endParaRPr lang="en-US" sz="1050" dirty="0"/>
          </a:p>
        </p:txBody>
      </p:sp>
      <p:sp>
        <p:nvSpPr>
          <p:cNvPr id="32" name="Text 30"/>
          <p:cNvSpPr/>
          <p:nvPr/>
        </p:nvSpPr>
        <p:spPr>
          <a:xfrm>
            <a:off x="4206240" y="2606040"/>
            <a:ext cx="109728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33" name="Text 31"/>
          <p:cNvSpPr/>
          <p:nvPr/>
        </p:nvSpPr>
        <p:spPr>
          <a:xfrm>
            <a:off x="5394960" y="2606040"/>
            <a:ext cx="1371600" cy="274320"/>
          </a:xfrm>
          <a:prstGeom prst="rect">
            <a:avLst/>
          </a:prstGeom>
          <a:noFill/>
          <a:ln/>
        </p:spPr>
        <p:txBody>
          <a:bodyPr wrap="square" rtlCol="0" anchor="ctr"/>
          <a:lstStyle/>
          <a:p>
            <a:pPr marL="0" indent="0">
              <a:buNone/>
            </a:pPr>
            <a:r>
              <a:rPr lang="en-US" sz="1050" dirty="0">
                <a:solidFill>
                  <a:srgbClr val="E0E6F0"/>
                </a:solidFill>
              </a:rPr>
              <a:t>1</a:t>
            </a:r>
            <a:endParaRPr lang="en-US" sz="1050" dirty="0"/>
          </a:p>
        </p:txBody>
      </p:sp>
      <p:sp>
        <p:nvSpPr>
          <p:cNvPr id="34" name="Text 32"/>
          <p:cNvSpPr/>
          <p:nvPr/>
        </p:nvSpPr>
        <p:spPr>
          <a:xfrm>
            <a:off x="6858000" y="2606040"/>
            <a:ext cx="1645920" cy="274320"/>
          </a:xfrm>
          <a:prstGeom prst="rect">
            <a:avLst/>
          </a:prstGeom>
          <a:noFill/>
          <a:ln/>
        </p:spPr>
        <p:txBody>
          <a:bodyPr wrap="square" rtlCol="0" anchor="ctr"/>
          <a:lstStyle/>
          <a:p>
            <a:pPr marL="0" indent="0">
              <a:buNone/>
            </a:pPr>
            <a:r>
              <a:rPr lang="en-US" sz="1050" b="1" dirty="0">
                <a:solidFill>
                  <a:srgbClr val="FFD166"/>
                </a:solidFill>
              </a:rPr>
              <a:t>REVIEW</a:t>
            </a:r>
            <a:endParaRPr lang="en-US" sz="1050" dirty="0"/>
          </a:p>
        </p:txBody>
      </p:sp>
      <p:sp>
        <p:nvSpPr>
          <p:cNvPr id="35" name="Shape 33"/>
          <p:cNvSpPr/>
          <p:nvPr/>
        </p:nvSpPr>
        <p:spPr>
          <a:xfrm>
            <a:off x="274320" y="2980944"/>
            <a:ext cx="8595360" cy="384048"/>
          </a:xfrm>
          <a:prstGeom prst="rect">
            <a:avLst/>
          </a:prstGeom>
          <a:solidFill>
            <a:srgbClr val="1A2744">
              <a:alpha val="15000"/>
            </a:srgbClr>
          </a:solidFill>
          <a:ln w="12700">
            <a:solidFill>
              <a:srgbClr val="1E3A5F"/>
            </a:solidFill>
            <a:prstDash val="solid"/>
          </a:ln>
        </p:spPr>
      </p:sp>
      <p:sp>
        <p:nvSpPr>
          <p:cNvPr id="36" name="Text 34"/>
          <p:cNvSpPr/>
          <p:nvPr/>
        </p:nvSpPr>
        <p:spPr>
          <a:xfrm>
            <a:off x="365760" y="3044952"/>
            <a:ext cx="1280160" cy="274320"/>
          </a:xfrm>
          <a:prstGeom prst="rect">
            <a:avLst/>
          </a:prstGeom>
          <a:noFill/>
          <a:ln/>
        </p:spPr>
        <p:txBody>
          <a:bodyPr wrap="square" rtlCol="0" anchor="ctr"/>
          <a:lstStyle/>
          <a:p>
            <a:pPr marL="0" indent="0">
              <a:buNone/>
            </a:pPr>
            <a:r>
              <a:rPr lang="en-US" sz="1050" dirty="0">
                <a:solidFill>
                  <a:srgbClr val="E0E6F0"/>
                </a:solidFill>
              </a:rPr>
              <a:t>INT-0156</a:t>
            </a:r>
            <a:endParaRPr lang="en-US" sz="1050" dirty="0"/>
          </a:p>
        </p:txBody>
      </p:sp>
      <p:sp>
        <p:nvSpPr>
          <p:cNvPr id="37" name="Text 35"/>
          <p:cNvSpPr/>
          <p:nvPr/>
        </p:nvSpPr>
        <p:spPr>
          <a:xfrm>
            <a:off x="1737360" y="3044952"/>
            <a:ext cx="1188720" cy="274320"/>
          </a:xfrm>
          <a:prstGeom prst="rect">
            <a:avLst/>
          </a:prstGeom>
          <a:noFill/>
          <a:ln/>
        </p:spPr>
        <p:txBody>
          <a:bodyPr wrap="square" rtlCol="0" anchor="ctr"/>
          <a:lstStyle/>
          <a:p>
            <a:pPr marL="0" indent="0">
              <a:buNone/>
            </a:pPr>
            <a:r>
              <a:rPr lang="en-US" sz="1050" dirty="0">
                <a:solidFill>
                  <a:srgbClr val="E0E6F0"/>
                </a:solidFill>
              </a:rPr>
              <a:t>88</a:t>
            </a:r>
            <a:endParaRPr lang="en-US" sz="1050" dirty="0"/>
          </a:p>
        </p:txBody>
      </p:sp>
      <p:sp>
        <p:nvSpPr>
          <p:cNvPr id="38" name="Text 36"/>
          <p:cNvSpPr/>
          <p:nvPr/>
        </p:nvSpPr>
        <p:spPr>
          <a:xfrm>
            <a:off x="3017520" y="3044952"/>
            <a:ext cx="1097280" cy="274320"/>
          </a:xfrm>
          <a:prstGeom prst="rect">
            <a:avLst/>
          </a:prstGeom>
          <a:noFill/>
          <a:ln/>
        </p:spPr>
        <p:txBody>
          <a:bodyPr wrap="square" rtlCol="0" anchor="ctr"/>
          <a:lstStyle/>
          <a:p>
            <a:pPr marL="0" indent="0">
              <a:buNone/>
            </a:pPr>
            <a:r>
              <a:rPr lang="en-US" sz="1050" dirty="0">
                <a:solidFill>
                  <a:srgbClr val="E0E6F0"/>
                </a:solidFill>
              </a:rPr>
              <a:t>5</a:t>
            </a:r>
            <a:endParaRPr lang="en-US" sz="1050" dirty="0"/>
          </a:p>
        </p:txBody>
      </p:sp>
      <p:sp>
        <p:nvSpPr>
          <p:cNvPr id="39" name="Text 37"/>
          <p:cNvSpPr/>
          <p:nvPr/>
        </p:nvSpPr>
        <p:spPr>
          <a:xfrm>
            <a:off x="4206240" y="3044952"/>
            <a:ext cx="1097280" cy="274320"/>
          </a:xfrm>
          <a:prstGeom prst="rect">
            <a:avLst/>
          </a:prstGeom>
          <a:noFill/>
          <a:ln/>
        </p:spPr>
        <p:txBody>
          <a:bodyPr wrap="square" rtlCol="0" anchor="ctr"/>
          <a:lstStyle/>
          <a:p>
            <a:pPr marL="0" indent="0">
              <a:buNone/>
            </a:pPr>
            <a:r>
              <a:rPr lang="en-US" sz="1050" dirty="0">
                <a:solidFill>
                  <a:srgbClr val="E0E6F0"/>
                </a:solidFill>
              </a:rPr>
              <a:t>3</a:t>
            </a:r>
            <a:endParaRPr lang="en-US" sz="1050" dirty="0"/>
          </a:p>
        </p:txBody>
      </p:sp>
      <p:sp>
        <p:nvSpPr>
          <p:cNvPr id="40" name="Text 38"/>
          <p:cNvSpPr/>
          <p:nvPr/>
        </p:nvSpPr>
        <p:spPr>
          <a:xfrm>
            <a:off x="5394960" y="3044952"/>
            <a:ext cx="1371600" cy="274320"/>
          </a:xfrm>
          <a:prstGeom prst="rect">
            <a:avLst/>
          </a:prstGeom>
          <a:noFill/>
          <a:ln/>
        </p:spPr>
        <p:txBody>
          <a:bodyPr wrap="square" rtlCol="0" anchor="ctr"/>
          <a:lstStyle/>
          <a:p>
            <a:pPr marL="0" indent="0">
              <a:buNone/>
            </a:pPr>
            <a:r>
              <a:rPr lang="en-US" sz="1050" b="1" dirty="0">
                <a:solidFill>
                  <a:srgbClr val="FF4D6D"/>
                </a:solidFill>
              </a:rPr>
              <a:t>8</a:t>
            </a:r>
            <a:endParaRPr lang="en-US" sz="1050" dirty="0"/>
          </a:p>
        </p:txBody>
      </p:sp>
      <p:sp>
        <p:nvSpPr>
          <p:cNvPr id="41" name="Text 39"/>
          <p:cNvSpPr/>
          <p:nvPr/>
        </p:nvSpPr>
        <p:spPr>
          <a:xfrm>
            <a:off x="6858000" y="3044952"/>
            <a:ext cx="1645920" cy="274320"/>
          </a:xfrm>
          <a:prstGeom prst="rect">
            <a:avLst/>
          </a:prstGeom>
          <a:noFill/>
          <a:ln/>
        </p:spPr>
        <p:txBody>
          <a:bodyPr wrap="square" rtlCol="0" anchor="ctr"/>
          <a:lstStyle/>
          <a:p>
            <a:pPr marL="0" indent="0">
              <a:buNone/>
            </a:pPr>
            <a:r>
              <a:rPr lang="en-US" sz="1050" b="1" dirty="0">
                <a:solidFill>
                  <a:srgbClr val="FF4D6D"/>
                </a:solidFill>
              </a:rPr>
              <a:t>FLAGGED</a:t>
            </a:r>
            <a:endParaRPr lang="en-US" sz="1050" dirty="0"/>
          </a:p>
        </p:txBody>
      </p:sp>
      <p:sp>
        <p:nvSpPr>
          <p:cNvPr id="42" name="Shape 40"/>
          <p:cNvSpPr/>
          <p:nvPr/>
        </p:nvSpPr>
        <p:spPr>
          <a:xfrm>
            <a:off x="274320" y="3419856"/>
            <a:ext cx="8595360" cy="384048"/>
          </a:xfrm>
          <a:prstGeom prst="rect">
            <a:avLst/>
          </a:prstGeom>
          <a:solidFill>
            <a:srgbClr val="1A2744">
              <a:alpha val="20000"/>
            </a:srgbClr>
          </a:solidFill>
          <a:ln w="12700">
            <a:solidFill>
              <a:srgbClr val="1E3A5F"/>
            </a:solidFill>
            <a:prstDash val="solid"/>
          </a:ln>
        </p:spPr>
      </p:sp>
      <p:sp>
        <p:nvSpPr>
          <p:cNvPr id="43" name="Text 41"/>
          <p:cNvSpPr/>
          <p:nvPr/>
        </p:nvSpPr>
        <p:spPr>
          <a:xfrm>
            <a:off x="365760" y="3483864"/>
            <a:ext cx="1280160" cy="274320"/>
          </a:xfrm>
          <a:prstGeom prst="rect">
            <a:avLst/>
          </a:prstGeom>
          <a:noFill/>
          <a:ln/>
        </p:spPr>
        <p:txBody>
          <a:bodyPr wrap="square" rtlCol="0" anchor="ctr"/>
          <a:lstStyle/>
          <a:p>
            <a:pPr marL="0" indent="0">
              <a:buNone/>
            </a:pPr>
            <a:r>
              <a:rPr lang="en-US" sz="1050" dirty="0">
                <a:solidFill>
                  <a:srgbClr val="E0E6F0"/>
                </a:solidFill>
              </a:rPr>
              <a:t>INT-0201</a:t>
            </a:r>
            <a:endParaRPr lang="en-US" sz="1050" dirty="0"/>
          </a:p>
        </p:txBody>
      </p:sp>
      <p:sp>
        <p:nvSpPr>
          <p:cNvPr id="44" name="Text 42"/>
          <p:cNvSpPr/>
          <p:nvPr/>
        </p:nvSpPr>
        <p:spPr>
          <a:xfrm>
            <a:off x="1737360" y="3483864"/>
            <a:ext cx="1188720" cy="274320"/>
          </a:xfrm>
          <a:prstGeom prst="rect">
            <a:avLst/>
          </a:prstGeom>
          <a:noFill/>
          <a:ln/>
        </p:spPr>
        <p:txBody>
          <a:bodyPr wrap="square" rtlCol="0" anchor="ctr"/>
          <a:lstStyle/>
          <a:p>
            <a:pPr marL="0" indent="0">
              <a:buNone/>
            </a:pPr>
            <a:r>
              <a:rPr lang="en-US" sz="1050" dirty="0">
                <a:solidFill>
                  <a:srgbClr val="E0E6F0"/>
                </a:solidFill>
              </a:rPr>
              <a:t>276</a:t>
            </a:r>
            <a:endParaRPr lang="en-US" sz="1050" dirty="0"/>
          </a:p>
        </p:txBody>
      </p:sp>
      <p:sp>
        <p:nvSpPr>
          <p:cNvPr id="45" name="Text 43"/>
          <p:cNvSpPr/>
          <p:nvPr/>
        </p:nvSpPr>
        <p:spPr>
          <a:xfrm>
            <a:off x="3017520" y="3483864"/>
            <a:ext cx="109728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46" name="Text 44"/>
          <p:cNvSpPr/>
          <p:nvPr/>
        </p:nvSpPr>
        <p:spPr>
          <a:xfrm>
            <a:off x="4206240" y="3483864"/>
            <a:ext cx="109728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47" name="Text 45"/>
          <p:cNvSpPr/>
          <p:nvPr/>
        </p:nvSpPr>
        <p:spPr>
          <a:xfrm>
            <a:off x="5394960" y="3483864"/>
            <a:ext cx="137160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48" name="Text 46"/>
          <p:cNvSpPr/>
          <p:nvPr/>
        </p:nvSpPr>
        <p:spPr>
          <a:xfrm>
            <a:off x="6858000" y="3483864"/>
            <a:ext cx="1645920" cy="274320"/>
          </a:xfrm>
          <a:prstGeom prst="rect">
            <a:avLst/>
          </a:prstGeom>
          <a:noFill/>
          <a:ln/>
        </p:spPr>
        <p:txBody>
          <a:bodyPr wrap="square" rtlCol="0" anchor="ctr"/>
          <a:lstStyle/>
          <a:p>
            <a:pPr marL="0" indent="0">
              <a:buNone/>
            </a:pPr>
            <a:r>
              <a:rPr lang="en-US" sz="1050" b="1" dirty="0">
                <a:solidFill>
                  <a:srgbClr val="06D6A0"/>
                </a:solidFill>
              </a:rPr>
              <a:t>CLEAN</a:t>
            </a:r>
            <a:endParaRPr lang="en-US" sz="1050" dirty="0"/>
          </a:p>
        </p:txBody>
      </p:sp>
      <p:sp>
        <p:nvSpPr>
          <p:cNvPr id="49" name="Shape 47"/>
          <p:cNvSpPr/>
          <p:nvPr/>
        </p:nvSpPr>
        <p:spPr>
          <a:xfrm>
            <a:off x="274320" y="3858768"/>
            <a:ext cx="8595360" cy="384048"/>
          </a:xfrm>
          <a:prstGeom prst="rect">
            <a:avLst/>
          </a:prstGeom>
          <a:solidFill>
            <a:srgbClr val="1A2744">
              <a:alpha val="15000"/>
            </a:srgbClr>
          </a:solidFill>
          <a:ln w="12700">
            <a:solidFill>
              <a:srgbClr val="1E3A5F"/>
            </a:solidFill>
            <a:prstDash val="solid"/>
          </a:ln>
        </p:spPr>
      </p:sp>
      <p:sp>
        <p:nvSpPr>
          <p:cNvPr id="50" name="Text 48"/>
          <p:cNvSpPr/>
          <p:nvPr/>
        </p:nvSpPr>
        <p:spPr>
          <a:xfrm>
            <a:off x="365760" y="3922776"/>
            <a:ext cx="1280160" cy="274320"/>
          </a:xfrm>
          <a:prstGeom prst="rect">
            <a:avLst/>
          </a:prstGeom>
          <a:noFill/>
          <a:ln/>
        </p:spPr>
        <p:txBody>
          <a:bodyPr wrap="square" rtlCol="0" anchor="ctr"/>
          <a:lstStyle/>
          <a:p>
            <a:pPr marL="0" indent="0">
              <a:buNone/>
            </a:pPr>
            <a:r>
              <a:rPr lang="en-US" sz="1050" dirty="0">
                <a:solidFill>
                  <a:srgbClr val="E0E6F0"/>
                </a:solidFill>
              </a:rPr>
              <a:t>INT-0244</a:t>
            </a:r>
            <a:endParaRPr lang="en-US" sz="1050" dirty="0"/>
          </a:p>
        </p:txBody>
      </p:sp>
      <p:sp>
        <p:nvSpPr>
          <p:cNvPr id="51" name="Text 49"/>
          <p:cNvSpPr/>
          <p:nvPr/>
        </p:nvSpPr>
        <p:spPr>
          <a:xfrm>
            <a:off x="1737360" y="3922776"/>
            <a:ext cx="1188720" cy="274320"/>
          </a:xfrm>
          <a:prstGeom prst="rect">
            <a:avLst/>
          </a:prstGeom>
          <a:noFill/>
          <a:ln/>
        </p:spPr>
        <p:txBody>
          <a:bodyPr wrap="square" rtlCol="0" anchor="ctr"/>
          <a:lstStyle/>
          <a:p>
            <a:pPr marL="0" indent="0">
              <a:buNone/>
            </a:pPr>
            <a:r>
              <a:rPr lang="en-US" sz="1050" dirty="0">
                <a:solidFill>
                  <a:srgbClr val="E0E6F0"/>
                </a:solidFill>
              </a:rPr>
              <a:t>401</a:t>
            </a:r>
            <a:endParaRPr lang="en-US" sz="1050" dirty="0"/>
          </a:p>
        </p:txBody>
      </p:sp>
      <p:sp>
        <p:nvSpPr>
          <p:cNvPr id="52" name="Text 50"/>
          <p:cNvSpPr/>
          <p:nvPr/>
        </p:nvSpPr>
        <p:spPr>
          <a:xfrm>
            <a:off x="3017520" y="3922776"/>
            <a:ext cx="1097280" cy="274320"/>
          </a:xfrm>
          <a:prstGeom prst="rect">
            <a:avLst/>
          </a:prstGeom>
          <a:noFill/>
          <a:ln/>
        </p:spPr>
        <p:txBody>
          <a:bodyPr wrap="square" rtlCol="0" anchor="ctr"/>
          <a:lstStyle/>
          <a:p>
            <a:pPr marL="0" indent="0">
              <a:buNone/>
            </a:pPr>
            <a:r>
              <a:rPr lang="en-US" sz="1050" dirty="0">
                <a:solidFill>
                  <a:srgbClr val="E0E6F0"/>
                </a:solidFill>
              </a:rPr>
              <a:t>2</a:t>
            </a:r>
            <a:endParaRPr lang="en-US" sz="1050" dirty="0"/>
          </a:p>
        </p:txBody>
      </p:sp>
      <p:sp>
        <p:nvSpPr>
          <p:cNvPr id="53" name="Text 51"/>
          <p:cNvSpPr/>
          <p:nvPr/>
        </p:nvSpPr>
        <p:spPr>
          <a:xfrm>
            <a:off x="4206240" y="3922776"/>
            <a:ext cx="1097280" cy="274320"/>
          </a:xfrm>
          <a:prstGeom prst="rect">
            <a:avLst/>
          </a:prstGeom>
          <a:noFill/>
          <a:ln/>
        </p:spPr>
        <p:txBody>
          <a:bodyPr wrap="square" rtlCol="0" anchor="ctr"/>
          <a:lstStyle/>
          <a:p>
            <a:pPr marL="0" indent="0">
              <a:buNone/>
            </a:pPr>
            <a:r>
              <a:rPr lang="en-US" sz="1050" dirty="0">
                <a:solidFill>
                  <a:srgbClr val="E0E6F0"/>
                </a:solidFill>
              </a:rPr>
              <a:t>1</a:t>
            </a:r>
            <a:endParaRPr lang="en-US" sz="1050" dirty="0"/>
          </a:p>
        </p:txBody>
      </p:sp>
      <p:sp>
        <p:nvSpPr>
          <p:cNvPr id="54" name="Text 52"/>
          <p:cNvSpPr/>
          <p:nvPr/>
        </p:nvSpPr>
        <p:spPr>
          <a:xfrm>
            <a:off x="5394960" y="3922776"/>
            <a:ext cx="1371600" cy="274320"/>
          </a:xfrm>
          <a:prstGeom prst="rect">
            <a:avLst/>
          </a:prstGeom>
          <a:noFill/>
          <a:ln/>
        </p:spPr>
        <p:txBody>
          <a:bodyPr wrap="square" rtlCol="0" anchor="ctr"/>
          <a:lstStyle/>
          <a:p>
            <a:pPr marL="0" indent="0">
              <a:buNone/>
            </a:pPr>
            <a:r>
              <a:rPr lang="en-US" sz="1050" dirty="0">
                <a:solidFill>
                  <a:srgbClr val="FFD166"/>
                </a:solidFill>
              </a:rPr>
              <a:t>3</a:t>
            </a:r>
            <a:endParaRPr lang="en-US" sz="1050" dirty="0"/>
          </a:p>
        </p:txBody>
      </p:sp>
      <p:sp>
        <p:nvSpPr>
          <p:cNvPr id="55" name="Text 53"/>
          <p:cNvSpPr/>
          <p:nvPr/>
        </p:nvSpPr>
        <p:spPr>
          <a:xfrm>
            <a:off x="6858000" y="3922776"/>
            <a:ext cx="1645920" cy="274320"/>
          </a:xfrm>
          <a:prstGeom prst="rect">
            <a:avLst/>
          </a:prstGeom>
          <a:noFill/>
          <a:ln/>
        </p:spPr>
        <p:txBody>
          <a:bodyPr wrap="square" rtlCol="0" anchor="ctr"/>
          <a:lstStyle/>
          <a:p>
            <a:pPr marL="0" indent="0">
              <a:buNone/>
            </a:pPr>
            <a:r>
              <a:rPr lang="en-US" sz="1050" b="1" dirty="0">
                <a:solidFill>
                  <a:srgbClr val="FFD166"/>
                </a:solidFill>
              </a:rPr>
              <a:t>REVIEW</a:t>
            </a:r>
            <a:endParaRPr lang="en-US" sz="1050" dirty="0"/>
          </a:p>
        </p:txBody>
      </p:sp>
      <p:sp>
        <p:nvSpPr>
          <p:cNvPr id="56" name="Shape 54"/>
          <p:cNvSpPr/>
          <p:nvPr/>
        </p:nvSpPr>
        <p:spPr>
          <a:xfrm>
            <a:off x="274320" y="4617720"/>
            <a:ext cx="8595360" cy="411480"/>
          </a:xfrm>
          <a:prstGeom prst="rect">
            <a:avLst/>
          </a:prstGeom>
          <a:solidFill>
            <a:srgbClr val="1A2744">
              <a:alpha val="22000"/>
            </a:srgbClr>
          </a:solidFill>
          <a:ln w="12700">
            <a:solidFill>
              <a:srgbClr val="1E3A5F"/>
            </a:solidFill>
            <a:prstDash val="solid"/>
          </a:ln>
        </p:spPr>
      </p:sp>
      <p:sp>
        <p:nvSpPr>
          <p:cNvPr id="57" name="Text 55"/>
          <p:cNvSpPr/>
          <p:nvPr/>
        </p:nvSpPr>
        <p:spPr>
          <a:xfrm>
            <a:off x="457200" y="4681728"/>
            <a:ext cx="2194560" cy="274320"/>
          </a:xfrm>
          <a:prstGeom prst="rect">
            <a:avLst/>
          </a:prstGeom>
          <a:noFill/>
          <a:ln/>
        </p:spPr>
        <p:txBody>
          <a:bodyPr wrap="square" rtlCol="0" anchor="ctr"/>
          <a:lstStyle/>
          <a:p>
            <a:pPr marL="0" indent="0">
              <a:buNone/>
            </a:pPr>
            <a:r>
              <a:rPr lang="en-US" sz="1000" dirty="0">
                <a:solidFill>
                  <a:srgbClr val="06D6A0"/>
                </a:solidFill>
              </a:rPr>
              <a:t>🟢  CLEAN: Score 0–1  </a:t>
            </a:r>
            <a:endParaRPr lang="en-US" sz="1000" dirty="0"/>
          </a:p>
        </p:txBody>
      </p:sp>
      <p:sp>
        <p:nvSpPr>
          <p:cNvPr id="58" name="Text 56"/>
          <p:cNvSpPr/>
          <p:nvPr/>
        </p:nvSpPr>
        <p:spPr>
          <a:xfrm>
            <a:off x="2926080" y="4681728"/>
            <a:ext cx="2286000" cy="274320"/>
          </a:xfrm>
          <a:prstGeom prst="rect">
            <a:avLst/>
          </a:prstGeom>
          <a:noFill/>
          <a:ln/>
        </p:spPr>
        <p:txBody>
          <a:bodyPr wrap="square" rtlCol="0" anchor="ctr"/>
          <a:lstStyle/>
          <a:p>
            <a:pPr marL="0" indent="0">
              <a:buNone/>
            </a:pPr>
            <a:r>
              <a:rPr lang="en-US" sz="1000" dirty="0">
                <a:solidFill>
                  <a:srgbClr val="FFD166"/>
                </a:solidFill>
              </a:rPr>
              <a:t>🟡  REVIEW: Score 2–4  </a:t>
            </a:r>
            <a:endParaRPr lang="en-US" sz="1000" dirty="0"/>
          </a:p>
        </p:txBody>
      </p:sp>
      <p:sp>
        <p:nvSpPr>
          <p:cNvPr id="59" name="Text 57"/>
          <p:cNvSpPr/>
          <p:nvPr/>
        </p:nvSpPr>
        <p:spPr>
          <a:xfrm>
            <a:off x="5486400" y="4681728"/>
            <a:ext cx="2286000" cy="274320"/>
          </a:xfrm>
          <a:prstGeom prst="rect">
            <a:avLst/>
          </a:prstGeom>
          <a:noFill/>
          <a:ln/>
        </p:spPr>
        <p:txBody>
          <a:bodyPr wrap="square" rtlCol="0" anchor="ctr"/>
          <a:lstStyle/>
          <a:p>
            <a:pPr marL="0" indent="0">
              <a:buNone/>
            </a:pPr>
            <a:r>
              <a:rPr lang="en-US" sz="1000" dirty="0">
                <a:solidFill>
                  <a:srgbClr val="FF4D6D"/>
                </a:solidFill>
              </a:rPr>
              <a:t>🔴  FLAGGED: Score 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13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00B4D8"/>
                </a:solidFill>
              </a:rPr>
              <a:t>TRANSFORMATION</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600" b="1" dirty="0">
                <a:solidFill>
                  <a:srgbClr val="FFFFFF"/>
                </a:solidFill>
              </a:rPr>
              <a:t>Before vs After — QA Intelligence</a:t>
            </a:r>
            <a:endParaRPr lang="en-US" sz="2600" dirty="0"/>
          </a:p>
        </p:txBody>
      </p:sp>
      <p:sp>
        <p:nvSpPr>
          <p:cNvPr id="7" name="Shape 5"/>
          <p:cNvSpPr/>
          <p:nvPr/>
        </p:nvSpPr>
        <p:spPr>
          <a:xfrm>
            <a:off x="274320" y="1188720"/>
            <a:ext cx="4114800" cy="3337560"/>
          </a:xfrm>
          <a:prstGeom prst="rect">
            <a:avLst/>
          </a:prstGeom>
          <a:solidFill>
            <a:srgbClr val="1A2744">
              <a:alpha val="28000"/>
            </a:srgbClr>
          </a:solidFill>
          <a:ln w="12700">
            <a:solidFill>
              <a:srgbClr val="1E3A5F"/>
            </a:solidFill>
            <a:prstDash val="solid"/>
          </a:ln>
        </p:spPr>
      </p:sp>
      <p:sp>
        <p:nvSpPr>
          <p:cNvPr id="8" name="Shape 6"/>
          <p:cNvSpPr/>
          <p:nvPr/>
        </p:nvSpPr>
        <p:spPr>
          <a:xfrm>
            <a:off x="274320" y="1188720"/>
            <a:ext cx="4114800" cy="54864"/>
          </a:xfrm>
          <a:prstGeom prst="rect">
            <a:avLst/>
          </a:prstGeom>
          <a:solidFill>
            <a:srgbClr val="8899BB"/>
          </a:solidFill>
          <a:ln w="12700">
            <a:solidFill>
              <a:srgbClr val="8899BB">
                <a:alpha val="0"/>
              </a:srgbClr>
            </a:solidFill>
            <a:prstDash val="solid"/>
          </a:ln>
        </p:spPr>
      </p:sp>
      <p:sp>
        <p:nvSpPr>
          <p:cNvPr id="9" name="Text 7"/>
          <p:cNvSpPr/>
          <p:nvPr/>
        </p:nvSpPr>
        <p:spPr>
          <a:xfrm>
            <a:off x="457200" y="1298448"/>
            <a:ext cx="1371600" cy="347472"/>
          </a:xfrm>
          <a:prstGeom prst="rect">
            <a:avLst/>
          </a:prstGeom>
          <a:noFill/>
          <a:ln/>
        </p:spPr>
        <p:txBody>
          <a:bodyPr wrap="square" rtlCol="0" anchor="ctr"/>
          <a:lstStyle/>
          <a:p>
            <a:pPr marL="0" indent="0">
              <a:buNone/>
            </a:pPr>
            <a:r>
              <a:rPr lang="en-US" sz="1400" b="1" dirty="0">
                <a:solidFill>
                  <a:srgbClr val="8899BB"/>
                </a:solidFill>
              </a:rPr>
              <a:t>BEFORE</a:t>
            </a:r>
            <a:endParaRPr lang="en-US" sz="1400" dirty="0"/>
          </a:p>
        </p:txBody>
      </p:sp>
      <p:sp>
        <p:nvSpPr>
          <p:cNvPr id="10" name="Text 8"/>
          <p:cNvSpPr/>
          <p:nvPr/>
        </p:nvSpPr>
        <p:spPr>
          <a:xfrm>
            <a:off x="457200" y="1664208"/>
            <a:ext cx="3749040" cy="347472"/>
          </a:xfrm>
          <a:prstGeom prst="rect">
            <a:avLst/>
          </a:prstGeom>
          <a:noFill/>
          <a:ln/>
        </p:spPr>
        <p:txBody>
          <a:bodyPr wrap="square" rtlCol="0" anchor="ctr"/>
          <a:lstStyle/>
          <a:p>
            <a:pPr marL="0" indent="0">
              <a:buNone/>
            </a:pPr>
            <a:r>
              <a:rPr lang="en-US" sz="1200" dirty="0">
                <a:solidFill>
                  <a:srgbClr val="8899BB"/>
                </a:solidFill>
              </a:rPr>
              <a:t>Traditional QA</a:t>
            </a:r>
            <a:endParaRPr lang="en-US" sz="1200" dirty="0"/>
          </a:p>
        </p:txBody>
      </p:sp>
      <p:sp>
        <p:nvSpPr>
          <p:cNvPr id="11" name="Text 9"/>
          <p:cNvSpPr/>
          <p:nvPr/>
        </p:nvSpPr>
        <p:spPr>
          <a:xfrm>
            <a:off x="457200" y="2103120"/>
            <a:ext cx="3749040" cy="329184"/>
          </a:xfrm>
          <a:prstGeom prst="rect">
            <a:avLst/>
          </a:prstGeom>
          <a:noFill/>
          <a:ln/>
        </p:spPr>
        <p:txBody>
          <a:bodyPr wrap="square" rtlCol="0" anchor="ctr"/>
          <a:lstStyle/>
          <a:p>
            <a:pPr marL="0" indent="0">
              <a:buNone/>
            </a:pPr>
            <a:r>
              <a:rPr lang="en-US" sz="1100" b="1" dirty="0">
                <a:solidFill>
                  <a:srgbClr val="FF4D6D"/>
                </a:solidFill>
              </a:rPr>
              <a:t>✗  </a:t>
            </a:r>
            <a:r>
              <a:rPr lang="en-US" sz="1100" dirty="0">
                <a:solidFill>
                  <a:srgbClr val="8899BB"/>
                </a:solidFill>
              </a:rPr>
              <a:t>Single metric: total interview duration</a:t>
            </a:r>
            <a:endParaRPr lang="en-US" sz="1100" dirty="0"/>
          </a:p>
        </p:txBody>
      </p:sp>
      <p:sp>
        <p:nvSpPr>
          <p:cNvPr id="12" name="Text 10"/>
          <p:cNvSpPr/>
          <p:nvPr/>
        </p:nvSpPr>
        <p:spPr>
          <a:xfrm>
            <a:off x="457200" y="2487168"/>
            <a:ext cx="3749040" cy="329184"/>
          </a:xfrm>
          <a:prstGeom prst="rect">
            <a:avLst/>
          </a:prstGeom>
          <a:noFill/>
          <a:ln/>
        </p:spPr>
        <p:txBody>
          <a:bodyPr wrap="square" rtlCol="0" anchor="ctr"/>
          <a:lstStyle/>
          <a:p>
            <a:pPr marL="0" indent="0">
              <a:buNone/>
            </a:pPr>
            <a:r>
              <a:rPr lang="en-US" sz="1100" b="1" dirty="0">
                <a:solidFill>
                  <a:srgbClr val="FF4D6D"/>
                </a:solidFill>
              </a:rPr>
              <a:t>✗  </a:t>
            </a:r>
            <a:r>
              <a:rPr lang="en-US" sz="1100" dirty="0">
                <a:solidFill>
                  <a:srgbClr val="8899BB"/>
                </a:solidFill>
              </a:rPr>
              <a:t>Manual back-check: &lt;5% coverage</a:t>
            </a:r>
            <a:endParaRPr lang="en-US" sz="1100" dirty="0"/>
          </a:p>
        </p:txBody>
      </p:sp>
      <p:sp>
        <p:nvSpPr>
          <p:cNvPr id="13" name="Text 11"/>
          <p:cNvSpPr/>
          <p:nvPr/>
        </p:nvSpPr>
        <p:spPr>
          <a:xfrm>
            <a:off x="457200" y="2871216"/>
            <a:ext cx="3749040" cy="329184"/>
          </a:xfrm>
          <a:prstGeom prst="rect">
            <a:avLst/>
          </a:prstGeom>
          <a:noFill/>
          <a:ln/>
        </p:spPr>
        <p:txBody>
          <a:bodyPr wrap="square" rtlCol="0" anchor="ctr"/>
          <a:lstStyle/>
          <a:p>
            <a:pPr marL="0" indent="0">
              <a:buNone/>
            </a:pPr>
            <a:r>
              <a:rPr lang="en-US" sz="1100" b="1" dirty="0">
                <a:solidFill>
                  <a:srgbClr val="FF4D6D"/>
                </a:solidFill>
              </a:rPr>
              <a:t>✗  </a:t>
            </a:r>
            <a:r>
              <a:rPr lang="en-US" sz="1100" dirty="0">
                <a:solidFill>
                  <a:srgbClr val="8899BB"/>
                </a:solidFill>
              </a:rPr>
              <a:t>No behavioral pattern detection</a:t>
            </a:r>
            <a:endParaRPr lang="en-US" sz="1100" dirty="0"/>
          </a:p>
        </p:txBody>
      </p:sp>
      <p:sp>
        <p:nvSpPr>
          <p:cNvPr id="14" name="Text 12"/>
          <p:cNvSpPr/>
          <p:nvPr/>
        </p:nvSpPr>
        <p:spPr>
          <a:xfrm>
            <a:off x="457200" y="3255264"/>
            <a:ext cx="3749040" cy="329184"/>
          </a:xfrm>
          <a:prstGeom prst="rect">
            <a:avLst/>
          </a:prstGeom>
          <a:noFill/>
          <a:ln/>
        </p:spPr>
        <p:txBody>
          <a:bodyPr wrap="square" rtlCol="0" anchor="ctr"/>
          <a:lstStyle/>
          <a:p>
            <a:pPr marL="0" indent="0">
              <a:buNone/>
            </a:pPr>
            <a:r>
              <a:rPr lang="en-US" sz="1100" b="1" dirty="0">
                <a:solidFill>
                  <a:srgbClr val="FF4D6D"/>
                </a:solidFill>
              </a:rPr>
              <a:t>✗  </a:t>
            </a:r>
            <a:r>
              <a:rPr lang="en-US" sz="1100" dirty="0">
                <a:solidFill>
                  <a:srgbClr val="8899BB"/>
                </a:solidFill>
              </a:rPr>
              <a:t>Platform-specific, non-automated</a:t>
            </a:r>
            <a:endParaRPr lang="en-US" sz="1100" dirty="0"/>
          </a:p>
        </p:txBody>
      </p:sp>
      <p:sp>
        <p:nvSpPr>
          <p:cNvPr id="15" name="Text 13"/>
          <p:cNvSpPr/>
          <p:nvPr/>
        </p:nvSpPr>
        <p:spPr>
          <a:xfrm>
            <a:off x="457200" y="3639312"/>
            <a:ext cx="3749040" cy="329184"/>
          </a:xfrm>
          <a:prstGeom prst="rect">
            <a:avLst/>
          </a:prstGeom>
          <a:noFill/>
          <a:ln/>
        </p:spPr>
        <p:txBody>
          <a:bodyPr wrap="square" rtlCol="0" anchor="ctr"/>
          <a:lstStyle/>
          <a:p>
            <a:pPr marL="0" indent="0">
              <a:buNone/>
            </a:pPr>
            <a:r>
              <a:rPr lang="en-US" sz="1100" b="1" dirty="0">
                <a:solidFill>
                  <a:srgbClr val="FF4D6D"/>
                </a:solidFill>
              </a:rPr>
              <a:t>✗  </a:t>
            </a:r>
            <a:r>
              <a:rPr lang="en-US" sz="1100" dirty="0">
                <a:solidFill>
                  <a:srgbClr val="8899BB"/>
                </a:solidFill>
              </a:rPr>
              <a:t>Fabrication and speeding undetected</a:t>
            </a:r>
            <a:endParaRPr lang="en-US" sz="1100" dirty="0"/>
          </a:p>
        </p:txBody>
      </p:sp>
      <p:sp>
        <p:nvSpPr>
          <p:cNvPr id="16" name="Text 14"/>
          <p:cNvSpPr/>
          <p:nvPr/>
        </p:nvSpPr>
        <p:spPr>
          <a:xfrm>
            <a:off x="457200" y="4023360"/>
            <a:ext cx="3749040" cy="329184"/>
          </a:xfrm>
          <a:prstGeom prst="rect">
            <a:avLst/>
          </a:prstGeom>
          <a:noFill/>
          <a:ln/>
        </p:spPr>
        <p:txBody>
          <a:bodyPr wrap="square" rtlCol="0" anchor="ctr"/>
          <a:lstStyle/>
          <a:p>
            <a:pPr marL="0" indent="0">
              <a:buNone/>
            </a:pPr>
            <a:r>
              <a:rPr lang="en-US" sz="1100" b="1" dirty="0">
                <a:solidFill>
                  <a:srgbClr val="FF4D6D"/>
                </a:solidFill>
              </a:rPr>
              <a:t>✗  </a:t>
            </a:r>
            <a:r>
              <a:rPr lang="en-US" sz="1100" dirty="0">
                <a:solidFill>
                  <a:srgbClr val="8899BB"/>
                </a:solidFill>
              </a:rPr>
              <a:t>Weeks to produce quality report</a:t>
            </a:r>
            <a:endParaRPr lang="en-US" sz="1100" dirty="0"/>
          </a:p>
        </p:txBody>
      </p:sp>
      <p:sp>
        <p:nvSpPr>
          <p:cNvPr id="17" name="Shape 15"/>
          <p:cNvSpPr/>
          <p:nvPr/>
        </p:nvSpPr>
        <p:spPr>
          <a:xfrm>
            <a:off x="4663440" y="1188720"/>
            <a:ext cx="4114800" cy="3337560"/>
          </a:xfrm>
          <a:prstGeom prst="rect">
            <a:avLst/>
          </a:prstGeom>
          <a:solidFill>
            <a:srgbClr val="1A2744">
              <a:alpha val="28000"/>
            </a:srgbClr>
          </a:solidFill>
          <a:ln w="12700">
            <a:solidFill>
              <a:srgbClr val="1E3A5F"/>
            </a:solidFill>
            <a:prstDash val="solid"/>
          </a:ln>
        </p:spPr>
      </p:sp>
      <p:sp>
        <p:nvSpPr>
          <p:cNvPr id="18" name="Shape 16"/>
          <p:cNvSpPr/>
          <p:nvPr/>
        </p:nvSpPr>
        <p:spPr>
          <a:xfrm>
            <a:off x="4663440" y="1188720"/>
            <a:ext cx="4114800" cy="54864"/>
          </a:xfrm>
          <a:prstGeom prst="rect">
            <a:avLst/>
          </a:prstGeom>
          <a:solidFill>
            <a:srgbClr val="06D6A0"/>
          </a:solidFill>
          <a:ln w="12700">
            <a:solidFill>
              <a:srgbClr val="06D6A0">
                <a:alpha val="0"/>
              </a:srgbClr>
            </a:solidFill>
            <a:prstDash val="solid"/>
          </a:ln>
        </p:spPr>
      </p:sp>
      <p:sp>
        <p:nvSpPr>
          <p:cNvPr id="19" name="Text 17"/>
          <p:cNvSpPr/>
          <p:nvPr/>
        </p:nvSpPr>
        <p:spPr>
          <a:xfrm>
            <a:off x="4846320" y="1298448"/>
            <a:ext cx="1371600" cy="347472"/>
          </a:xfrm>
          <a:prstGeom prst="rect">
            <a:avLst/>
          </a:prstGeom>
          <a:noFill/>
          <a:ln/>
        </p:spPr>
        <p:txBody>
          <a:bodyPr wrap="square" rtlCol="0" anchor="ctr"/>
          <a:lstStyle/>
          <a:p>
            <a:pPr marL="0" indent="0">
              <a:buNone/>
            </a:pPr>
            <a:r>
              <a:rPr lang="en-US" sz="1400" b="1" dirty="0">
                <a:solidFill>
                  <a:srgbClr val="06D6A0"/>
                </a:solidFill>
              </a:rPr>
              <a:t>AFTER</a:t>
            </a:r>
            <a:endParaRPr lang="en-US" sz="1400" dirty="0"/>
          </a:p>
        </p:txBody>
      </p:sp>
      <p:sp>
        <p:nvSpPr>
          <p:cNvPr id="20" name="Text 18"/>
          <p:cNvSpPr/>
          <p:nvPr/>
        </p:nvSpPr>
        <p:spPr>
          <a:xfrm>
            <a:off x="4846320" y="1664208"/>
            <a:ext cx="3749040" cy="347472"/>
          </a:xfrm>
          <a:prstGeom prst="rect">
            <a:avLst/>
          </a:prstGeom>
          <a:noFill/>
          <a:ln/>
        </p:spPr>
        <p:txBody>
          <a:bodyPr wrap="square" rtlCol="0" anchor="ctr"/>
          <a:lstStyle/>
          <a:p>
            <a:pPr marL="0" indent="0">
              <a:buNone/>
            </a:pPr>
            <a:r>
              <a:rPr lang="en-US" sz="1200" dirty="0">
                <a:solidFill>
                  <a:srgbClr val="06D6A0"/>
                </a:solidFill>
              </a:rPr>
              <a:t>Paradata Pipeline</a:t>
            </a:r>
            <a:endParaRPr lang="en-US" sz="1200" dirty="0"/>
          </a:p>
        </p:txBody>
      </p:sp>
      <p:sp>
        <p:nvSpPr>
          <p:cNvPr id="21" name="Text 19"/>
          <p:cNvSpPr/>
          <p:nvPr/>
        </p:nvSpPr>
        <p:spPr>
          <a:xfrm>
            <a:off x="4846320" y="2103120"/>
            <a:ext cx="3749040" cy="329184"/>
          </a:xfrm>
          <a:prstGeom prst="rect">
            <a:avLst/>
          </a:prstGeom>
          <a:noFill/>
          <a:ln/>
        </p:spPr>
        <p:txBody>
          <a:bodyPr wrap="square" rtlCol="0" anchor="ctr"/>
          <a:lstStyle/>
          <a:p>
            <a:pPr marL="0" indent="0">
              <a:buNone/>
            </a:pPr>
            <a:r>
              <a:rPr lang="en-US" sz="1100" b="1" dirty="0">
                <a:solidFill>
                  <a:srgbClr val="06D6A0"/>
                </a:solidFill>
              </a:rPr>
              <a:t>✓  </a:t>
            </a:r>
            <a:r>
              <a:rPr lang="en-US" sz="1100" dirty="0">
                <a:solidFill>
                  <a:srgbClr val="E0E6F0"/>
                </a:solidFill>
              </a:rPr>
              <a:t>40 features across 3 granularity levels</a:t>
            </a:r>
            <a:endParaRPr lang="en-US" sz="1100" dirty="0"/>
          </a:p>
        </p:txBody>
      </p:sp>
      <p:sp>
        <p:nvSpPr>
          <p:cNvPr id="22" name="Text 20"/>
          <p:cNvSpPr/>
          <p:nvPr/>
        </p:nvSpPr>
        <p:spPr>
          <a:xfrm>
            <a:off x="4846320" y="2487168"/>
            <a:ext cx="3749040" cy="329184"/>
          </a:xfrm>
          <a:prstGeom prst="rect">
            <a:avLst/>
          </a:prstGeom>
          <a:noFill/>
          <a:ln/>
        </p:spPr>
        <p:txBody>
          <a:bodyPr wrap="square" rtlCol="0" anchor="ctr"/>
          <a:lstStyle/>
          <a:p>
            <a:pPr marL="0" indent="0">
              <a:buNone/>
            </a:pPr>
            <a:r>
              <a:rPr lang="en-US" sz="1100" b="1" dirty="0">
                <a:solidFill>
                  <a:srgbClr val="06D6A0"/>
                </a:solidFill>
              </a:rPr>
              <a:t>✓  </a:t>
            </a:r>
            <a:r>
              <a:rPr lang="en-US" sz="1100" dirty="0">
                <a:solidFill>
                  <a:srgbClr val="E0E6F0"/>
                </a:solidFill>
              </a:rPr>
              <a:t>100% interview coverage, automated</a:t>
            </a:r>
            <a:endParaRPr lang="en-US" sz="1100" dirty="0"/>
          </a:p>
        </p:txBody>
      </p:sp>
      <p:sp>
        <p:nvSpPr>
          <p:cNvPr id="23" name="Text 21"/>
          <p:cNvSpPr/>
          <p:nvPr/>
        </p:nvSpPr>
        <p:spPr>
          <a:xfrm>
            <a:off x="4846320" y="2871216"/>
            <a:ext cx="3749040" cy="329184"/>
          </a:xfrm>
          <a:prstGeom prst="rect">
            <a:avLst/>
          </a:prstGeom>
          <a:noFill/>
          <a:ln/>
        </p:spPr>
        <p:txBody>
          <a:bodyPr wrap="square" rtlCol="0" anchor="ctr"/>
          <a:lstStyle/>
          <a:p>
            <a:pPr marL="0" indent="0">
              <a:buNone/>
            </a:pPr>
            <a:r>
              <a:rPr lang="en-US" sz="1100" b="1" dirty="0">
                <a:solidFill>
                  <a:srgbClr val="06D6A0"/>
                </a:solidFill>
              </a:rPr>
              <a:t>✓  </a:t>
            </a:r>
            <a:r>
              <a:rPr lang="en-US" sz="1100" dirty="0">
                <a:solidFill>
                  <a:srgbClr val="E0E6F0"/>
                </a:solidFill>
              </a:rPr>
              <a:t>Behavioral fingerprint per enumerator</a:t>
            </a:r>
            <a:endParaRPr lang="en-US" sz="1100" dirty="0"/>
          </a:p>
        </p:txBody>
      </p:sp>
      <p:sp>
        <p:nvSpPr>
          <p:cNvPr id="24" name="Text 22"/>
          <p:cNvSpPr/>
          <p:nvPr/>
        </p:nvSpPr>
        <p:spPr>
          <a:xfrm>
            <a:off x="4846320" y="3255264"/>
            <a:ext cx="3749040" cy="329184"/>
          </a:xfrm>
          <a:prstGeom prst="rect">
            <a:avLst/>
          </a:prstGeom>
          <a:noFill/>
          <a:ln/>
        </p:spPr>
        <p:txBody>
          <a:bodyPr wrap="square" rtlCol="0" anchor="ctr"/>
          <a:lstStyle/>
          <a:p>
            <a:pPr marL="0" indent="0">
              <a:buNone/>
            </a:pPr>
            <a:r>
              <a:rPr lang="en-US" sz="1100" b="1" dirty="0">
                <a:solidFill>
                  <a:srgbClr val="06D6A0"/>
                </a:solidFill>
              </a:rPr>
              <a:t>✓  </a:t>
            </a:r>
            <a:r>
              <a:rPr lang="en-US" sz="1100" dirty="0">
                <a:solidFill>
                  <a:srgbClr val="E0E6F0"/>
                </a:solidFill>
              </a:rPr>
              <a:t>SurveyCTO + ODK, one pipeline</a:t>
            </a:r>
            <a:endParaRPr lang="en-US" sz="1100" dirty="0"/>
          </a:p>
        </p:txBody>
      </p:sp>
      <p:sp>
        <p:nvSpPr>
          <p:cNvPr id="25" name="Text 23"/>
          <p:cNvSpPr/>
          <p:nvPr/>
        </p:nvSpPr>
        <p:spPr>
          <a:xfrm>
            <a:off x="4846320" y="3639312"/>
            <a:ext cx="3749040" cy="329184"/>
          </a:xfrm>
          <a:prstGeom prst="rect">
            <a:avLst/>
          </a:prstGeom>
          <a:noFill/>
          <a:ln/>
        </p:spPr>
        <p:txBody>
          <a:bodyPr wrap="square" rtlCol="0" anchor="ctr"/>
          <a:lstStyle/>
          <a:p>
            <a:pPr marL="0" indent="0">
              <a:buNone/>
            </a:pPr>
            <a:r>
              <a:rPr lang="en-US" sz="1100" b="1" dirty="0">
                <a:solidFill>
                  <a:srgbClr val="06D6A0"/>
                </a:solidFill>
              </a:rPr>
              <a:t>✓  </a:t>
            </a:r>
            <a:r>
              <a:rPr lang="en-US" sz="1100" dirty="0">
                <a:solidFill>
                  <a:srgbClr val="E0E6F0"/>
                </a:solidFill>
              </a:rPr>
              <a:t>Fabrication &amp; speeding detected</a:t>
            </a:r>
            <a:endParaRPr lang="en-US" sz="1100" dirty="0"/>
          </a:p>
        </p:txBody>
      </p:sp>
      <p:sp>
        <p:nvSpPr>
          <p:cNvPr id="26" name="Text 24"/>
          <p:cNvSpPr/>
          <p:nvPr/>
        </p:nvSpPr>
        <p:spPr>
          <a:xfrm>
            <a:off x="4846320" y="4023360"/>
            <a:ext cx="3749040" cy="329184"/>
          </a:xfrm>
          <a:prstGeom prst="rect">
            <a:avLst/>
          </a:prstGeom>
          <a:noFill/>
          <a:ln/>
        </p:spPr>
        <p:txBody>
          <a:bodyPr wrap="square" rtlCol="0" anchor="ctr"/>
          <a:lstStyle/>
          <a:p>
            <a:pPr marL="0" indent="0">
              <a:buNone/>
            </a:pPr>
            <a:r>
              <a:rPr lang="en-US" sz="1100" b="1" dirty="0">
                <a:solidFill>
                  <a:srgbClr val="06D6A0"/>
                </a:solidFill>
              </a:rPr>
              <a:t>✓  </a:t>
            </a:r>
            <a:r>
              <a:rPr lang="en-US" sz="1100" dirty="0">
                <a:solidFill>
                  <a:srgbClr val="E0E6F0"/>
                </a:solidFill>
              </a:rPr>
              <a:t>Minutes to generate anomaly report</a:t>
            </a:r>
            <a:endParaRPr lang="en-US" sz="1100" dirty="0"/>
          </a:p>
        </p:txBody>
      </p:sp>
      <p:sp>
        <p:nvSpPr>
          <p:cNvPr id="27" name="Text 25"/>
          <p:cNvSpPr/>
          <p:nvPr/>
        </p:nvSpPr>
        <p:spPr>
          <a:xfrm>
            <a:off x="4160520" y="2468880"/>
            <a:ext cx="822960" cy="457200"/>
          </a:xfrm>
          <a:prstGeom prst="rect">
            <a:avLst/>
          </a:prstGeom>
          <a:noFill/>
          <a:ln/>
        </p:spPr>
        <p:txBody>
          <a:bodyPr wrap="square" rtlCol="0" anchor="ctr"/>
          <a:lstStyle/>
          <a:p>
            <a:pPr marL="0" indent="0" algn="ctr">
              <a:buNone/>
            </a:pPr>
            <a:r>
              <a:rPr lang="en-US" sz="1800" b="1" dirty="0">
                <a:solidFill>
                  <a:srgbClr val="FFFFFF"/>
                </a:solidFill>
              </a:rPr>
              <a:t>VS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14 / 16</a:t>
            </a:r>
            <a:endParaRPr lang="en-US" sz="900" dirty="0"/>
          </a:p>
        </p:txBody>
      </p:sp>
      <p:sp>
        <p:nvSpPr>
          <p:cNvPr id="5" name="Text 3"/>
          <p:cNvSpPr/>
          <p:nvPr/>
        </p:nvSpPr>
        <p:spPr>
          <a:xfrm>
            <a:off x="457200" y="164592"/>
            <a:ext cx="4572000" cy="228600"/>
          </a:xfrm>
          <a:prstGeom prst="rect">
            <a:avLst/>
          </a:prstGeom>
          <a:noFill/>
          <a:ln/>
        </p:spPr>
        <p:txBody>
          <a:bodyPr wrap="square" rtlCol="0" anchor="ctr"/>
          <a:lstStyle/>
          <a:p>
            <a:pPr marL="0" indent="0">
              <a:buNone/>
            </a:pPr>
            <a:r>
              <a:rPr lang="en-US" sz="900" b="1" kern="0" spc="300" dirty="0">
                <a:solidFill>
                  <a:srgbClr val="9D4EDD"/>
                </a:solidFill>
              </a:rPr>
              <a:t>SYSTEM INTELLIGENCE</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600" b="1" dirty="0">
                <a:solidFill>
                  <a:srgbClr val="FFFFFF"/>
                </a:solidFill>
              </a:rPr>
              <a:t>What Makes This Solution Smart</a:t>
            </a:r>
            <a:endParaRPr lang="en-US" sz="2600" dirty="0"/>
          </a:p>
        </p:txBody>
      </p:sp>
      <p:sp>
        <p:nvSpPr>
          <p:cNvPr id="7" name="Shape 5"/>
          <p:cNvSpPr/>
          <p:nvPr/>
        </p:nvSpPr>
        <p:spPr>
          <a:xfrm>
            <a:off x="274320" y="1188720"/>
            <a:ext cx="4114800" cy="1600200"/>
          </a:xfrm>
          <a:prstGeom prst="rect">
            <a:avLst/>
          </a:prstGeom>
          <a:solidFill>
            <a:srgbClr val="1A2744">
              <a:alpha val="28000"/>
            </a:srgbClr>
          </a:solidFill>
          <a:ln w="12700">
            <a:solidFill>
              <a:srgbClr val="1E3A5F"/>
            </a:solidFill>
            <a:prstDash val="solid"/>
          </a:ln>
        </p:spPr>
      </p:sp>
      <p:sp>
        <p:nvSpPr>
          <p:cNvPr id="8" name="Shape 6"/>
          <p:cNvSpPr/>
          <p:nvPr/>
        </p:nvSpPr>
        <p:spPr>
          <a:xfrm>
            <a:off x="274320" y="1188720"/>
            <a:ext cx="4114800" cy="54864"/>
          </a:xfrm>
          <a:prstGeom prst="rect">
            <a:avLst/>
          </a:prstGeom>
          <a:solidFill>
            <a:srgbClr val="00B4D8"/>
          </a:solidFill>
          <a:ln w="12700">
            <a:solidFill>
              <a:srgbClr val="00B4D8">
                <a:alpha val="0"/>
              </a:srgbClr>
            </a:solidFill>
            <a:prstDash val="solid"/>
          </a:ln>
        </p:spPr>
      </p:sp>
      <p:sp>
        <p:nvSpPr>
          <p:cNvPr id="9" name="Text 7"/>
          <p:cNvSpPr/>
          <p:nvPr/>
        </p:nvSpPr>
        <p:spPr>
          <a:xfrm>
            <a:off x="411480" y="1298448"/>
            <a:ext cx="457200" cy="411480"/>
          </a:xfrm>
          <a:prstGeom prst="rect">
            <a:avLst/>
          </a:prstGeom>
          <a:noFill/>
          <a:ln/>
        </p:spPr>
        <p:txBody>
          <a:bodyPr wrap="square" rtlCol="0" anchor="ctr"/>
          <a:lstStyle/>
          <a:p>
            <a:pPr marL="0" indent="0">
              <a:buNone/>
            </a:pPr>
            <a:r>
              <a:rPr lang="en-US" sz="2200" b="1" dirty="0">
                <a:solidFill>
                  <a:srgbClr val="00B4D8"/>
                </a:solidFill>
              </a:rPr>
              <a:t>01</a:t>
            </a:r>
            <a:endParaRPr lang="en-US" sz="2200" dirty="0"/>
          </a:p>
        </p:txBody>
      </p:sp>
      <p:sp>
        <p:nvSpPr>
          <p:cNvPr id="10" name="Text 8"/>
          <p:cNvSpPr/>
          <p:nvPr/>
        </p:nvSpPr>
        <p:spPr>
          <a:xfrm>
            <a:off x="914400" y="1344168"/>
            <a:ext cx="3291840" cy="365760"/>
          </a:xfrm>
          <a:prstGeom prst="rect">
            <a:avLst/>
          </a:prstGeom>
          <a:noFill/>
          <a:ln/>
        </p:spPr>
        <p:txBody>
          <a:bodyPr wrap="square" rtlCol="0" anchor="ctr"/>
          <a:lstStyle/>
          <a:p>
            <a:pPr marL="0" indent="0">
              <a:buNone/>
            </a:pPr>
            <a:r>
              <a:rPr lang="en-US" sz="1300" b="1" dirty="0">
                <a:solidFill>
                  <a:srgbClr val="00B4D8"/>
                </a:solidFill>
              </a:rPr>
              <a:t>Distribution-Aware Detection</a:t>
            </a:r>
            <a:endParaRPr lang="en-US" sz="1300" dirty="0"/>
          </a:p>
        </p:txBody>
      </p:sp>
      <p:sp>
        <p:nvSpPr>
          <p:cNvPr id="11" name="Text 9"/>
          <p:cNvSpPr/>
          <p:nvPr/>
        </p:nvSpPr>
        <p:spPr>
          <a:xfrm>
            <a:off x="411480" y="1783080"/>
            <a:ext cx="3840480" cy="868680"/>
          </a:xfrm>
          <a:prstGeom prst="rect">
            <a:avLst/>
          </a:prstGeom>
          <a:noFill/>
          <a:ln/>
        </p:spPr>
        <p:txBody>
          <a:bodyPr wrap="square" rtlCol="0" anchor="ctr"/>
          <a:lstStyle/>
          <a:p>
            <a:pPr marL="0" indent="0">
              <a:buNone/>
            </a:pPr>
            <a:r>
              <a:rPr lang="en-US" sz="1050" dirty="0">
                <a:solidFill>
                  <a:srgbClr val="E0E6F0"/>
                </a:solidFill>
              </a:rPr>
              <a:t>IQR thresholding makes no normality assumption — ideal for right-skewed, heavy-tailed response time distributions. Z-scores would fail here.</a:t>
            </a:r>
            <a:endParaRPr lang="en-US" sz="1050" dirty="0"/>
          </a:p>
        </p:txBody>
      </p:sp>
      <p:sp>
        <p:nvSpPr>
          <p:cNvPr id="12" name="Shape 10"/>
          <p:cNvSpPr/>
          <p:nvPr/>
        </p:nvSpPr>
        <p:spPr>
          <a:xfrm>
            <a:off x="4663440" y="1188720"/>
            <a:ext cx="4114800" cy="1600200"/>
          </a:xfrm>
          <a:prstGeom prst="rect">
            <a:avLst/>
          </a:prstGeom>
          <a:solidFill>
            <a:srgbClr val="1A2744">
              <a:alpha val="28000"/>
            </a:srgbClr>
          </a:solidFill>
          <a:ln w="12700">
            <a:solidFill>
              <a:srgbClr val="1E3A5F"/>
            </a:solidFill>
            <a:prstDash val="solid"/>
          </a:ln>
        </p:spPr>
      </p:sp>
      <p:sp>
        <p:nvSpPr>
          <p:cNvPr id="13" name="Shape 11"/>
          <p:cNvSpPr/>
          <p:nvPr/>
        </p:nvSpPr>
        <p:spPr>
          <a:xfrm>
            <a:off x="4663440" y="1188720"/>
            <a:ext cx="4114800" cy="54864"/>
          </a:xfrm>
          <a:prstGeom prst="rect">
            <a:avLst/>
          </a:prstGeom>
          <a:solidFill>
            <a:srgbClr val="9D4EDD"/>
          </a:solidFill>
          <a:ln w="12700">
            <a:solidFill>
              <a:srgbClr val="9D4EDD">
                <a:alpha val="0"/>
              </a:srgbClr>
            </a:solidFill>
            <a:prstDash val="solid"/>
          </a:ln>
        </p:spPr>
      </p:sp>
      <p:sp>
        <p:nvSpPr>
          <p:cNvPr id="14" name="Text 12"/>
          <p:cNvSpPr/>
          <p:nvPr/>
        </p:nvSpPr>
        <p:spPr>
          <a:xfrm>
            <a:off x="4800600" y="1298448"/>
            <a:ext cx="457200" cy="411480"/>
          </a:xfrm>
          <a:prstGeom prst="rect">
            <a:avLst/>
          </a:prstGeom>
          <a:noFill/>
          <a:ln/>
        </p:spPr>
        <p:txBody>
          <a:bodyPr wrap="square" rtlCol="0" anchor="ctr"/>
          <a:lstStyle/>
          <a:p>
            <a:pPr marL="0" indent="0">
              <a:buNone/>
            </a:pPr>
            <a:r>
              <a:rPr lang="en-US" sz="2200" b="1" dirty="0">
                <a:solidFill>
                  <a:srgbClr val="9D4EDD"/>
                </a:solidFill>
              </a:rPr>
              <a:t>02</a:t>
            </a:r>
            <a:endParaRPr lang="en-US" sz="2200" dirty="0"/>
          </a:p>
        </p:txBody>
      </p:sp>
      <p:sp>
        <p:nvSpPr>
          <p:cNvPr id="15" name="Text 13"/>
          <p:cNvSpPr/>
          <p:nvPr/>
        </p:nvSpPr>
        <p:spPr>
          <a:xfrm>
            <a:off x="5303520" y="1344168"/>
            <a:ext cx="3291840" cy="365760"/>
          </a:xfrm>
          <a:prstGeom prst="rect">
            <a:avLst/>
          </a:prstGeom>
          <a:noFill/>
          <a:ln/>
        </p:spPr>
        <p:txBody>
          <a:bodyPr wrap="square" rtlCol="0" anchor="ctr"/>
          <a:lstStyle/>
          <a:p>
            <a:pPr marL="0" indent="0">
              <a:buNone/>
            </a:pPr>
            <a:r>
              <a:rPr lang="en-US" sz="1300" b="1" dirty="0">
                <a:solidFill>
                  <a:srgbClr val="9D4EDD"/>
                </a:solidFill>
              </a:rPr>
              <a:t>Behaviorally Grounded Features</a:t>
            </a:r>
            <a:endParaRPr lang="en-US" sz="1300" dirty="0"/>
          </a:p>
        </p:txBody>
      </p:sp>
      <p:sp>
        <p:nvSpPr>
          <p:cNvPr id="16" name="Text 14"/>
          <p:cNvSpPr/>
          <p:nvPr/>
        </p:nvSpPr>
        <p:spPr>
          <a:xfrm>
            <a:off x="4800600" y="1783080"/>
            <a:ext cx="3840480" cy="868680"/>
          </a:xfrm>
          <a:prstGeom prst="rect">
            <a:avLst/>
          </a:prstGeom>
          <a:noFill/>
          <a:ln/>
        </p:spPr>
        <p:txBody>
          <a:bodyPr wrap="square" rtlCol="0" anchor="ctr"/>
          <a:lstStyle/>
          <a:p>
            <a:pPr marL="0" indent="0">
              <a:buNone/>
            </a:pPr>
            <a:r>
              <a:rPr lang="en-US" sz="1050" dirty="0">
                <a:solidFill>
                  <a:srgbClr val="E0E6F0"/>
                </a:solidFill>
              </a:rPr>
              <a:t>Every feature traces to peer-reviewed findings. Fabricated interviews have low RT variance. Fast responses signal disengagement. Navigation patterns reveal difficulty.</a:t>
            </a:r>
            <a:endParaRPr lang="en-US" sz="1050" dirty="0"/>
          </a:p>
        </p:txBody>
      </p:sp>
      <p:sp>
        <p:nvSpPr>
          <p:cNvPr id="17" name="Shape 15"/>
          <p:cNvSpPr/>
          <p:nvPr/>
        </p:nvSpPr>
        <p:spPr>
          <a:xfrm>
            <a:off x="274320" y="2971800"/>
            <a:ext cx="4114800" cy="1600200"/>
          </a:xfrm>
          <a:prstGeom prst="rect">
            <a:avLst/>
          </a:prstGeom>
          <a:solidFill>
            <a:srgbClr val="1A2744">
              <a:alpha val="28000"/>
            </a:srgbClr>
          </a:solidFill>
          <a:ln w="12700">
            <a:solidFill>
              <a:srgbClr val="1E3A5F"/>
            </a:solidFill>
            <a:prstDash val="solid"/>
          </a:ln>
        </p:spPr>
      </p:sp>
      <p:sp>
        <p:nvSpPr>
          <p:cNvPr id="18" name="Shape 16"/>
          <p:cNvSpPr/>
          <p:nvPr/>
        </p:nvSpPr>
        <p:spPr>
          <a:xfrm>
            <a:off x="274320" y="2971800"/>
            <a:ext cx="4114800" cy="54864"/>
          </a:xfrm>
          <a:prstGeom prst="rect">
            <a:avLst/>
          </a:prstGeom>
          <a:solidFill>
            <a:srgbClr val="C77DFF"/>
          </a:solidFill>
          <a:ln w="12700">
            <a:solidFill>
              <a:srgbClr val="C77DFF">
                <a:alpha val="0"/>
              </a:srgbClr>
            </a:solidFill>
            <a:prstDash val="solid"/>
          </a:ln>
        </p:spPr>
      </p:sp>
      <p:sp>
        <p:nvSpPr>
          <p:cNvPr id="19" name="Text 17"/>
          <p:cNvSpPr/>
          <p:nvPr/>
        </p:nvSpPr>
        <p:spPr>
          <a:xfrm>
            <a:off x="411480" y="3081528"/>
            <a:ext cx="457200" cy="411480"/>
          </a:xfrm>
          <a:prstGeom prst="rect">
            <a:avLst/>
          </a:prstGeom>
          <a:noFill/>
          <a:ln/>
        </p:spPr>
        <p:txBody>
          <a:bodyPr wrap="square" rtlCol="0" anchor="ctr"/>
          <a:lstStyle/>
          <a:p>
            <a:pPr marL="0" indent="0">
              <a:buNone/>
            </a:pPr>
            <a:r>
              <a:rPr lang="en-US" sz="2200" b="1" dirty="0">
                <a:solidFill>
                  <a:srgbClr val="C77DFF"/>
                </a:solidFill>
              </a:rPr>
              <a:t>03</a:t>
            </a:r>
            <a:endParaRPr lang="en-US" sz="2200" dirty="0"/>
          </a:p>
        </p:txBody>
      </p:sp>
      <p:sp>
        <p:nvSpPr>
          <p:cNvPr id="20" name="Text 18"/>
          <p:cNvSpPr/>
          <p:nvPr/>
        </p:nvSpPr>
        <p:spPr>
          <a:xfrm>
            <a:off x="914400" y="3127248"/>
            <a:ext cx="3291840" cy="365760"/>
          </a:xfrm>
          <a:prstGeom prst="rect">
            <a:avLst/>
          </a:prstGeom>
          <a:noFill/>
          <a:ln/>
        </p:spPr>
        <p:txBody>
          <a:bodyPr wrap="square" rtlCol="0" anchor="ctr"/>
          <a:lstStyle/>
          <a:p>
            <a:pPr marL="0" indent="0">
              <a:buNone/>
            </a:pPr>
            <a:r>
              <a:rPr lang="en-US" sz="1300" b="1" dirty="0">
                <a:solidFill>
                  <a:srgbClr val="C77DFF"/>
                </a:solidFill>
              </a:rPr>
              <a:t>Multi-Granularity Scoring</a:t>
            </a:r>
            <a:endParaRPr lang="en-US" sz="1300" dirty="0"/>
          </a:p>
        </p:txBody>
      </p:sp>
      <p:sp>
        <p:nvSpPr>
          <p:cNvPr id="21" name="Text 19"/>
          <p:cNvSpPr/>
          <p:nvPr/>
        </p:nvSpPr>
        <p:spPr>
          <a:xfrm>
            <a:off x="411480" y="3566160"/>
            <a:ext cx="3840480" cy="868680"/>
          </a:xfrm>
          <a:prstGeom prst="rect">
            <a:avLst/>
          </a:prstGeom>
          <a:noFill/>
          <a:ln/>
        </p:spPr>
        <p:txBody>
          <a:bodyPr wrap="square" rtlCol="0" anchor="ctr"/>
          <a:lstStyle/>
          <a:p>
            <a:pPr marL="0" indent="0">
              <a:buNone/>
            </a:pPr>
            <a:r>
              <a:rPr lang="en-US" sz="1050" dirty="0">
                <a:solidFill>
                  <a:srgbClr val="E0E6F0"/>
                </a:solidFill>
              </a:rPr>
              <a:t>Features span question, section, and survey levels. A suspicious pattern at any level — from a single field to the full interview arc — contributes to the anomaly score.</a:t>
            </a:r>
            <a:endParaRPr lang="en-US" sz="1050" dirty="0"/>
          </a:p>
        </p:txBody>
      </p:sp>
      <p:sp>
        <p:nvSpPr>
          <p:cNvPr id="22" name="Shape 20"/>
          <p:cNvSpPr/>
          <p:nvPr/>
        </p:nvSpPr>
        <p:spPr>
          <a:xfrm>
            <a:off x="4663440" y="2971800"/>
            <a:ext cx="4114800" cy="1600200"/>
          </a:xfrm>
          <a:prstGeom prst="rect">
            <a:avLst/>
          </a:prstGeom>
          <a:solidFill>
            <a:srgbClr val="1A2744">
              <a:alpha val="28000"/>
            </a:srgbClr>
          </a:solidFill>
          <a:ln w="12700">
            <a:solidFill>
              <a:srgbClr val="1E3A5F"/>
            </a:solidFill>
            <a:prstDash val="solid"/>
          </a:ln>
        </p:spPr>
      </p:sp>
      <p:sp>
        <p:nvSpPr>
          <p:cNvPr id="23" name="Shape 21"/>
          <p:cNvSpPr/>
          <p:nvPr/>
        </p:nvSpPr>
        <p:spPr>
          <a:xfrm>
            <a:off x="4663440" y="2971800"/>
            <a:ext cx="4114800" cy="54864"/>
          </a:xfrm>
          <a:prstGeom prst="rect">
            <a:avLst/>
          </a:prstGeom>
          <a:solidFill>
            <a:srgbClr val="06D6A0"/>
          </a:solidFill>
          <a:ln w="12700">
            <a:solidFill>
              <a:srgbClr val="06D6A0">
                <a:alpha val="0"/>
              </a:srgbClr>
            </a:solidFill>
            <a:prstDash val="solid"/>
          </a:ln>
        </p:spPr>
      </p:sp>
      <p:sp>
        <p:nvSpPr>
          <p:cNvPr id="24" name="Text 22"/>
          <p:cNvSpPr/>
          <p:nvPr/>
        </p:nvSpPr>
        <p:spPr>
          <a:xfrm>
            <a:off x="4800600" y="3081528"/>
            <a:ext cx="457200" cy="411480"/>
          </a:xfrm>
          <a:prstGeom prst="rect">
            <a:avLst/>
          </a:prstGeom>
          <a:noFill/>
          <a:ln/>
        </p:spPr>
        <p:txBody>
          <a:bodyPr wrap="square" rtlCol="0" anchor="ctr"/>
          <a:lstStyle/>
          <a:p>
            <a:pPr marL="0" indent="0">
              <a:buNone/>
            </a:pPr>
            <a:r>
              <a:rPr lang="en-US" sz="2200" b="1" dirty="0">
                <a:solidFill>
                  <a:srgbClr val="06D6A0"/>
                </a:solidFill>
              </a:rPr>
              <a:t>04</a:t>
            </a:r>
            <a:endParaRPr lang="en-US" sz="2200" dirty="0"/>
          </a:p>
        </p:txBody>
      </p:sp>
      <p:sp>
        <p:nvSpPr>
          <p:cNvPr id="25" name="Text 23"/>
          <p:cNvSpPr/>
          <p:nvPr/>
        </p:nvSpPr>
        <p:spPr>
          <a:xfrm>
            <a:off x="5303520" y="3127248"/>
            <a:ext cx="3291840" cy="365760"/>
          </a:xfrm>
          <a:prstGeom prst="rect">
            <a:avLst/>
          </a:prstGeom>
          <a:noFill/>
          <a:ln/>
        </p:spPr>
        <p:txBody>
          <a:bodyPr wrap="square" rtlCol="0" anchor="ctr"/>
          <a:lstStyle/>
          <a:p>
            <a:pPr marL="0" indent="0">
              <a:buNone/>
            </a:pPr>
            <a:r>
              <a:rPr lang="en-US" sz="1300" b="1" dirty="0">
                <a:solidFill>
                  <a:srgbClr val="06D6A0"/>
                </a:solidFill>
              </a:rPr>
              <a:t>Platform-Agnostic by Design</a:t>
            </a:r>
            <a:endParaRPr lang="en-US" sz="1300" dirty="0"/>
          </a:p>
        </p:txBody>
      </p:sp>
      <p:sp>
        <p:nvSpPr>
          <p:cNvPr id="26" name="Text 24"/>
          <p:cNvSpPr/>
          <p:nvPr/>
        </p:nvSpPr>
        <p:spPr>
          <a:xfrm>
            <a:off x="4800600" y="3566160"/>
            <a:ext cx="3840480" cy="868680"/>
          </a:xfrm>
          <a:prstGeom prst="rect">
            <a:avLst/>
          </a:prstGeom>
          <a:noFill/>
          <a:ln/>
        </p:spPr>
        <p:txBody>
          <a:bodyPr wrap="square" rtlCol="0" anchor="ctr"/>
          <a:lstStyle/>
          <a:p>
            <a:pPr marL="0" indent="0">
              <a:buNone/>
            </a:pPr>
            <a:r>
              <a:rPr lang="en-US" sz="1050" dirty="0">
                <a:solidFill>
                  <a:srgbClr val="E0E6F0"/>
                </a:solidFill>
              </a:rPr>
              <a:t>The CIR abstraction means the same 40-feature library runs unchanged on SurveyCTO and ODK data. Adding a new platform is a parser problem, not a redesign.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15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FFD166"/>
                </a:solidFill>
              </a:rPr>
              <a:t>LOOKING AHEAD</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600" b="1" dirty="0">
                <a:solidFill>
                  <a:srgbClr val="FFFFFF"/>
                </a:solidFill>
              </a:rPr>
              <a:t>Challenges &amp; Future Work</a:t>
            </a:r>
            <a:endParaRPr lang="en-US" sz="2600" dirty="0"/>
          </a:p>
        </p:txBody>
      </p:sp>
      <p:sp>
        <p:nvSpPr>
          <p:cNvPr id="7" name="Shape 5"/>
          <p:cNvSpPr/>
          <p:nvPr/>
        </p:nvSpPr>
        <p:spPr>
          <a:xfrm>
            <a:off x="274320" y="1188720"/>
            <a:ext cx="4023360" cy="2971800"/>
          </a:xfrm>
          <a:prstGeom prst="rect">
            <a:avLst/>
          </a:prstGeom>
          <a:solidFill>
            <a:srgbClr val="1A2744">
              <a:alpha val="26000"/>
            </a:srgbClr>
          </a:solidFill>
          <a:ln w="12700">
            <a:solidFill>
              <a:srgbClr val="1E3A5F"/>
            </a:solidFill>
            <a:prstDash val="solid"/>
          </a:ln>
        </p:spPr>
      </p:sp>
      <p:sp>
        <p:nvSpPr>
          <p:cNvPr id="8" name="Shape 6"/>
          <p:cNvSpPr/>
          <p:nvPr/>
        </p:nvSpPr>
        <p:spPr>
          <a:xfrm>
            <a:off x="274320" y="1188720"/>
            <a:ext cx="4023360" cy="54864"/>
          </a:xfrm>
          <a:prstGeom prst="rect">
            <a:avLst/>
          </a:prstGeom>
          <a:solidFill>
            <a:srgbClr val="FFD166"/>
          </a:solidFill>
          <a:ln w="12700">
            <a:solidFill>
              <a:srgbClr val="FFD166">
                <a:alpha val="0"/>
              </a:srgbClr>
            </a:solidFill>
            <a:prstDash val="solid"/>
          </a:ln>
        </p:spPr>
      </p:sp>
      <p:sp>
        <p:nvSpPr>
          <p:cNvPr id="9" name="Text 7"/>
          <p:cNvSpPr/>
          <p:nvPr/>
        </p:nvSpPr>
        <p:spPr>
          <a:xfrm>
            <a:off x="457200" y="1298448"/>
            <a:ext cx="3749040" cy="365760"/>
          </a:xfrm>
          <a:prstGeom prst="rect">
            <a:avLst/>
          </a:prstGeom>
          <a:noFill/>
          <a:ln/>
        </p:spPr>
        <p:txBody>
          <a:bodyPr wrap="square" rtlCol="0" anchor="ctr"/>
          <a:lstStyle/>
          <a:p>
            <a:pPr marL="0" indent="0">
              <a:buNone/>
            </a:pPr>
            <a:r>
              <a:rPr lang="en-US" sz="1400" b="1" dirty="0">
                <a:solidFill>
                  <a:srgbClr val="FFD166"/>
                </a:solidFill>
              </a:rPr>
              <a:t>Acknowledged Limitations</a:t>
            </a:r>
            <a:endParaRPr lang="en-US" sz="1400" dirty="0"/>
          </a:p>
        </p:txBody>
      </p:sp>
      <p:sp>
        <p:nvSpPr>
          <p:cNvPr id="10" name="Text 8"/>
          <p:cNvSpPr/>
          <p:nvPr/>
        </p:nvSpPr>
        <p:spPr>
          <a:xfrm>
            <a:off x="457200" y="1783080"/>
            <a:ext cx="3749040" cy="274320"/>
          </a:xfrm>
          <a:prstGeom prst="rect">
            <a:avLst/>
          </a:prstGeom>
          <a:noFill/>
          <a:ln/>
        </p:spPr>
        <p:txBody>
          <a:bodyPr wrap="square" rtlCol="0" anchor="ctr"/>
          <a:lstStyle/>
          <a:p>
            <a:pPr marL="0" indent="0">
              <a:buNone/>
            </a:pPr>
            <a:r>
              <a:rPr lang="en-US" sz="1100" dirty="0">
                <a:solidFill>
                  <a:srgbClr val="E0E6F0"/>
                </a:solidFill>
              </a:rPr>
              <a:t>Synthetic data may not capture real-world complexity</a:t>
            </a:r>
            <a:endParaRPr lang="en-US" sz="1100" dirty="0"/>
          </a:p>
        </p:txBody>
      </p:sp>
      <p:sp>
        <p:nvSpPr>
          <p:cNvPr id="11" name="Text 9"/>
          <p:cNvSpPr/>
          <p:nvPr/>
        </p:nvSpPr>
        <p:spPr>
          <a:xfrm>
            <a:off x="457200" y="2057400"/>
            <a:ext cx="3749040" cy="256032"/>
          </a:xfrm>
          <a:prstGeom prst="rect">
            <a:avLst/>
          </a:prstGeom>
          <a:noFill/>
          <a:ln/>
        </p:spPr>
        <p:txBody>
          <a:bodyPr wrap="square" rtlCol="0" anchor="ctr"/>
          <a:lstStyle/>
          <a:p>
            <a:pPr marL="0" indent="0">
              <a:buNone/>
            </a:pPr>
            <a:r>
              <a:rPr lang="en-US" sz="1000" i="1" dirty="0">
                <a:solidFill>
                  <a:srgbClr val="8899BB"/>
                </a:solidFill>
              </a:rPr>
              <a:t>→ Class imbalance sensitivity analysis</a:t>
            </a:r>
            <a:endParaRPr lang="en-US" sz="1000" dirty="0"/>
          </a:p>
        </p:txBody>
      </p:sp>
      <p:sp>
        <p:nvSpPr>
          <p:cNvPr id="12" name="Text 10"/>
          <p:cNvSpPr/>
          <p:nvPr/>
        </p:nvSpPr>
        <p:spPr>
          <a:xfrm>
            <a:off x="457200" y="2423160"/>
            <a:ext cx="3749040" cy="274320"/>
          </a:xfrm>
          <a:prstGeom prst="rect">
            <a:avLst/>
          </a:prstGeom>
          <a:noFill/>
          <a:ln/>
        </p:spPr>
        <p:txBody>
          <a:bodyPr wrap="square" rtlCol="0" anchor="ctr"/>
          <a:lstStyle/>
          <a:p>
            <a:pPr marL="0" indent="0">
              <a:buNone/>
            </a:pPr>
            <a:r>
              <a:rPr lang="en-US" sz="1100" dirty="0">
                <a:solidFill>
                  <a:srgbClr val="E0E6F0"/>
                </a:solidFill>
              </a:rPr>
              <a:t>IQR misses multivariate joint anomalies</a:t>
            </a:r>
            <a:endParaRPr lang="en-US" sz="1100" dirty="0"/>
          </a:p>
        </p:txBody>
      </p:sp>
      <p:sp>
        <p:nvSpPr>
          <p:cNvPr id="13" name="Text 11"/>
          <p:cNvSpPr/>
          <p:nvPr/>
        </p:nvSpPr>
        <p:spPr>
          <a:xfrm>
            <a:off x="457200" y="2697480"/>
            <a:ext cx="3749040" cy="256032"/>
          </a:xfrm>
          <a:prstGeom prst="rect">
            <a:avLst/>
          </a:prstGeom>
          <a:noFill/>
          <a:ln/>
        </p:spPr>
        <p:txBody>
          <a:bodyPr wrap="square" rtlCol="0" anchor="ctr"/>
          <a:lstStyle/>
          <a:p>
            <a:pPr marL="0" indent="0">
              <a:buNone/>
            </a:pPr>
            <a:r>
              <a:rPr lang="en-US" sz="1000" i="1" dirty="0">
                <a:solidFill>
                  <a:srgbClr val="8899BB"/>
                </a:solidFill>
              </a:rPr>
              <a:t>→ Documented; future ML extension</a:t>
            </a:r>
            <a:endParaRPr lang="en-US" sz="1000" dirty="0"/>
          </a:p>
        </p:txBody>
      </p:sp>
      <p:sp>
        <p:nvSpPr>
          <p:cNvPr id="14" name="Text 12"/>
          <p:cNvSpPr/>
          <p:nvPr/>
        </p:nvSpPr>
        <p:spPr>
          <a:xfrm>
            <a:off x="457200" y="3063240"/>
            <a:ext cx="3749040" cy="274320"/>
          </a:xfrm>
          <a:prstGeom prst="rect">
            <a:avLst/>
          </a:prstGeom>
          <a:noFill/>
          <a:ln/>
        </p:spPr>
        <p:txBody>
          <a:bodyPr wrap="square" rtlCol="0" anchor="ctr"/>
          <a:lstStyle/>
          <a:p>
            <a:pPr marL="0" indent="0">
              <a:buNone/>
            </a:pPr>
            <a:r>
              <a:rPr lang="en-US" sz="1100" dirty="0">
                <a:solidFill>
                  <a:srgbClr val="E0E6F0"/>
                </a:solidFill>
              </a:rPr>
              <a:t>ODK coarser timestamps limit Q-level features</a:t>
            </a:r>
            <a:endParaRPr lang="en-US" sz="1100" dirty="0"/>
          </a:p>
        </p:txBody>
      </p:sp>
      <p:sp>
        <p:nvSpPr>
          <p:cNvPr id="15" name="Text 13"/>
          <p:cNvSpPr/>
          <p:nvPr/>
        </p:nvSpPr>
        <p:spPr>
          <a:xfrm>
            <a:off x="457200" y="3337560"/>
            <a:ext cx="3749040" cy="256032"/>
          </a:xfrm>
          <a:prstGeom prst="rect">
            <a:avLst/>
          </a:prstGeom>
          <a:noFill/>
          <a:ln/>
        </p:spPr>
        <p:txBody>
          <a:bodyPr wrap="square" rtlCol="0" anchor="ctr"/>
          <a:lstStyle/>
          <a:p>
            <a:pPr marL="0" indent="0">
              <a:buNone/>
            </a:pPr>
            <a:r>
              <a:rPr lang="en-US" sz="1000" i="1" dirty="0">
                <a:solidFill>
                  <a:srgbClr val="8899BB"/>
                </a:solidFill>
              </a:rPr>
              <a:t>→ Documented in format guide</a:t>
            </a:r>
            <a:endParaRPr lang="en-US" sz="1000" dirty="0"/>
          </a:p>
        </p:txBody>
      </p:sp>
      <p:sp>
        <p:nvSpPr>
          <p:cNvPr id="16" name="Text 14"/>
          <p:cNvSpPr/>
          <p:nvPr/>
        </p:nvSpPr>
        <p:spPr>
          <a:xfrm>
            <a:off x="457200" y="3703320"/>
            <a:ext cx="3749040" cy="274320"/>
          </a:xfrm>
          <a:prstGeom prst="rect">
            <a:avLst/>
          </a:prstGeom>
          <a:noFill/>
          <a:ln/>
        </p:spPr>
        <p:txBody>
          <a:bodyPr wrap="square" rtlCol="0" anchor="ctr"/>
          <a:lstStyle/>
          <a:p>
            <a:pPr marL="0" indent="0">
              <a:buNone/>
            </a:pPr>
            <a:r>
              <a:rPr lang="en-US" sz="1100" dirty="0">
                <a:solidFill>
                  <a:srgbClr val="E0E6F0"/>
                </a:solidFill>
              </a:rPr>
              <a:t>Thresholds may not generalize across survey types</a:t>
            </a:r>
            <a:endParaRPr lang="en-US" sz="1100" dirty="0"/>
          </a:p>
        </p:txBody>
      </p:sp>
      <p:sp>
        <p:nvSpPr>
          <p:cNvPr id="17" name="Text 15"/>
          <p:cNvSpPr/>
          <p:nvPr/>
        </p:nvSpPr>
        <p:spPr>
          <a:xfrm>
            <a:off x="457200" y="3977640"/>
            <a:ext cx="3749040" cy="256032"/>
          </a:xfrm>
          <a:prstGeom prst="rect">
            <a:avLst/>
          </a:prstGeom>
          <a:noFill/>
          <a:ln/>
        </p:spPr>
        <p:txBody>
          <a:bodyPr wrap="square" rtlCol="0" anchor="ctr"/>
          <a:lstStyle/>
          <a:p>
            <a:pPr marL="0" indent="0">
              <a:buNone/>
            </a:pPr>
            <a:r>
              <a:rPr lang="en-US" sz="1000" i="1" dirty="0">
                <a:solidFill>
                  <a:srgbClr val="8899BB"/>
                </a:solidFill>
              </a:rPr>
              <a:t>→ Empirical tuning + sensitivity tests</a:t>
            </a:r>
            <a:endParaRPr lang="en-US" sz="1000" dirty="0"/>
          </a:p>
        </p:txBody>
      </p:sp>
      <p:sp>
        <p:nvSpPr>
          <p:cNvPr id="18" name="Shape 16"/>
          <p:cNvSpPr/>
          <p:nvPr/>
        </p:nvSpPr>
        <p:spPr>
          <a:xfrm>
            <a:off x="4572000" y="1188720"/>
            <a:ext cx="4206240" cy="2971800"/>
          </a:xfrm>
          <a:prstGeom prst="rect">
            <a:avLst/>
          </a:prstGeom>
          <a:solidFill>
            <a:srgbClr val="1A2744">
              <a:alpha val="26000"/>
            </a:srgbClr>
          </a:solidFill>
          <a:ln w="12700">
            <a:solidFill>
              <a:srgbClr val="1E3A5F"/>
            </a:solidFill>
            <a:prstDash val="solid"/>
          </a:ln>
        </p:spPr>
      </p:sp>
      <p:sp>
        <p:nvSpPr>
          <p:cNvPr id="19" name="Shape 17"/>
          <p:cNvSpPr/>
          <p:nvPr/>
        </p:nvSpPr>
        <p:spPr>
          <a:xfrm>
            <a:off x="4572000" y="1188720"/>
            <a:ext cx="4206240" cy="54864"/>
          </a:xfrm>
          <a:prstGeom prst="rect">
            <a:avLst/>
          </a:prstGeom>
          <a:solidFill>
            <a:srgbClr val="00B4D8"/>
          </a:solidFill>
          <a:ln w="12700">
            <a:solidFill>
              <a:srgbClr val="00B4D8">
                <a:alpha val="0"/>
              </a:srgbClr>
            </a:solidFill>
            <a:prstDash val="solid"/>
          </a:ln>
        </p:spPr>
      </p:sp>
      <p:sp>
        <p:nvSpPr>
          <p:cNvPr id="20" name="Text 18"/>
          <p:cNvSpPr/>
          <p:nvPr/>
        </p:nvSpPr>
        <p:spPr>
          <a:xfrm>
            <a:off x="4754880" y="1298448"/>
            <a:ext cx="3840480" cy="365760"/>
          </a:xfrm>
          <a:prstGeom prst="rect">
            <a:avLst/>
          </a:prstGeom>
          <a:noFill/>
          <a:ln/>
        </p:spPr>
        <p:txBody>
          <a:bodyPr wrap="square" rtlCol="0" anchor="ctr"/>
          <a:lstStyle/>
          <a:p>
            <a:pPr marL="0" indent="0">
              <a:buNone/>
            </a:pPr>
            <a:r>
              <a:rPr lang="en-US" sz="1400" b="1" dirty="0">
                <a:solidFill>
                  <a:srgbClr val="00B4D8"/>
                </a:solidFill>
              </a:rPr>
              <a:t>Future Extensions</a:t>
            </a:r>
            <a:endParaRPr lang="en-US" sz="1400" dirty="0"/>
          </a:p>
        </p:txBody>
      </p:sp>
      <p:sp>
        <p:nvSpPr>
          <p:cNvPr id="21" name="Text 19"/>
          <p:cNvSpPr/>
          <p:nvPr/>
        </p:nvSpPr>
        <p:spPr>
          <a:xfrm>
            <a:off x="4754880" y="1783080"/>
            <a:ext cx="3840480" cy="402336"/>
          </a:xfrm>
          <a:prstGeom prst="rect">
            <a:avLst/>
          </a:prstGeom>
          <a:noFill/>
          <a:ln/>
        </p:spPr>
        <p:txBody>
          <a:bodyPr wrap="square" rtlCol="0" anchor="ctr"/>
          <a:lstStyle/>
          <a:p>
            <a:pPr marL="0" indent="0">
              <a:buNone/>
            </a:pPr>
            <a:r>
              <a:rPr lang="en-US" sz="1150" b="1" dirty="0">
                <a:solidFill>
                  <a:srgbClr val="00B4D8"/>
                </a:solidFill>
              </a:rPr>
              <a:t>→  </a:t>
            </a:r>
            <a:r>
              <a:rPr lang="en-US" sz="1150" dirty="0">
                <a:solidFill>
                  <a:srgbClr val="E0E6F0"/>
                </a:solidFill>
              </a:rPr>
              <a:t>Validate on real labelled paradata corpora</a:t>
            </a:r>
            <a:endParaRPr lang="en-US" sz="1150" dirty="0"/>
          </a:p>
        </p:txBody>
      </p:sp>
      <p:sp>
        <p:nvSpPr>
          <p:cNvPr id="22" name="Text 20"/>
          <p:cNvSpPr/>
          <p:nvPr/>
        </p:nvSpPr>
        <p:spPr>
          <a:xfrm>
            <a:off x="4754880" y="2258568"/>
            <a:ext cx="3840480" cy="402336"/>
          </a:xfrm>
          <a:prstGeom prst="rect">
            <a:avLst/>
          </a:prstGeom>
          <a:noFill/>
          <a:ln/>
        </p:spPr>
        <p:txBody>
          <a:bodyPr wrap="square" rtlCol="0" anchor="ctr"/>
          <a:lstStyle/>
          <a:p>
            <a:pPr marL="0" indent="0">
              <a:buNone/>
            </a:pPr>
            <a:r>
              <a:rPr lang="en-US" sz="1150" b="1" dirty="0">
                <a:solidFill>
                  <a:srgbClr val="00B4D8"/>
                </a:solidFill>
              </a:rPr>
              <a:t>→  </a:t>
            </a:r>
            <a:r>
              <a:rPr lang="en-US" sz="1150" dirty="0">
                <a:solidFill>
                  <a:srgbClr val="E0E6F0"/>
                </a:solidFill>
              </a:rPr>
              <a:t>ML-based multivariate anomaly detection complement</a:t>
            </a:r>
            <a:endParaRPr lang="en-US" sz="1150" dirty="0"/>
          </a:p>
        </p:txBody>
      </p:sp>
      <p:sp>
        <p:nvSpPr>
          <p:cNvPr id="23" name="Text 21"/>
          <p:cNvSpPr/>
          <p:nvPr/>
        </p:nvSpPr>
        <p:spPr>
          <a:xfrm>
            <a:off x="4754880" y="2734056"/>
            <a:ext cx="3840480" cy="402336"/>
          </a:xfrm>
          <a:prstGeom prst="rect">
            <a:avLst/>
          </a:prstGeom>
          <a:noFill/>
          <a:ln/>
        </p:spPr>
        <p:txBody>
          <a:bodyPr wrap="square" rtlCol="0" anchor="ctr"/>
          <a:lstStyle/>
          <a:p>
            <a:pPr marL="0" indent="0">
              <a:buNone/>
            </a:pPr>
            <a:r>
              <a:rPr lang="en-US" sz="1150" b="1" dirty="0">
                <a:solidFill>
                  <a:srgbClr val="00B4D8"/>
                </a:solidFill>
              </a:rPr>
              <a:t>→  </a:t>
            </a:r>
            <a:r>
              <a:rPr lang="en-US" sz="1150" dirty="0">
                <a:solidFill>
                  <a:srgbClr val="E0E6F0"/>
                </a:solidFill>
              </a:rPr>
              <a:t>Real-time monitoring integration</a:t>
            </a:r>
            <a:endParaRPr lang="en-US" sz="1150" dirty="0"/>
          </a:p>
        </p:txBody>
      </p:sp>
      <p:sp>
        <p:nvSpPr>
          <p:cNvPr id="24" name="Text 22"/>
          <p:cNvSpPr/>
          <p:nvPr/>
        </p:nvSpPr>
        <p:spPr>
          <a:xfrm>
            <a:off x="4754880" y="3209544"/>
            <a:ext cx="3840480" cy="402336"/>
          </a:xfrm>
          <a:prstGeom prst="rect">
            <a:avLst/>
          </a:prstGeom>
          <a:noFill/>
          <a:ln/>
        </p:spPr>
        <p:txBody>
          <a:bodyPr wrap="square" rtlCol="0" anchor="ctr"/>
          <a:lstStyle/>
          <a:p>
            <a:pPr marL="0" indent="0">
              <a:buNone/>
            </a:pPr>
            <a:r>
              <a:rPr lang="en-US" sz="1150" b="1" dirty="0">
                <a:solidFill>
                  <a:srgbClr val="00B4D8"/>
                </a:solidFill>
              </a:rPr>
              <a:t>→  </a:t>
            </a:r>
            <a:r>
              <a:rPr lang="en-US" sz="1150" dirty="0">
                <a:solidFill>
                  <a:srgbClr val="E0E6F0"/>
                </a:solidFill>
              </a:rPr>
              <a:t>Extend to CAPI &amp; web survey platforms</a:t>
            </a:r>
            <a:endParaRPr lang="en-US" sz="1150" dirty="0"/>
          </a:p>
        </p:txBody>
      </p:sp>
      <p:sp>
        <p:nvSpPr>
          <p:cNvPr id="25" name="Text 23"/>
          <p:cNvSpPr/>
          <p:nvPr/>
        </p:nvSpPr>
        <p:spPr>
          <a:xfrm>
            <a:off x="4754880" y="3685032"/>
            <a:ext cx="3840480" cy="402336"/>
          </a:xfrm>
          <a:prstGeom prst="rect">
            <a:avLst/>
          </a:prstGeom>
          <a:noFill/>
          <a:ln/>
        </p:spPr>
        <p:txBody>
          <a:bodyPr wrap="square" rtlCol="0" anchor="ctr"/>
          <a:lstStyle/>
          <a:p>
            <a:pPr marL="0" indent="0">
              <a:buNone/>
            </a:pPr>
            <a:r>
              <a:rPr lang="en-US" sz="1150" b="1" dirty="0">
                <a:solidFill>
                  <a:srgbClr val="00B4D8"/>
                </a:solidFill>
              </a:rPr>
              <a:t>→  </a:t>
            </a:r>
            <a:r>
              <a:rPr lang="en-US" sz="1150" dirty="0">
                <a:solidFill>
                  <a:srgbClr val="E0E6F0"/>
                </a:solidFill>
              </a:rPr>
              <a:t>Open-source Python package release</a:t>
            </a:r>
            <a:endParaRPr lang="en-US" sz="1150" dirty="0"/>
          </a:p>
        </p:txBody>
      </p:sp>
      <p:sp>
        <p:nvSpPr>
          <p:cNvPr id="26" name="Shape 24"/>
          <p:cNvSpPr/>
          <p:nvPr/>
        </p:nvSpPr>
        <p:spPr>
          <a:xfrm>
            <a:off x="274320" y="4343400"/>
            <a:ext cx="8595360" cy="502920"/>
          </a:xfrm>
          <a:prstGeom prst="rect">
            <a:avLst/>
          </a:prstGeom>
          <a:solidFill>
            <a:srgbClr val="1A2744">
              <a:alpha val="22000"/>
            </a:srgbClr>
          </a:solidFill>
          <a:ln w="12700">
            <a:solidFill>
              <a:srgbClr val="1E3A5F"/>
            </a:solidFill>
            <a:prstDash val="solid"/>
          </a:ln>
        </p:spPr>
      </p:sp>
      <p:sp>
        <p:nvSpPr>
          <p:cNvPr id="27" name="Text 25"/>
          <p:cNvSpPr/>
          <p:nvPr/>
        </p:nvSpPr>
        <p:spPr>
          <a:xfrm>
            <a:off x="457200" y="4453128"/>
            <a:ext cx="8412480" cy="274320"/>
          </a:xfrm>
          <a:prstGeom prst="rect">
            <a:avLst/>
          </a:prstGeom>
          <a:noFill/>
          <a:ln/>
        </p:spPr>
        <p:txBody>
          <a:bodyPr wrap="square" rtlCol="0" anchor="ctr"/>
          <a:lstStyle/>
          <a:p>
            <a:pPr marL="0" indent="0" algn="ctr">
              <a:buNone/>
            </a:pPr>
            <a:r>
              <a:rPr lang="en-US" sz="1100" dirty="0">
                <a:solidFill>
                  <a:srgbClr val="8899BB"/>
                </a:solidFill>
              </a:rPr>
              <a:t>Timeline:  32 weeks  |  Currently: Week 1  |  Delivery: Final paper + Python library + Validation report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6858000" y="-1371600"/>
            <a:ext cx="3657600" cy="3657600"/>
          </a:xfrm>
          <a:prstGeom prst="ellipse">
            <a:avLst/>
          </a:prstGeom>
          <a:solidFill>
            <a:srgbClr val="7B2FBE">
              <a:alpha val="18000"/>
            </a:srgbClr>
          </a:solidFill>
          <a:ln w="12700">
            <a:solidFill>
              <a:srgbClr val="7B2FBE">
                <a:alpha val="0"/>
              </a:srgbClr>
            </a:solidFill>
            <a:prstDash val="solid"/>
          </a:ln>
        </p:spPr>
      </p:sp>
      <p:sp>
        <p:nvSpPr>
          <p:cNvPr id="3" name="Shape 1"/>
          <p:cNvSpPr/>
          <p:nvPr/>
        </p:nvSpPr>
        <p:spPr>
          <a:xfrm>
            <a:off x="-914400" y="2743200"/>
            <a:ext cx="3657600" cy="3657600"/>
          </a:xfrm>
          <a:prstGeom prst="ellipse">
            <a:avLst/>
          </a:prstGeom>
          <a:solidFill>
            <a:srgbClr val="00B4D8">
              <a:alpha val="15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16 / 16</a:t>
            </a:r>
            <a:endParaRPr lang="en-US" sz="900" dirty="0"/>
          </a:p>
        </p:txBody>
      </p:sp>
      <p:sp>
        <p:nvSpPr>
          <p:cNvPr id="5" name="Shape 3"/>
          <p:cNvSpPr/>
          <p:nvPr/>
        </p:nvSpPr>
        <p:spPr>
          <a:xfrm>
            <a:off x="0" y="0"/>
            <a:ext cx="9144000" cy="36576"/>
          </a:xfrm>
          <a:prstGeom prst="rect">
            <a:avLst/>
          </a:prstGeom>
          <a:solidFill>
            <a:srgbClr val="00B4D8"/>
          </a:solidFill>
          <a:ln w="12700">
            <a:solidFill>
              <a:srgbClr val="00B4D8">
                <a:alpha val="0"/>
              </a:srgbClr>
            </a:solidFill>
            <a:prstDash val="solid"/>
          </a:ln>
        </p:spPr>
      </p:sp>
      <p:sp>
        <p:nvSpPr>
          <p:cNvPr id="6" name="Shape 4"/>
          <p:cNvSpPr/>
          <p:nvPr/>
        </p:nvSpPr>
        <p:spPr>
          <a:xfrm>
            <a:off x="457200" y="228600"/>
            <a:ext cx="8229600" cy="4434840"/>
          </a:xfrm>
          <a:prstGeom prst="rect">
            <a:avLst/>
          </a:prstGeom>
          <a:solidFill>
            <a:srgbClr val="1A2744">
              <a:alpha val="25000"/>
            </a:srgbClr>
          </a:solidFill>
          <a:ln w="12700">
            <a:solidFill>
              <a:srgbClr val="1E3A5F"/>
            </a:solidFill>
            <a:prstDash val="solid"/>
          </a:ln>
        </p:spPr>
      </p:sp>
      <p:sp>
        <p:nvSpPr>
          <p:cNvPr id="7" name="Text 5"/>
          <p:cNvSpPr/>
          <p:nvPr/>
        </p:nvSpPr>
        <p:spPr>
          <a:xfrm>
            <a:off x="640080" y="365760"/>
            <a:ext cx="7863840" cy="256032"/>
          </a:xfrm>
          <a:prstGeom prst="rect">
            <a:avLst/>
          </a:prstGeom>
          <a:noFill/>
          <a:ln/>
        </p:spPr>
        <p:txBody>
          <a:bodyPr wrap="square" rtlCol="0" anchor="ctr"/>
          <a:lstStyle/>
          <a:p>
            <a:pPr marL="0" indent="0" algn="ctr">
              <a:buNone/>
            </a:pPr>
            <a:r>
              <a:rPr lang="en-US" sz="900" b="1" kern="0" spc="300" dirty="0">
                <a:solidFill>
                  <a:srgbClr val="00B4D8"/>
                </a:solidFill>
              </a:rPr>
              <a:t>THE CASE FOR THIS PROJECT</a:t>
            </a:r>
            <a:endParaRPr lang="en-US" sz="900" dirty="0"/>
          </a:p>
        </p:txBody>
      </p:sp>
      <p:sp>
        <p:nvSpPr>
          <p:cNvPr id="8" name="Text 6"/>
          <p:cNvSpPr/>
          <p:nvPr/>
        </p:nvSpPr>
        <p:spPr>
          <a:xfrm>
            <a:off x="640080" y="685800"/>
            <a:ext cx="7863840" cy="1188720"/>
          </a:xfrm>
          <a:prstGeom prst="rect">
            <a:avLst/>
          </a:prstGeom>
          <a:noFill/>
          <a:ln/>
        </p:spPr>
        <p:txBody>
          <a:bodyPr wrap="square" rtlCol="0" anchor="ctr"/>
          <a:lstStyle/>
          <a:p>
            <a:pPr marL="0" indent="0" algn="ctr">
              <a:buNone/>
            </a:pPr>
            <a:r>
              <a:rPr lang="en-US" sz="3800" b="1" dirty="0">
                <a:solidFill>
                  <a:srgbClr val="FFFFFF"/>
                </a:solidFill>
              </a:rPr>
              <a:t>Survey data quality</a:t>
            </a:r>
            <a:endParaRPr lang="en-US" sz="3800" dirty="0"/>
          </a:p>
          <a:p>
            <a:pPr marL="0" indent="0" algn="ctr">
              <a:buNone/>
            </a:pPr>
            <a:r>
              <a:rPr lang="en-US" sz="3800" b="1" dirty="0">
                <a:solidFill>
                  <a:srgbClr val="FFFFFF"/>
                </a:solidFill>
              </a:rPr>
              <a:t>starts here.</a:t>
            </a:r>
            <a:endParaRPr lang="en-US" sz="3800" dirty="0"/>
          </a:p>
        </p:txBody>
      </p:sp>
      <p:sp>
        <p:nvSpPr>
          <p:cNvPr id="9" name="Shape 7"/>
          <p:cNvSpPr/>
          <p:nvPr/>
        </p:nvSpPr>
        <p:spPr>
          <a:xfrm>
            <a:off x="3200400" y="1783080"/>
            <a:ext cx="2743200" cy="27432"/>
          </a:xfrm>
          <a:prstGeom prst="rect">
            <a:avLst/>
          </a:prstGeom>
          <a:solidFill>
            <a:srgbClr val="9D4EDD">
              <a:alpha val="60000"/>
            </a:srgbClr>
          </a:solidFill>
          <a:ln w="12700">
            <a:solidFill>
              <a:srgbClr val="9D4EDD">
                <a:alpha val="0"/>
              </a:srgbClr>
            </a:solidFill>
            <a:prstDash val="solid"/>
          </a:ln>
        </p:spPr>
      </p:sp>
      <p:sp>
        <p:nvSpPr>
          <p:cNvPr id="10" name="Text 8"/>
          <p:cNvSpPr/>
          <p:nvPr/>
        </p:nvSpPr>
        <p:spPr>
          <a:xfrm>
            <a:off x="1097280" y="1965960"/>
            <a:ext cx="6949440" cy="329184"/>
          </a:xfrm>
          <a:prstGeom prst="rect">
            <a:avLst/>
          </a:prstGeom>
          <a:noFill/>
          <a:ln/>
        </p:spPr>
        <p:txBody>
          <a:bodyPr wrap="square" rtlCol="0" anchor="ctr"/>
          <a:lstStyle/>
          <a:p>
            <a:pPr marL="0" indent="0">
              <a:buNone/>
            </a:pPr>
            <a:r>
              <a:rPr lang="en-US" sz="1200" b="1" dirty="0">
                <a:solidFill>
                  <a:srgbClr val="00B4D8"/>
                </a:solidFill>
              </a:rPr>
              <a:t>✦  </a:t>
            </a:r>
            <a:r>
              <a:rPr lang="en-US" sz="1200" dirty="0">
                <a:solidFill>
                  <a:srgbClr val="E0E6F0"/>
                </a:solidFill>
              </a:rPr>
              <a:t>40 timing-based features extracted across question, section &amp; survey levels</a:t>
            </a:r>
            <a:endParaRPr lang="en-US" sz="1200" dirty="0"/>
          </a:p>
        </p:txBody>
      </p:sp>
      <p:sp>
        <p:nvSpPr>
          <p:cNvPr id="11" name="Text 9"/>
          <p:cNvSpPr/>
          <p:nvPr/>
        </p:nvSpPr>
        <p:spPr>
          <a:xfrm>
            <a:off x="1097280" y="2350008"/>
            <a:ext cx="6949440" cy="329184"/>
          </a:xfrm>
          <a:prstGeom prst="rect">
            <a:avLst/>
          </a:prstGeom>
          <a:noFill/>
          <a:ln/>
        </p:spPr>
        <p:txBody>
          <a:bodyPr wrap="square" rtlCol="0" anchor="ctr"/>
          <a:lstStyle/>
          <a:p>
            <a:pPr marL="0" indent="0">
              <a:buNone/>
            </a:pPr>
            <a:r>
              <a:rPr lang="en-US" sz="1200" b="1" dirty="0">
                <a:solidFill>
                  <a:srgbClr val="00B4D8"/>
                </a:solidFill>
              </a:rPr>
              <a:t>✦  </a:t>
            </a:r>
            <a:r>
              <a:rPr lang="en-US" sz="1200" dirty="0">
                <a:solidFill>
                  <a:srgbClr val="E0E6F0"/>
                </a:solidFill>
              </a:rPr>
              <a:t>Platform-agnostic pipeline for SurveyCTO and ODK audit logs</a:t>
            </a:r>
            <a:endParaRPr lang="en-US" sz="1200" dirty="0"/>
          </a:p>
        </p:txBody>
      </p:sp>
      <p:sp>
        <p:nvSpPr>
          <p:cNvPr id="12" name="Text 10"/>
          <p:cNvSpPr/>
          <p:nvPr/>
        </p:nvSpPr>
        <p:spPr>
          <a:xfrm>
            <a:off x="1097280" y="2734056"/>
            <a:ext cx="6949440" cy="329184"/>
          </a:xfrm>
          <a:prstGeom prst="rect">
            <a:avLst/>
          </a:prstGeom>
          <a:noFill/>
          <a:ln/>
        </p:spPr>
        <p:txBody>
          <a:bodyPr wrap="square" rtlCol="0" anchor="ctr"/>
          <a:lstStyle/>
          <a:p>
            <a:pPr marL="0" indent="0">
              <a:buNone/>
            </a:pPr>
            <a:r>
              <a:rPr lang="en-US" sz="1200" b="1" dirty="0">
                <a:solidFill>
                  <a:srgbClr val="00B4D8"/>
                </a:solidFill>
              </a:rPr>
              <a:t>✦  </a:t>
            </a:r>
            <a:r>
              <a:rPr lang="en-US" sz="1200" dirty="0">
                <a:solidFill>
                  <a:srgbClr val="E0E6F0"/>
                </a:solidFill>
              </a:rPr>
              <a:t>Two-layer detection: IQR statistics + domain-derived rules</a:t>
            </a:r>
            <a:endParaRPr lang="en-US" sz="1200" dirty="0"/>
          </a:p>
        </p:txBody>
      </p:sp>
      <p:sp>
        <p:nvSpPr>
          <p:cNvPr id="13" name="Text 11"/>
          <p:cNvSpPr/>
          <p:nvPr/>
        </p:nvSpPr>
        <p:spPr>
          <a:xfrm>
            <a:off x="1097280" y="3118104"/>
            <a:ext cx="6949440" cy="329184"/>
          </a:xfrm>
          <a:prstGeom prst="rect">
            <a:avLst/>
          </a:prstGeom>
          <a:noFill/>
          <a:ln/>
        </p:spPr>
        <p:txBody>
          <a:bodyPr wrap="square" rtlCol="0" anchor="ctr"/>
          <a:lstStyle/>
          <a:p>
            <a:pPr marL="0" indent="0">
              <a:buNone/>
            </a:pPr>
            <a:r>
              <a:rPr lang="en-US" sz="1200" b="1" dirty="0">
                <a:solidFill>
                  <a:srgbClr val="00B4D8"/>
                </a:solidFill>
              </a:rPr>
              <a:t>✦  </a:t>
            </a:r>
            <a:r>
              <a:rPr lang="en-US" sz="1200" dirty="0">
                <a:solidFill>
                  <a:srgbClr val="E0E6F0"/>
                </a:solidFill>
              </a:rPr>
              <a:t>Precision ≥ 0.80 · Recall ≥ 0.75 — validated against labelled synthetic data</a:t>
            </a:r>
            <a:endParaRPr lang="en-US" sz="1200" dirty="0"/>
          </a:p>
        </p:txBody>
      </p:sp>
      <p:sp>
        <p:nvSpPr>
          <p:cNvPr id="14" name="Text 12"/>
          <p:cNvSpPr/>
          <p:nvPr/>
        </p:nvSpPr>
        <p:spPr>
          <a:xfrm>
            <a:off x="1097280" y="3502152"/>
            <a:ext cx="6949440" cy="329184"/>
          </a:xfrm>
          <a:prstGeom prst="rect">
            <a:avLst/>
          </a:prstGeom>
          <a:noFill/>
          <a:ln/>
        </p:spPr>
        <p:txBody>
          <a:bodyPr wrap="square" rtlCol="0" anchor="ctr"/>
          <a:lstStyle/>
          <a:p>
            <a:pPr marL="0" indent="0">
              <a:buNone/>
            </a:pPr>
            <a:r>
              <a:rPr lang="en-US" sz="1200" b="1" dirty="0">
                <a:solidFill>
                  <a:srgbClr val="00B4D8"/>
                </a:solidFill>
              </a:rPr>
              <a:t>✦  </a:t>
            </a:r>
            <a:r>
              <a:rPr lang="en-US" sz="1200" dirty="0">
                <a:solidFill>
                  <a:srgbClr val="E0E6F0"/>
                </a:solidFill>
              </a:rPr>
              <a:t>Delivers a reproducible Python feature library, format guide &amp; validation report</a:t>
            </a:r>
            <a:endParaRPr lang="en-US" sz="1200" dirty="0"/>
          </a:p>
        </p:txBody>
      </p:sp>
      <p:sp>
        <p:nvSpPr>
          <p:cNvPr id="15" name="Text 13"/>
          <p:cNvSpPr/>
          <p:nvPr/>
        </p:nvSpPr>
        <p:spPr>
          <a:xfrm>
            <a:off x="640080" y="3977640"/>
            <a:ext cx="7863840" cy="256032"/>
          </a:xfrm>
          <a:prstGeom prst="rect">
            <a:avLst/>
          </a:prstGeom>
          <a:noFill/>
          <a:ln/>
        </p:spPr>
        <p:txBody>
          <a:bodyPr wrap="square" rtlCol="0" anchor="ctr"/>
          <a:lstStyle/>
          <a:p>
            <a:pPr marL="0" indent="0" algn="ctr">
              <a:buNone/>
            </a:pPr>
            <a:r>
              <a:rPr lang="en-US" sz="1000" dirty="0">
                <a:solidFill>
                  <a:srgbClr val="8899BB"/>
                </a:solidFill>
              </a:rPr>
              <a:t>Samuel Kaoma  •  2022016530  •  Supervisor: Mr. Mofya Phiri  •  UNZA CSC 4004</a:t>
            </a:r>
            <a:endParaRPr lang="en-US" sz="1000" dirty="0"/>
          </a:p>
        </p:txBody>
      </p:sp>
      <p:sp>
        <p:nvSpPr>
          <p:cNvPr id="16" name="Shape 14"/>
          <p:cNvSpPr/>
          <p:nvPr/>
        </p:nvSpPr>
        <p:spPr>
          <a:xfrm>
            <a:off x="0" y="4956048"/>
            <a:ext cx="9144000" cy="182880"/>
          </a:xfrm>
          <a:prstGeom prst="rect">
            <a:avLst/>
          </a:prstGeom>
          <a:solidFill>
            <a:srgbClr val="7B2FBE">
              <a:alpha val="40000"/>
            </a:srgbClr>
          </a:solidFill>
          <a:ln w="12700">
            <a:solidFill>
              <a:srgbClr val="7B2FBE">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2082</Words>
  <Application>Microsoft Office PowerPoint</Application>
  <PresentationFormat>On-screen Show (16:9)</PresentationFormat>
  <Paragraphs>340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Extraction and Analysis of Timing-Based Paradata Features</dc:title>
  <dc:subject>PptxGenJS Presentation</dc:subject>
  <dc:creator>Samuel Kaoma</dc:creator>
  <cp:lastModifiedBy>samuelkaomaa@gmail.com</cp:lastModifiedBy>
  <cp:revision>2</cp:revision>
  <dcterms:created xsi:type="dcterms:W3CDTF">2026-03-26T19:24:52Z</dcterms:created>
  <dcterms:modified xsi:type="dcterms:W3CDTF">2026-03-27T05:16:52Z</dcterms:modified>
</cp:coreProperties>
</file>