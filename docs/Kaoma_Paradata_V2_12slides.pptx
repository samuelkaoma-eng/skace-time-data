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(≈30 sec)
Say: "Good [morning/afternoon]. I'm Samuel Kaoma, student number 2022016530, and today I'm presenting my final-year project: Automated Extraction and Analysis of Timing-Based Paradata Features for Survey Quality Assurance.
The core idea is simple: the data needed to dramatically improve survey quality already exists in every digital interview. This project builds the pipeline to use it."
→ Pause after the last sentence. Make eye contact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 PARADATA (≈60 sec)
Say: "Let me start with the problem. Survey organisations collect critical data for public health, economics, and policy — but how do they know the data is good? The most common quality check is total interview duration. That's one number, for the whole interview.
This misses fabricated responses, rushed answers, and inattentive enumerators — because these patterns live inside the interview, not just in its total length.
Now here's what's interesting: platforms like SurveyCTO and ODK already record something called paradata — every timestamp, every navigation event, every pause, every edit, to the millisecond.
This data exists in every interview. It's just not being used. That's the exact gap this project closes."
→ When you say "Key insight" — tap the bottom panel. That's your anchor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PROPOSED SYSTEM (≈45 sec)
Say: "So what does the system do?
It's a single automated pipeline — platform-agnostic — that takes raw audit logs from either SurveyCTO or ODK, extracts 40 timing-based features, runs two layers of anomaly detection, and produces a quality report per interview.
Four pillars: 40 features, 2 platforms, 2-layer detection, and it's entirely Python — open and reproducible.
The formal aim, as you can see, is to design and implement this pipeline to support scalable survey quality assessment."
→ Gesture to each of the four cards briefly. Read the aim clearly once — don't paraphrase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ARCHITECTURE (≈45 sec)
Say: "The pipeline has six stages.
Raw audit logs enter on the left. Platform-specific parsers normalize them into the Common Intermediate Representation — a standardized DataFrame with interview ID, field name, event type, and start and end timestamps in milliseconds.
Everything downstream operates exclusively on this CIR. Feature extraction, statistical characterization, anomaly detection — all platform-blind. This is the key architectural decision: if we ever need to support a third platform, we write one new parser. Nothing else changes.
The output produces a quality dataset, a documented Python library, and a paradata format guide."
→ Trace the pipeline left to right with your hand. Pause on "CIR" and explain it — it's the architectural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FEATURES (≈60 sec)
Say: "Now the features themselves — 40 in total, across four levels.
At the question level — Q01 to Q10 — we capture how long a respondent spent on each field, how quickly they first interacted, how many times they edited, and whether they came back to a field after leaving it.
At the section level — S01 to S10 — we look at pacing across groups of questions, pause behaviour at different thresholds — 5 seconds and 30 seconds — and within-section timing variance.
At the survey level — V01 to V10 — we track the full interview arc: total duration, whether the enumerator sped up or slowed down across the interview, and time-of-day effects.
Finally, the statistical tier — T01 to T10 — characterises the distribution of response times: variance, IQR, entropy, skewness, kurtosis.
Critically — every feature is grounded in a prior research finding. These aren't arbitrary metrics. They're behaviourally motivated."
→ Gesture across each column. Emphasise "behaviourally motivated" — it shows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ANOMALY DETECTION (≈60 sec)
Say: "The detection system has two complementary layers.
Layer one is statistical. For each of the 40 features, I compute Q1 and Q3 across all interviews. Any interview falling outside 1.5 times the IQR is flagged. This method is deliberately chosen because response time data is right-skewed — Z-score methods would produce unreliable thresholds. IQR-based detection is distribution-free and directly interpretable in a monitoring context.
Layer two is rule-based. Domain knowledge is translated into hard thresholds: zero back-navigation across 20 consecutive questions is a fabrication signal. Implausibly short total duration is a flag. Near-zero timing entropy — where every question takes the same amount of time regardless of complexity — is a strong fabrication indicator.
The combined anomaly score is the count of flags across both layers. Success criteria: precision of at least 80 percent, recall of at least 75 percent, evaluated against two explicit baselines."
→ Pause after "success criteria." Let the numbers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VALIDATION (≈45 sec)
Say: "Evaluation runs at two levels.
First, feature validation: Mann-Whitney U tests compare feature distributions between normal and anomalous interviews. Effect sizes using Cohen's d are reported. Features that don't discriminate get documented and excluded — that's a mark of rigour, not a weakness.
Second, detection performance: precision and recall against labelled ground truth. I use two explicit baselines — duration-only threshold, which is current industry practice, and a single zero back-navigation rule. Improvements over both baselines demonstrate the real added value of the full 40-feature system.
Datasets scale from 500 to 10,000 simulated interviews, with class imbalance sensitivity tests included."
→ Stress "two explicit baselines" — this is what makes the evaluation credible to 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DEMO OUTPUT (≈45 sec)
Say: "Let me show you what the system actually produces.
This is a simulated output table — what a quality manager would see after running the pipeline on a batch of interviews.
INT-0042 and INT-0201 are clean: 287 and 276 seconds, zero flags across both detection layers. Score of zero.
INT-0087: only 94 seconds, 4 IQR flags, 2 rule violations — anomaly score of 6. Flagged.
INT-0156 is the most suspicious: 88 seconds, 5 IQR flags, 3 rule violations, score of 8. This pattern — compressed timing, zero back-navigation, uniform pacing — is characteristic of fabrication.
Instead of manually reviewing every interview, quality managers immediately focus on the red rows. That's the operational value."
→ Point to specific rows as you name them. Let the red and green contrast carry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BEFORE VS AFTER (≈30 sec)
Say: "The contrast is stark — and I want you to see it clearly.
Before: one metric, 5% coverage, no behavioral intelligence, platform-locked, and fabrication still slips through.
After: 40 features, 100% automated coverage, a behavioral fingerprint for every enumerator, cross-platform, and a quality report in minutes.
This is not just an academic improvement. It's an operational transformation for any organisation running field surveys."
→ Keep this fast. The contrast is self-evident — trust it. One breath per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CHALLENGES &amp; FUTURE (≈30 sec)
Say: "I want to be transparent about limitations.
Synthetic data won't perfectly replicate real-world variability. IQR detection is univariate — it won't catch anomalies that only emerge in the joint distribution of multiple features. And ODK's coarser timestamps will constrain some question-level computations.
All of these are documented, mitigated where possible, and acknowledged in the final report.
The future roadmap is clear: real data validation, machine learning as a complement, real-time monitoring, and an open-source Python release."
→ Say this with confidence — acknowledging limitations clearly signals academic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SYSTEM INTELLIGENCE (≈30 sec)
Say: "Before I close, four design decisions that make this system technically sound.
One: IQR-based statistics — chosen because response time data is non-normal. Z-scores would mislead.
Two: every feature is behaviourally grounded. Prior research connects each indicator to a data quality outcome.
Three: multi-granularity scoring catches suspicious patterns at any level — a field, a section, or the full interview.
Four: the CIR abstraction makes this genuinely extensible. New platform: one new parser. Everything else stays."
→ Move briskly — one sentence per box. This is a confidence-builder, not a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CONCLUSION (≈45 sec)
Say: "Let me close with the case for this project.
Survey data quality starts with understanding how interviews are conducted — not just how long they took. Paradata gives us that window. This system opens it.
To summarise: 40 features, two platforms, two detection layers, clear measurable success criteria, and a complete set of deliverables — a Python library, a paradata format guide, a validation report, and a final paper.
The behavioral intelligence needed to detect fabrication, speeding, and disengagement has always been there in the audit logs. This project builds the pipeline to finally use it.
Thank you — I'm happy to take any questions."
→ SLOW DOWN here. Say "thank you" and stop. Do not rush into Q&amp;A or add extra words. Silence after a strong closing is powerful.
TIMING GUIDE (10-minute target):
Slide 1:  0:00–0:30  (30s)
Slide 2:  0:30–1:30  (60s)
Slide 3:  1:30–2:15  (45s)
Slide 4:  2:15–3:00  (45s)
Slide 5:  3:00–4:00  (60s)
Slide 6:  4:00–5:00  (60s)
Slide 7:  5:00–5:45  (45s)
Slide 8:  5:45–6:30  (45s)
Slide 9:  6:30–7:00  (30s)
Slide 10: 7:00–7:30  (30s)
Slide 11: 7:30–8:00  (30s)
Slide 12: 8:00–8:45  (45s)
Buffer:   8:45–10:00 (75s for natural pauses, transitions, slower delivery)
Total delivery: ~8:45 — 75 seconds buffer for breathing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Shape 2"/>
          <p:cNvSpPr/>
          <p:nvPr/>
        </p:nvSpPr>
        <p:spPr>
          <a:xfrm>
            <a:off x="0" y="0"/>
            <a:ext cx="9144000" cy="54864"/>
          </a:xfrm>
          <a:prstGeom prst="rect">
            <a:avLst/>
          </a:prstGeom>
          <a:solidFill>
            <a:srgbClr val="00B4D8"/>
          </a:solidFill>
          <a:ln w="12700">
            <a:solidFill>
              <a:srgbClr val="00B4D8">
                <a:alpha val="0"/>
              </a:srgbClr>
            </a:solidFill>
            <a:prstDash val="solid"/>
          </a:ln>
        </p:spPr>
      </p:sp>
      <p:sp>
        <p:nvSpPr>
          <p:cNvPr id="5" name="Shape 3"/>
          <p:cNvSpPr/>
          <p:nvPr/>
        </p:nvSpPr>
        <p:spPr>
          <a:xfrm>
            <a:off x="457200" y="320040"/>
            <a:ext cx="8229600" cy="4206240"/>
          </a:xfrm>
          <a:prstGeom prst="rect">
            <a:avLst/>
          </a:prstGeom>
          <a:solidFill>
            <a:srgbClr val="1A2744">
              <a:alpha val="25000"/>
            </a:srgbClr>
          </a:solidFill>
          <a:ln w="12700">
            <a:solidFill>
              <a:srgbClr val="1E3A5F"/>
            </a:solidFill>
            <a:prstDash val="solid"/>
          </a:ln>
        </p:spPr>
      </p:sp>
      <p:sp>
        <p:nvSpPr>
          <p:cNvPr id="6" name="Text 4"/>
          <p:cNvSpPr/>
          <p:nvPr/>
        </p:nvSpPr>
        <p:spPr>
          <a:xfrm>
            <a:off x="640080" y="457200"/>
            <a:ext cx="7863840" cy="274320"/>
          </a:xfrm>
          <a:prstGeom prst="rect">
            <a:avLst/>
          </a:prstGeom>
          <a:noFill/>
          <a:ln/>
        </p:spPr>
        <p:txBody>
          <a:bodyPr wrap="square" rtlCol="0" anchor="ctr"/>
          <a:lstStyle/>
          <a:p>
            <a:pPr algn="ctr" indent="0" marL="0">
              <a:buNone/>
            </a:pPr>
            <a:r>
              <a:rPr lang="en-US" sz="900" spc="200" kern="0" dirty="0">
                <a:solidFill>
                  <a:srgbClr val="8899BB"/>
                </a:solidFill>
              </a:rPr>
              <a:t>UNIVERSITY OF ZAMBIA  •  DEPARTMENT OF COMPUTING &amp; INFORMATICS</a:t>
            </a:r>
            <a:endParaRPr lang="en-US" sz="900" dirty="0"/>
          </a:p>
        </p:txBody>
      </p:sp>
      <p:sp>
        <p:nvSpPr>
          <p:cNvPr id="7" name="Text 5"/>
          <p:cNvSpPr/>
          <p:nvPr/>
        </p:nvSpPr>
        <p:spPr>
          <a:xfrm>
            <a:off x="640080" y="868680"/>
            <a:ext cx="7863840" cy="2286000"/>
          </a:xfrm>
          <a:prstGeom prst="rect">
            <a:avLst/>
          </a:prstGeom>
          <a:noFill/>
          <a:ln/>
        </p:spPr>
        <p:txBody>
          <a:bodyPr wrap="square" rtlCol="0" anchor="ctr"/>
          <a:lstStyle/>
          <a:p>
            <a:pPr algn="ctr" indent="0" marL="0">
              <a:buNone/>
            </a:pPr>
            <a:r>
              <a:rPr lang="en-US" sz="3400" b="1" dirty="0">
                <a:solidFill>
                  <a:srgbClr val="FFFFFF"/>
                </a:solidFill>
              </a:rPr>
              <a:t>Automated Extraction &amp;</a:t>
            </a:r>
            <a:endParaRPr lang="en-US" sz="3400" dirty="0"/>
          </a:p>
          <a:p>
            <a:pPr algn="ctr" indent="0" marL="0">
              <a:buNone/>
            </a:pPr>
            <a:r>
              <a:rPr lang="en-US" sz="3400" b="1" dirty="0">
                <a:solidFill>
                  <a:srgbClr val="FFFFFF"/>
                </a:solidFill>
              </a:rPr>
              <a:t>Analysis of Timing-Based</a:t>
            </a:r>
            <a:endParaRPr lang="en-US" sz="3400" dirty="0"/>
          </a:p>
          <a:p>
            <a:pPr algn="ctr" indent="0" marL="0">
              <a:buNone/>
            </a:pPr>
            <a:r>
              <a:rPr lang="en-US" sz="3400" b="1" dirty="0">
                <a:solidFill>
                  <a:srgbClr val="FFFFFF"/>
                </a:solidFill>
              </a:rPr>
              <a:t>Paradata Features</a:t>
            </a:r>
            <a:endParaRPr lang="en-US" sz="3400" dirty="0"/>
          </a:p>
        </p:txBody>
      </p:sp>
      <p:sp>
        <p:nvSpPr>
          <p:cNvPr id="8" name="Text 6"/>
          <p:cNvSpPr/>
          <p:nvPr/>
        </p:nvSpPr>
        <p:spPr>
          <a:xfrm>
            <a:off x="640080" y="3017520"/>
            <a:ext cx="7863840" cy="457200"/>
          </a:xfrm>
          <a:prstGeom prst="rect">
            <a:avLst/>
          </a:prstGeom>
          <a:noFill/>
          <a:ln/>
        </p:spPr>
        <p:txBody>
          <a:bodyPr wrap="square" rtlCol="0" anchor="ctr"/>
          <a:lstStyle/>
          <a:p>
            <a:pPr algn="ctr" indent="0" marL="0">
              <a:buNone/>
            </a:pPr>
            <a:r>
              <a:rPr lang="en-US" sz="2000" dirty="0">
                <a:solidFill>
                  <a:srgbClr val="00B4D8"/>
                </a:solidFill>
              </a:rPr>
              <a:t>for Survey Quality Assurance</a:t>
            </a:r>
            <a:endParaRPr lang="en-US" sz="2000" dirty="0"/>
          </a:p>
        </p:txBody>
      </p:sp>
      <p:sp>
        <p:nvSpPr>
          <p:cNvPr id="9" name="Shape 7"/>
          <p:cNvSpPr/>
          <p:nvPr/>
        </p:nvSpPr>
        <p:spPr>
          <a:xfrm>
            <a:off x="3200400" y="352044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640080" y="3703320"/>
            <a:ext cx="7863840" cy="274320"/>
          </a:xfrm>
          <a:prstGeom prst="rect">
            <a:avLst/>
          </a:prstGeom>
          <a:noFill/>
          <a:ln/>
        </p:spPr>
        <p:txBody>
          <a:bodyPr wrap="square" rtlCol="0" anchor="ctr"/>
          <a:lstStyle/>
          <a:p>
            <a:pPr algn="ctr" indent="0" marL="0">
              <a:buNone/>
            </a:pPr>
            <a:r>
              <a:rPr lang="en-US" sz="1100" b="1" dirty="0">
                <a:solidFill>
                  <a:srgbClr val="E0E6F0"/>
                </a:solidFill>
              </a:rPr>
              <a:t>Samuel Kaoma</a:t>
            </a:r>
            <a:pPr algn="ctr" indent="0" marL="0">
              <a:buNone/>
            </a:pPr>
            <a:r>
              <a:rPr lang="en-US" sz="1100" dirty="0">
                <a:solidFill>
                  <a:srgbClr val="8899BB"/>
                </a:solidFill>
              </a:rPr>
              <a:t>   |   2022016530   |   CSC 4004   |   Supervisor: Mr. Mofya Phiri</a:t>
            </a:r>
            <a:endParaRPr lang="en-US" sz="1100" dirty="0"/>
          </a:p>
        </p:txBody>
      </p:sp>
      <p:sp>
        <p:nvSpPr>
          <p:cNvPr id="11" name="Text 9"/>
          <p:cNvSpPr/>
          <p:nvPr/>
        </p:nvSpPr>
        <p:spPr>
          <a:xfrm>
            <a:off x="640080" y="4069080"/>
            <a:ext cx="7863840" cy="228600"/>
          </a:xfrm>
          <a:prstGeom prst="rect">
            <a:avLst/>
          </a:prstGeom>
          <a:noFill/>
          <a:ln/>
        </p:spPr>
        <p:txBody>
          <a:bodyPr wrap="square" rtlCol="0" anchor="ctr"/>
          <a:lstStyle/>
          <a:p>
            <a:pPr algn="ctr" indent="0" marL="0">
              <a:buNone/>
            </a:pPr>
            <a:r>
              <a:rPr lang="en-US" sz="1000" dirty="0">
                <a:solidFill>
                  <a:srgbClr val="8899BB"/>
                </a:solidFill>
              </a:rPr>
              <a:t>26th March 2026</a:t>
            </a:r>
            <a:endParaRPr lang="en-US" sz="1000" dirty="0"/>
          </a:p>
        </p:txBody>
      </p:sp>
      <p:sp>
        <p:nvSpPr>
          <p:cNvPr id="12" name="Shape 10"/>
          <p:cNvSpPr/>
          <p:nvPr/>
        </p:nvSpPr>
        <p:spPr>
          <a:xfrm>
            <a:off x="0" y="4956048"/>
            <a:ext cx="9144000" cy="54864"/>
          </a:xfrm>
          <a:prstGeom prst="rect">
            <a:avLst/>
          </a:prstGeom>
          <a:solidFill>
            <a:srgbClr val="7B2FBE"/>
          </a:solidFill>
          <a:ln w="12700">
            <a:solidFill>
              <a:srgbClr val="7B2FBE">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2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FF4D6D"/>
                </a:solidFill>
              </a:rPr>
              <a:t>THE PROBLEM</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Survey Quality Is Broken — And Paradata Can Fix It</a:t>
            </a:r>
            <a:endParaRPr lang="en-US" sz="2800" dirty="0"/>
          </a:p>
        </p:txBody>
      </p:sp>
      <p:sp>
        <p:nvSpPr>
          <p:cNvPr id="7" name="Shape 5"/>
          <p:cNvSpPr/>
          <p:nvPr/>
        </p:nvSpPr>
        <p:spPr>
          <a:xfrm>
            <a:off x="274320" y="1188720"/>
            <a:ext cx="4023360" cy="278892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4D6D"/>
          </a:solidFill>
          <a:ln w="12700">
            <a:solidFill>
              <a:srgbClr val="FF4D6D">
                <a:alpha val="0"/>
              </a:srgbClr>
            </a:solidFill>
            <a:prstDash val="solid"/>
          </a:ln>
        </p:spPr>
      </p:sp>
      <p:sp>
        <p:nvSpPr>
          <p:cNvPr id="9" name="Text 7"/>
          <p:cNvSpPr/>
          <p:nvPr/>
        </p:nvSpPr>
        <p:spPr>
          <a:xfrm>
            <a:off x="457200" y="1298448"/>
            <a:ext cx="3749040" cy="347472"/>
          </a:xfrm>
          <a:prstGeom prst="rect">
            <a:avLst/>
          </a:prstGeom>
          <a:noFill/>
          <a:ln/>
        </p:spPr>
        <p:txBody>
          <a:bodyPr wrap="square" rtlCol="0" anchor="ctr"/>
          <a:lstStyle/>
          <a:p>
            <a:pPr indent="0" marL="0">
              <a:buNone/>
            </a:pPr>
            <a:r>
              <a:rPr lang="en-US" sz="1400" b="1" dirty="0">
                <a:solidFill>
                  <a:srgbClr val="FF4D6D"/>
                </a:solidFill>
              </a:rPr>
              <a:t>The Problem</a:t>
            </a:r>
            <a:endParaRPr lang="en-US" sz="1400" dirty="0"/>
          </a:p>
        </p:txBody>
      </p:sp>
      <p:sp>
        <p:nvSpPr>
          <p:cNvPr id="10" name="Text 8"/>
          <p:cNvSpPr/>
          <p:nvPr/>
        </p:nvSpPr>
        <p:spPr>
          <a:xfrm>
            <a:off x="457200" y="1801368"/>
            <a:ext cx="3749040" cy="347472"/>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Fabricated responses go undetected</a:t>
            </a:r>
            <a:endParaRPr lang="en-US" sz="1100" dirty="0"/>
          </a:p>
        </p:txBody>
      </p:sp>
      <p:sp>
        <p:nvSpPr>
          <p:cNvPr id="11" name="Text 9"/>
          <p:cNvSpPr/>
          <p:nvPr/>
        </p:nvSpPr>
        <p:spPr>
          <a:xfrm>
            <a:off x="457200" y="2203704"/>
            <a:ext cx="3749040" cy="347472"/>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Current QA = total interview time only</a:t>
            </a:r>
            <a:endParaRPr lang="en-US" sz="1100" dirty="0"/>
          </a:p>
        </p:txBody>
      </p:sp>
      <p:sp>
        <p:nvSpPr>
          <p:cNvPr id="12" name="Text 10"/>
          <p:cNvSpPr/>
          <p:nvPr/>
        </p:nvSpPr>
        <p:spPr>
          <a:xfrm>
            <a:off x="457200" y="2606040"/>
            <a:ext cx="3749040" cy="347472"/>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Misses rushed or inattentive behaviour</a:t>
            </a:r>
            <a:endParaRPr lang="en-US" sz="1100" dirty="0"/>
          </a:p>
        </p:txBody>
      </p:sp>
      <p:sp>
        <p:nvSpPr>
          <p:cNvPr id="13" name="Text 11"/>
          <p:cNvSpPr/>
          <p:nvPr/>
        </p:nvSpPr>
        <p:spPr>
          <a:xfrm>
            <a:off x="457200" y="3008376"/>
            <a:ext cx="3749040" cy="347472"/>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SurveyCTO &amp; ODK formats incompatible</a:t>
            </a:r>
            <a:endParaRPr lang="en-US" sz="1100" dirty="0"/>
          </a:p>
        </p:txBody>
      </p:sp>
      <p:sp>
        <p:nvSpPr>
          <p:cNvPr id="14" name="Text 12"/>
          <p:cNvSpPr/>
          <p:nvPr/>
        </p:nvSpPr>
        <p:spPr>
          <a:xfrm>
            <a:off x="457200" y="3410712"/>
            <a:ext cx="3749040" cy="347472"/>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No automated, cross-platform tool exists</a:t>
            </a:r>
            <a:endParaRPr lang="en-US" sz="1100" dirty="0"/>
          </a:p>
        </p:txBody>
      </p:sp>
      <p:sp>
        <p:nvSpPr>
          <p:cNvPr id="15" name="Shape 13"/>
          <p:cNvSpPr/>
          <p:nvPr/>
        </p:nvSpPr>
        <p:spPr>
          <a:xfrm>
            <a:off x="4572000" y="1188720"/>
            <a:ext cx="4251960" cy="2788920"/>
          </a:xfrm>
          <a:prstGeom prst="rect">
            <a:avLst/>
          </a:prstGeom>
          <a:solidFill>
            <a:srgbClr val="1A2744">
              <a:alpha val="26000"/>
            </a:srgbClr>
          </a:solidFill>
          <a:ln w="12700">
            <a:solidFill>
              <a:srgbClr val="1E3A5F"/>
            </a:solidFill>
            <a:prstDash val="solid"/>
          </a:ln>
        </p:spPr>
      </p:sp>
      <p:sp>
        <p:nvSpPr>
          <p:cNvPr id="16" name="Shape 14"/>
          <p:cNvSpPr/>
          <p:nvPr/>
        </p:nvSpPr>
        <p:spPr>
          <a:xfrm>
            <a:off x="4572000" y="1188720"/>
            <a:ext cx="4251960" cy="54864"/>
          </a:xfrm>
          <a:prstGeom prst="rect">
            <a:avLst/>
          </a:prstGeom>
          <a:solidFill>
            <a:srgbClr val="00B4D8"/>
          </a:solidFill>
          <a:ln w="12700">
            <a:solidFill>
              <a:srgbClr val="00B4D8">
                <a:alpha val="0"/>
              </a:srgbClr>
            </a:solidFill>
            <a:prstDash val="solid"/>
          </a:ln>
        </p:spPr>
      </p:sp>
      <p:sp>
        <p:nvSpPr>
          <p:cNvPr id="17" name="Text 15"/>
          <p:cNvSpPr/>
          <p:nvPr/>
        </p:nvSpPr>
        <p:spPr>
          <a:xfrm>
            <a:off x="4736592" y="1298448"/>
            <a:ext cx="3931920" cy="347472"/>
          </a:xfrm>
          <a:prstGeom prst="rect">
            <a:avLst/>
          </a:prstGeom>
          <a:noFill/>
          <a:ln/>
        </p:spPr>
        <p:txBody>
          <a:bodyPr wrap="square" rtlCol="0" anchor="ctr"/>
          <a:lstStyle/>
          <a:p>
            <a:pPr indent="0" marL="0">
              <a:buNone/>
            </a:pPr>
            <a:r>
              <a:rPr lang="en-US" sz="1400" b="1" dirty="0">
                <a:solidFill>
                  <a:srgbClr val="00B4D8"/>
                </a:solidFill>
              </a:rPr>
              <a:t>What Is Paradata?</a:t>
            </a:r>
            <a:endParaRPr lang="en-US" sz="1400" dirty="0"/>
          </a:p>
        </p:txBody>
      </p:sp>
      <p:sp>
        <p:nvSpPr>
          <p:cNvPr id="18" name="Text 16"/>
          <p:cNvSpPr/>
          <p:nvPr/>
        </p:nvSpPr>
        <p:spPr>
          <a:xfrm>
            <a:off x="4736592" y="1719072"/>
            <a:ext cx="3931920" cy="594360"/>
          </a:xfrm>
          <a:prstGeom prst="rect">
            <a:avLst/>
          </a:prstGeom>
          <a:noFill/>
          <a:ln/>
        </p:spPr>
        <p:txBody>
          <a:bodyPr wrap="square" rtlCol="0" anchor="ctr"/>
          <a:lstStyle/>
          <a:p>
            <a:pPr indent="0" marL="0">
              <a:buNone/>
            </a:pPr>
            <a:r>
              <a:rPr lang="en-US" sz="1100" dirty="0">
                <a:solidFill>
                  <a:srgbClr val="E0E6F0"/>
                </a:solidFill>
              </a:rPr>
              <a:t>Process data auto-captured by SurveyCTO &amp; ODK — not the survey answers, but HOW they were given.</a:t>
            </a:r>
            <a:endParaRPr lang="en-US" sz="1100" dirty="0"/>
          </a:p>
        </p:txBody>
      </p:sp>
      <p:sp>
        <p:nvSpPr>
          <p:cNvPr id="19" name="Text 17"/>
          <p:cNvSpPr/>
          <p:nvPr/>
        </p:nvSpPr>
        <p:spPr>
          <a:xfrm>
            <a:off x="4736592" y="2423160"/>
            <a:ext cx="3931920" cy="292608"/>
          </a:xfrm>
          <a:prstGeom prst="rect">
            <a:avLst/>
          </a:prstGeom>
          <a:noFill/>
          <a:ln/>
        </p:spPr>
        <p:txBody>
          <a:bodyPr wrap="square" rtlCol="0" anchor="ctr"/>
          <a:lstStyle/>
          <a:p>
            <a:pPr indent="0" marL="0">
              <a:buNone/>
            </a:pPr>
            <a:r>
              <a:rPr lang="en-US" sz="1100" b="1" dirty="0">
                <a:solidFill>
                  <a:srgbClr val="00B4D8"/>
                </a:solidFill>
              </a:rPr>
              <a:t>▸  </a:t>
            </a:r>
            <a:pPr indent="0" marL="0">
              <a:buNone/>
            </a:pPr>
            <a:r>
              <a:rPr lang="en-US" sz="1100" dirty="0">
                <a:solidFill>
                  <a:srgbClr val="E0E6F0"/>
                </a:solidFill>
              </a:rPr>
              <a:t>Event-level timestamps (ms precision)</a:t>
            </a:r>
            <a:endParaRPr lang="en-US" sz="1100" dirty="0"/>
          </a:p>
        </p:txBody>
      </p:sp>
      <p:sp>
        <p:nvSpPr>
          <p:cNvPr id="20" name="Text 18"/>
          <p:cNvSpPr/>
          <p:nvPr/>
        </p:nvSpPr>
        <p:spPr>
          <a:xfrm>
            <a:off x="4736592" y="2770632"/>
            <a:ext cx="3931920" cy="292608"/>
          </a:xfrm>
          <a:prstGeom prst="rect">
            <a:avLst/>
          </a:prstGeom>
          <a:noFill/>
          <a:ln/>
        </p:spPr>
        <p:txBody>
          <a:bodyPr wrap="square" rtlCol="0" anchor="ctr"/>
          <a:lstStyle/>
          <a:p>
            <a:pPr indent="0" marL="0">
              <a:buNone/>
            </a:pPr>
            <a:r>
              <a:rPr lang="en-US" sz="1100" b="1" dirty="0">
                <a:solidFill>
                  <a:srgbClr val="00B4D8"/>
                </a:solidFill>
              </a:rPr>
              <a:t>▸  </a:t>
            </a:r>
            <a:pPr indent="0" marL="0">
              <a:buNone/>
            </a:pPr>
            <a:r>
              <a:rPr lang="en-US" sz="1100" dirty="0">
                <a:solidFill>
                  <a:srgbClr val="E0E6F0"/>
                </a:solidFill>
              </a:rPr>
              <a:t>Navigation sequences &amp; back-edits</a:t>
            </a:r>
            <a:endParaRPr lang="en-US" sz="1100" dirty="0"/>
          </a:p>
        </p:txBody>
      </p:sp>
      <p:sp>
        <p:nvSpPr>
          <p:cNvPr id="21" name="Text 19"/>
          <p:cNvSpPr/>
          <p:nvPr/>
        </p:nvSpPr>
        <p:spPr>
          <a:xfrm>
            <a:off x="4736592" y="3118104"/>
            <a:ext cx="3931920" cy="292608"/>
          </a:xfrm>
          <a:prstGeom prst="rect">
            <a:avLst/>
          </a:prstGeom>
          <a:noFill/>
          <a:ln/>
        </p:spPr>
        <p:txBody>
          <a:bodyPr wrap="square" rtlCol="0" anchor="ctr"/>
          <a:lstStyle/>
          <a:p>
            <a:pPr indent="0" marL="0">
              <a:buNone/>
            </a:pPr>
            <a:r>
              <a:rPr lang="en-US" sz="1100" b="1" dirty="0">
                <a:solidFill>
                  <a:srgbClr val="00B4D8"/>
                </a:solidFill>
              </a:rPr>
              <a:t>▸  </a:t>
            </a:r>
            <a:pPr indent="0" marL="0">
              <a:buNone/>
            </a:pPr>
            <a:r>
              <a:rPr lang="en-US" sz="1100" dirty="0">
                <a:solidFill>
                  <a:srgbClr val="E0E6F0"/>
                </a:solidFill>
              </a:rPr>
              <a:t>Pause durations &amp; idle time</a:t>
            </a:r>
            <a:endParaRPr lang="en-US" sz="1100" dirty="0"/>
          </a:p>
        </p:txBody>
      </p:sp>
      <p:sp>
        <p:nvSpPr>
          <p:cNvPr id="22" name="Text 20"/>
          <p:cNvSpPr/>
          <p:nvPr/>
        </p:nvSpPr>
        <p:spPr>
          <a:xfrm>
            <a:off x="4736592" y="3465576"/>
            <a:ext cx="3931920" cy="292608"/>
          </a:xfrm>
          <a:prstGeom prst="rect">
            <a:avLst/>
          </a:prstGeom>
          <a:noFill/>
          <a:ln/>
        </p:spPr>
        <p:txBody>
          <a:bodyPr wrap="square" rtlCol="0" anchor="ctr"/>
          <a:lstStyle/>
          <a:p>
            <a:pPr indent="0" marL="0">
              <a:buNone/>
            </a:pPr>
            <a:r>
              <a:rPr lang="en-US" sz="1100" b="1" dirty="0">
                <a:solidFill>
                  <a:srgbClr val="00B4D8"/>
                </a:solidFill>
              </a:rPr>
              <a:t>▸  </a:t>
            </a:r>
            <a:pPr indent="0" marL="0">
              <a:buNone/>
            </a:pPr>
            <a:r>
              <a:rPr lang="en-US" sz="1100" dirty="0">
                <a:solidFill>
                  <a:srgbClr val="E0E6F0"/>
                </a:solidFill>
              </a:rPr>
              <a:t>Constraint error triggers</a:t>
            </a:r>
            <a:endParaRPr lang="en-US" sz="1100" dirty="0"/>
          </a:p>
        </p:txBody>
      </p:sp>
      <p:sp>
        <p:nvSpPr>
          <p:cNvPr id="23" name="Shape 21"/>
          <p:cNvSpPr/>
          <p:nvPr/>
        </p:nvSpPr>
        <p:spPr>
          <a:xfrm>
            <a:off x="274320" y="4114800"/>
            <a:ext cx="8595360" cy="685800"/>
          </a:xfrm>
          <a:prstGeom prst="rect">
            <a:avLst/>
          </a:prstGeom>
          <a:solidFill>
            <a:srgbClr val="1A2744">
              <a:alpha val="22000"/>
            </a:srgbClr>
          </a:solidFill>
          <a:ln w="12700">
            <a:solidFill>
              <a:srgbClr val="1E3A5F"/>
            </a:solidFill>
            <a:prstDash val="solid"/>
          </a:ln>
        </p:spPr>
      </p:sp>
      <p:sp>
        <p:nvSpPr>
          <p:cNvPr id="24" name="Shape 22"/>
          <p:cNvSpPr/>
          <p:nvPr/>
        </p:nvSpPr>
        <p:spPr>
          <a:xfrm>
            <a:off x="274320" y="4114800"/>
            <a:ext cx="54864" cy="685800"/>
          </a:xfrm>
          <a:prstGeom prst="rect">
            <a:avLst/>
          </a:prstGeom>
          <a:solidFill>
            <a:srgbClr val="FFD166"/>
          </a:solidFill>
          <a:ln w="12700">
            <a:solidFill>
              <a:srgbClr val="FFD166">
                <a:alpha val="0"/>
              </a:srgbClr>
            </a:solidFill>
            <a:prstDash val="solid"/>
          </a:ln>
        </p:spPr>
      </p:sp>
      <p:sp>
        <p:nvSpPr>
          <p:cNvPr id="25" name="Text 23"/>
          <p:cNvSpPr/>
          <p:nvPr/>
        </p:nvSpPr>
        <p:spPr>
          <a:xfrm>
            <a:off x="502920" y="4224528"/>
            <a:ext cx="8321040" cy="457200"/>
          </a:xfrm>
          <a:prstGeom prst="rect">
            <a:avLst/>
          </a:prstGeom>
          <a:noFill/>
          <a:ln/>
        </p:spPr>
        <p:txBody>
          <a:bodyPr wrap="square" rtlCol="0" anchor="ctr"/>
          <a:lstStyle/>
          <a:p>
            <a:pPr indent="0" marL="0">
              <a:buNone/>
            </a:pPr>
            <a:r>
              <a:rPr lang="en-US" sz="1200" b="1" dirty="0">
                <a:solidFill>
                  <a:srgbClr val="FFD166"/>
                </a:solidFill>
              </a:rPr>
              <a:t>Key insight:  </a:t>
            </a:r>
            <a:pPr indent="0" marL="0">
              <a:buNone/>
            </a:pPr>
            <a:r>
              <a:rPr lang="en-US" sz="1200" dirty="0">
                <a:solidFill>
                  <a:srgbClr val="E0E6F0"/>
                </a:solidFill>
              </a:rPr>
              <a:t>Rich behavioral intelligence is already recorded in every interview. It just isn't being used.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3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06D6A0"/>
                </a:solidFill>
              </a:rPr>
              <a:t>SOLUTION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Proposed System</a:t>
            </a:r>
            <a:endParaRPr lang="en-US" sz="2800" dirty="0"/>
          </a:p>
        </p:txBody>
      </p:sp>
      <p:sp>
        <p:nvSpPr>
          <p:cNvPr id="7" name="Shape 5"/>
          <p:cNvSpPr/>
          <p:nvPr/>
        </p:nvSpPr>
        <p:spPr>
          <a:xfrm>
            <a:off x="365760" y="1188720"/>
            <a:ext cx="8412480" cy="749808"/>
          </a:xfrm>
          <a:prstGeom prst="rect">
            <a:avLst/>
          </a:prstGeom>
          <a:solidFill>
            <a:srgbClr val="1A2744">
              <a:alpha val="26000"/>
            </a:srgbClr>
          </a:solidFill>
          <a:ln w="12700">
            <a:solidFill>
              <a:srgbClr val="1E3A5F"/>
            </a:solidFill>
            <a:prstDash val="solid"/>
          </a:ln>
        </p:spPr>
      </p:sp>
      <p:sp>
        <p:nvSpPr>
          <p:cNvPr id="8" name="Text 6"/>
          <p:cNvSpPr/>
          <p:nvPr/>
        </p:nvSpPr>
        <p:spPr>
          <a:xfrm>
            <a:off x="594360" y="1298448"/>
            <a:ext cx="7955280" cy="566928"/>
          </a:xfrm>
          <a:prstGeom prst="rect">
            <a:avLst/>
          </a:prstGeom>
          <a:noFill/>
          <a:ln/>
        </p:spPr>
        <p:txBody>
          <a:bodyPr wrap="square" rtlCol="0" anchor="ctr"/>
          <a:lstStyle/>
          <a:p>
            <a:pPr algn="ctr" indent="0" marL="0">
              <a:buNone/>
            </a:pPr>
            <a:r>
              <a:rPr lang="en-US" sz="1400" i="1" dirty="0">
                <a:solidFill>
                  <a:srgbClr val="E0E6F0"/>
                </a:solidFill>
              </a:rPr>
              <a:t>An automated, platform-agnostic pipeline that transforms raw audit logs into structured quality intelligence.</a:t>
            </a:r>
            <a:endParaRPr lang="en-US" sz="1400" dirty="0"/>
          </a:p>
        </p:txBody>
      </p:sp>
      <p:sp>
        <p:nvSpPr>
          <p:cNvPr id="9" name="Shape 7"/>
          <p:cNvSpPr/>
          <p:nvPr/>
        </p:nvSpPr>
        <p:spPr>
          <a:xfrm>
            <a:off x="365760" y="2103120"/>
            <a:ext cx="1993392" cy="1463040"/>
          </a:xfrm>
          <a:prstGeom prst="rect">
            <a:avLst/>
          </a:prstGeom>
          <a:solidFill>
            <a:srgbClr val="1A2744">
              <a:alpha val="32000"/>
            </a:srgbClr>
          </a:solidFill>
          <a:ln w="12700">
            <a:solidFill>
              <a:srgbClr val="1E3A5F"/>
            </a:solidFill>
            <a:prstDash val="solid"/>
          </a:ln>
        </p:spPr>
      </p:sp>
      <p:sp>
        <p:nvSpPr>
          <p:cNvPr id="10" name="Shape 8"/>
          <p:cNvSpPr/>
          <p:nvPr/>
        </p:nvSpPr>
        <p:spPr>
          <a:xfrm>
            <a:off x="365760" y="2103120"/>
            <a:ext cx="1993392" cy="54864"/>
          </a:xfrm>
          <a:prstGeom prst="rect">
            <a:avLst/>
          </a:prstGeom>
          <a:solidFill>
            <a:srgbClr val="00B4D8"/>
          </a:solidFill>
          <a:ln w="12700">
            <a:solidFill>
              <a:srgbClr val="00B4D8">
                <a:alpha val="0"/>
              </a:srgbClr>
            </a:solidFill>
            <a:prstDash val="solid"/>
          </a:ln>
        </p:spPr>
      </p:sp>
      <p:sp>
        <p:nvSpPr>
          <p:cNvPr id="11" name="Text 9"/>
          <p:cNvSpPr/>
          <p:nvPr/>
        </p:nvSpPr>
        <p:spPr>
          <a:xfrm>
            <a:off x="457200" y="2231136"/>
            <a:ext cx="1810512" cy="502920"/>
          </a:xfrm>
          <a:prstGeom prst="rect">
            <a:avLst/>
          </a:prstGeom>
          <a:noFill/>
          <a:ln/>
        </p:spPr>
        <p:txBody>
          <a:bodyPr wrap="square" rtlCol="0" anchor="ctr"/>
          <a:lstStyle/>
          <a:p>
            <a:pPr algn="ctr" indent="0" marL="0">
              <a:buNone/>
            </a:pPr>
            <a:r>
              <a:rPr lang="en-US" sz="1700" b="1" dirty="0">
                <a:solidFill>
                  <a:srgbClr val="00B4D8"/>
                </a:solidFill>
              </a:rPr>
              <a:t>40 Features</a:t>
            </a:r>
            <a:endParaRPr lang="en-US" sz="1700" dirty="0"/>
          </a:p>
        </p:txBody>
      </p:sp>
      <p:sp>
        <p:nvSpPr>
          <p:cNvPr id="12" name="Text 10"/>
          <p:cNvSpPr/>
          <p:nvPr/>
        </p:nvSpPr>
        <p:spPr>
          <a:xfrm>
            <a:off x="457200" y="2761488"/>
            <a:ext cx="1810512" cy="594360"/>
          </a:xfrm>
          <a:prstGeom prst="rect">
            <a:avLst/>
          </a:prstGeom>
          <a:noFill/>
          <a:ln/>
        </p:spPr>
        <p:txBody>
          <a:bodyPr wrap="square" rtlCol="0" anchor="ctr"/>
          <a:lstStyle/>
          <a:p>
            <a:pPr algn="ctr" indent="0" marL="0">
              <a:buNone/>
            </a:pPr>
            <a:r>
              <a:rPr lang="en-US" sz="1000" dirty="0">
                <a:solidFill>
                  <a:srgbClr val="8899BB"/>
                </a:solidFill>
              </a:rPr>
              <a:t>Question · Section · Survey · Statistical</a:t>
            </a:r>
            <a:endParaRPr lang="en-US" sz="1000" dirty="0"/>
          </a:p>
        </p:txBody>
      </p:sp>
      <p:sp>
        <p:nvSpPr>
          <p:cNvPr id="13" name="Shape 11"/>
          <p:cNvSpPr/>
          <p:nvPr/>
        </p:nvSpPr>
        <p:spPr>
          <a:xfrm>
            <a:off x="2496312" y="2103120"/>
            <a:ext cx="1993392" cy="1463040"/>
          </a:xfrm>
          <a:prstGeom prst="rect">
            <a:avLst/>
          </a:prstGeom>
          <a:solidFill>
            <a:srgbClr val="1A2744">
              <a:alpha val="32000"/>
            </a:srgbClr>
          </a:solidFill>
          <a:ln w="12700">
            <a:solidFill>
              <a:srgbClr val="1E3A5F"/>
            </a:solidFill>
            <a:prstDash val="solid"/>
          </a:ln>
        </p:spPr>
      </p:sp>
      <p:sp>
        <p:nvSpPr>
          <p:cNvPr id="14" name="Shape 12"/>
          <p:cNvSpPr/>
          <p:nvPr/>
        </p:nvSpPr>
        <p:spPr>
          <a:xfrm>
            <a:off x="2496312" y="2103120"/>
            <a:ext cx="1993392" cy="54864"/>
          </a:xfrm>
          <a:prstGeom prst="rect">
            <a:avLst/>
          </a:prstGeom>
          <a:solidFill>
            <a:srgbClr val="9D4EDD"/>
          </a:solidFill>
          <a:ln w="12700">
            <a:solidFill>
              <a:srgbClr val="9D4EDD">
                <a:alpha val="0"/>
              </a:srgbClr>
            </a:solidFill>
            <a:prstDash val="solid"/>
          </a:ln>
        </p:spPr>
      </p:sp>
      <p:sp>
        <p:nvSpPr>
          <p:cNvPr id="15" name="Text 13"/>
          <p:cNvSpPr/>
          <p:nvPr/>
        </p:nvSpPr>
        <p:spPr>
          <a:xfrm>
            <a:off x="2587752" y="2231136"/>
            <a:ext cx="1810512" cy="502920"/>
          </a:xfrm>
          <a:prstGeom prst="rect">
            <a:avLst/>
          </a:prstGeom>
          <a:noFill/>
          <a:ln/>
        </p:spPr>
        <p:txBody>
          <a:bodyPr wrap="square" rtlCol="0" anchor="ctr"/>
          <a:lstStyle/>
          <a:p>
            <a:pPr algn="ctr" indent="0" marL="0">
              <a:buNone/>
            </a:pPr>
            <a:r>
              <a:rPr lang="en-US" sz="1700" b="1" dirty="0">
                <a:solidFill>
                  <a:srgbClr val="9D4EDD"/>
                </a:solidFill>
              </a:rPr>
              <a:t>2 Platforms</a:t>
            </a:r>
            <a:endParaRPr lang="en-US" sz="1700" dirty="0"/>
          </a:p>
        </p:txBody>
      </p:sp>
      <p:sp>
        <p:nvSpPr>
          <p:cNvPr id="16" name="Text 14"/>
          <p:cNvSpPr/>
          <p:nvPr/>
        </p:nvSpPr>
        <p:spPr>
          <a:xfrm>
            <a:off x="2587752" y="2761488"/>
            <a:ext cx="1810512" cy="594360"/>
          </a:xfrm>
          <a:prstGeom prst="rect">
            <a:avLst/>
          </a:prstGeom>
          <a:noFill/>
          <a:ln/>
        </p:spPr>
        <p:txBody>
          <a:bodyPr wrap="square" rtlCol="0" anchor="ctr"/>
          <a:lstStyle/>
          <a:p>
            <a:pPr algn="ctr" indent="0" marL="0">
              <a:buNone/>
            </a:pPr>
            <a:r>
              <a:rPr lang="en-US" sz="1000" dirty="0">
                <a:solidFill>
                  <a:srgbClr val="8899BB"/>
                </a:solidFill>
              </a:rPr>
              <a:t>SurveyCTO + ODK unified pipeline</a:t>
            </a:r>
            <a:endParaRPr lang="en-US" sz="1000" dirty="0"/>
          </a:p>
        </p:txBody>
      </p:sp>
      <p:sp>
        <p:nvSpPr>
          <p:cNvPr id="17" name="Shape 15"/>
          <p:cNvSpPr/>
          <p:nvPr/>
        </p:nvSpPr>
        <p:spPr>
          <a:xfrm>
            <a:off x="4626864" y="2103120"/>
            <a:ext cx="1993392" cy="1463040"/>
          </a:xfrm>
          <a:prstGeom prst="rect">
            <a:avLst/>
          </a:prstGeom>
          <a:solidFill>
            <a:srgbClr val="1A2744">
              <a:alpha val="32000"/>
            </a:srgbClr>
          </a:solidFill>
          <a:ln w="12700">
            <a:solidFill>
              <a:srgbClr val="1E3A5F"/>
            </a:solidFill>
            <a:prstDash val="solid"/>
          </a:ln>
        </p:spPr>
      </p:sp>
      <p:sp>
        <p:nvSpPr>
          <p:cNvPr id="18" name="Shape 16"/>
          <p:cNvSpPr/>
          <p:nvPr/>
        </p:nvSpPr>
        <p:spPr>
          <a:xfrm>
            <a:off x="4626864" y="2103120"/>
            <a:ext cx="1993392" cy="54864"/>
          </a:xfrm>
          <a:prstGeom prst="rect">
            <a:avLst/>
          </a:prstGeom>
          <a:solidFill>
            <a:srgbClr val="06D6A0"/>
          </a:solidFill>
          <a:ln w="12700">
            <a:solidFill>
              <a:srgbClr val="06D6A0">
                <a:alpha val="0"/>
              </a:srgbClr>
            </a:solidFill>
            <a:prstDash val="solid"/>
          </a:ln>
        </p:spPr>
      </p:sp>
      <p:sp>
        <p:nvSpPr>
          <p:cNvPr id="19" name="Text 17"/>
          <p:cNvSpPr/>
          <p:nvPr/>
        </p:nvSpPr>
        <p:spPr>
          <a:xfrm>
            <a:off x="4718304" y="2231136"/>
            <a:ext cx="1810512" cy="502920"/>
          </a:xfrm>
          <a:prstGeom prst="rect">
            <a:avLst/>
          </a:prstGeom>
          <a:noFill/>
          <a:ln/>
        </p:spPr>
        <p:txBody>
          <a:bodyPr wrap="square" rtlCol="0" anchor="ctr"/>
          <a:lstStyle/>
          <a:p>
            <a:pPr algn="ctr" indent="0" marL="0">
              <a:buNone/>
            </a:pPr>
            <a:r>
              <a:rPr lang="en-US" sz="1700" b="1" dirty="0">
                <a:solidFill>
                  <a:srgbClr val="06D6A0"/>
                </a:solidFill>
              </a:rPr>
              <a:t>2-Layer Detection</a:t>
            </a:r>
            <a:endParaRPr lang="en-US" sz="1700" dirty="0"/>
          </a:p>
        </p:txBody>
      </p:sp>
      <p:sp>
        <p:nvSpPr>
          <p:cNvPr id="20" name="Text 18"/>
          <p:cNvSpPr/>
          <p:nvPr/>
        </p:nvSpPr>
        <p:spPr>
          <a:xfrm>
            <a:off x="4718304" y="2761488"/>
            <a:ext cx="1810512" cy="594360"/>
          </a:xfrm>
          <a:prstGeom prst="rect">
            <a:avLst/>
          </a:prstGeom>
          <a:noFill/>
          <a:ln/>
        </p:spPr>
        <p:txBody>
          <a:bodyPr wrap="square" rtlCol="0" anchor="ctr"/>
          <a:lstStyle/>
          <a:p>
            <a:pPr algn="ctr" indent="0" marL="0">
              <a:buNone/>
            </a:pPr>
            <a:r>
              <a:rPr lang="en-US" sz="1000" dirty="0">
                <a:solidFill>
                  <a:srgbClr val="8899BB"/>
                </a:solidFill>
              </a:rPr>
              <a:t>Statistical IQR + Rule-Based Logic</a:t>
            </a:r>
            <a:endParaRPr lang="en-US" sz="1000" dirty="0"/>
          </a:p>
        </p:txBody>
      </p:sp>
      <p:sp>
        <p:nvSpPr>
          <p:cNvPr id="21" name="Shape 19"/>
          <p:cNvSpPr/>
          <p:nvPr/>
        </p:nvSpPr>
        <p:spPr>
          <a:xfrm>
            <a:off x="6757416" y="2103120"/>
            <a:ext cx="1993392" cy="1463040"/>
          </a:xfrm>
          <a:prstGeom prst="rect">
            <a:avLst/>
          </a:prstGeom>
          <a:solidFill>
            <a:srgbClr val="1A2744">
              <a:alpha val="32000"/>
            </a:srgbClr>
          </a:solidFill>
          <a:ln w="12700">
            <a:solidFill>
              <a:srgbClr val="1E3A5F"/>
            </a:solidFill>
            <a:prstDash val="solid"/>
          </a:ln>
        </p:spPr>
      </p:sp>
      <p:sp>
        <p:nvSpPr>
          <p:cNvPr id="22" name="Shape 20"/>
          <p:cNvSpPr/>
          <p:nvPr/>
        </p:nvSpPr>
        <p:spPr>
          <a:xfrm>
            <a:off x="6757416" y="2103120"/>
            <a:ext cx="1993392" cy="54864"/>
          </a:xfrm>
          <a:prstGeom prst="rect">
            <a:avLst/>
          </a:prstGeom>
          <a:solidFill>
            <a:srgbClr val="FFD166"/>
          </a:solidFill>
          <a:ln w="12700">
            <a:solidFill>
              <a:srgbClr val="FFD166">
                <a:alpha val="0"/>
              </a:srgbClr>
            </a:solidFill>
            <a:prstDash val="solid"/>
          </a:ln>
        </p:spPr>
      </p:sp>
      <p:sp>
        <p:nvSpPr>
          <p:cNvPr id="23" name="Text 21"/>
          <p:cNvSpPr/>
          <p:nvPr/>
        </p:nvSpPr>
        <p:spPr>
          <a:xfrm>
            <a:off x="6848856" y="2231136"/>
            <a:ext cx="1810512" cy="502920"/>
          </a:xfrm>
          <a:prstGeom prst="rect">
            <a:avLst/>
          </a:prstGeom>
          <a:noFill/>
          <a:ln/>
        </p:spPr>
        <p:txBody>
          <a:bodyPr wrap="square" rtlCol="0" anchor="ctr"/>
          <a:lstStyle/>
          <a:p>
            <a:pPr algn="ctr" indent="0" marL="0">
              <a:buNone/>
            </a:pPr>
            <a:r>
              <a:rPr lang="en-US" sz="1700" b="1" dirty="0">
                <a:solidFill>
                  <a:srgbClr val="FFD166"/>
                </a:solidFill>
              </a:rPr>
              <a:t>100% Python</a:t>
            </a:r>
            <a:endParaRPr lang="en-US" sz="1700" dirty="0"/>
          </a:p>
        </p:txBody>
      </p:sp>
      <p:sp>
        <p:nvSpPr>
          <p:cNvPr id="24" name="Text 22"/>
          <p:cNvSpPr/>
          <p:nvPr/>
        </p:nvSpPr>
        <p:spPr>
          <a:xfrm>
            <a:off x="6848856" y="2761488"/>
            <a:ext cx="1810512" cy="594360"/>
          </a:xfrm>
          <a:prstGeom prst="rect">
            <a:avLst/>
          </a:prstGeom>
          <a:noFill/>
          <a:ln/>
        </p:spPr>
        <p:txBody>
          <a:bodyPr wrap="square" rtlCol="0" anchor="ctr"/>
          <a:lstStyle/>
          <a:p>
            <a:pPr algn="ctr" indent="0" marL="0">
              <a:buNone/>
            </a:pPr>
            <a:r>
              <a:rPr lang="en-US" sz="1000" dirty="0">
                <a:solidFill>
                  <a:srgbClr val="8899BB"/>
                </a:solidFill>
              </a:rPr>
              <a:t>Open, reproducible, fully documented</a:t>
            </a:r>
            <a:endParaRPr lang="en-US" sz="1000" dirty="0"/>
          </a:p>
        </p:txBody>
      </p:sp>
      <p:sp>
        <p:nvSpPr>
          <p:cNvPr id="25" name="Shape 23"/>
          <p:cNvSpPr/>
          <p:nvPr/>
        </p:nvSpPr>
        <p:spPr>
          <a:xfrm>
            <a:off x="365760" y="3749040"/>
            <a:ext cx="8412480" cy="960120"/>
          </a:xfrm>
          <a:prstGeom prst="rect">
            <a:avLst/>
          </a:prstGeom>
          <a:solidFill>
            <a:srgbClr val="1A2744">
              <a:alpha val="22000"/>
            </a:srgbClr>
          </a:solidFill>
          <a:ln w="12700">
            <a:solidFill>
              <a:srgbClr val="1E3A5F"/>
            </a:solidFill>
            <a:prstDash val="solid"/>
          </a:ln>
        </p:spPr>
      </p:sp>
      <p:sp>
        <p:nvSpPr>
          <p:cNvPr id="26" name="Shape 24"/>
          <p:cNvSpPr/>
          <p:nvPr/>
        </p:nvSpPr>
        <p:spPr>
          <a:xfrm>
            <a:off x="365760" y="3749040"/>
            <a:ext cx="54864" cy="960120"/>
          </a:xfrm>
          <a:prstGeom prst="rect">
            <a:avLst/>
          </a:prstGeom>
          <a:solidFill>
            <a:srgbClr val="06D6A0"/>
          </a:solidFill>
          <a:ln w="12700">
            <a:solidFill>
              <a:srgbClr val="06D6A0">
                <a:alpha val="0"/>
              </a:srgbClr>
            </a:solidFill>
            <a:prstDash val="solid"/>
          </a:ln>
        </p:spPr>
      </p:sp>
      <p:sp>
        <p:nvSpPr>
          <p:cNvPr id="27" name="Text 25"/>
          <p:cNvSpPr/>
          <p:nvPr/>
        </p:nvSpPr>
        <p:spPr>
          <a:xfrm>
            <a:off x="594360" y="3822192"/>
            <a:ext cx="1828800" cy="274320"/>
          </a:xfrm>
          <a:prstGeom prst="rect">
            <a:avLst/>
          </a:prstGeom>
          <a:noFill/>
          <a:ln/>
        </p:spPr>
        <p:txBody>
          <a:bodyPr wrap="square" rtlCol="0" anchor="ctr"/>
          <a:lstStyle/>
          <a:p>
            <a:pPr indent="0" marL="0">
              <a:buNone/>
            </a:pPr>
            <a:r>
              <a:rPr lang="en-US" sz="1200" b="1" dirty="0">
                <a:solidFill>
                  <a:srgbClr val="06D6A0"/>
                </a:solidFill>
              </a:rPr>
              <a:t>Project Aim:</a:t>
            </a:r>
            <a:endParaRPr lang="en-US" sz="1200" dirty="0"/>
          </a:p>
        </p:txBody>
      </p:sp>
      <p:sp>
        <p:nvSpPr>
          <p:cNvPr id="28" name="Text 26"/>
          <p:cNvSpPr/>
          <p:nvPr/>
        </p:nvSpPr>
        <p:spPr>
          <a:xfrm>
            <a:off x="594360" y="4114800"/>
            <a:ext cx="8229600" cy="502920"/>
          </a:xfrm>
          <a:prstGeom prst="rect">
            <a:avLst/>
          </a:prstGeom>
          <a:noFill/>
          <a:ln/>
        </p:spPr>
        <p:txBody>
          <a:bodyPr wrap="square" rtlCol="0" anchor="ctr"/>
          <a:lstStyle/>
          <a:p>
            <a:pPr indent="0" marL="0">
              <a:buNone/>
            </a:pPr>
            <a:r>
              <a:rPr lang="en-US" sz="1100" dirty="0">
                <a:solidFill>
                  <a:srgbClr val="E0E6F0"/>
                </a:solidFill>
              </a:rPr>
              <a:t>Design and implement an automated pipeline for extracting, cataloguing, and analyzing timing-based paradata features from SurveyCTO and ODK audit logs — supporting scalable survey quality assessment.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4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00B4D8"/>
                </a:solidFill>
              </a:rPr>
              <a:t>ARCHITECTURE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Pipeline</a:t>
            </a:r>
            <a:endParaRPr lang="en-US" sz="2800" dirty="0"/>
          </a:p>
        </p:txBody>
      </p:sp>
      <p:sp>
        <p:nvSpPr>
          <p:cNvPr id="7" name="Shape 5"/>
          <p:cNvSpPr/>
          <p:nvPr/>
        </p:nvSpPr>
        <p:spPr>
          <a:xfrm>
            <a:off x="182880" y="1280160"/>
            <a:ext cx="1097280" cy="1828800"/>
          </a:xfrm>
          <a:prstGeom prst="rect">
            <a:avLst/>
          </a:prstGeom>
          <a:solidFill>
            <a:srgbClr val="1A2744">
              <a:alpha val="28000"/>
            </a:srgbClr>
          </a:solidFill>
          <a:ln w="12700">
            <a:solidFill>
              <a:srgbClr val="1E3A5F"/>
            </a:solidFill>
            <a:prstDash val="solid"/>
          </a:ln>
        </p:spPr>
      </p:sp>
      <p:sp>
        <p:nvSpPr>
          <p:cNvPr id="8" name="Shape 6"/>
          <p:cNvSpPr/>
          <p:nvPr/>
        </p:nvSpPr>
        <p:spPr>
          <a:xfrm>
            <a:off x="182880" y="1280160"/>
            <a:ext cx="1097280" cy="54864"/>
          </a:xfrm>
          <a:prstGeom prst="rect">
            <a:avLst/>
          </a:prstGeom>
          <a:solidFill>
            <a:srgbClr val="8899BB"/>
          </a:solidFill>
          <a:ln w="12700">
            <a:solidFill>
              <a:srgbClr val="8899BB">
                <a:alpha val="0"/>
              </a:srgbClr>
            </a:solidFill>
            <a:prstDash val="solid"/>
          </a:ln>
        </p:spPr>
      </p:sp>
      <p:sp>
        <p:nvSpPr>
          <p:cNvPr id="9" name="Text 7"/>
          <p:cNvSpPr/>
          <p:nvPr/>
        </p:nvSpPr>
        <p:spPr>
          <a:xfrm>
            <a:off x="256032" y="1417320"/>
            <a:ext cx="950976" cy="731520"/>
          </a:xfrm>
          <a:prstGeom prst="rect">
            <a:avLst/>
          </a:prstGeom>
          <a:noFill/>
          <a:ln/>
        </p:spPr>
        <p:txBody>
          <a:bodyPr wrap="square" rtlCol="0" anchor="ctr"/>
          <a:lstStyle/>
          <a:p>
            <a:pPr algn="ctr" indent="0" marL="0">
              <a:buNone/>
            </a:pPr>
            <a:r>
              <a:rPr lang="en-US" sz="1200" b="1" dirty="0">
                <a:solidFill>
                  <a:srgbClr val="8899BB"/>
                </a:solidFill>
              </a:rPr>
              <a:t>Audit</a:t>
            </a:r>
            <a:endParaRPr lang="en-US" sz="1200" dirty="0"/>
          </a:p>
          <a:p>
            <a:pPr algn="ctr" indent="0" marL="0">
              <a:buNone/>
            </a:pPr>
            <a:r>
              <a:rPr lang="en-US" sz="1200" b="1" dirty="0">
                <a:solidFill>
                  <a:srgbClr val="8899BB"/>
                </a:solidFill>
              </a:rPr>
              <a:t>Logs</a:t>
            </a:r>
            <a:endParaRPr lang="en-US" sz="1200" dirty="0"/>
          </a:p>
        </p:txBody>
      </p:sp>
      <p:sp>
        <p:nvSpPr>
          <p:cNvPr id="10" name="Text 8"/>
          <p:cNvSpPr/>
          <p:nvPr/>
        </p:nvSpPr>
        <p:spPr>
          <a:xfrm>
            <a:off x="256032" y="2212848"/>
            <a:ext cx="950976" cy="685800"/>
          </a:xfrm>
          <a:prstGeom prst="rect">
            <a:avLst/>
          </a:prstGeom>
          <a:noFill/>
          <a:ln/>
        </p:spPr>
        <p:txBody>
          <a:bodyPr wrap="square" rtlCol="0" anchor="ctr"/>
          <a:lstStyle/>
          <a:p>
            <a:pPr algn="ctr" indent="0" marL="0">
              <a:buNone/>
            </a:pPr>
            <a:r>
              <a:rPr lang="en-US" sz="950" dirty="0">
                <a:solidFill>
                  <a:srgbClr val="8899BB"/>
                </a:solidFill>
              </a:rPr>
              <a:t>SurveyCTO</a:t>
            </a:r>
            <a:endParaRPr lang="en-US" sz="950" dirty="0"/>
          </a:p>
          <a:p>
            <a:pPr algn="ctr" indent="0" marL="0">
              <a:buNone/>
            </a:pPr>
            <a:r>
              <a:rPr lang="en-US" sz="950" dirty="0">
                <a:solidFill>
                  <a:srgbClr val="8899BB"/>
                </a:solidFill>
              </a:rPr>
              <a:t>&amp; ODK CSV</a:t>
            </a:r>
            <a:endParaRPr lang="en-US" sz="950" dirty="0"/>
          </a:p>
        </p:txBody>
      </p:sp>
      <p:sp>
        <p:nvSpPr>
          <p:cNvPr id="11" name="Shape 9"/>
          <p:cNvSpPr/>
          <p:nvPr/>
        </p:nvSpPr>
        <p:spPr>
          <a:xfrm>
            <a:off x="1316736" y="2103120"/>
            <a:ext cx="109728" cy="36576"/>
          </a:xfrm>
          <a:prstGeom prst="rect">
            <a:avLst/>
          </a:prstGeom>
          <a:solidFill>
            <a:srgbClr val="8899BB">
              <a:alpha val="70000"/>
            </a:srgbClr>
          </a:solidFill>
          <a:ln w="12700">
            <a:solidFill>
              <a:srgbClr val="8899BB">
                <a:alpha val="0"/>
              </a:srgbClr>
            </a:solidFill>
            <a:prstDash val="solid"/>
          </a:ln>
        </p:spPr>
      </p:sp>
      <p:sp>
        <p:nvSpPr>
          <p:cNvPr id="12" name="Shape 10"/>
          <p:cNvSpPr/>
          <p:nvPr/>
        </p:nvSpPr>
        <p:spPr>
          <a:xfrm>
            <a:off x="1463040" y="1280160"/>
            <a:ext cx="1417320" cy="1828800"/>
          </a:xfrm>
          <a:prstGeom prst="rect">
            <a:avLst/>
          </a:prstGeom>
          <a:solidFill>
            <a:srgbClr val="1A2744">
              <a:alpha val="28000"/>
            </a:srgbClr>
          </a:solidFill>
          <a:ln w="12700">
            <a:solidFill>
              <a:srgbClr val="1E3A5F"/>
            </a:solidFill>
            <a:prstDash val="solid"/>
          </a:ln>
        </p:spPr>
      </p:sp>
      <p:sp>
        <p:nvSpPr>
          <p:cNvPr id="13" name="Shape 11"/>
          <p:cNvSpPr/>
          <p:nvPr/>
        </p:nvSpPr>
        <p:spPr>
          <a:xfrm>
            <a:off x="1463040" y="1280160"/>
            <a:ext cx="1417320" cy="54864"/>
          </a:xfrm>
          <a:prstGeom prst="rect">
            <a:avLst/>
          </a:prstGeom>
          <a:solidFill>
            <a:srgbClr val="00B4D8"/>
          </a:solidFill>
          <a:ln w="12700">
            <a:solidFill>
              <a:srgbClr val="00B4D8">
                <a:alpha val="0"/>
              </a:srgbClr>
            </a:solidFill>
            <a:prstDash val="solid"/>
          </a:ln>
        </p:spPr>
      </p:sp>
      <p:sp>
        <p:nvSpPr>
          <p:cNvPr id="14" name="Text 12"/>
          <p:cNvSpPr/>
          <p:nvPr/>
        </p:nvSpPr>
        <p:spPr>
          <a:xfrm>
            <a:off x="1536192" y="1417320"/>
            <a:ext cx="1271016" cy="731520"/>
          </a:xfrm>
          <a:prstGeom prst="rect">
            <a:avLst/>
          </a:prstGeom>
          <a:noFill/>
          <a:ln/>
        </p:spPr>
        <p:txBody>
          <a:bodyPr wrap="square" rtlCol="0" anchor="ctr"/>
          <a:lstStyle/>
          <a:p>
            <a:pPr algn="ctr" indent="0" marL="0">
              <a:buNone/>
            </a:pPr>
            <a:r>
              <a:rPr lang="en-US" sz="1200" b="1" dirty="0">
                <a:solidFill>
                  <a:srgbClr val="00B4D8"/>
                </a:solidFill>
              </a:rPr>
              <a:t>Format-Aware</a:t>
            </a:r>
            <a:endParaRPr lang="en-US" sz="1200" dirty="0"/>
          </a:p>
          <a:p>
            <a:pPr algn="ctr" indent="0" marL="0">
              <a:buNone/>
            </a:pPr>
            <a:r>
              <a:rPr lang="en-US" sz="1200" b="1" dirty="0">
                <a:solidFill>
                  <a:srgbClr val="00B4D8"/>
                </a:solidFill>
              </a:rPr>
              <a:t>Parsers</a:t>
            </a:r>
            <a:endParaRPr lang="en-US" sz="1200" dirty="0"/>
          </a:p>
        </p:txBody>
      </p:sp>
      <p:sp>
        <p:nvSpPr>
          <p:cNvPr id="15" name="Text 13"/>
          <p:cNvSpPr/>
          <p:nvPr/>
        </p:nvSpPr>
        <p:spPr>
          <a:xfrm>
            <a:off x="1536192" y="2212848"/>
            <a:ext cx="1271016" cy="685800"/>
          </a:xfrm>
          <a:prstGeom prst="rect">
            <a:avLst/>
          </a:prstGeom>
          <a:noFill/>
          <a:ln/>
        </p:spPr>
        <p:txBody>
          <a:bodyPr wrap="square" rtlCol="0" anchor="ctr"/>
          <a:lstStyle/>
          <a:p>
            <a:pPr algn="ctr" indent="0" marL="0">
              <a:buNone/>
            </a:pPr>
            <a:r>
              <a:rPr lang="en-US" sz="950" dirty="0">
                <a:solidFill>
                  <a:srgbClr val="8899BB"/>
                </a:solidFill>
              </a:rPr>
              <a:t>Normalize to CIR</a:t>
            </a:r>
            <a:endParaRPr lang="en-US" sz="950" dirty="0"/>
          </a:p>
        </p:txBody>
      </p:sp>
      <p:sp>
        <p:nvSpPr>
          <p:cNvPr id="16" name="Shape 14"/>
          <p:cNvSpPr/>
          <p:nvPr/>
        </p:nvSpPr>
        <p:spPr>
          <a:xfrm>
            <a:off x="2916936" y="2103120"/>
            <a:ext cx="109728" cy="36576"/>
          </a:xfrm>
          <a:prstGeom prst="rect">
            <a:avLst/>
          </a:prstGeom>
          <a:solidFill>
            <a:srgbClr val="00B4D8">
              <a:alpha val="70000"/>
            </a:srgbClr>
          </a:solidFill>
          <a:ln w="12700">
            <a:solidFill>
              <a:srgbClr val="00B4D8">
                <a:alpha val="0"/>
              </a:srgbClr>
            </a:solidFill>
            <a:prstDash val="solid"/>
          </a:ln>
        </p:spPr>
      </p:sp>
      <p:sp>
        <p:nvSpPr>
          <p:cNvPr id="17" name="Shape 15"/>
          <p:cNvSpPr/>
          <p:nvPr/>
        </p:nvSpPr>
        <p:spPr>
          <a:xfrm>
            <a:off x="3063240" y="1280160"/>
            <a:ext cx="1417320" cy="1828800"/>
          </a:xfrm>
          <a:prstGeom prst="rect">
            <a:avLst/>
          </a:prstGeom>
          <a:solidFill>
            <a:srgbClr val="1A2744">
              <a:alpha val="28000"/>
            </a:srgbClr>
          </a:solidFill>
          <a:ln w="12700">
            <a:solidFill>
              <a:srgbClr val="1E3A5F"/>
            </a:solidFill>
            <a:prstDash val="solid"/>
          </a:ln>
        </p:spPr>
      </p:sp>
      <p:sp>
        <p:nvSpPr>
          <p:cNvPr id="18" name="Shape 16"/>
          <p:cNvSpPr/>
          <p:nvPr/>
        </p:nvSpPr>
        <p:spPr>
          <a:xfrm>
            <a:off x="3063240" y="1280160"/>
            <a:ext cx="1417320" cy="54864"/>
          </a:xfrm>
          <a:prstGeom prst="rect">
            <a:avLst/>
          </a:prstGeom>
          <a:solidFill>
            <a:srgbClr val="9D4EDD"/>
          </a:solidFill>
          <a:ln w="12700">
            <a:solidFill>
              <a:srgbClr val="9D4EDD">
                <a:alpha val="0"/>
              </a:srgbClr>
            </a:solidFill>
            <a:prstDash val="solid"/>
          </a:ln>
        </p:spPr>
      </p:sp>
      <p:sp>
        <p:nvSpPr>
          <p:cNvPr id="19" name="Text 17"/>
          <p:cNvSpPr/>
          <p:nvPr/>
        </p:nvSpPr>
        <p:spPr>
          <a:xfrm>
            <a:off x="3136392" y="1417320"/>
            <a:ext cx="1271016" cy="731520"/>
          </a:xfrm>
          <a:prstGeom prst="rect">
            <a:avLst/>
          </a:prstGeom>
          <a:noFill/>
          <a:ln/>
        </p:spPr>
        <p:txBody>
          <a:bodyPr wrap="square" rtlCol="0" anchor="ctr"/>
          <a:lstStyle/>
          <a:p>
            <a:pPr algn="ctr" indent="0" marL="0">
              <a:buNone/>
            </a:pPr>
            <a:r>
              <a:rPr lang="en-US" sz="1200" b="1" dirty="0">
                <a:solidFill>
                  <a:srgbClr val="9D4EDD"/>
                </a:solidFill>
              </a:rPr>
              <a:t>Feature</a:t>
            </a:r>
            <a:endParaRPr lang="en-US" sz="1200" dirty="0"/>
          </a:p>
          <a:p>
            <a:pPr algn="ctr" indent="0" marL="0">
              <a:buNone/>
            </a:pPr>
            <a:r>
              <a:rPr lang="en-US" sz="1200" b="1" dirty="0">
                <a:solidFill>
                  <a:srgbClr val="9D4EDD"/>
                </a:solidFill>
              </a:rPr>
              <a:t>Extraction</a:t>
            </a:r>
            <a:endParaRPr lang="en-US" sz="1200" dirty="0"/>
          </a:p>
        </p:txBody>
      </p:sp>
      <p:sp>
        <p:nvSpPr>
          <p:cNvPr id="20" name="Text 18"/>
          <p:cNvSpPr/>
          <p:nvPr/>
        </p:nvSpPr>
        <p:spPr>
          <a:xfrm>
            <a:off x="3136392" y="2212848"/>
            <a:ext cx="1271016" cy="685800"/>
          </a:xfrm>
          <a:prstGeom prst="rect">
            <a:avLst/>
          </a:prstGeom>
          <a:noFill/>
          <a:ln/>
        </p:spPr>
        <p:txBody>
          <a:bodyPr wrap="square" rtlCol="0" anchor="ctr"/>
          <a:lstStyle/>
          <a:p>
            <a:pPr algn="ctr" indent="0" marL="0">
              <a:buNone/>
            </a:pPr>
            <a:r>
              <a:rPr lang="en-US" sz="950" dirty="0">
                <a:solidFill>
                  <a:srgbClr val="8899BB"/>
                </a:solidFill>
              </a:rPr>
              <a:t>40 indicators</a:t>
            </a:r>
            <a:endParaRPr lang="en-US" sz="950" dirty="0"/>
          </a:p>
        </p:txBody>
      </p:sp>
      <p:sp>
        <p:nvSpPr>
          <p:cNvPr id="21" name="Shape 19"/>
          <p:cNvSpPr/>
          <p:nvPr/>
        </p:nvSpPr>
        <p:spPr>
          <a:xfrm>
            <a:off x="4517136" y="2103120"/>
            <a:ext cx="109728" cy="36576"/>
          </a:xfrm>
          <a:prstGeom prst="rect">
            <a:avLst/>
          </a:prstGeom>
          <a:solidFill>
            <a:srgbClr val="9D4EDD">
              <a:alpha val="70000"/>
            </a:srgbClr>
          </a:solidFill>
          <a:ln w="12700">
            <a:solidFill>
              <a:srgbClr val="9D4EDD">
                <a:alpha val="0"/>
              </a:srgbClr>
            </a:solidFill>
            <a:prstDash val="solid"/>
          </a:ln>
        </p:spPr>
      </p:sp>
      <p:sp>
        <p:nvSpPr>
          <p:cNvPr id="22" name="Shape 20"/>
          <p:cNvSpPr/>
          <p:nvPr/>
        </p:nvSpPr>
        <p:spPr>
          <a:xfrm>
            <a:off x="4663440" y="1280160"/>
            <a:ext cx="1508760" cy="18288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1280160"/>
            <a:ext cx="1508760" cy="54864"/>
          </a:xfrm>
          <a:prstGeom prst="rect">
            <a:avLst/>
          </a:prstGeom>
          <a:solidFill>
            <a:srgbClr val="C77DFF"/>
          </a:solidFill>
          <a:ln w="12700">
            <a:solidFill>
              <a:srgbClr val="C77DFF">
                <a:alpha val="0"/>
              </a:srgbClr>
            </a:solidFill>
            <a:prstDash val="solid"/>
          </a:ln>
        </p:spPr>
      </p:sp>
      <p:sp>
        <p:nvSpPr>
          <p:cNvPr id="24" name="Text 22"/>
          <p:cNvSpPr/>
          <p:nvPr/>
        </p:nvSpPr>
        <p:spPr>
          <a:xfrm>
            <a:off x="4736592" y="1417320"/>
            <a:ext cx="1362456" cy="731520"/>
          </a:xfrm>
          <a:prstGeom prst="rect">
            <a:avLst/>
          </a:prstGeom>
          <a:noFill/>
          <a:ln/>
        </p:spPr>
        <p:txBody>
          <a:bodyPr wrap="square" rtlCol="0" anchor="ctr"/>
          <a:lstStyle/>
          <a:p>
            <a:pPr algn="ctr" indent="0" marL="0">
              <a:buNone/>
            </a:pPr>
            <a:r>
              <a:rPr lang="en-US" sz="1200" b="1" dirty="0">
                <a:solidFill>
                  <a:srgbClr val="C77DFF"/>
                </a:solidFill>
              </a:rPr>
              <a:t>Statistical</a:t>
            </a:r>
            <a:endParaRPr lang="en-US" sz="1200" dirty="0"/>
          </a:p>
          <a:p>
            <a:pPr algn="ctr" indent="0" marL="0">
              <a:buNone/>
            </a:pPr>
            <a:r>
              <a:rPr lang="en-US" sz="1200" b="1" dirty="0">
                <a:solidFill>
                  <a:srgbClr val="C77DFF"/>
                </a:solidFill>
              </a:rPr>
              <a:t>Characterization</a:t>
            </a:r>
            <a:endParaRPr lang="en-US" sz="1200" dirty="0"/>
          </a:p>
        </p:txBody>
      </p:sp>
      <p:sp>
        <p:nvSpPr>
          <p:cNvPr id="25" name="Text 23"/>
          <p:cNvSpPr/>
          <p:nvPr/>
        </p:nvSpPr>
        <p:spPr>
          <a:xfrm>
            <a:off x="4736592" y="2212848"/>
            <a:ext cx="1362456" cy="685800"/>
          </a:xfrm>
          <a:prstGeom prst="rect">
            <a:avLst/>
          </a:prstGeom>
          <a:noFill/>
          <a:ln/>
        </p:spPr>
        <p:txBody>
          <a:bodyPr wrap="square" rtlCol="0" anchor="ctr"/>
          <a:lstStyle/>
          <a:p>
            <a:pPr algn="ctr" indent="0" marL="0">
              <a:buNone/>
            </a:pPr>
            <a:r>
              <a:rPr lang="en-US" sz="950" dirty="0">
                <a:solidFill>
                  <a:srgbClr val="8899BB"/>
                </a:solidFill>
              </a:rPr>
              <a:t>Variance, IQR</a:t>
            </a:r>
            <a:endParaRPr lang="en-US" sz="950" dirty="0"/>
          </a:p>
          <a:p>
            <a:pPr algn="ctr" indent="0" marL="0">
              <a:buNone/>
            </a:pPr>
            <a:r>
              <a:rPr lang="en-US" sz="950" dirty="0">
                <a:solidFill>
                  <a:srgbClr val="8899BB"/>
                </a:solidFill>
              </a:rPr>
              <a:t>Entropy, Kurtosis</a:t>
            </a:r>
            <a:endParaRPr lang="en-US" sz="950" dirty="0"/>
          </a:p>
        </p:txBody>
      </p:sp>
      <p:sp>
        <p:nvSpPr>
          <p:cNvPr id="26" name="Shape 24"/>
          <p:cNvSpPr/>
          <p:nvPr/>
        </p:nvSpPr>
        <p:spPr>
          <a:xfrm>
            <a:off x="6208776" y="2103120"/>
            <a:ext cx="109728" cy="36576"/>
          </a:xfrm>
          <a:prstGeom prst="rect">
            <a:avLst/>
          </a:prstGeom>
          <a:solidFill>
            <a:srgbClr val="C77DFF">
              <a:alpha val="70000"/>
            </a:srgbClr>
          </a:solidFill>
          <a:ln w="12700">
            <a:solidFill>
              <a:srgbClr val="C77DFF">
                <a:alpha val="0"/>
              </a:srgbClr>
            </a:solidFill>
            <a:prstDash val="solid"/>
          </a:ln>
        </p:spPr>
      </p:sp>
      <p:sp>
        <p:nvSpPr>
          <p:cNvPr id="27" name="Shape 25"/>
          <p:cNvSpPr/>
          <p:nvPr/>
        </p:nvSpPr>
        <p:spPr>
          <a:xfrm>
            <a:off x="6355080" y="1280160"/>
            <a:ext cx="1417320" cy="1828800"/>
          </a:xfrm>
          <a:prstGeom prst="rect">
            <a:avLst/>
          </a:prstGeom>
          <a:solidFill>
            <a:srgbClr val="1A2744">
              <a:alpha val="28000"/>
            </a:srgbClr>
          </a:solidFill>
          <a:ln w="12700">
            <a:solidFill>
              <a:srgbClr val="1E3A5F"/>
            </a:solidFill>
            <a:prstDash val="solid"/>
          </a:ln>
        </p:spPr>
      </p:sp>
      <p:sp>
        <p:nvSpPr>
          <p:cNvPr id="28" name="Shape 26"/>
          <p:cNvSpPr/>
          <p:nvPr/>
        </p:nvSpPr>
        <p:spPr>
          <a:xfrm>
            <a:off x="6355080" y="1280160"/>
            <a:ext cx="1417320" cy="54864"/>
          </a:xfrm>
          <a:prstGeom prst="rect">
            <a:avLst/>
          </a:prstGeom>
          <a:solidFill>
            <a:srgbClr val="FF4D6D"/>
          </a:solidFill>
          <a:ln w="12700">
            <a:solidFill>
              <a:srgbClr val="FF4D6D">
                <a:alpha val="0"/>
              </a:srgbClr>
            </a:solidFill>
            <a:prstDash val="solid"/>
          </a:ln>
        </p:spPr>
      </p:sp>
      <p:sp>
        <p:nvSpPr>
          <p:cNvPr id="29" name="Text 27"/>
          <p:cNvSpPr/>
          <p:nvPr/>
        </p:nvSpPr>
        <p:spPr>
          <a:xfrm>
            <a:off x="6428232" y="1417320"/>
            <a:ext cx="1271016" cy="731520"/>
          </a:xfrm>
          <a:prstGeom prst="rect">
            <a:avLst/>
          </a:prstGeom>
          <a:noFill/>
          <a:ln/>
        </p:spPr>
        <p:txBody>
          <a:bodyPr wrap="square" rtlCol="0" anchor="ctr"/>
          <a:lstStyle/>
          <a:p>
            <a:pPr algn="ctr" indent="0" marL="0">
              <a:buNone/>
            </a:pPr>
            <a:r>
              <a:rPr lang="en-US" sz="1200" b="1" dirty="0">
                <a:solidFill>
                  <a:srgbClr val="FF4D6D"/>
                </a:solidFill>
              </a:rPr>
              <a:t>Anomaly</a:t>
            </a:r>
            <a:endParaRPr lang="en-US" sz="1200" dirty="0"/>
          </a:p>
          <a:p>
            <a:pPr algn="ctr" indent="0" marL="0">
              <a:buNone/>
            </a:pPr>
            <a:r>
              <a:rPr lang="en-US" sz="1200" b="1" dirty="0">
                <a:solidFill>
                  <a:srgbClr val="FF4D6D"/>
                </a:solidFill>
              </a:rPr>
              <a:t>Detection</a:t>
            </a:r>
            <a:endParaRPr lang="en-US" sz="1200" dirty="0"/>
          </a:p>
        </p:txBody>
      </p:sp>
      <p:sp>
        <p:nvSpPr>
          <p:cNvPr id="30" name="Text 28"/>
          <p:cNvSpPr/>
          <p:nvPr/>
        </p:nvSpPr>
        <p:spPr>
          <a:xfrm>
            <a:off x="6428232" y="2212848"/>
            <a:ext cx="1271016" cy="685800"/>
          </a:xfrm>
          <a:prstGeom prst="rect">
            <a:avLst/>
          </a:prstGeom>
          <a:noFill/>
          <a:ln/>
        </p:spPr>
        <p:txBody>
          <a:bodyPr wrap="square" rtlCol="0" anchor="ctr"/>
          <a:lstStyle/>
          <a:p>
            <a:pPr algn="ctr" indent="0" marL="0">
              <a:buNone/>
            </a:pPr>
            <a:r>
              <a:rPr lang="en-US" sz="950" dirty="0">
                <a:solidFill>
                  <a:srgbClr val="8899BB"/>
                </a:solidFill>
              </a:rPr>
              <a:t>IQR + Rule-Based</a:t>
            </a:r>
            <a:endParaRPr lang="en-US" sz="950" dirty="0"/>
          </a:p>
        </p:txBody>
      </p:sp>
      <p:sp>
        <p:nvSpPr>
          <p:cNvPr id="31" name="Shape 29"/>
          <p:cNvSpPr/>
          <p:nvPr/>
        </p:nvSpPr>
        <p:spPr>
          <a:xfrm>
            <a:off x="7808976" y="2103120"/>
            <a:ext cx="109728" cy="36576"/>
          </a:xfrm>
          <a:prstGeom prst="rect">
            <a:avLst/>
          </a:prstGeom>
          <a:solidFill>
            <a:srgbClr val="FF4D6D">
              <a:alpha val="70000"/>
            </a:srgbClr>
          </a:solidFill>
          <a:ln w="12700">
            <a:solidFill>
              <a:srgbClr val="FF4D6D">
                <a:alpha val="0"/>
              </a:srgbClr>
            </a:solidFill>
            <a:prstDash val="solid"/>
          </a:ln>
        </p:spPr>
      </p:sp>
      <p:sp>
        <p:nvSpPr>
          <p:cNvPr id="32" name="Shape 30"/>
          <p:cNvSpPr/>
          <p:nvPr/>
        </p:nvSpPr>
        <p:spPr>
          <a:xfrm>
            <a:off x="7955280" y="1280160"/>
            <a:ext cx="1097280" cy="1828800"/>
          </a:xfrm>
          <a:prstGeom prst="rect">
            <a:avLst/>
          </a:prstGeom>
          <a:solidFill>
            <a:srgbClr val="1A2744">
              <a:alpha val="28000"/>
            </a:srgbClr>
          </a:solidFill>
          <a:ln w="12700">
            <a:solidFill>
              <a:srgbClr val="1E3A5F"/>
            </a:solidFill>
            <a:prstDash val="solid"/>
          </a:ln>
        </p:spPr>
      </p:sp>
      <p:sp>
        <p:nvSpPr>
          <p:cNvPr id="33" name="Shape 31"/>
          <p:cNvSpPr/>
          <p:nvPr/>
        </p:nvSpPr>
        <p:spPr>
          <a:xfrm>
            <a:off x="7955280" y="1280160"/>
            <a:ext cx="1097280" cy="54864"/>
          </a:xfrm>
          <a:prstGeom prst="rect">
            <a:avLst/>
          </a:prstGeom>
          <a:solidFill>
            <a:srgbClr val="06D6A0"/>
          </a:solidFill>
          <a:ln w="12700">
            <a:solidFill>
              <a:srgbClr val="06D6A0">
                <a:alpha val="0"/>
              </a:srgbClr>
            </a:solidFill>
            <a:prstDash val="solid"/>
          </a:ln>
        </p:spPr>
      </p:sp>
      <p:sp>
        <p:nvSpPr>
          <p:cNvPr id="34" name="Text 32"/>
          <p:cNvSpPr/>
          <p:nvPr/>
        </p:nvSpPr>
        <p:spPr>
          <a:xfrm>
            <a:off x="8028432" y="1417320"/>
            <a:ext cx="950976" cy="731520"/>
          </a:xfrm>
          <a:prstGeom prst="rect">
            <a:avLst/>
          </a:prstGeom>
          <a:noFill/>
          <a:ln/>
        </p:spPr>
        <p:txBody>
          <a:bodyPr wrap="square" rtlCol="0" anchor="ctr"/>
          <a:lstStyle/>
          <a:p>
            <a:pPr algn="ctr" indent="0" marL="0">
              <a:buNone/>
            </a:pPr>
            <a:r>
              <a:rPr lang="en-US" sz="1200" b="1" dirty="0">
                <a:solidFill>
                  <a:srgbClr val="06D6A0"/>
                </a:solidFill>
              </a:rPr>
              <a:t>Output</a:t>
            </a:r>
            <a:endParaRPr lang="en-US" sz="1200" dirty="0"/>
          </a:p>
          <a:p>
            <a:pPr algn="ctr" indent="0" marL="0">
              <a:buNone/>
            </a:pPr>
            <a:r>
              <a:rPr lang="en-US" sz="1200" b="1" dirty="0">
                <a:solidFill>
                  <a:srgbClr val="06D6A0"/>
                </a:solidFill>
              </a:rPr>
              <a:t>Datasets</a:t>
            </a:r>
            <a:endParaRPr lang="en-US" sz="1200" dirty="0"/>
          </a:p>
        </p:txBody>
      </p:sp>
      <p:sp>
        <p:nvSpPr>
          <p:cNvPr id="35" name="Text 33"/>
          <p:cNvSpPr/>
          <p:nvPr/>
        </p:nvSpPr>
        <p:spPr>
          <a:xfrm>
            <a:off x="8028432" y="2212848"/>
            <a:ext cx="950976" cy="685800"/>
          </a:xfrm>
          <a:prstGeom prst="rect">
            <a:avLst/>
          </a:prstGeom>
          <a:noFill/>
          <a:ln/>
        </p:spPr>
        <p:txBody>
          <a:bodyPr wrap="square" rtlCol="0" anchor="ctr"/>
          <a:lstStyle/>
          <a:p>
            <a:pPr algn="ctr" indent="0" marL="0">
              <a:buNone/>
            </a:pPr>
            <a:r>
              <a:rPr lang="en-US" sz="950" dirty="0">
                <a:solidFill>
                  <a:srgbClr val="8899BB"/>
                </a:solidFill>
              </a:rPr>
              <a:t>Reports &amp; Library</a:t>
            </a:r>
            <a:endParaRPr lang="en-US" sz="950" dirty="0"/>
          </a:p>
        </p:txBody>
      </p:sp>
      <p:sp>
        <p:nvSpPr>
          <p:cNvPr id="36" name="Shape 34"/>
          <p:cNvSpPr/>
          <p:nvPr/>
        </p:nvSpPr>
        <p:spPr>
          <a:xfrm>
            <a:off x="1097280" y="3310128"/>
            <a:ext cx="3291840" cy="438912"/>
          </a:xfrm>
          <a:prstGeom prst="rect">
            <a:avLst/>
          </a:prstGeom>
          <a:solidFill>
            <a:srgbClr val="1A2744">
              <a:alpha val="25000"/>
            </a:srgbClr>
          </a:solidFill>
          <a:ln w="12700">
            <a:solidFill>
              <a:srgbClr val="1E3A5F"/>
            </a:solidFill>
            <a:prstDash val="solid"/>
          </a:ln>
        </p:spPr>
      </p:sp>
      <p:sp>
        <p:nvSpPr>
          <p:cNvPr id="37" name="Text 35"/>
          <p:cNvSpPr/>
          <p:nvPr/>
        </p:nvSpPr>
        <p:spPr>
          <a:xfrm>
            <a:off x="1143000" y="3383280"/>
            <a:ext cx="3200400" cy="292608"/>
          </a:xfrm>
          <a:prstGeom prst="rect">
            <a:avLst/>
          </a:prstGeom>
          <a:noFill/>
          <a:ln/>
        </p:spPr>
        <p:txBody>
          <a:bodyPr wrap="square" rtlCol="0" anchor="ctr"/>
          <a:lstStyle/>
          <a:p>
            <a:pPr algn="ctr" indent="0" marL="0">
              <a:buNone/>
            </a:pPr>
            <a:r>
              <a:rPr lang="en-US" sz="1000" i="1" dirty="0">
                <a:solidFill>
                  <a:srgbClr val="00B4D8"/>
                </a:solidFill>
              </a:rPr>
              <a:t>Common Intermediate Representation (CIR)</a:t>
            </a:r>
            <a:endParaRPr lang="en-US" sz="1000" dirty="0"/>
          </a:p>
        </p:txBody>
      </p:sp>
      <p:sp>
        <p:nvSpPr>
          <p:cNvPr id="38" name="Shape 36"/>
          <p:cNvSpPr/>
          <p:nvPr/>
        </p:nvSpPr>
        <p:spPr>
          <a:xfrm>
            <a:off x="365760" y="3931920"/>
            <a:ext cx="8412480" cy="822960"/>
          </a:xfrm>
          <a:prstGeom prst="rect">
            <a:avLst/>
          </a:prstGeom>
          <a:solidFill>
            <a:srgbClr val="1A2744">
              <a:alpha val="20000"/>
            </a:srgbClr>
          </a:solidFill>
          <a:ln w="12700">
            <a:solidFill>
              <a:srgbClr val="1E3A5F"/>
            </a:solidFill>
            <a:prstDash val="solid"/>
          </a:ln>
        </p:spPr>
      </p:sp>
      <p:sp>
        <p:nvSpPr>
          <p:cNvPr id="39" name="Shape 37"/>
          <p:cNvSpPr/>
          <p:nvPr/>
        </p:nvSpPr>
        <p:spPr>
          <a:xfrm>
            <a:off x="365760" y="3931920"/>
            <a:ext cx="54864" cy="822960"/>
          </a:xfrm>
          <a:prstGeom prst="rect">
            <a:avLst/>
          </a:prstGeom>
          <a:solidFill>
            <a:srgbClr val="00B4D8"/>
          </a:solidFill>
          <a:ln w="12700">
            <a:solidFill>
              <a:srgbClr val="00B4D8">
                <a:alpha val="0"/>
              </a:srgbClr>
            </a:solidFill>
            <a:prstDash val="solid"/>
          </a:ln>
        </p:spPr>
      </p:sp>
      <p:sp>
        <p:nvSpPr>
          <p:cNvPr id="40" name="Text 38"/>
          <p:cNvSpPr/>
          <p:nvPr/>
        </p:nvSpPr>
        <p:spPr>
          <a:xfrm>
            <a:off x="594360" y="4087368"/>
            <a:ext cx="8138160" cy="530352"/>
          </a:xfrm>
          <a:prstGeom prst="rect">
            <a:avLst/>
          </a:prstGeom>
          <a:noFill/>
          <a:ln/>
        </p:spPr>
        <p:txBody>
          <a:bodyPr wrap="square" rtlCol="0" anchor="ctr"/>
          <a:lstStyle/>
          <a:p>
            <a:pPr indent="0" marL="0">
              <a:buNone/>
            </a:pPr>
            <a:r>
              <a:rPr lang="en-US" sz="1150" b="1" dirty="0">
                <a:solidFill>
                  <a:srgbClr val="00B4D8"/>
                </a:solidFill>
              </a:rPr>
              <a:t>Modular Design:  </a:t>
            </a:r>
            <a:pPr indent="0" marL="0">
              <a:buNone/>
            </a:pPr>
            <a:r>
              <a:rPr lang="en-US" sz="1150" dirty="0">
                <a:solidFill>
                  <a:srgbClr val="E0E6F0"/>
                </a:solidFill>
              </a:rPr>
              <a:t>Adding a new platform = writing one new parser only. All 40 features and both detection layers remain unchanged.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5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C77DFF"/>
                </a:solidFill>
              </a:rPr>
              <a:t>FEATURE ENGINEERING</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40 Timing-Based Features Across 4 Levels</a:t>
            </a:r>
            <a:endParaRPr lang="en-US" sz="2800" dirty="0"/>
          </a:p>
        </p:txBody>
      </p:sp>
      <p:sp>
        <p:nvSpPr>
          <p:cNvPr id="7" name="Shape 5"/>
          <p:cNvSpPr/>
          <p:nvPr/>
        </p:nvSpPr>
        <p:spPr>
          <a:xfrm>
            <a:off x="274320" y="1188720"/>
            <a:ext cx="2103120" cy="34290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2103120" cy="54864"/>
          </a:xfrm>
          <a:prstGeom prst="rect">
            <a:avLst/>
          </a:prstGeom>
          <a:solidFill>
            <a:srgbClr val="00B4D8"/>
          </a:solidFill>
          <a:ln w="12700">
            <a:solidFill>
              <a:srgbClr val="00B4D8">
                <a:alpha val="0"/>
              </a:srgbClr>
            </a:solidFill>
            <a:prstDash val="solid"/>
          </a:ln>
        </p:spPr>
      </p:sp>
      <p:sp>
        <p:nvSpPr>
          <p:cNvPr id="9" name="Text 7"/>
          <p:cNvSpPr/>
          <p:nvPr/>
        </p:nvSpPr>
        <p:spPr>
          <a:xfrm>
            <a:off x="365760" y="1298448"/>
            <a:ext cx="1920240" cy="347472"/>
          </a:xfrm>
          <a:prstGeom prst="rect">
            <a:avLst/>
          </a:prstGeom>
          <a:noFill/>
          <a:ln/>
        </p:spPr>
        <p:txBody>
          <a:bodyPr wrap="square" rtlCol="0" anchor="ctr"/>
          <a:lstStyle/>
          <a:p>
            <a:pPr indent="0" marL="0">
              <a:buNone/>
            </a:pPr>
            <a:r>
              <a:rPr lang="en-US" sz="1300" b="1" dirty="0">
                <a:solidFill>
                  <a:srgbClr val="00B4D8"/>
                </a:solidFill>
              </a:rPr>
              <a:t>Question-Level</a:t>
            </a:r>
            <a:endParaRPr lang="en-US" sz="1300" dirty="0"/>
          </a:p>
        </p:txBody>
      </p:sp>
      <p:sp>
        <p:nvSpPr>
          <p:cNvPr id="10" name="Text 8"/>
          <p:cNvSpPr/>
          <p:nvPr/>
        </p:nvSpPr>
        <p:spPr>
          <a:xfrm>
            <a:off x="365760" y="1664208"/>
            <a:ext cx="1920240" cy="256032"/>
          </a:xfrm>
          <a:prstGeom prst="rect">
            <a:avLst/>
          </a:prstGeom>
          <a:noFill/>
          <a:ln/>
        </p:spPr>
        <p:txBody>
          <a:bodyPr wrap="square" rtlCol="0" anchor="ctr"/>
          <a:lstStyle/>
          <a:p>
            <a:pPr indent="0" marL="0">
              <a:buNone/>
            </a:pPr>
            <a:r>
              <a:rPr lang="en-US" sz="1000" dirty="0">
                <a:solidFill>
                  <a:srgbClr val="8899BB"/>
                </a:solidFill>
              </a:rPr>
              <a:t>Q01–Q10</a:t>
            </a:r>
            <a:endParaRPr lang="en-US" sz="1000" dirty="0"/>
          </a:p>
        </p:txBody>
      </p:sp>
      <p:sp>
        <p:nvSpPr>
          <p:cNvPr id="11" name="Text 9"/>
          <p:cNvSpPr/>
          <p:nvPr/>
        </p:nvSpPr>
        <p:spPr>
          <a:xfrm>
            <a:off x="365760" y="2029968"/>
            <a:ext cx="1920240" cy="347472"/>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E0E6F0"/>
                </a:solidFill>
              </a:rPr>
              <a:t>Response time (ms)</a:t>
            </a:r>
            <a:endParaRPr lang="en-US" sz="1050" dirty="0"/>
          </a:p>
        </p:txBody>
      </p:sp>
      <p:sp>
        <p:nvSpPr>
          <p:cNvPr id="12" name="Text 10"/>
          <p:cNvSpPr/>
          <p:nvPr/>
        </p:nvSpPr>
        <p:spPr>
          <a:xfrm>
            <a:off x="365760" y="2432304"/>
            <a:ext cx="1920240" cy="347472"/>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E0E6F0"/>
                </a:solidFill>
              </a:rPr>
              <a:t>Time-to-first-interaction</a:t>
            </a:r>
            <a:endParaRPr lang="en-US" sz="1050" dirty="0"/>
          </a:p>
        </p:txBody>
      </p:sp>
      <p:sp>
        <p:nvSpPr>
          <p:cNvPr id="13" name="Text 11"/>
          <p:cNvSpPr/>
          <p:nvPr/>
        </p:nvSpPr>
        <p:spPr>
          <a:xfrm>
            <a:off x="365760" y="2834640"/>
            <a:ext cx="1920240" cy="347472"/>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E0E6F0"/>
                </a:solidFill>
              </a:rPr>
              <a:t>Edit count &amp; revisit flag</a:t>
            </a:r>
            <a:endParaRPr lang="en-US" sz="1050" dirty="0"/>
          </a:p>
        </p:txBody>
      </p:sp>
      <p:sp>
        <p:nvSpPr>
          <p:cNvPr id="14" name="Text 12"/>
          <p:cNvSpPr/>
          <p:nvPr/>
        </p:nvSpPr>
        <p:spPr>
          <a:xfrm>
            <a:off x="365760" y="3236976"/>
            <a:ext cx="1920240" cy="347472"/>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E0E6F0"/>
                </a:solidFill>
              </a:rPr>
              <a:t>Idle time &amp; keystrokes</a:t>
            </a:r>
            <a:endParaRPr lang="en-US" sz="1050" dirty="0"/>
          </a:p>
        </p:txBody>
      </p:sp>
      <p:sp>
        <p:nvSpPr>
          <p:cNvPr id="15" name="Text 13"/>
          <p:cNvSpPr/>
          <p:nvPr/>
        </p:nvSpPr>
        <p:spPr>
          <a:xfrm>
            <a:off x="365760" y="3639312"/>
            <a:ext cx="1920240" cy="347472"/>
          </a:xfrm>
          <a:prstGeom prst="rect">
            <a:avLst/>
          </a:prstGeom>
          <a:noFill/>
          <a:ln/>
        </p:spPr>
        <p:txBody>
          <a:bodyPr wrap="square" rtlCol="0" anchor="ctr"/>
          <a:lstStyle/>
          <a:p>
            <a:pPr indent="0" marL="0">
              <a:buNone/>
            </a:pPr>
            <a:r>
              <a:rPr lang="en-US" sz="1050" dirty="0">
                <a:solidFill>
                  <a:srgbClr val="00B4D8"/>
                </a:solidFill>
              </a:rPr>
              <a:t>›  </a:t>
            </a:r>
            <a:pPr indent="0" marL="0">
              <a:buNone/>
            </a:pPr>
            <a:r>
              <a:rPr lang="en-US" sz="1050" dirty="0">
                <a:solidFill>
                  <a:srgbClr val="E0E6F0"/>
                </a:solidFill>
              </a:rPr>
              <a:t>Constraint triggers</a:t>
            </a:r>
            <a:endParaRPr lang="en-US" sz="1050" dirty="0"/>
          </a:p>
        </p:txBody>
      </p:sp>
      <p:sp>
        <p:nvSpPr>
          <p:cNvPr id="16" name="Shape 14"/>
          <p:cNvSpPr/>
          <p:nvPr/>
        </p:nvSpPr>
        <p:spPr>
          <a:xfrm>
            <a:off x="2560320" y="1188720"/>
            <a:ext cx="2103120" cy="3429000"/>
          </a:xfrm>
          <a:prstGeom prst="rect">
            <a:avLst/>
          </a:prstGeom>
          <a:solidFill>
            <a:srgbClr val="1A2744">
              <a:alpha val="28000"/>
            </a:srgbClr>
          </a:solidFill>
          <a:ln w="12700">
            <a:solidFill>
              <a:srgbClr val="1E3A5F"/>
            </a:solidFill>
            <a:prstDash val="solid"/>
          </a:ln>
        </p:spPr>
      </p:sp>
      <p:sp>
        <p:nvSpPr>
          <p:cNvPr id="17" name="Shape 15"/>
          <p:cNvSpPr/>
          <p:nvPr/>
        </p:nvSpPr>
        <p:spPr>
          <a:xfrm>
            <a:off x="2560320" y="1188720"/>
            <a:ext cx="2103120" cy="54864"/>
          </a:xfrm>
          <a:prstGeom prst="rect">
            <a:avLst/>
          </a:prstGeom>
          <a:solidFill>
            <a:srgbClr val="9D4EDD"/>
          </a:solidFill>
          <a:ln w="12700">
            <a:solidFill>
              <a:srgbClr val="9D4EDD">
                <a:alpha val="0"/>
              </a:srgbClr>
            </a:solidFill>
            <a:prstDash val="solid"/>
          </a:ln>
        </p:spPr>
      </p:sp>
      <p:sp>
        <p:nvSpPr>
          <p:cNvPr id="18" name="Text 16"/>
          <p:cNvSpPr/>
          <p:nvPr/>
        </p:nvSpPr>
        <p:spPr>
          <a:xfrm>
            <a:off x="2651760" y="1298448"/>
            <a:ext cx="1920240" cy="347472"/>
          </a:xfrm>
          <a:prstGeom prst="rect">
            <a:avLst/>
          </a:prstGeom>
          <a:noFill/>
          <a:ln/>
        </p:spPr>
        <p:txBody>
          <a:bodyPr wrap="square" rtlCol="0" anchor="ctr"/>
          <a:lstStyle/>
          <a:p>
            <a:pPr indent="0" marL="0">
              <a:buNone/>
            </a:pPr>
            <a:r>
              <a:rPr lang="en-US" sz="1300" b="1" dirty="0">
                <a:solidFill>
                  <a:srgbClr val="9D4EDD"/>
                </a:solidFill>
              </a:rPr>
              <a:t>Section-Level</a:t>
            </a:r>
            <a:endParaRPr lang="en-US" sz="1300" dirty="0"/>
          </a:p>
        </p:txBody>
      </p:sp>
      <p:sp>
        <p:nvSpPr>
          <p:cNvPr id="19" name="Text 17"/>
          <p:cNvSpPr/>
          <p:nvPr/>
        </p:nvSpPr>
        <p:spPr>
          <a:xfrm>
            <a:off x="2651760" y="1664208"/>
            <a:ext cx="1920240" cy="256032"/>
          </a:xfrm>
          <a:prstGeom prst="rect">
            <a:avLst/>
          </a:prstGeom>
          <a:noFill/>
          <a:ln/>
        </p:spPr>
        <p:txBody>
          <a:bodyPr wrap="square" rtlCol="0" anchor="ctr"/>
          <a:lstStyle/>
          <a:p>
            <a:pPr indent="0" marL="0">
              <a:buNone/>
            </a:pPr>
            <a:r>
              <a:rPr lang="en-US" sz="1000" dirty="0">
                <a:solidFill>
                  <a:srgbClr val="8899BB"/>
                </a:solidFill>
              </a:rPr>
              <a:t>S01–S10</a:t>
            </a:r>
            <a:endParaRPr lang="en-US" sz="1000" dirty="0"/>
          </a:p>
        </p:txBody>
      </p:sp>
      <p:sp>
        <p:nvSpPr>
          <p:cNvPr id="20" name="Text 18"/>
          <p:cNvSpPr/>
          <p:nvPr/>
        </p:nvSpPr>
        <p:spPr>
          <a:xfrm>
            <a:off x="2651760" y="2029968"/>
            <a:ext cx="1920240" cy="347472"/>
          </a:xfrm>
          <a:prstGeom prst="rect">
            <a:avLst/>
          </a:prstGeom>
          <a:noFill/>
          <a:ln/>
        </p:spPr>
        <p:txBody>
          <a:bodyPr wrap="square" rtlCol="0" anchor="ctr"/>
          <a:lstStyle/>
          <a:p>
            <a:pPr indent="0" marL="0">
              <a:buNone/>
            </a:pPr>
            <a:r>
              <a:rPr lang="en-US" sz="1050" dirty="0">
                <a:solidFill>
                  <a:srgbClr val="9D4EDD"/>
                </a:solidFill>
              </a:rPr>
              <a:t>›  </a:t>
            </a:r>
            <a:pPr indent="0" marL="0">
              <a:buNone/>
            </a:pPr>
            <a:r>
              <a:rPr lang="en-US" sz="1050" dirty="0">
                <a:solidFill>
                  <a:srgbClr val="E0E6F0"/>
                </a:solidFill>
              </a:rPr>
              <a:t>Mean section pace</a:t>
            </a:r>
            <a:endParaRPr lang="en-US" sz="1050" dirty="0"/>
          </a:p>
        </p:txBody>
      </p:sp>
      <p:sp>
        <p:nvSpPr>
          <p:cNvPr id="21" name="Text 19"/>
          <p:cNvSpPr/>
          <p:nvPr/>
        </p:nvSpPr>
        <p:spPr>
          <a:xfrm>
            <a:off x="2651760" y="2432304"/>
            <a:ext cx="1920240" cy="347472"/>
          </a:xfrm>
          <a:prstGeom prst="rect">
            <a:avLst/>
          </a:prstGeom>
          <a:noFill/>
          <a:ln/>
        </p:spPr>
        <p:txBody>
          <a:bodyPr wrap="square" rtlCol="0" anchor="ctr"/>
          <a:lstStyle/>
          <a:p>
            <a:pPr indent="0" marL="0">
              <a:buNone/>
            </a:pPr>
            <a:r>
              <a:rPr lang="en-US" sz="1050" dirty="0">
                <a:solidFill>
                  <a:srgbClr val="9D4EDD"/>
                </a:solidFill>
              </a:rPr>
              <a:t>›  </a:t>
            </a:r>
            <a:pPr indent="0" marL="0">
              <a:buNone/>
            </a:pPr>
            <a:r>
              <a:rPr lang="en-US" sz="1050" dirty="0">
                <a:solidFill>
                  <a:srgbClr val="E0E6F0"/>
                </a:solidFill>
              </a:rPr>
              <a:t>Within-section variance</a:t>
            </a:r>
            <a:endParaRPr lang="en-US" sz="1050" dirty="0"/>
          </a:p>
        </p:txBody>
      </p:sp>
      <p:sp>
        <p:nvSpPr>
          <p:cNvPr id="22" name="Text 20"/>
          <p:cNvSpPr/>
          <p:nvPr/>
        </p:nvSpPr>
        <p:spPr>
          <a:xfrm>
            <a:off x="2651760" y="2834640"/>
            <a:ext cx="1920240" cy="347472"/>
          </a:xfrm>
          <a:prstGeom prst="rect">
            <a:avLst/>
          </a:prstGeom>
          <a:noFill/>
          <a:ln/>
        </p:spPr>
        <p:txBody>
          <a:bodyPr wrap="square" rtlCol="0" anchor="ctr"/>
          <a:lstStyle/>
          <a:p>
            <a:pPr indent="0" marL="0">
              <a:buNone/>
            </a:pPr>
            <a:r>
              <a:rPr lang="en-US" sz="1050" dirty="0">
                <a:solidFill>
                  <a:srgbClr val="9D4EDD"/>
                </a:solidFill>
              </a:rPr>
              <a:t>›  </a:t>
            </a:r>
            <a:pPr indent="0" marL="0">
              <a:buNone/>
            </a:pPr>
            <a:r>
              <a:rPr lang="en-US" sz="1050" dirty="0">
                <a:solidFill>
                  <a:srgbClr val="E0E6F0"/>
                </a:solidFill>
              </a:rPr>
              <a:t>Pause count (&gt;5s, &gt;30s)</a:t>
            </a:r>
            <a:endParaRPr lang="en-US" sz="1050" dirty="0"/>
          </a:p>
        </p:txBody>
      </p:sp>
      <p:sp>
        <p:nvSpPr>
          <p:cNvPr id="23" name="Text 21"/>
          <p:cNvSpPr/>
          <p:nvPr/>
        </p:nvSpPr>
        <p:spPr>
          <a:xfrm>
            <a:off x="2651760" y="3236976"/>
            <a:ext cx="1920240" cy="347472"/>
          </a:xfrm>
          <a:prstGeom prst="rect">
            <a:avLst/>
          </a:prstGeom>
          <a:noFill/>
          <a:ln/>
        </p:spPr>
        <p:txBody>
          <a:bodyPr wrap="square" rtlCol="0" anchor="ctr"/>
          <a:lstStyle/>
          <a:p>
            <a:pPr indent="0" marL="0">
              <a:buNone/>
            </a:pPr>
            <a:r>
              <a:rPr lang="en-US" sz="1050" dirty="0">
                <a:solidFill>
                  <a:srgbClr val="9D4EDD"/>
                </a:solidFill>
              </a:rPr>
              <a:t>›  </a:t>
            </a:r>
            <a:pPr indent="0" marL="0">
              <a:buNone/>
            </a:pPr>
            <a:r>
              <a:rPr lang="en-US" sz="1050" dirty="0">
                <a:solidFill>
                  <a:srgbClr val="E0E6F0"/>
                </a:solidFill>
              </a:rPr>
              <a:t>Back-nav count</a:t>
            </a:r>
            <a:endParaRPr lang="en-US" sz="1050" dirty="0"/>
          </a:p>
        </p:txBody>
      </p:sp>
      <p:sp>
        <p:nvSpPr>
          <p:cNvPr id="24" name="Text 22"/>
          <p:cNvSpPr/>
          <p:nvPr/>
        </p:nvSpPr>
        <p:spPr>
          <a:xfrm>
            <a:off x="2651760" y="3639312"/>
            <a:ext cx="1920240" cy="347472"/>
          </a:xfrm>
          <a:prstGeom prst="rect">
            <a:avLst/>
          </a:prstGeom>
          <a:noFill/>
          <a:ln/>
        </p:spPr>
        <p:txBody>
          <a:bodyPr wrap="square" rtlCol="0" anchor="ctr"/>
          <a:lstStyle/>
          <a:p>
            <a:pPr indent="0" marL="0">
              <a:buNone/>
            </a:pPr>
            <a:r>
              <a:rPr lang="en-US" sz="1050" dirty="0">
                <a:solidFill>
                  <a:srgbClr val="9D4EDD"/>
                </a:solidFill>
              </a:rPr>
              <a:t>›  </a:t>
            </a:r>
            <a:pPr indent="0" marL="0">
              <a:buNone/>
            </a:pPr>
            <a:r>
              <a:rPr lang="en-US" sz="1050" dirty="0">
                <a:solidFill>
                  <a:srgbClr val="E0E6F0"/>
                </a:solidFill>
              </a:rPr>
              <a:t>Section completion rate</a:t>
            </a:r>
            <a:endParaRPr lang="en-US" sz="1050" dirty="0"/>
          </a:p>
        </p:txBody>
      </p:sp>
      <p:sp>
        <p:nvSpPr>
          <p:cNvPr id="25" name="Shape 23"/>
          <p:cNvSpPr/>
          <p:nvPr/>
        </p:nvSpPr>
        <p:spPr>
          <a:xfrm>
            <a:off x="4846320" y="1188720"/>
            <a:ext cx="2103120" cy="3429000"/>
          </a:xfrm>
          <a:prstGeom prst="rect">
            <a:avLst/>
          </a:prstGeom>
          <a:solidFill>
            <a:srgbClr val="1A2744">
              <a:alpha val="28000"/>
            </a:srgbClr>
          </a:solidFill>
          <a:ln w="12700">
            <a:solidFill>
              <a:srgbClr val="1E3A5F"/>
            </a:solidFill>
            <a:prstDash val="solid"/>
          </a:ln>
        </p:spPr>
      </p:sp>
      <p:sp>
        <p:nvSpPr>
          <p:cNvPr id="26" name="Shape 24"/>
          <p:cNvSpPr/>
          <p:nvPr/>
        </p:nvSpPr>
        <p:spPr>
          <a:xfrm>
            <a:off x="4846320" y="1188720"/>
            <a:ext cx="2103120" cy="54864"/>
          </a:xfrm>
          <a:prstGeom prst="rect">
            <a:avLst/>
          </a:prstGeom>
          <a:solidFill>
            <a:srgbClr val="C77DFF"/>
          </a:solidFill>
          <a:ln w="12700">
            <a:solidFill>
              <a:srgbClr val="C77DFF">
                <a:alpha val="0"/>
              </a:srgbClr>
            </a:solidFill>
            <a:prstDash val="solid"/>
          </a:ln>
        </p:spPr>
      </p:sp>
      <p:sp>
        <p:nvSpPr>
          <p:cNvPr id="27" name="Text 25"/>
          <p:cNvSpPr/>
          <p:nvPr/>
        </p:nvSpPr>
        <p:spPr>
          <a:xfrm>
            <a:off x="4937760" y="1298448"/>
            <a:ext cx="1920240" cy="347472"/>
          </a:xfrm>
          <a:prstGeom prst="rect">
            <a:avLst/>
          </a:prstGeom>
          <a:noFill/>
          <a:ln/>
        </p:spPr>
        <p:txBody>
          <a:bodyPr wrap="square" rtlCol="0" anchor="ctr"/>
          <a:lstStyle/>
          <a:p>
            <a:pPr indent="0" marL="0">
              <a:buNone/>
            </a:pPr>
            <a:r>
              <a:rPr lang="en-US" sz="1300" b="1" dirty="0">
                <a:solidFill>
                  <a:srgbClr val="C77DFF"/>
                </a:solidFill>
              </a:rPr>
              <a:t>Survey-Level</a:t>
            </a:r>
            <a:endParaRPr lang="en-US" sz="1300" dirty="0"/>
          </a:p>
        </p:txBody>
      </p:sp>
      <p:sp>
        <p:nvSpPr>
          <p:cNvPr id="28" name="Text 26"/>
          <p:cNvSpPr/>
          <p:nvPr/>
        </p:nvSpPr>
        <p:spPr>
          <a:xfrm>
            <a:off x="4937760" y="1664208"/>
            <a:ext cx="1920240" cy="256032"/>
          </a:xfrm>
          <a:prstGeom prst="rect">
            <a:avLst/>
          </a:prstGeom>
          <a:noFill/>
          <a:ln/>
        </p:spPr>
        <p:txBody>
          <a:bodyPr wrap="square" rtlCol="0" anchor="ctr"/>
          <a:lstStyle/>
          <a:p>
            <a:pPr indent="0" marL="0">
              <a:buNone/>
            </a:pPr>
            <a:r>
              <a:rPr lang="en-US" sz="1000" dirty="0">
                <a:solidFill>
                  <a:srgbClr val="8899BB"/>
                </a:solidFill>
              </a:rPr>
              <a:t>V01–V10</a:t>
            </a:r>
            <a:endParaRPr lang="en-US" sz="1000" dirty="0"/>
          </a:p>
        </p:txBody>
      </p:sp>
      <p:sp>
        <p:nvSpPr>
          <p:cNvPr id="29" name="Text 27"/>
          <p:cNvSpPr/>
          <p:nvPr/>
        </p:nvSpPr>
        <p:spPr>
          <a:xfrm>
            <a:off x="4937760" y="2029968"/>
            <a:ext cx="1920240" cy="347472"/>
          </a:xfrm>
          <a:prstGeom prst="rect">
            <a:avLst/>
          </a:prstGeom>
          <a:noFill/>
          <a:ln/>
        </p:spPr>
        <p:txBody>
          <a:bodyPr wrap="square" rtlCol="0" anchor="ctr"/>
          <a:lstStyle/>
          <a:p>
            <a:pPr indent="0" marL="0">
              <a:buNone/>
            </a:pPr>
            <a:r>
              <a:rPr lang="en-US" sz="1050" dirty="0">
                <a:solidFill>
                  <a:srgbClr val="C77DFF"/>
                </a:solidFill>
              </a:rPr>
              <a:t>›  </a:t>
            </a:r>
            <a:pPr indent="0" marL="0">
              <a:buNone/>
            </a:pPr>
            <a:r>
              <a:rPr lang="en-US" sz="1050" dirty="0">
                <a:solidFill>
                  <a:srgbClr val="E0E6F0"/>
                </a:solidFill>
              </a:rPr>
              <a:t>Total interview duration</a:t>
            </a:r>
            <a:endParaRPr lang="en-US" sz="1050" dirty="0"/>
          </a:p>
        </p:txBody>
      </p:sp>
      <p:sp>
        <p:nvSpPr>
          <p:cNvPr id="30" name="Text 28"/>
          <p:cNvSpPr/>
          <p:nvPr/>
        </p:nvSpPr>
        <p:spPr>
          <a:xfrm>
            <a:off x="4937760" y="2432304"/>
            <a:ext cx="1920240" cy="347472"/>
          </a:xfrm>
          <a:prstGeom prst="rect">
            <a:avLst/>
          </a:prstGeom>
          <a:noFill/>
          <a:ln/>
        </p:spPr>
        <p:txBody>
          <a:bodyPr wrap="square" rtlCol="0" anchor="ctr"/>
          <a:lstStyle/>
          <a:p>
            <a:pPr indent="0" marL="0">
              <a:buNone/>
            </a:pPr>
            <a:r>
              <a:rPr lang="en-US" sz="1050" dirty="0">
                <a:solidFill>
                  <a:srgbClr val="C77DFF"/>
                </a:solidFill>
              </a:rPr>
              <a:t>›  </a:t>
            </a:r>
            <a:pPr indent="0" marL="0">
              <a:buNone/>
            </a:pPr>
            <a:r>
              <a:rPr lang="en-US" sz="1050" dirty="0">
                <a:solidFill>
                  <a:srgbClr val="E0E6F0"/>
                </a:solidFill>
              </a:rPr>
              <a:t>Speed trajectory ratio</a:t>
            </a:r>
            <a:endParaRPr lang="en-US" sz="1050" dirty="0"/>
          </a:p>
        </p:txBody>
      </p:sp>
      <p:sp>
        <p:nvSpPr>
          <p:cNvPr id="31" name="Text 29"/>
          <p:cNvSpPr/>
          <p:nvPr/>
        </p:nvSpPr>
        <p:spPr>
          <a:xfrm>
            <a:off x="4937760" y="2834640"/>
            <a:ext cx="1920240" cy="347472"/>
          </a:xfrm>
          <a:prstGeom prst="rect">
            <a:avLst/>
          </a:prstGeom>
          <a:noFill/>
          <a:ln/>
        </p:spPr>
        <p:txBody>
          <a:bodyPr wrap="square" rtlCol="0" anchor="ctr"/>
          <a:lstStyle/>
          <a:p>
            <a:pPr indent="0" marL="0">
              <a:buNone/>
            </a:pPr>
            <a:r>
              <a:rPr lang="en-US" sz="1050" dirty="0">
                <a:solidFill>
                  <a:srgbClr val="C77DFF"/>
                </a:solidFill>
              </a:rPr>
              <a:t>›  </a:t>
            </a:r>
            <a:pPr indent="0" marL="0">
              <a:buNone/>
            </a:pPr>
            <a:r>
              <a:rPr lang="en-US" sz="1050" dirty="0">
                <a:solidFill>
                  <a:srgbClr val="E0E6F0"/>
                </a:solidFill>
              </a:rPr>
              <a:t>Back-navigation rate</a:t>
            </a:r>
            <a:endParaRPr lang="en-US" sz="1050" dirty="0"/>
          </a:p>
        </p:txBody>
      </p:sp>
      <p:sp>
        <p:nvSpPr>
          <p:cNvPr id="32" name="Text 30"/>
          <p:cNvSpPr/>
          <p:nvPr/>
        </p:nvSpPr>
        <p:spPr>
          <a:xfrm>
            <a:off x="4937760" y="3236976"/>
            <a:ext cx="1920240" cy="347472"/>
          </a:xfrm>
          <a:prstGeom prst="rect">
            <a:avLst/>
          </a:prstGeom>
          <a:noFill/>
          <a:ln/>
        </p:spPr>
        <p:txBody>
          <a:bodyPr wrap="square" rtlCol="0" anchor="ctr"/>
          <a:lstStyle/>
          <a:p>
            <a:pPr indent="0" marL="0">
              <a:buNone/>
            </a:pPr>
            <a:r>
              <a:rPr lang="en-US" sz="1050" dirty="0">
                <a:solidFill>
                  <a:srgbClr val="C77DFF"/>
                </a:solidFill>
              </a:rPr>
              <a:t>›  </a:t>
            </a:r>
            <a:pPr indent="0" marL="0">
              <a:buNone/>
            </a:pPr>
            <a:r>
              <a:rPr lang="en-US" sz="1050" dirty="0">
                <a:solidFill>
                  <a:srgbClr val="E0E6F0"/>
                </a:solidFill>
              </a:rPr>
              <a:t>Time-of-day &amp; day-of-week</a:t>
            </a:r>
            <a:endParaRPr lang="en-US" sz="1050" dirty="0"/>
          </a:p>
        </p:txBody>
      </p:sp>
      <p:sp>
        <p:nvSpPr>
          <p:cNvPr id="33" name="Text 31"/>
          <p:cNvSpPr/>
          <p:nvPr/>
        </p:nvSpPr>
        <p:spPr>
          <a:xfrm>
            <a:off x="4937760" y="3639312"/>
            <a:ext cx="1920240" cy="347472"/>
          </a:xfrm>
          <a:prstGeom prst="rect">
            <a:avLst/>
          </a:prstGeom>
          <a:noFill/>
          <a:ln/>
        </p:spPr>
        <p:txBody>
          <a:bodyPr wrap="square" rtlCol="0" anchor="ctr"/>
          <a:lstStyle/>
          <a:p>
            <a:pPr indent="0" marL="0">
              <a:buNone/>
            </a:pPr>
            <a:r>
              <a:rPr lang="en-US" sz="1050" dirty="0">
                <a:solidFill>
                  <a:srgbClr val="C77DFF"/>
                </a:solidFill>
              </a:rPr>
              <a:t>›  </a:t>
            </a:r>
            <a:pPr indent="0" marL="0">
              <a:buNone/>
            </a:pPr>
            <a:r>
              <a:rPr lang="en-US" sz="1050" dirty="0">
                <a:solidFill>
                  <a:srgbClr val="E0E6F0"/>
                </a:solidFill>
              </a:rPr>
              <a:t>Zero back-nav flag</a:t>
            </a:r>
            <a:endParaRPr lang="en-US" sz="1050" dirty="0"/>
          </a:p>
        </p:txBody>
      </p:sp>
      <p:sp>
        <p:nvSpPr>
          <p:cNvPr id="34" name="Shape 32"/>
          <p:cNvSpPr/>
          <p:nvPr/>
        </p:nvSpPr>
        <p:spPr>
          <a:xfrm>
            <a:off x="7132320" y="1188720"/>
            <a:ext cx="2103120" cy="3429000"/>
          </a:xfrm>
          <a:prstGeom prst="rect">
            <a:avLst/>
          </a:prstGeom>
          <a:solidFill>
            <a:srgbClr val="1A2744">
              <a:alpha val="28000"/>
            </a:srgbClr>
          </a:solidFill>
          <a:ln w="12700">
            <a:solidFill>
              <a:srgbClr val="1E3A5F"/>
            </a:solidFill>
            <a:prstDash val="solid"/>
          </a:ln>
        </p:spPr>
      </p:sp>
      <p:sp>
        <p:nvSpPr>
          <p:cNvPr id="35" name="Shape 33"/>
          <p:cNvSpPr/>
          <p:nvPr/>
        </p:nvSpPr>
        <p:spPr>
          <a:xfrm>
            <a:off x="7132320" y="1188720"/>
            <a:ext cx="2103120" cy="54864"/>
          </a:xfrm>
          <a:prstGeom prst="rect">
            <a:avLst/>
          </a:prstGeom>
          <a:solidFill>
            <a:srgbClr val="FFD166"/>
          </a:solidFill>
          <a:ln w="12700">
            <a:solidFill>
              <a:srgbClr val="FFD166">
                <a:alpha val="0"/>
              </a:srgbClr>
            </a:solidFill>
            <a:prstDash val="solid"/>
          </a:ln>
        </p:spPr>
      </p:sp>
      <p:sp>
        <p:nvSpPr>
          <p:cNvPr id="36" name="Text 34"/>
          <p:cNvSpPr/>
          <p:nvPr/>
        </p:nvSpPr>
        <p:spPr>
          <a:xfrm>
            <a:off x="7223760" y="1298448"/>
            <a:ext cx="1920240" cy="347472"/>
          </a:xfrm>
          <a:prstGeom prst="rect">
            <a:avLst/>
          </a:prstGeom>
          <a:noFill/>
          <a:ln/>
        </p:spPr>
        <p:txBody>
          <a:bodyPr wrap="square" rtlCol="0" anchor="ctr"/>
          <a:lstStyle/>
          <a:p>
            <a:pPr indent="0" marL="0">
              <a:buNone/>
            </a:pPr>
            <a:r>
              <a:rPr lang="en-US" sz="1300" b="1" dirty="0">
                <a:solidFill>
                  <a:srgbClr val="FFD166"/>
                </a:solidFill>
              </a:rPr>
              <a:t>Statistical</a:t>
            </a:r>
            <a:endParaRPr lang="en-US" sz="1300" dirty="0"/>
          </a:p>
        </p:txBody>
      </p:sp>
      <p:sp>
        <p:nvSpPr>
          <p:cNvPr id="37" name="Text 35"/>
          <p:cNvSpPr/>
          <p:nvPr/>
        </p:nvSpPr>
        <p:spPr>
          <a:xfrm>
            <a:off x="7223760" y="1664208"/>
            <a:ext cx="1920240" cy="256032"/>
          </a:xfrm>
          <a:prstGeom prst="rect">
            <a:avLst/>
          </a:prstGeom>
          <a:noFill/>
          <a:ln/>
        </p:spPr>
        <p:txBody>
          <a:bodyPr wrap="square" rtlCol="0" anchor="ctr"/>
          <a:lstStyle/>
          <a:p>
            <a:pPr indent="0" marL="0">
              <a:buNone/>
            </a:pPr>
            <a:r>
              <a:rPr lang="en-US" sz="1000" dirty="0">
                <a:solidFill>
                  <a:srgbClr val="8899BB"/>
                </a:solidFill>
              </a:rPr>
              <a:t>T01–T10</a:t>
            </a:r>
            <a:endParaRPr lang="en-US" sz="1000" dirty="0"/>
          </a:p>
        </p:txBody>
      </p:sp>
      <p:sp>
        <p:nvSpPr>
          <p:cNvPr id="38" name="Text 36"/>
          <p:cNvSpPr/>
          <p:nvPr/>
        </p:nvSpPr>
        <p:spPr>
          <a:xfrm>
            <a:off x="7223760" y="2029968"/>
            <a:ext cx="1920240" cy="347472"/>
          </a:xfrm>
          <a:prstGeom prst="rect">
            <a:avLst/>
          </a:prstGeom>
          <a:noFill/>
          <a:ln/>
        </p:spPr>
        <p:txBody>
          <a:bodyPr wrap="square" rtlCol="0" anchor="ctr"/>
          <a:lstStyle/>
          <a:p>
            <a:pPr indent="0" marL="0">
              <a:buNone/>
            </a:pPr>
            <a:r>
              <a:rPr lang="en-US" sz="1050" dirty="0">
                <a:solidFill>
                  <a:srgbClr val="FFD166"/>
                </a:solidFill>
              </a:rPr>
              <a:t>›  </a:t>
            </a:r>
            <a:pPr indent="0" marL="0">
              <a:buNone/>
            </a:pPr>
            <a:r>
              <a:rPr lang="en-US" sz="1050" dirty="0">
                <a:solidFill>
                  <a:srgbClr val="E0E6F0"/>
                </a:solidFill>
              </a:rPr>
              <a:t>Variance &amp; IQR</a:t>
            </a:r>
            <a:endParaRPr lang="en-US" sz="1050" dirty="0"/>
          </a:p>
        </p:txBody>
      </p:sp>
      <p:sp>
        <p:nvSpPr>
          <p:cNvPr id="39" name="Text 37"/>
          <p:cNvSpPr/>
          <p:nvPr/>
        </p:nvSpPr>
        <p:spPr>
          <a:xfrm>
            <a:off x="7223760" y="2432304"/>
            <a:ext cx="1920240" cy="347472"/>
          </a:xfrm>
          <a:prstGeom prst="rect">
            <a:avLst/>
          </a:prstGeom>
          <a:noFill/>
          <a:ln/>
        </p:spPr>
        <p:txBody>
          <a:bodyPr wrap="square" rtlCol="0" anchor="ctr"/>
          <a:lstStyle/>
          <a:p>
            <a:pPr indent="0" marL="0">
              <a:buNone/>
            </a:pPr>
            <a:r>
              <a:rPr lang="en-US" sz="1050" dirty="0">
                <a:solidFill>
                  <a:srgbClr val="FFD166"/>
                </a:solidFill>
              </a:rPr>
              <a:t>›  </a:t>
            </a:r>
            <a:pPr indent="0" marL="0">
              <a:buNone/>
            </a:pPr>
            <a:r>
              <a:rPr lang="en-US" sz="1050" dirty="0">
                <a:solidFill>
                  <a:srgbClr val="E0E6F0"/>
                </a:solidFill>
              </a:rPr>
              <a:t>Shannon entropy</a:t>
            </a:r>
            <a:endParaRPr lang="en-US" sz="1050" dirty="0"/>
          </a:p>
        </p:txBody>
      </p:sp>
      <p:sp>
        <p:nvSpPr>
          <p:cNvPr id="40" name="Text 38"/>
          <p:cNvSpPr/>
          <p:nvPr/>
        </p:nvSpPr>
        <p:spPr>
          <a:xfrm>
            <a:off x="7223760" y="2834640"/>
            <a:ext cx="1920240" cy="347472"/>
          </a:xfrm>
          <a:prstGeom prst="rect">
            <a:avLst/>
          </a:prstGeom>
          <a:noFill/>
          <a:ln/>
        </p:spPr>
        <p:txBody>
          <a:bodyPr wrap="square" rtlCol="0" anchor="ctr"/>
          <a:lstStyle/>
          <a:p>
            <a:pPr indent="0" marL="0">
              <a:buNone/>
            </a:pPr>
            <a:r>
              <a:rPr lang="en-US" sz="1050" dirty="0">
                <a:solidFill>
                  <a:srgbClr val="FFD166"/>
                </a:solidFill>
              </a:rPr>
              <a:t>›  </a:t>
            </a:r>
            <a:pPr indent="0" marL="0">
              <a:buNone/>
            </a:pPr>
            <a:r>
              <a:rPr lang="en-US" sz="1050" dirty="0">
                <a:solidFill>
                  <a:srgbClr val="E0E6F0"/>
                </a:solidFill>
              </a:rPr>
              <a:t>Skewness &amp; kurtosis</a:t>
            </a:r>
            <a:endParaRPr lang="en-US" sz="1050" dirty="0"/>
          </a:p>
        </p:txBody>
      </p:sp>
      <p:sp>
        <p:nvSpPr>
          <p:cNvPr id="41" name="Text 39"/>
          <p:cNvSpPr/>
          <p:nvPr/>
        </p:nvSpPr>
        <p:spPr>
          <a:xfrm>
            <a:off x="7223760" y="3236976"/>
            <a:ext cx="1920240" cy="347472"/>
          </a:xfrm>
          <a:prstGeom prst="rect">
            <a:avLst/>
          </a:prstGeom>
          <a:noFill/>
          <a:ln/>
        </p:spPr>
        <p:txBody>
          <a:bodyPr wrap="square" rtlCol="0" anchor="ctr"/>
          <a:lstStyle/>
          <a:p>
            <a:pPr indent="0" marL="0">
              <a:buNone/>
            </a:pPr>
            <a:r>
              <a:rPr lang="en-US" sz="1050" dirty="0">
                <a:solidFill>
                  <a:srgbClr val="FFD166"/>
                </a:solidFill>
              </a:rPr>
              <a:t>›  </a:t>
            </a:r>
            <a:pPr indent="0" marL="0">
              <a:buNone/>
            </a:pPr>
            <a:r>
              <a:rPr lang="en-US" sz="1050" dirty="0">
                <a:solidFill>
                  <a:srgbClr val="E0E6F0"/>
                </a:solidFill>
              </a:rPr>
              <a:t>Mean, median, min, max RT</a:t>
            </a:r>
            <a:endParaRPr lang="en-US" sz="1050" dirty="0"/>
          </a:p>
        </p:txBody>
      </p:sp>
      <p:sp>
        <p:nvSpPr>
          <p:cNvPr id="42" name="Text 40"/>
          <p:cNvSpPr/>
          <p:nvPr/>
        </p:nvSpPr>
        <p:spPr>
          <a:xfrm>
            <a:off x="7223760" y="3639312"/>
            <a:ext cx="1920240" cy="347472"/>
          </a:xfrm>
          <a:prstGeom prst="rect">
            <a:avLst/>
          </a:prstGeom>
          <a:noFill/>
          <a:ln/>
        </p:spPr>
        <p:txBody>
          <a:bodyPr wrap="square" rtlCol="0" anchor="ctr"/>
          <a:lstStyle/>
          <a:p>
            <a:pPr indent="0" marL="0">
              <a:buNone/>
            </a:pPr>
            <a:r>
              <a:rPr lang="en-US" sz="1050" dirty="0">
                <a:solidFill>
                  <a:srgbClr val="FFD166"/>
                </a:solidFill>
              </a:rPr>
              <a:t>›  </a:t>
            </a:r>
            <a:pPr indent="0" marL="0">
              <a:buNone/>
            </a:pPr>
            <a:r>
              <a:rPr lang="en-US" sz="1050" dirty="0">
                <a:solidFill>
                  <a:srgbClr val="E0E6F0"/>
                </a:solidFill>
              </a:rPr>
              <a:t>Coefficient of variation</a:t>
            </a:r>
            <a:endParaRPr lang="en-US" sz="1050" dirty="0"/>
          </a:p>
        </p:txBody>
      </p:sp>
      <p:sp>
        <p:nvSpPr>
          <p:cNvPr id="43" name="Shape 41"/>
          <p:cNvSpPr/>
          <p:nvPr/>
        </p:nvSpPr>
        <p:spPr>
          <a:xfrm>
            <a:off x="274320" y="4736592"/>
            <a:ext cx="8686800" cy="274320"/>
          </a:xfrm>
          <a:prstGeom prst="rect">
            <a:avLst/>
          </a:prstGeom>
          <a:solidFill>
            <a:srgbClr val="1A2744">
              <a:alpha val="20000"/>
            </a:srgbClr>
          </a:solidFill>
          <a:ln w="12700">
            <a:solidFill>
              <a:srgbClr val="1E3A5F"/>
            </a:solidFill>
            <a:prstDash val="solid"/>
          </a:ln>
        </p:spPr>
      </p:sp>
      <p:sp>
        <p:nvSpPr>
          <p:cNvPr id="44" name="Text 42"/>
          <p:cNvSpPr/>
          <p:nvPr/>
        </p:nvSpPr>
        <p:spPr>
          <a:xfrm>
            <a:off x="457200" y="4754880"/>
            <a:ext cx="8503920" cy="237744"/>
          </a:xfrm>
          <a:prstGeom prst="rect">
            <a:avLst/>
          </a:prstGeom>
          <a:noFill/>
          <a:ln/>
        </p:spPr>
        <p:txBody>
          <a:bodyPr wrap="square" rtlCol="0" anchor="ctr"/>
          <a:lstStyle/>
          <a:p>
            <a:pPr algn="ctr" indent="0" marL="0">
              <a:buNone/>
            </a:pPr>
            <a:r>
              <a:rPr lang="en-US" sz="950" dirty="0">
                <a:solidFill>
                  <a:srgbClr val="8899BB"/>
                </a:solidFill>
              </a:rPr>
              <a:t>All features grounded in peer-reviewed survey methodology literature  •  Mann-Whitney U validated  •  Non-discriminative features documented and excluded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6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FF4D6D"/>
                </a:solidFill>
              </a:rPr>
              <a:t>ANOMALY DETECTION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Two-Layer Detection System</a:t>
            </a:r>
            <a:endParaRPr lang="en-US" sz="2800" dirty="0"/>
          </a:p>
        </p:txBody>
      </p:sp>
      <p:sp>
        <p:nvSpPr>
          <p:cNvPr id="7" name="Shape 5"/>
          <p:cNvSpPr/>
          <p:nvPr/>
        </p:nvSpPr>
        <p:spPr>
          <a:xfrm>
            <a:off x="274320" y="1188720"/>
            <a:ext cx="4114800" cy="265176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FF4D6D"/>
          </a:solidFill>
          <a:ln w="12700">
            <a:solidFill>
              <a:srgbClr val="FF4D6D">
                <a:alpha val="0"/>
              </a:srgbClr>
            </a:solidFill>
            <a:prstDash val="solid"/>
          </a:ln>
        </p:spPr>
      </p:sp>
      <p:sp>
        <p:nvSpPr>
          <p:cNvPr id="9" name="Text 7"/>
          <p:cNvSpPr/>
          <p:nvPr/>
        </p:nvSpPr>
        <p:spPr>
          <a:xfrm>
            <a:off x="438912" y="1298448"/>
            <a:ext cx="3840480" cy="365760"/>
          </a:xfrm>
          <a:prstGeom prst="rect">
            <a:avLst/>
          </a:prstGeom>
          <a:noFill/>
          <a:ln/>
        </p:spPr>
        <p:txBody>
          <a:bodyPr wrap="square" rtlCol="0" anchor="ctr"/>
          <a:lstStyle/>
          <a:p>
            <a:pPr indent="0" marL="0">
              <a:buNone/>
            </a:pPr>
            <a:r>
              <a:rPr lang="en-US" sz="1300" b="1" dirty="0">
                <a:solidFill>
                  <a:srgbClr val="FF4D6D"/>
                </a:solidFill>
              </a:rPr>
              <a:t>Layer 1 — Statistical IQR Detection</a:t>
            </a:r>
            <a:endParaRPr lang="en-US" sz="1300" dirty="0"/>
          </a:p>
        </p:txBody>
      </p:sp>
      <p:sp>
        <p:nvSpPr>
          <p:cNvPr id="10" name="Text 8"/>
          <p:cNvSpPr/>
          <p:nvPr/>
        </p:nvSpPr>
        <p:spPr>
          <a:xfrm>
            <a:off x="438912" y="1737360"/>
            <a:ext cx="3840480" cy="292608"/>
          </a:xfrm>
          <a:prstGeom prst="rect">
            <a:avLst/>
          </a:prstGeom>
          <a:noFill/>
          <a:ln/>
        </p:spPr>
        <p:txBody>
          <a:bodyPr wrap="square" rtlCol="0" anchor="ctr"/>
          <a:lstStyle/>
          <a:p>
            <a:pPr indent="0" marL="0">
              <a:buNone/>
            </a:pPr>
            <a:r>
              <a:rPr lang="en-US" sz="1100" dirty="0">
                <a:solidFill>
                  <a:srgbClr val="E0E6F0"/>
                </a:solidFill>
              </a:rPr>
              <a:t>Flag interviews where any feature satisfies:</a:t>
            </a:r>
            <a:endParaRPr lang="en-US" sz="1100" dirty="0"/>
          </a:p>
        </p:txBody>
      </p:sp>
      <p:sp>
        <p:nvSpPr>
          <p:cNvPr id="11" name="Text 9"/>
          <p:cNvSpPr/>
          <p:nvPr/>
        </p:nvSpPr>
        <p:spPr>
          <a:xfrm>
            <a:off x="438912" y="2075688"/>
            <a:ext cx="3840480" cy="384048"/>
          </a:xfrm>
          <a:prstGeom prst="rect">
            <a:avLst/>
          </a:prstGeom>
          <a:noFill/>
          <a:ln/>
        </p:spPr>
        <p:txBody>
          <a:bodyPr wrap="square" rtlCol="0" anchor="ctr"/>
          <a:lstStyle/>
          <a:p>
            <a:pPr algn="ctr" indent="0" marL="0">
              <a:buNone/>
            </a:pPr>
            <a:r>
              <a:rPr lang="en-US" sz="1100" b="1" dirty="0">
                <a:solidFill>
                  <a:srgbClr val="FFD166"/>
                </a:solidFill>
                <a:latin typeface="Consolas" pitchFamily="34" charset="0"/>
                <a:ea typeface="Consolas" pitchFamily="34" charset="-122"/>
                <a:cs typeface="Consolas" pitchFamily="34" charset="-120"/>
              </a:rPr>
              <a:t>value &lt; Q1 − 1.5×IQR   OR   value &gt; Q3 + 1.5×IQR</a:t>
            </a:r>
            <a:endParaRPr lang="en-US" sz="1100" dirty="0"/>
          </a:p>
        </p:txBody>
      </p:sp>
      <p:sp>
        <p:nvSpPr>
          <p:cNvPr id="12" name="Text 10"/>
          <p:cNvSpPr/>
          <p:nvPr/>
        </p:nvSpPr>
        <p:spPr>
          <a:xfrm>
            <a:off x="438912" y="2578608"/>
            <a:ext cx="3840480" cy="292608"/>
          </a:xfrm>
          <a:prstGeom prst="rect">
            <a:avLst/>
          </a:prstGeom>
          <a:noFill/>
          <a:ln/>
        </p:spPr>
        <p:txBody>
          <a:bodyPr wrap="square" rtlCol="0" anchor="ctr"/>
          <a:lstStyle/>
          <a:p>
            <a:pPr indent="0" marL="0">
              <a:buNone/>
            </a:pPr>
            <a:r>
              <a:rPr lang="en-US" sz="1100" dirty="0">
                <a:solidFill>
                  <a:srgbClr val="FF4D6D"/>
                </a:solidFill>
              </a:rPr>
              <a:t>▸  </a:t>
            </a:r>
            <a:pPr indent="0" marL="0">
              <a:buNone/>
            </a:pPr>
            <a:r>
              <a:rPr lang="en-US" sz="1100" dirty="0">
                <a:solidFill>
                  <a:srgbClr val="E0E6F0"/>
                </a:solidFill>
              </a:rPr>
              <a:t>No normality assumption — robust to skewed RT distributions</a:t>
            </a:r>
            <a:endParaRPr lang="en-US" sz="1100" dirty="0"/>
          </a:p>
        </p:txBody>
      </p:sp>
      <p:sp>
        <p:nvSpPr>
          <p:cNvPr id="13" name="Text 11"/>
          <p:cNvSpPr/>
          <p:nvPr/>
        </p:nvSpPr>
        <p:spPr>
          <a:xfrm>
            <a:off x="438912" y="2926080"/>
            <a:ext cx="3840480" cy="292608"/>
          </a:xfrm>
          <a:prstGeom prst="rect">
            <a:avLst/>
          </a:prstGeom>
          <a:noFill/>
          <a:ln/>
        </p:spPr>
        <p:txBody>
          <a:bodyPr wrap="square" rtlCol="0" anchor="ctr"/>
          <a:lstStyle/>
          <a:p>
            <a:pPr indent="0" marL="0">
              <a:buNone/>
            </a:pPr>
            <a:r>
              <a:rPr lang="en-US" sz="1100" dirty="0">
                <a:solidFill>
                  <a:srgbClr val="FF4D6D"/>
                </a:solidFill>
              </a:rPr>
              <a:t>▸  </a:t>
            </a:r>
            <a:pPr indent="0" marL="0">
              <a:buNone/>
            </a:pPr>
            <a:r>
              <a:rPr lang="en-US" sz="1100" dirty="0">
                <a:solidFill>
                  <a:srgbClr val="E0E6F0"/>
                </a:solidFill>
              </a:rPr>
              <a:t>Anomaly score = count of features flagged</a:t>
            </a:r>
            <a:endParaRPr lang="en-US" sz="1100" dirty="0"/>
          </a:p>
        </p:txBody>
      </p:sp>
      <p:sp>
        <p:nvSpPr>
          <p:cNvPr id="14" name="Text 12"/>
          <p:cNvSpPr/>
          <p:nvPr/>
        </p:nvSpPr>
        <p:spPr>
          <a:xfrm>
            <a:off x="438912" y="3273552"/>
            <a:ext cx="3840480" cy="292608"/>
          </a:xfrm>
          <a:prstGeom prst="rect">
            <a:avLst/>
          </a:prstGeom>
          <a:noFill/>
          <a:ln/>
        </p:spPr>
        <p:txBody>
          <a:bodyPr wrap="square" rtlCol="0" anchor="ctr"/>
          <a:lstStyle/>
          <a:p>
            <a:pPr indent="0" marL="0">
              <a:buNone/>
            </a:pPr>
            <a:r>
              <a:rPr lang="en-US" sz="1100" dirty="0">
                <a:solidFill>
                  <a:srgbClr val="FF4D6D"/>
                </a:solidFill>
              </a:rPr>
              <a:t>▸  </a:t>
            </a:r>
            <a:pPr indent="0" marL="0">
              <a:buNone/>
            </a:pPr>
            <a:r>
              <a:rPr lang="en-US" sz="1100" dirty="0">
                <a:solidFill>
                  <a:srgbClr val="E0E6F0"/>
                </a:solidFill>
              </a:rPr>
              <a:t>Approach validated by Wenz et al. [2019]</a:t>
            </a:r>
            <a:endParaRPr lang="en-US" sz="1100" dirty="0"/>
          </a:p>
        </p:txBody>
      </p:sp>
      <p:sp>
        <p:nvSpPr>
          <p:cNvPr id="15" name="Shape 13"/>
          <p:cNvSpPr/>
          <p:nvPr/>
        </p:nvSpPr>
        <p:spPr>
          <a:xfrm>
            <a:off x="4663440" y="1188720"/>
            <a:ext cx="4160520" cy="2651760"/>
          </a:xfrm>
          <a:prstGeom prst="rect">
            <a:avLst/>
          </a:prstGeom>
          <a:solidFill>
            <a:srgbClr val="1A2744">
              <a:alpha val="28000"/>
            </a:srgbClr>
          </a:solidFill>
          <a:ln w="12700">
            <a:solidFill>
              <a:srgbClr val="1E3A5F"/>
            </a:solidFill>
            <a:prstDash val="solid"/>
          </a:ln>
        </p:spPr>
      </p:sp>
      <p:sp>
        <p:nvSpPr>
          <p:cNvPr id="16" name="Shape 14"/>
          <p:cNvSpPr/>
          <p:nvPr/>
        </p:nvSpPr>
        <p:spPr>
          <a:xfrm>
            <a:off x="4663440" y="1188720"/>
            <a:ext cx="4160520" cy="54864"/>
          </a:xfrm>
          <a:prstGeom prst="rect">
            <a:avLst/>
          </a:prstGeom>
          <a:solidFill>
            <a:srgbClr val="FFD166"/>
          </a:solidFill>
          <a:ln w="12700">
            <a:solidFill>
              <a:srgbClr val="FFD166">
                <a:alpha val="0"/>
              </a:srgbClr>
            </a:solidFill>
            <a:prstDash val="solid"/>
          </a:ln>
        </p:spPr>
      </p:sp>
      <p:sp>
        <p:nvSpPr>
          <p:cNvPr id="17" name="Text 15"/>
          <p:cNvSpPr/>
          <p:nvPr/>
        </p:nvSpPr>
        <p:spPr>
          <a:xfrm>
            <a:off x="4828032" y="1298448"/>
            <a:ext cx="3840480" cy="365760"/>
          </a:xfrm>
          <a:prstGeom prst="rect">
            <a:avLst/>
          </a:prstGeom>
          <a:noFill/>
          <a:ln/>
        </p:spPr>
        <p:txBody>
          <a:bodyPr wrap="square" rtlCol="0" anchor="ctr"/>
          <a:lstStyle/>
          <a:p>
            <a:pPr indent="0" marL="0">
              <a:buNone/>
            </a:pPr>
            <a:r>
              <a:rPr lang="en-US" sz="1300" b="1" dirty="0">
                <a:solidFill>
                  <a:srgbClr val="FFD166"/>
                </a:solidFill>
              </a:rPr>
              <a:t>Layer 2 — Rule-Based Domain Logic</a:t>
            </a:r>
            <a:endParaRPr lang="en-US" sz="1300" dirty="0"/>
          </a:p>
        </p:txBody>
      </p:sp>
      <p:sp>
        <p:nvSpPr>
          <p:cNvPr id="18" name="Text 16"/>
          <p:cNvSpPr/>
          <p:nvPr/>
        </p:nvSpPr>
        <p:spPr>
          <a:xfrm>
            <a:off x="4828032" y="1783080"/>
            <a:ext cx="3840480" cy="402336"/>
          </a:xfrm>
          <a:prstGeom prst="rect">
            <a:avLst/>
          </a:prstGeom>
          <a:noFill/>
          <a:ln/>
        </p:spPr>
        <p:txBody>
          <a:bodyPr wrap="square" rtlCol="0" anchor="ctr"/>
          <a:lstStyle/>
          <a:p>
            <a:pPr indent="0" marL="0">
              <a:buNone/>
            </a:pPr>
            <a:r>
              <a:rPr lang="en-US" sz="1100" dirty="0">
                <a:solidFill>
                  <a:srgbClr val="FFD166"/>
                </a:solidFill>
              </a:rPr>
              <a:t>⚡  </a:t>
            </a:r>
            <a:pPr indent="0" marL="0">
              <a:buNone/>
            </a:pPr>
            <a:r>
              <a:rPr lang="en-US" sz="1100" dirty="0">
                <a:solidFill>
                  <a:srgbClr val="E0E6F0"/>
                </a:solidFill>
              </a:rPr>
              <a:t>Total duration &lt; minimum plausible time</a:t>
            </a:r>
            <a:endParaRPr lang="en-US" sz="1100" dirty="0"/>
          </a:p>
        </p:txBody>
      </p:sp>
      <p:sp>
        <p:nvSpPr>
          <p:cNvPr id="19" name="Text 17"/>
          <p:cNvSpPr/>
          <p:nvPr/>
        </p:nvSpPr>
        <p:spPr>
          <a:xfrm>
            <a:off x="4828032" y="2258568"/>
            <a:ext cx="3840480" cy="402336"/>
          </a:xfrm>
          <a:prstGeom prst="rect">
            <a:avLst/>
          </a:prstGeom>
          <a:noFill/>
          <a:ln/>
        </p:spPr>
        <p:txBody>
          <a:bodyPr wrap="square" rtlCol="0" anchor="ctr"/>
          <a:lstStyle/>
          <a:p>
            <a:pPr indent="0" marL="0">
              <a:buNone/>
            </a:pPr>
            <a:r>
              <a:rPr lang="en-US" sz="1100" dirty="0">
                <a:solidFill>
                  <a:srgbClr val="FFD166"/>
                </a:solidFill>
              </a:rPr>
              <a:t>⚡  </a:t>
            </a:r>
            <a:pPr indent="0" marL="0">
              <a:buNone/>
            </a:pPr>
            <a:r>
              <a:rPr lang="en-US" sz="1100" dirty="0">
                <a:solidFill>
                  <a:srgbClr val="E0E6F0"/>
                </a:solidFill>
              </a:rPr>
              <a:t>Zero back-navigation over 20+ consecutive questions</a:t>
            </a:r>
            <a:endParaRPr lang="en-US" sz="1100" dirty="0"/>
          </a:p>
        </p:txBody>
      </p:sp>
      <p:sp>
        <p:nvSpPr>
          <p:cNvPr id="20" name="Text 18"/>
          <p:cNvSpPr/>
          <p:nvPr/>
        </p:nvSpPr>
        <p:spPr>
          <a:xfrm>
            <a:off x="4828032" y="2734056"/>
            <a:ext cx="3840480" cy="402336"/>
          </a:xfrm>
          <a:prstGeom prst="rect">
            <a:avLst/>
          </a:prstGeom>
          <a:noFill/>
          <a:ln/>
        </p:spPr>
        <p:txBody>
          <a:bodyPr wrap="square" rtlCol="0" anchor="ctr"/>
          <a:lstStyle/>
          <a:p>
            <a:pPr indent="0" marL="0">
              <a:buNone/>
            </a:pPr>
            <a:r>
              <a:rPr lang="en-US" sz="1100" dirty="0">
                <a:solidFill>
                  <a:srgbClr val="FFD166"/>
                </a:solidFill>
              </a:rPr>
              <a:t>⚡  </a:t>
            </a:r>
            <a:pPr indent="0" marL="0">
              <a:buNone/>
            </a:pPr>
            <a:r>
              <a:rPr lang="en-US" sz="1100" dirty="0">
                <a:solidFill>
                  <a:srgbClr val="E0E6F0"/>
                </a:solidFill>
              </a:rPr>
              <a:t>Timing entropy below defined floor</a:t>
            </a:r>
            <a:endParaRPr lang="en-US" sz="1100" dirty="0"/>
          </a:p>
        </p:txBody>
      </p:sp>
      <p:sp>
        <p:nvSpPr>
          <p:cNvPr id="21" name="Text 19"/>
          <p:cNvSpPr/>
          <p:nvPr/>
        </p:nvSpPr>
        <p:spPr>
          <a:xfrm>
            <a:off x="4828032" y="3209544"/>
            <a:ext cx="3840480" cy="402336"/>
          </a:xfrm>
          <a:prstGeom prst="rect">
            <a:avLst/>
          </a:prstGeom>
          <a:noFill/>
          <a:ln/>
        </p:spPr>
        <p:txBody>
          <a:bodyPr wrap="square" rtlCol="0" anchor="ctr"/>
          <a:lstStyle/>
          <a:p>
            <a:pPr indent="0" marL="0">
              <a:buNone/>
            </a:pPr>
            <a:r>
              <a:rPr lang="en-US" sz="1100" dirty="0">
                <a:solidFill>
                  <a:srgbClr val="FFD166"/>
                </a:solidFill>
              </a:rPr>
              <a:t>⚡  </a:t>
            </a:r>
            <a:pPr indent="0" marL="0">
              <a:buNone/>
            </a:pPr>
            <a:r>
              <a:rPr lang="en-US" sz="1100" dirty="0">
                <a:solidFill>
                  <a:srgbClr val="E0E6F0"/>
                </a:solidFill>
              </a:rPr>
              <a:t>Uniform pacing regardless of question complexity</a:t>
            </a:r>
            <a:endParaRPr lang="en-US" sz="1100" dirty="0"/>
          </a:p>
        </p:txBody>
      </p:sp>
      <p:sp>
        <p:nvSpPr>
          <p:cNvPr id="22" name="Shape 20"/>
          <p:cNvSpPr/>
          <p:nvPr/>
        </p:nvSpPr>
        <p:spPr>
          <a:xfrm>
            <a:off x="274320" y="4041648"/>
            <a:ext cx="8595360" cy="777240"/>
          </a:xfrm>
          <a:prstGeom prst="rect">
            <a:avLst/>
          </a:prstGeom>
          <a:solidFill>
            <a:srgbClr val="1A2744">
              <a:alpha val="28000"/>
            </a:srgbClr>
          </a:solidFill>
          <a:ln w="12700">
            <a:solidFill>
              <a:srgbClr val="1E3A5F"/>
            </a:solidFill>
            <a:prstDash val="solid"/>
          </a:ln>
        </p:spPr>
      </p:sp>
      <p:sp>
        <p:nvSpPr>
          <p:cNvPr id="23" name="Shape 21"/>
          <p:cNvSpPr/>
          <p:nvPr/>
        </p:nvSpPr>
        <p:spPr>
          <a:xfrm>
            <a:off x="274320" y="4041648"/>
            <a:ext cx="54864" cy="777240"/>
          </a:xfrm>
          <a:prstGeom prst="rect">
            <a:avLst/>
          </a:prstGeom>
          <a:solidFill>
            <a:srgbClr val="06D6A0"/>
          </a:solidFill>
          <a:ln w="12700">
            <a:solidFill>
              <a:srgbClr val="06D6A0">
                <a:alpha val="0"/>
              </a:srgbClr>
            </a:solidFill>
            <a:prstDash val="solid"/>
          </a:ln>
        </p:spPr>
      </p:sp>
      <p:sp>
        <p:nvSpPr>
          <p:cNvPr id="24" name="Text 22"/>
          <p:cNvSpPr/>
          <p:nvPr/>
        </p:nvSpPr>
        <p:spPr>
          <a:xfrm>
            <a:off x="502920" y="4187952"/>
            <a:ext cx="8321040" cy="502920"/>
          </a:xfrm>
          <a:prstGeom prst="rect">
            <a:avLst/>
          </a:prstGeom>
          <a:noFill/>
          <a:ln/>
        </p:spPr>
        <p:txBody>
          <a:bodyPr wrap="square" rtlCol="0" anchor="ctr"/>
          <a:lstStyle/>
          <a:p>
            <a:pPr indent="0" marL="0">
              <a:buNone/>
            </a:pPr>
            <a:r>
              <a:rPr lang="en-US" sz="1300" b="1" dirty="0">
                <a:solidFill>
                  <a:srgbClr val="06D6A0"/>
                </a:solidFill>
              </a:rPr>
              <a:t>Success Criteria:  </a:t>
            </a:r>
            <a:pPr indent="0" marL="0">
              <a:buNone/>
            </a:pPr>
            <a:r>
              <a:rPr lang="en-US" sz="1200" dirty="0">
                <a:solidFill>
                  <a:srgbClr val="E0E6F0"/>
                </a:solidFill>
              </a:rPr>
              <a:t>Precision ≥ 0.80   |   Recall ≥ 0.75   |   F1-Score reported   |   Compared against two explicit baselines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7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06D6A0"/>
                </a:solidFill>
              </a:rPr>
              <a:t>VALIDATION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Synthetic Data &amp; Evaluation Strategy</a:t>
            </a:r>
            <a:endParaRPr lang="en-US" sz="2800" dirty="0"/>
          </a:p>
        </p:txBody>
      </p:sp>
      <p:sp>
        <p:nvSpPr>
          <p:cNvPr id="7" name="Shape 5"/>
          <p:cNvSpPr/>
          <p:nvPr/>
        </p:nvSpPr>
        <p:spPr>
          <a:xfrm>
            <a:off x="274320" y="1188720"/>
            <a:ext cx="4114800" cy="324612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00B4D8"/>
          </a:solidFill>
          <a:ln w="12700">
            <a:solidFill>
              <a:srgbClr val="00B4D8">
                <a:alpha val="0"/>
              </a:srgbClr>
            </a:solidFill>
            <a:prstDash val="solid"/>
          </a:ln>
        </p:spPr>
      </p:sp>
      <p:sp>
        <p:nvSpPr>
          <p:cNvPr id="9" name="Text 7"/>
          <p:cNvSpPr/>
          <p:nvPr/>
        </p:nvSpPr>
        <p:spPr>
          <a:xfrm>
            <a:off x="457200" y="1298448"/>
            <a:ext cx="3840480" cy="365760"/>
          </a:xfrm>
          <a:prstGeom prst="rect">
            <a:avLst/>
          </a:prstGeom>
          <a:noFill/>
          <a:ln/>
        </p:spPr>
        <p:txBody>
          <a:bodyPr wrap="square" rtlCol="0" anchor="ctr"/>
          <a:lstStyle/>
          <a:p>
            <a:pPr indent="0" marL="0">
              <a:buNone/>
            </a:pPr>
            <a:r>
              <a:rPr lang="en-US" sz="1300" b="1" dirty="0">
                <a:solidFill>
                  <a:srgbClr val="00B4D8"/>
                </a:solidFill>
              </a:rPr>
              <a:t>Synthetic Dataset Generation</a:t>
            </a:r>
            <a:endParaRPr lang="en-US" sz="1300" dirty="0"/>
          </a:p>
        </p:txBody>
      </p:sp>
      <p:sp>
        <p:nvSpPr>
          <p:cNvPr id="10" name="Text 8"/>
          <p:cNvSpPr/>
          <p:nvPr/>
        </p:nvSpPr>
        <p:spPr>
          <a:xfrm>
            <a:off x="457200" y="1737360"/>
            <a:ext cx="3840480" cy="566928"/>
          </a:xfrm>
          <a:prstGeom prst="rect">
            <a:avLst/>
          </a:prstGeom>
          <a:noFill/>
          <a:ln/>
        </p:spPr>
        <p:txBody>
          <a:bodyPr wrap="square" rtlCol="0" anchor="ctr"/>
          <a:lstStyle/>
          <a:p>
            <a:pPr indent="0" marL="0">
              <a:buNone/>
            </a:pPr>
            <a:r>
              <a:rPr lang="en-US" sz="1100" dirty="0">
                <a:solidFill>
                  <a:srgbClr val="E0E6F0"/>
                </a:solidFill>
              </a:rPr>
              <a:t>No labelled real-world paradata exists — synthetic generation is the established approach for this benchmarking class.</a:t>
            </a:r>
            <a:endParaRPr lang="en-US" sz="1100" dirty="0"/>
          </a:p>
        </p:txBody>
      </p:sp>
      <p:sp>
        <p:nvSpPr>
          <p:cNvPr id="11" name="Text 9"/>
          <p:cNvSpPr/>
          <p:nvPr/>
        </p:nvSpPr>
        <p:spPr>
          <a:xfrm>
            <a:off x="457200" y="2377440"/>
            <a:ext cx="3840480" cy="274320"/>
          </a:xfrm>
          <a:prstGeom prst="rect">
            <a:avLst/>
          </a:prstGeom>
          <a:noFill/>
          <a:ln/>
        </p:spPr>
        <p:txBody>
          <a:bodyPr wrap="square" rtlCol="0" anchor="ctr"/>
          <a:lstStyle/>
          <a:p>
            <a:pPr indent="0" marL="0">
              <a:buNone/>
            </a:pPr>
            <a:r>
              <a:rPr lang="en-US" sz="1100" b="1" dirty="0">
                <a:solidFill>
                  <a:srgbClr val="8899BB"/>
                </a:solidFill>
              </a:rPr>
              <a:t>Base distributions:</a:t>
            </a:r>
            <a:endParaRPr lang="en-US" sz="1100" dirty="0"/>
          </a:p>
        </p:txBody>
      </p:sp>
      <p:sp>
        <p:nvSpPr>
          <p:cNvPr id="12" name="Text 10"/>
          <p:cNvSpPr/>
          <p:nvPr/>
        </p:nvSpPr>
        <p:spPr>
          <a:xfrm>
            <a:off x="457200" y="2697480"/>
            <a:ext cx="3840480" cy="502920"/>
          </a:xfrm>
          <a:prstGeom prst="rect">
            <a:avLst/>
          </a:prstGeom>
          <a:noFill/>
          <a:ln/>
        </p:spPr>
        <p:txBody>
          <a:bodyPr wrap="square" rtlCol="0" anchor="ctr"/>
          <a:lstStyle/>
          <a:p>
            <a:pPr indent="0" marL="0">
              <a:buNone/>
            </a:pPr>
            <a:r>
              <a:rPr lang="en-US" sz="1100" dirty="0">
                <a:solidFill>
                  <a:srgbClr val="E0E6F0"/>
                </a:solidFill>
              </a:rPr>
              <a:t>▸  Response times → Log-Normal</a:t>
            </a:r>
            <a:endParaRPr lang="en-US" sz="1100" dirty="0"/>
          </a:p>
          <a:p>
            <a:pPr indent="0" marL="0">
              <a:buNone/>
            </a:pPr>
            <a:r>
              <a:rPr lang="en-US" sz="1100" dirty="0">
                <a:solidFill>
                  <a:srgbClr val="E0E6F0"/>
                </a:solidFill>
              </a:rPr>
              <a:t>▸  Navigation events → Poisson</a:t>
            </a:r>
            <a:endParaRPr lang="en-US" sz="1100" dirty="0"/>
          </a:p>
        </p:txBody>
      </p:sp>
      <p:sp>
        <p:nvSpPr>
          <p:cNvPr id="13" name="Text 11"/>
          <p:cNvSpPr/>
          <p:nvPr/>
        </p:nvSpPr>
        <p:spPr>
          <a:xfrm>
            <a:off x="457200" y="3273552"/>
            <a:ext cx="3840480" cy="274320"/>
          </a:xfrm>
          <a:prstGeom prst="rect">
            <a:avLst/>
          </a:prstGeom>
          <a:noFill/>
          <a:ln/>
        </p:spPr>
        <p:txBody>
          <a:bodyPr wrap="square" rtlCol="0" anchor="ctr"/>
          <a:lstStyle/>
          <a:p>
            <a:pPr indent="0" marL="0">
              <a:buNone/>
            </a:pPr>
            <a:r>
              <a:rPr lang="en-US" sz="1100" b="1" dirty="0">
                <a:solidFill>
                  <a:srgbClr val="8899BB"/>
                </a:solidFill>
              </a:rPr>
              <a:t>Injected anomaly types:</a:t>
            </a:r>
            <a:endParaRPr lang="en-US" sz="1100" dirty="0"/>
          </a:p>
        </p:txBody>
      </p:sp>
      <p:sp>
        <p:nvSpPr>
          <p:cNvPr id="14" name="Text 12"/>
          <p:cNvSpPr/>
          <p:nvPr/>
        </p:nvSpPr>
        <p:spPr>
          <a:xfrm>
            <a:off x="457200" y="3621024"/>
            <a:ext cx="3840480" cy="23774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E0E6F0"/>
                </a:solidFill>
              </a:rPr>
              <a:t>Fabrication</a:t>
            </a:r>
            <a:endParaRPr lang="en-US" sz="1100" dirty="0"/>
          </a:p>
        </p:txBody>
      </p:sp>
      <p:sp>
        <p:nvSpPr>
          <p:cNvPr id="15" name="Text 13"/>
          <p:cNvSpPr/>
          <p:nvPr/>
        </p:nvSpPr>
        <p:spPr>
          <a:xfrm>
            <a:off x="457200" y="3895344"/>
            <a:ext cx="3840480" cy="237744"/>
          </a:xfrm>
          <a:prstGeom prst="rect">
            <a:avLst/>
          </a:prstGeom>
          <a:noFill/>
          <a:ln/>
        </p:spPr>
        <p:txBody>
          <a:bodyPr wrap="square" rtlCol="0" anchor="ctr"/>
          <a:lstStyle/>
          <a:p>
            <a:pPr indent="0" marL="0">
              <a:buNone/>
            </a:pPr>
            <a:r>
              <a:rPr lang="en-US" sz="1100" b="1" dirty="0">
                <a:solidFill>
                  <a:srgbClr val="FFD166"/>
                </a:solidFill>
              </a:rPr>
              <a:t>▸  </a:t>
            </a:r>
            <a:pPr indent="0" marL="0">
              <a:buNone/>
            </a:pPr>
            <a:r>
              <a:rPr lang="en-US" sz="1100" dirty="0">
                <a:solidFill>
                  <a:srgbClr val="E0E6F0"/>
                </a:solidFill>
              </a:rPr>
              <a:t>Speeding</a:t>
            </a:r>
            <a:endParaRPr lang="en-US" sz="1100" dirty="0"/>
          </a:p>
        </p:txBody>
      </p:sp>
      <p:sp>
        <p:nvSpPr>
          <p:cNvPr id="16" name="Text 14"/>
          <p:cNvSpPr/>
          <p:nvPr/>
        </p:nvSpPr>
        <p:spPr>
          <a:xfrm>
            <a:off x="457200" y="4169664"/>
            <a:ext cx="3840480" cy="237744"/>
          </a:xfrm>
          <a:prstGeom prst="rect">
            <a:avLst/>
          </a:prstGeom>
          <a:noFill/>
          <a:ln/>
        </p:spPr>
        <p:txBody>
          <a:bodyPr wrap="square" rtlCol="0" anchor="ctr"/>
          <a:lstStyle/>
          <a:p>
            <a:pPr indent="0" marL="0">
              <a:buNone/>
            </a:pPr>
            <a:r>
              <a:rPr lang="en-US" sz="1100" b="1" dirty="0">
                <a:solidFill>
                  <a:srgbClr val="C77DFF"/>
                </a:solidFill>
              </a:rPr>
              <a:t>▸  </a:t>
            </a:r>
            <a:pPr indent="0" marL="0">
              <a:buNone/>
            </a:pPr>
            <a:r>
              <a:rPr lang="en-US" sz="1100" dirty="0">
                <a:solidFill>
                  <a:srgbClr val="E0E6F0"/>
                </a:solidFill>
              </a:rPr>
              <a:t>Disengagement</a:t>
            </a:r>
            <a:endParaRPr lang="en-US" sz="1100" dirty="0"/>
          </a:p>
        </p:txBody>
      </p:sp>
      <p:sp>
        <p:nvSpPr>
          <p:cNvPr id="17" name="Shape 15"/>
          <p:cNvSpPr/>
          <p:nvPr/>
        </p:nvSpPr>
        <p:spPr>
          <a:xfrm>
            <a:off x="4663440" y="1188720"/>
            <a:ext cx="4160520" cy="3246120"/>
          </a:xfrm>
          <a:prstGeom prst="rect">
            <a:avLst/>
          </a:prstGeom>
          <a:solidFill>
            <a:srgbClr val="1A2744">
              <a:alpha val="26000"/>
            </a:srgbClr>
          </a:solidFill>
          <a:ln w="12700">
            <a:solidFill>
              <a:srgbClr val="1E3A5F"/>
            </a:solidFill>
            <a:prstDash val="solid"/>
          </a:ln>
        </p:spPr>
      </p:sp>
      <p:sp>
        <p:nvSpPr>
          <p:cNvPr id="18" name="Shape 16"/>
          <p:cNvSpPr/>
          <p:nvPr/>
        </p:nvSpPr>
        <p:spPr>
          <a:xfrm>
            <a:off x="4663440" y="1188720"/>
            <a:ext cx="4160520" cy="54864"/>
          </a:xfrm>
          <a:prstGeom prst="rect">
            <a:avLst/>
          </a:prstGeom>
          <a:solidFill>
            <a:srgbClr val="06D6A0"/>
          </a:solidFill>
          <a:ln w="12700">
            <a:solidFill>
              <a:srgbClr val="06D6A0">
                <a:alpha val="0"/>
              </a:srgbClr>
            </a:solidFill>
            <a:prstDash val="solid"/>
          </a:ln>
        </p:spPr>
      </p:sp>
      <p:sp>
        <p:nvSpPr>
          <p:cNvPr id="19" name="Text 17"/>
          <p:cNvSpPr/>
          <p:nvPr/>
        </p:nvSpPr>
        <p:spPr>
          <a:xfrm>
            <a:off x="4828032" y="1298448"/>
            <a:ext cx="3840480" cy="365760"/>
          </a:xfrm>
          <a:prstGeom prst="rect">
            <a:avLst/>
          </a:prstGeom>
          <a:noFill/>
          <a:ln/>
        </p:spPr>
        <p:txBody>
          <a:bodyPr wrap="square" rtlCol="0" anchor="ctr"/>
          <a:lstStyle/>
          <a:p>
            <a:pPr indent="0" marL="0">
              <a:buNone/>
            </a:pPr>
            <a:r>
              <a:rPr lang="en-US" sz="1300" b="1" dirty="0">
                <a:solidFill>
                  <a:srgbClr val="06D6A0"/>
                </a:solidFill>
              </a:rPr>
              <a:t>Two-Level Evaluation</a:t>
            </a:r>
            <a:endParaRPr lang="en-US" sz="1300" dirty="0"/>
          </a:p>
        </p:txBody>
      </p:sp>
      <p:sp>
        <p:nvSpPr>
          <p:cNvPr id="20" name="Text 18"/>
          <p:cNvSpPr/>
          <p:nvPr/>
        </p:nvSpPr>
        <p:spPr>
          <a:xfrm>
            <a:off x="4828032" y="1737360"/>
            <a:ext cx="3840480" cy="292608"/>
          </a:xfrm>
          <a:prstGeom prst="rect">
            <a:avLst/>
          </a:prstGeom>
          <a:noFill/>
          <a:ln/>
        </p:spPr>
        <p:txBody>
          <a:bodyPr wrap="square" rtlCol="0" anchor="ctr"/>
          <a:lstStyle/>
          <a:p>
            <a:pPr indent="0" marL="0">
              <a:buNone/>
            </a:pPr>
            <a:r>
              <a:rPr lang="en-US" sz="1200" b="1" dirty="0">
                <a:solidFill>
                  <a:srgbClr val="00B4D8"/>
                </a:solidFill>
              </a:rPr>
              <a:t>Level 1 — Feature Validation</a:t>
            </a:r>
            <a:endParaRPr lang="en-US" sz="1200" dirty="0"/>
          </a:p>
        </p:txBody>
      </p:sp>
      <p:sp>
        <p:nvSpPr>
          <p:cNvPr id="21" name="Text 19"/>
          <p:cNvSpPr/>
          <p:nvPr/>
        </p:nvSpPr>
        <p:spPr>
          <a:xfrm>
            <a:off x="4828032" y="2075688"/>
            <a:ext cx="3840480" cy="658368"/>
          </a:xfrm>
          <a:prstGeom prst="rect">
            <a:avLst/>
          </a:prstGeom>
          <a:noFill/>
          <a:ln/>
        </p:spPr>
        <p:txBody>
          <a:bodyPr wrap="square" rtlCol="0" anchor="ctr"/>
          <a:lstStyle/>
          <a:p>
            <a:pPr indent="0" marL="0">
              <a:buNone/>
            </a:pPr>
            <a:r>
              <a:rPr lang="en-US" sz="1100" dirty="0">
                <a:solidFill>
                  <a:srgbClr val="E0E6F0"/>
                </a:solidFill>
              </a:rPr>
              <a:t>Mann-Whitney U tests per feature</a:t>
            </a:r>
            <a:endParaRPr lang="en-US" sz="1100" dirty="0"/>
          </a:p>
          <a:p>
            <a:pPr indent="0" marL="0">
              <a:buNone/>
            </a:pPr>
            <a:r>
              <a:rPr lang="en-US" sz="1100" dirty="0">
                <a:solidFill>
                  <a:srgbClr val="E0E6F0"/>
                </a:solidFill>
              </a:rPr>
              <a:t>Cohen's d effect size reported</a:t>
            </a:r>
            <a:endParaRPr lang="en-US" sz="1100" dirty="0"/>
          </a:p>
          <a:p>
            <a:pPr indent="0" marL="0">
              <a:buNone/>
            </a:pPr>
            <a:r>
              <a:rPr lang="en-US" sz="1100" dirty="0">
                <a:solidFill>
                  <a:srgbClr val="E0E6F0"/>
                </a:solidFill>
              </a:rPr>
              <a:t>Non-discriminative features excluded</a:t>
            </a:r>
            <a:endParaRPr lang="en-US" sz="1100" dirty="0"/>
          </a:p>
        </p:txBody>
      </p:sp>
      <p:sp>
        <p:nvSpPr>
          <p:cNvPr id="22" name="Text 20"/>
          <p:cNvSpPr/>
          <p:nvPr/>
        </p:nvSpPr>
        <p:spPr>
          <a:xfrm>
            <a:off x="4828032" y="2834640"/>
            <a:ext cx="3840480" cy="292608"/>
          </a:xfrm>
          <a:prstGeom prst="rect">
            <a:avLst/>
          </a:prstGeom>
          <a:noFill/>
          <a:ln/>
        </p:spPr>
        <p:txBody>
          <a:bodyPr wrap="square" rtlCol="0" anchor="ctr"/>
          <a:lstStyle/>
          <a:p>
            <a:pPr indent="0" marL="0">
              <a:buNone/>
            </a:pPr>
            <a:r>
              <a:rPr lang="en-US" sz="1200" b="1" dirty="0">
                <a:solidFill>
                  <a:srgbClr val="06D6A0"/>
                </a:solidFill>
              </a:rPr>
              <a:t>Level 2 — Detection Performance</a:t>
            </a:r>
            <a:endParaRPr lang="en-US" sz="1200" dirty="0"/>
          </a:p>
        </p:txBody>
      </p:sp>
      <p:sp>
        <p:nvSpPr>
          <p:cNvPr id="23" name="Text 21"/>
          <p:cNvSpPr/>
          <p:nvPr/>
        </p:nvSpPr>
        <p:spPr>
          <a:xfrm>
            <a:off x="4828032" y="3182112"/>
            <a:ext cx="3840480" cy="1005840"/>
          </a:xfrm>
          <a:prstGeom prst="rect">
            <a:avLst/>
          </a:prstGeom>
          <a:noFill/>
          <a:ln/>
        </p:spPr>
        <p:txBody>
          <a:bodyPr wrap="square" rtlCol="0" anchor="ctr"/>
          <a:lstStyle/>
          <a:p>
            <a:pPr indent="0" marL="0">
              <a:buNone/>
            </a:pPr>
            <a:r>
              <a:rPr lang="en-US" sz="1100" dirty="0">
                <a:solidFill>
                  <a:srgbClr val="E0E6F0"/>
                </a:solidFill>
              </a:rPr>
              <a:t>Precision, Recall, F1-Score</a:t>
            </a:r>
            <a:endParaRPr lang="en-US" sz="1100" dirty="0"/>
          </a:p>
          <a:p>
            <a:pPr indent="0" marL="0">
              <a:buNone/>
            </a:pPr>
            <a:r>
              <a:rPr lang="en-US" sz="1100" dirty="0">
                <a:solidFill>
                  <a:srgbClr val="E0E6F0"/>
                </a:solidFill>
              </a:rPr>
              <a:t>Baseline 1: Duration-only IQR threshold</a:t>
            </a:r>
            <a:endParaRPr lang="en-US" sz="1100" dirty="0"/>
          </a:p>
          <a:p>
            <a:pPr indent="0" marL="0">
              <a:buNone/>
            </a:pPr>
            <a:r>
              <a:rPr lang="en-US" sz="1100" dirty="0">
                <a:solidFill>
                  <a:srgbClr val="E0E6F0"/>
                </a:solidFill>
              </a:rPr>
              <a:t>Baseline 2: Zero back-nav flag only</a:t>
            </a:r>
            <a:endParaRPr lang="en-US" sz="1100" dirty="0"/>
          </a:p>
          <a:p>
            <a:pPr indent="0" marL="0">
              <a:buNone/>
            </a:pPr>
            <a:r>
              <a:rPr lang="en-US" sz="1100" dirty="0">
                <a:solidFill>
                  <a:srgbClr val="E0E6F0"/>
                </a:solidFill>
              </a:rPr>
              <a:t>Cross-format robustness tested</a:t>
            </a:r>
            <a:endParaRPr lang="en-US" sz="1100" dirty="0"/>
          </a:p>
        </p:txBody>
      </p:sp>
      <p:sp>
        <p:nvSpPr>
          <p:cNvPr id="24" name="Shape 22"/>
          <p:cNvSpPr/>
          <p:nvPr/>
        </p:nvSpPr>
        <p:spPr>
          <a:xfrm>
            <a:off x="274320" y="4572000"/>
            <a:ext cx="8595360" cy="384048"/>
          </a:xfrm>
          <a:prstGeom prst="rect">
            <a:avLst/>
          </a:prstGeom>
          <a:solidFill>
            <a:srgbClr val="1A2744">
              <a:alpha val="20000"/>
            </a:srgbClr>
          </a:solidFill>
          <a:ln w="12700">
            <a:solidFill>
              <a:srgbClr val="1E3A5F"/>
            </a:solidFill>
            <a:prstDash val="solid"/>
          </a:ln>
        </p:spPr>
      </p:sp>
      <p:sp>
        <p:nvSpPr>
          <p:cNvPr id="25" name="Text 23"/>
          <p:cNvSpPr/>
          <p:nvPr/>
        </p:nvSpPr>
        <p:spPr>
          <a:xfrm>
            <a:off x="457200" y="4636008"/>
            <a:ext cx="8412480" cy="274320"/>
          </a:xfrm>
          <a:prstGeom prst="rect">
            <a:avLst/>
          </a:prstGeom>
          <a:noFill/>
          <a:ln/>
        </p:spPr>
        <p:txBody>
          <a:bodyPr wrap="square" rtlCol="0" anchor="ctr"/>
          <a:lstStyle/>
          <a:p>
            <a:pPr algn="ctr" indent="0" marL="0">
              <a:buNone/>
            </a:pPr>
            <a:r>
              <a:rPr lang="en-US" sz="1100" dirty="0">
                <a:solidFill>
                  <a:srgbClr val="8899BB"/>
                </a:solidFill>
              </a:rPr>
              <a:t>Dataset sizes:  500  ·  2,000  ·  10,000 interviews  |  Class imbalance sensitivity analysis included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8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FF4D6D"/>
                </a:solidFill>
              </a:rPr>
              <a:t>LIVE DEMO</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Anomaly Detection — Simulated Output</a:t>
            </a:r>
            <a:endParaRPr lang="en-US" sz="2800" dirty="0"/>
          </a:p>
        </p:txBody>
      </p:sp>
      <p:sp>
        <p:nvSpPr>
          <p:cNvPr id="7" name="Shape 5"/>
          <p:cNvSpPr/>
          <p:nvPr/>
        </p:nvSpPr>
        <p:spPr>
          <a:xfrm>
            <a:off x="274320" y="1207008"/>
            <a:ext cx="8595360" cy="384048"/>
          </a:xfrm>
          <a:prstGeom prst="rect">
            <a:avLst/>
          </a:prstGeom>
          <a:solidFill>
            <a:srgbClr val="1A2744">
              <a:alpha val="40000"/>
            </a:srgbClr>
          </a:solidFill>
          <a:ln w="12700">
            <a:solidFill>
              <a:srgbClr val="1E3A5F"/>
            </a:solidFill>
            <a:prstDash val="solid"/>
          </a:ln>
        </p:spPr>
      </p:sp>
      <p:sp>
        <p:nvSpPr>
          <p:cNvPr id="8" name="Text 6"/>
          <p:cNvSpPr/>
          <p:nvPr/>
        </p:nvSpPr>
        <p:spPr>
          <a:xfrm>
            <a:off x="365760" y="1261872"/>
            <a:ext cx="1280160" cy="274320"/>
          </a:xfrm>
          <a:prstGeom prst="rect">
            <a:avLst/>
          </a:prstGeom>
          <a:noFill/>
          <a:ln/>
        </p:spPr>
        <p:txBody>
          <a:bodyPr wrap="square" rtlCol="0" anchor="ctr"/>
          <a:lstStyle/>
          <a:p>
            <a:pPr indent="0" marL="0">
              <a:buNone/>
            </a:pPr>
            <a:r>
              <a:rPr lang="en-US" sz="1000" b="1" dirty="0">
                <a:solidFill>
                  <a:srgbClr val="00B4D8"/>
                </a:solidFill>
              </a:rPr>
              <a:t>Interview ID</a:t>
            </a:r>
            <a:endParaRPr lang="en-US" sz="1000" dirty="0"/>
          </a:p>
        </p:txBody>
      </p:sp>
      <p:sp>
        <p:nvSpPr>
          <p:cNvPr id="9" name="Text 7"/>
          <p:cNvSpPr/>
          <p:nvPr/>
        </p:nvSpPr>
        <p:spPr>
          <a:xfrm>
            <a:off x="1737360" y="1261872"/>
            <a:ext cx="1188720" cy="274320"/>
          </a:xfrm>
          <a:prstGeom prst="rect">
            <a:avLst/>
          </a:prstGeom>
          <a:noFill/>
          <a:ln/>
        </p:spPr>
        <p:txBody>
          <a:bodyPr wrap="square" rtlCol="0" anchor="ctr"/>
          <a:lstStyle/>
          <a:p>
            <a:pPr indent="0" marL="0">
              <a:buNone/>
            </a:pPr>
            <a:r>
              <a:rPr lang="en-US" sz="1000" b="1" dirty="0">
                <a:solidFill>
                  <a:srgbClr val="00B4D8"/>
                </a:solidFill>
              </a:rPr>
              <a:t>Duration (s)</a:t>
            </a:r>
            <a:endParaRPr lang="en-US" sz="1000" dirty="0"/>
          </a:p>
        </p:txBody>
      </p:sp>
      <p:sp>
        <p:nvSpPr>
          <p:cNvPr id="10" name="Text 8"/>
          <p:cNvSpPr/>
          <p:nvPr/>
        </p:nvSpPr>
        <p:spPr>
          <a:xfrm>
            <a:off x="3017520" y="1261872"/>
            <a:ext cx="1097280" cy="274320"/>
          </a:xfrm>
          <a:prstGeom prst="rect">
            <a:avLst/>
          </a:prstGeom>
          <a:noFill/>
          <a:ln/>
        </p:spPr>
        <p:txBody>
          <a:bodyPr wrap="square" rtlCol="0" anchor="ctr"/>
          <a:lstStyle/>
          <a:p>
            <a:pPr indent="0" marL="0">
              <a:buNone/>
            </a:pPr>
            <a:r>
              <a:rPr lang="en-US" sz="1000" b="1" dirty="0">
                <a:solidFill>
                  <a:srgbClr val="00B4D8"/>
                </a:solidFill>
              </a:rPr>
              <a:t>IQR Flags</a:t>
            </a:r>
            <a:endParaRPr lang="en-US" sz="1000" dirty="0"/>
          </a:p>
        </p:txBody>
      </p:sp>
      <p:sp>
        <p:nvSpPr>
          <p:cNvPr id="11" name="Text 9"/>
          <p:cNvSpPr/>
          <p:nvPr/>
        </p:nvSpPr>
        <p:spPr>
          <a:xfrm>
            <a:off x="4206240" y="1261872"/>
            <a:ext cx="1097280" cy="274320"/>
          </a:xfrm>
          <a:prstGeom prst="rect">
            <a:avLst/>
          </a:prstGeom>
          <a:noFill/>
          <a:ln/>
        </p:spPr>
        <p:txBody>
          <a:bodyPr wrap="square" rtlCol="0" anchor="ctr"/>
          <a:lstStyle/>
          <a:p>
            <a:pPr indent="0" marL="0">
              <a:buNone/>
            </a:pPr>
            <a:r>
              <a:rPr lang="en-US" sz="1000" b="1" dirty="0">
                <a:solidFill>
                  <a:srgbClr val="00B4D8"/>
                </a:solidFill>
              </a:rPr>
              <a:t>Rule Flags</a:t>
            </a:r>
            <a:endParaRPr lang="en-US" sz="1000" dirty="0"/>
          </a:p>
        </p:txBody>
      </p:sp>
      <p:sp>
        <p:nvSpPr>
          <p:cNvPr id="12" name="Text 10"/>
          <p:cNvSpPr/>
          <p:nvPr/>
        </p:nvSpPr>
        <p:spPr>
          <a:xfrm>
            <a:off x="5394960" y="1261872"/>
            <a:ext cx="1371600" cy="274320"/>
          </a:xfrm>
          <a:prstGeom prst="rect">
            <a:avLst/>
          </a:prstGeom>
          <a:noFill/>
          <a:ln/>
        </p:spPr>
        <p:txBody>
          <a:bodyPr wrap="square" rtlCol="0" anchor="ctr"/>
          <a:lstStyle/>
          <a:p>
            <a:pPr indent="0" marL="0">
              <a:buNone/>
            </a:pPr>
            <a:r>
              <a:rPr lang="en-US" sz="1000" b="1" dirty="0">
                <a:solidFill>
                  <a:srgbClr val="00B4D8"/>
                </a:solidFill>
              </a:rPr>
              <a:t>Anomaly Score</a:t>
            </a:r>
            <a:endParaRPr lang="en-US" sz="1000" dirty="0"/>
          </a:p>
        </p:txBody>
      </p:sp>
      <p:sp>
        <p:nvSpPr>
          <p:cNvPr id="13" name="Text 11"/>
          <p:cNvSpPr/>
          <p:nvPr/>
        </p:nvSpPr>
        <p:spPr>
          <a:xfrm>
            <a:off x="6858000" y="1261872"/>
            <a:ext cx="1645920" cy="274320"/>
          </a:xfrm>
          <a:prstGeom prst="rect">
            <a:avLst/>
          </a:prstGeom>
          <a:noFill/>
          <a:ln/>
        </p:spPr>
        <p:txBody>
          <a:bodyPr wrap="square" rtlCol="0" anchor="ctr"/>
          <a:lstStyle/>
          <a:p>
            <a:pPr indent="0" marL="0">
              <a:buNone/>
            </a:pPr>
            <a:r>
              <a:rPr lang="en-US" sz="1000" b="1" dirty="0">
                <a:solidFill>
                  <a:srgbClr val="00B4D8"/>
                </a:solidFill>
              </a:rPr>
              <a:t>Status</a:t>
            </a:r>
            <a:endParaRPr lang="en-US" sz="1000" dirty="0"/>
          </a:p>
        </p:txBody>
      </p:sp>
      <p:sp>
        <p:nvSpPr>
          <p:cNvPr id="14" name="Shape 12"/>
          <p:cNvSpPr/>
          <p:nvPr/>
        </p:nvSpPr>
        <p:spPr>
          <a:xfrm>
            <a:off x="274320" y="1664208"/>
            <a:ext cx="8595360" cy="384048"/>
          </a:xfrm>
          <a:prstGeom prst="rect">
            <a:avLst/>
          </a:prstGeom>
          <a:solidFill>
            <a:srgbClr val="1A2744">
              <a:alpha val="20000"/>
            </a:srgbClr>
          </a:solidFill>
          <a:ln w="12700">
            <a:solidFill>
              <a:srgbClr val="1E3A5F"/>
            </a:solidFill>
            <a:prstDash val="solid"/>
          </a:ln>
        </p:spPr>
      </p:sp>
      <p:sp>
        <p:nvSpPr>
          <p:cNvPr id="15" name="Text 13"/>
          <p:cNvSpPr/>
          <p:nvPr/>
        </p:nvSpPr>
        <p:spPr>
          <a:xfrm>
            <a:off x="365760" y="1728216"/>
            <a:ext cx="1280160" cy="274320"/>
          </a:xfrm>
          <a:prstGeom prst="rect">
            <a:avLst/>
          </a:prstGeom>
          <a:noFill/>
          <a:ln/>
        </p:spPr>
        <p:txBody>
          <a:bodyPr wrap="square" rtlCol="0" anchor="ctr"/>
          <a:lstStyle/>
          <a:p>
            <a:pPr indent="0" marL="0">
              <a:buNone/>
            </a:pPr>
            <a:r>
              <a:rPr lang="en-US" sz="1050" dirty="0">
                <a:solidFill>
                  <a:srgbClr val="E0E6F0"/>
                </a:solidFill>
              </a:rPr>
              <a:t>INT-0042</a:t>
            </a:r>
            <a:endParaRPr lang="en-US" sz="1050" dirty="0"/>
          </a:p>
        </p:txBody>
      </p:sp>
      <p:sp>
        <p:nvSpPr>
          <p:cNvPr id="16" name="Text 14"/>
          <p:cNvSpPr/>
          <p:nvPr/>
        </p:nvSpPr>
        <p:spPr>
          <a:xfrm>
            <a:off x="1737360" y="1728216"/>
            <a:ext cx="1188720" cy="274320"/>
          </a:xfrm>
          <a:prstGeom prst="rect">
            <a:avLst/>
          </a:prstGeom>
          <a:noFill/>
          <a:ln/>
        </p:spPr>
        <p:txBody>
          <a:bodyPr wrap="square" rtlCol="0" anchor="ctr"/>
          <a:lstStyle/>
          <a:p>
            <a:pPr indent="0" marL="0">
              <a:buNone/>
            </a:pPr>
            <a:r>
              <a:rPr lang="en-US" sz="1050" dirty="0">
                <a:solidFill>
                  <a:srgbClr val="E0E6F0"/>
                </a:solidFill>
              </a:rPr>
              <a:t>287</a:t>
            </a:r>
            <a:endParaRPr lang="en-US" sz="1050" dirty="0"/>
          </a:p>
        </p:txBody>
      </p:sp>
      <p:sp>
        <p:nvSpPr>
          <p:cNvPr id="17" name="Text 15"/>
          <p:cNvSpPr/>
          <p:nvPr/>
        </p:nvSpPr>
        <p:spPr>
          <a:xfrm>
            <a:off x="3017520" y="1728216"/>
            <a:ext cx="109728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18" name="Text 16"/>
          <p:cNvSpPr/>
          <p:nvPr/>
        </p:nvSpPr>
        <p:spPr>
          <a:xfrm>
            <a:off x="4206240" y="1728216"/>
            <a:ext cx="109728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19" name="Text 17"/>
          <p:cNvSpPr/>
          <p:nvPr/>
        </p:nvSpPr>
        <p:spPr>
          <a:xfrm>
            <a:off x="5394960" y="1728216"/>
            <a:ext cx="137160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20" name="Text 18"/>
          <p:cNvSpPr/>
          <p:nvPr/>
        </p:nvSpPr>
        <p:spPr>
          <a:xfrm>
            <a:off x="6858000" y="1728216"/>
            <a:ext cx="1645920" cy="274320"/>
          </a:xfrm>
          <a:prstGeom prst="rect">
            <a:avLst/>
          </a:prstGeom>
          <a:noFill/>
          <a:ln/>
        </p:spPr>
        <p:txBody>
          <a:bodyPr wrap="square" rtlCol="0" anchor="ctr"/>
          <a:lstStyle/>
          <a:p>
            <a:pPr indent="0" marL="0">
              <a:buNone/>
            </a:pPr>
            <a:r>
              <a:rPr lang="en-US" sz="1050" b="1" dirty="0">
                <a:solidFill>
                  <a:srgbClr val="06D6A0"/>
                </a:solidFill>
              </a:rPr>
              <a:t>CLEAN</a:t>
            </a:r>
            <a:endParaRPr lang="en-US" sz="1050" dirty="0"/>
          </a:p>
        </p:txBody>
      </p:sp>
      <p:sp>
        <p:nvSpPr>
          <p:cNvPr id="21" name="Shape 19"/>
          <p:cNvSpPr/>
          <p:nvPr/>
        </p:nvSpPr>
        <p:spPr>
          <a:xfrm>
            <a:off x="274320" y="2103120"/>
            <a:ext cx="8595360" cy="384048"/>
          </a:xfrm>
          <a:prstGeom prst="rect">
            <a:avLst/>
          </a:prstGeom>
          <a:solidFill>
            <a:srgbClr val="1A2744">
              <a:alpha val="15000"/>
            </a:srgbClr>
          </a:solidFill>
          <a:ln w="12700">
            <a:solidFill>
              <a:srgbClr val="1E3A5F"/>
            </a:solidFill>
            <a:prstDash val="solid"/>
          </a:ln>
        </p:spPr>
      </p:sp>
      <p:sp>
        <p:nvSpPr>
          <p:cNvPr id="22" name="Text 20"/>
          <p:cNvSpPr/>
          <p:nvPr/>
        </p:nvSpPr>
        <p:spPr>
          <a:xfrm>
            <a:off x="365760" y="2167128"/>
            <a:ext cx="1280160" cy="274320"/>
          </a:xfrm>
          <a:prstGeom prst="rect">
            <a:avLst/>
          </a:prstGeom>
          <a:noFill/>
          <a:ln/>
        </p:spPr>
        <p:txBody>
          <a:bodyPr wrap="square" rtlCol="0" anchor="ctr"/>
          <a:lstStyle/>
          <a:p>
            <a:pPr indent="0" marL="0">
              <a:buNone/>
            </a:pPr>
            <a:r>
              <a:rPr lang="en-US" sz="1050" dirty="0">
                <a:solidFill>
                  <a:srgbClr val="E0E6F0"/>
                </a:solidFill>
              </a:rPr>
              <a:t>INT-0087</a:t>
            </a:r>
            <a:endParaRPr lang="en-US" sz="1050" dirty="0"/>
          </a:p>
        </p:txBody>
      </p:sp>
      <p:sp>
        <p:nvSpPr>
          <p:cNvPr id="23" name="Text 21"/>
          <p:cNvSpPr/>
          <p:nvPr/>
        </p:nvSpPr>
        <p:spPr>
          <a:xfrm>
            <a:off x="1737360" y="2167128"/>
            <a:ext cx="1188720" cy="274320"/>
          </a:xfrm>
          <a:prstGeom prst="rect">
            <a:avLst/>
          </a:prstGeom>
          <a:noFill/>
          <a:ln/>
        </p:spPr>
        <p:txBody>
          <a:bodyPr wrap="square" rtlCol="0" anchor="ctr"/>
          <a:lstStyle/>
          <a:p>
            <a:pPr indent="0" marL="0">
              <a:buNone/>
            </a:pPr>
            <a:r>
              <a:rPr lang="en-US" sz="1050" dirty="0">
                <a:solidFill>
                  <a:srgbClr val="E0E6F0"/>
                </a:solidFill>
              </a:rPr>
              <a:t>94</a:t>
            </a:r>
            <a:endParaRPr lang="en-US" sz="1050" dirty="0"/>
          </a:p>
        </p:txBody>
      </p:sp>
      <p:sp>
        <p:nvSpPr>
          <p:cNvPr id="24" name="Text 22"/>
          <p:cNvSpPr/>
          <p:nvPr/>
        </p:nvSpPr>
        <p:spPr>
          <a:xfrm>
            <a:off x="3017520" y="2167128"/>
            <a:ext cx="1097280" cy="274320"/>
          </a:xfrm>
          <a:prstGeom prst="rect">
            <a:avLst/>
          </a:prstGeom>
          <a:noFill/>
          <a:ln/>
        </p:spPr>
        <p:txBody>
          <a:bodyPr wrap="square" rtlCol="0" anchor="ctr"/>
          <a:lstStyle/>
          <a:p>
            <a:pPr indent="0" marL="0">
              <a:buNone/>
            </a:pPr>
            <a:r>
              <a:rPr lang="en-US" sz="1050" dirty="0">
                <a:solidFill>
                  <a:srgbClr val="E0E6F0"/>
                </a:solidFill>
              </a:rPr>
              <a:t>4</a:t>
            </a:r>
            <a:endParaRPr lang="en-US" sz="1050" dirty="0"/>
          </a:p>
        </p:txBody>
      </p:sp>
      <p:sp>
        <p:nvSpPr>
          <p:cNvPr id="25" name="Text 23"/>
          <p:cNvSpPr/>
          <p:nvPr/>
        </p:nvSpPr>
        <p:spPr>
          <a:xfrm>
            <a:off x="4206240" y="2167128"/>
            <a:ext cx="1097280" cy="274320"/>
          </a:xfrm>
          <a:prstGeom prst="rect">
            <a:avLst/>
          </a:prstGeom>
          <a:noFill/>
          <a:ln/>
        </p:spPr>
        <p:txBody>
          <a:bodyPr wrap="square" rtlCol="0" anchor="ctr"/>
          <a:lstStyle/>
          <a:p>
            <a:pPr indent="0" marL="0">
              <a:buNone/>
            </a:pPr>
            <a:r>
              <a:rPr lang="en-US" sz="1050" dirty="0">
                <a:solidFill>
                  <a:srgbClr val="E0E6F0"/>
                </a:solidFill>
              </a:rPr>
              <a:t>2</a:t>
            </a:r>
            <a:endParaRPr lang="en-US" sz="1050" dirty="0"/>
          </a:p>
        </p:txBody>
      </p:sp>
      <p:sp>
        <p:nvSpPr>
          <p:cNvPr id="26" name="Text 24"/>
          <p:cNvSpPr/>
          <p:nvPr/>
        </p:nvSpPr>
        <p:spPr>
          <a:xfrm>
            <a:off x="5394960" y="2167128"/>
            <a:ext cx="1371600" cy="274320"/>
          </a:xfrm>
          <a:prstGeom prst="rect">
            <a:avLst/>
          </a:prstGeom>
          <a:noFill/>
          <a:ln/>
        </p:spPr>
        <p:txBody>
          <a:bodyPr wrap="square" rtlCol="0" anchor="ctr"/>
          <a:lstStyle/>
          <a:p>
            <a:pPr indent="0" marL="0">
              <a:buNone/>
            </a:pPr>
            <a:r>
              <a:rPr lang="en-US" sz="1050" b="1" dirty="0">
                <a:solidFill>
                  <a:srgbClr val="FF4D6D"/>
                </a:solidFill>
              </a:rPr>
              <a:t>6</a:t>
            </a:r>
            <a:endParaRPr lang="en-US" sz="1050" dirty="0"/>
          </a:p>
        </p:txBody>
      </p:sp>
      <p:sp>
        <p:nvSpPr>
          <p:cNvPr id="27" name="Text 25"/>
          <p:cNvSpPr/>
          <p:nvPr/>
        </p:nvSpPr>
        <p:spPr>
          <a:xfrm>
            <a:off x="6858000" y="2167128"/>
            <a:ext cx="1645920" cy="274320"/>
          </a:xfrm>
          <a:prstGeom prst="rect">
            <a:avLst/>
          </a:prstGeom>
          <a:noFill/>
          <a:ln/>
        </p:spPr>
        <p:txBody>
          <a:bodyPr wrap="square" rtlCol="0" anchor="ctr"/>
          <a:lstStyle/>
          <a:p>
            <a:pPr indent="0" marL="0">
              <a:buNone/>
            </a:pPr>
            <a:r>
              <a:rPr lang="en-US" sz="1050" b="1" dirty="0">
                <a:solidFill>
                  <a:srgbClr val="FF4D6D"/>
                </a:solidFill>
              </a:rPr>
              <a:t>FLAGGED</a:t>
            </a:r>
            <a:endParaRPr lang="en-US" sz="1050" dirty="0"/>
          </a:p>
        </p:txBody>
      </p:sp>
      <p:sp>
        <p:nvSpPr>
          <p:cNvPr id="28" name="Shape 26"/>
          <p:cNvSpPr/>
          <p:nvPr/>
        </p:nvSpPr>
        <p:spPr>
          <a:xfrm>
            <a:off x="274320" y="2542032"/>
            <a:ext cx="8595360" cy="384048"/>
          </a:xfrm>
          <a:prstGeom prst="rect">
            <a:avLst/>
          </a:prstGeom>
          <a:solidFill>
            <a:srgbClr val="1A2744">
              <a:alpha val="20000"/>
            </a:srgbClr>
          </a:solidFill>
          <a:ln w="12700">
            <a:solidFill>
              <a:srgbClr val="1E3A5F"/>
            </a:solidFill>
            <a:prstDash val="solid"/>
          </a:ln>
        </p:spPr>
      </p:sp>
      <p:sp>
        <p:nvSpPr>
          <p:cNvPr id="29" name="Text 27"/>
          <p:cNvSpPr/>
          <p:nvPr/>
        </p:nvSpPr>
        <p:spPr>
          <a:xfrm>
            <a:off x="365760" y="2606040"/>
            <a:ext cx="1280160" cy="274320"/>
          </a:xfrm>
          <a:prstGeom prst="rect">
            <a:avLst/>
          </a:prstGeom>
          <a:noFill/>
          <a:ln/>
        </p:spPr>
        <p:txBody>
          <a:bodyPr wrap="square" rtlCol="0" anchor="ctr"/>
          <a:lstStyle/>
          <a:p>
            <a:pPr indent="0" marL="0">
              <a:buNone/>
            </a:pPr>
            <a:r>
              <a:rPr lang="en-US" sz="1050" dirty="0">
                <a:solidFill>
                  <a:srgbClr val="E0E6F0"/>
                </a:solidFill>
              </a:rPr>
              <a:t>INT-0103</a:t>
            </a:r>
            <a:endParaRPr lang="en-US" sz="1050" dirty="0"/>
          </a:p>
        </p:txBody>
      </p:sp>
      <p:sp>
        <p:nvSpPr>
          <p:cNvPr id="30" name="Text 28"/>
          <p:cNvSpPr/>
          <p:nvPr/>
        </p:nvSpPr>
        <p:spPr>
          <a:xfrm>
            <a:off x="1737360" y="2606040"/>
            <a:ext cx="1188720" cy="274320"/>
          </a:xfrm>
          <a:prstGeom prst="rect">
            <a:avLst/>
          </a:prstGeom>
          <a:noFill/>
          <a:ln/>
        </p:spPr>
        <p:txBody>
          <a:bodyPr wrap="square" rtlCol="0" anchor="ctr"/>
          <a:lstStyle/>
          <a:p>
            <a:pPr indent="0" marL="0">
              <a:buNone/>
            </a:pPr>
            <a:r>
              <a:rPr lang="en-US" sz="1050" dirty="0">
                <a:solidFill>
                  <a:srgbClr val="E0E6F0"/>
                </a:solidFill>
              </a:rPr>
              <a:t>312</a:t>
            </a:r>
            <a:endParaRPr lang="en-US" sz="1050" dirty="0"/>
          </a:p>
        </p:txBody>
      </p:sp>
      <p:sp>
        <p:nvSpPr>
          <p:cNvPr id="31" name="Text 29"/>
          <p:cNvSpPr/>
          <p:nvPr/>
        </p:nvSpPr>
        <p:spPr>
          <a:xfrm>
            <a:off x="3017520" y="2606040"/>
            <a:ext cx="1097280" cy="274320"/>
          </a:xfrm>
          <a:prstGeom prst="rect">
            <a:avLst/>
          </a:prstGeom>
          <a:noFill/>
          <a:ln/>
        </p:spPr>
        <p:txBody>
          <a:bodyPr wrap="square" rtlCol="0" anchor="ctr"/>
          <a:lstStyle/>
          <a:p>
            <a:pPr indent="0" marL="0">
              <a:buNone/>
            </a:pPr>
            <a:r>
              <a:rPr lang="en-US" sz="1050" dirty="0">
                <a:solidFill>
                  <a:srgbClr val="E0E6F0"/>
                </a:solidFill>
              </a:rPr>
              <a:t>1</a:t>
            </a:r>
            <a:endParaRPr lang="en-US" sz="1050" dirty="0"/>
          </a:p>
        </p:txBody>
      </p:sp>
      <p:sp>
        <p:nvSpPr>
          <p:cNvPr id="32" name="Text 30"/>
          <p:cNvSpPr/>
          <p:nvPr/>
        </p:nvSpPr>
        <p:spPr>
          <a:xfrm>
            <a:off x="4206240" y="2606040"/>
            <a:ext cx="109728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33" name="Text 31"/>
          <p:cNvSpPr/>
          <p:nvPr/>
        </p:nvSpPr>
        <p:spPr>
          <a:xfrm>
            <a:off x="5394960" y="2606040"/>
            <a:ext cx="1371600" cy="274320"/>
          </a:xfrm>
          <a:prstGeom prst="rect">
            <a:avLst/>
          </a:prstGeom>
          <a:noFill/>
          <a:ln/>
        </p:spPr>
        <p:txBody>
          <a:bodyPr wrap="square" rtlCol="0" anchor="ctr"/>
          <a:lstStyle/>
          <a:p>
            <a:pPr indent="0" marL="0">
              <a:buNone/>
            </a:pPr>
            <a:r>
              <a:rPr lang="en-US" sz="1050" dirty="0">
                <a:solidFill>
                  <a:srgbClr val="E0E6F0"/>
                </a:solidFill>
              </a:rPr>
              <a:t>1</a:t>
            </a:r>
            <a:endParaRPr lang="en-US" sz="1050" dirty="0"/>
          </a:p>
        </p:txBody>
      </p:sp>
      <p:sp>
        <p:nvSpPr>
          <p:cNvPr id="34" name="Text 32"/>
          <p:cNvSpPr/>
          <p:nvPr/>
        </p:nvSpPr>
        <p:spPr>
          <a:xfrm>
            <a:off x="6858000" y="2606040"/>
            <a:ext cx="1645920" cy="274320"/>
          </a:xfrm>
          <a:prstGeom prst="rect">
            <a:avLst/>
          </a:prstGeom>
          <a:noFill/>
          <a:ln/>
        </p:spPr>
        <p:txBody>
          <a:bodyPr wrap="square" rtlCol="0" anchor="ctr"/>
          <a:lstStyle/>
          <a:p>
            <a:pPr indent="0" marL="0">
              <a:buNone/>
            </a:pPr>
            <a:r>
              <a:rPr lang="en-US" sz="1050" b="1" dirty="0">
                <a:solidFill>
                  <a:srgbClr val="FFD166"/>
                </a:solidFill>
              </a:rPr>
              <a:t>REVIEW</a:t>
            </a:r>
            <a:endParaRPr lang="en-US" sz="1050" dirty="0"/>
          </a:p>
        </p:txBody>
      </p:sp>
      <p:sp>
        <p:nvSpPr>
          <p:cNvPr id="35" name="Shape 33"/>
          <p:cNvSpPr/>
          <p:nvPr/>
        </p:nvSpPr>
        <p:spPr>
          <a:xfrm>
            <a:off x="274320" y="2980944"/>
            <a:ext cx="8595360" cy="384048"/>
          </a:xfrm>
          <a:prstGeom prst="rect">
            <a:avLst/>
          </a:prstGeom>
          <a:solidFill>
            <a:srgbClr val="1A2744">
              <a:alpha val="15000"/>
            </a:srgbClr>
          </a:solidFill>
          <a:ln w="12700">
            <a:solidFill>
              <a:srgbClr val="1E3A5F"/>
            </a:solidFill>
            <a:prstDash val="solid"/>
          </a:ln>
        </p:spPr>
      </p:sp>
      <p:sp>
        <p:nvSpPr>
          <p:cNvPr id="36" name="Text 34"/>
          <p:cNvSpPr/>
          <p:nvPr/>
        </p:nvSpPr>
        <p:spPr>
          <a:xfrm>
            <a:off x="365760" y="3044952"/>
            <a:ext cx="1280160" cy="274320"/>
          </a:xfrm>
          <a:prstGeom prst="rect">
            <a:avLst/>
          </a:prstGeom>
          <a:noFill/>
          <a:ln/>
        </p:spPr>
        <p:txBody>
          <a:bodyPr wrap="square" rtlCol="0" anchor="ctr"/>
          <a:lstStyle/>
          <a:p>
            <a:pPr indent="0" marL="0">
              <a:buNone/>
            </a:pPr>
            <a:r>
              <a:rPr lang="en-US" sz="1050" dirty="0">
                <a:solidFill>
                  <a:srgbClr val="E0E6F0"/>
                </a:solidFill>
              </a:rPr>
              <a:t>INT-0156</a:t>
            </a:r>
            <a:endParaRPr lang="en-US" sz="1050" dirty="0"/>
          </a:p>
        </p:txBody>
      </p:sp>
      <p:sp>
        <p:nvSpPr>
          <p:cNvPr id="37" name="Text 35"/>
          <p:cNvSpPr/>
          <p:nvPr/>
        </p:nvSpPr>
        <p:spPr>
          <a:xfrm>
            <a:off x="1737360" y="3044952"/>
            <a:ext cx="1188720" cy="274320"/>
          </a:xfrm>
          <a:prstGeom prst="rect">
            <a:avLst/>
          </a:prstGeom>
          <a:noFill/>
          <a:ln/>
        </p:spPr>
        <p:txBody>
          <a:bodyPr wrap="square" rtlCol="0" anchor="ctr"/>
          <a:lstStyle/>
          <a:p>
            <a:pPr indent="0" marL="0">
              <a:buNone/>
            </a:pPr>
            <a:r>
              <a:rPr lang="en-US" sz="1050" dirty="0">
                <a:solidFill>
                  <a:srgbClr val="E0E6F0"/>
                </a:solidFill>
              </a:rPr>
              <a:t>88</a:t>
            </a:r>
            <a:endParaRPr lang="en-US" sz="1050" dirty="0"/>
          </a:p>
        </p:txBody>
      </p:sp>
      <p:sp>
        <p:nvSpPr>
          <p:cNvPr id="38" name="Text 36"/>
          <p:cNvSpPr/>
          <p:nvPr/>
        </p:nvSpPr>
        <p:spPr>
          <a:xfrm>
            <a:off x="3017520" y="3044952"/>
            <a:ext cx="1097280" cy="274320"/>
          </a:xfrm>
          <a:prstGeom prst="rect">
            <a:avLst/>
          </a:prstGeom>
          <a:noFill/>
          <a:ln/>
        </p:spPr>
        <p:txBody>
          <a:bodyPr wrap="square" rtlCol="0" anchor="ctr"/>
          <a:lstStyle/>
          <a:p>
            <a:pPr indent="0" marL="0">
              <a:buNone/>
            </a:pPr>
            <a:r>
              <a:rPr lang="en-US" sz="1050" dirty="0">
                <a:solidFill>
                  <a:srgbClr val="E0E6F0"/>
                </a:solidFill>
              </a:rPr>
              <a:t>5</a:t>
            </a:r>
            <a:endParaRPr lang="en-US" sz="1050" dirty="0"/>
          </a:p>
        </p:txBody>
      </p:sp>
      <p:sp>
        <p:nvSpPr>
          <p:cNvPr id="39" name="Text 37"/>
          <p:cNvSpPr/>
          <p:nvPr/>
        </p:nvSpPr>
        <p:spPr>
          <a:xfrm>
            <a:off x="4206240" y="3044952"/>
            <a:ext cx="1097280" cy="274320"/>
          </a:xfrm>
          <a:prstGeom prst="rect">
            <a:avLst/>
          </a:prstGeom>
          <a:noFill/>
          <a:ln/>
        </p:spPr>
        <p:txBody>
          <a:bodyPr wrap="square" rtlCol="0" anchor="ctr"/>
          <a:lstStyle/>
          <a:p>
            <a:pPr indent="0" marL="0">
              <a:buNone/>
            </a:pPr>
            <a:r>
              <a:rPr lang="en-US" sz="1050" dirty="0">
                <a:solidFill>
                  <a:srgbClr val="E0E6F0"/>
                </a:solidFill>
              </a:rPr>
              <a:t>3</a:t>
            </a:r>
            <a:endParaRPr lang="en-US" sz="1050" dirty="0"/>
          </a:p>
        </p:txBody>
      </p:sp>
      <p:sp>
        <p:nvSpPr>
          <p:cNvPr id="40" name="Text 38"/>
          <p:cNvSpPr/>
          <p:nvPr/>
        </p:nvSpPr>
        <p:spPr>
          <a:xfrm>
            <a:off x="5394960" y="3044952"/>
            <a:ext cx="1371600" cy="274320"/>
          </a:xfrm>
          <a:prstGeom prst="rect">
            <a:avLst/>
          </a:prstGeom>
          <a:noFill/>
          <a:ln/>
        </p:spPr>
        <p:txBody>
          <a:bodyPr wrap="square" rtlCol="0" anchor="ctr"/>
          <a:lstStyle/>
          <a:p>
            <a:pPr indent="0" marL="0">
              <a:buNone/>
            </a:pPr>
            <a:r>
              <a:rPr lang="en-US" sz="1050" b="1" dirty="0">
                <a:solidFill>
                  <a:srgbClr val="FF4D6D"/>
                </a:solidFill>
              </a:rPr>
              <a:t>8</a:t>
            </a:r>
            <a:endParaRPr lang="en-US" sz="1050" dirty="0"/>
          </a:p>
        </p:txBody>
      </p:sp>
      <p:sp>
        <p:nvSpPr>
          <p:cNvPr id="41" name="Text 39"/>
          <p:cNvSpPr/>
          <p:nvPr/>
        </p:nvSpPr>
        <p:spPr>
          <a:xfrm>
            <a:off x="6858000" y="3044952"/>
            <a:ext cx="1645920" cy="274320"/>
          </a:xfrm>
          <a:prstGeom prst="rect">
            <a:avLst/>
          </a:prstGeom>
          <a:noFill/>
          <a:ln/>
        </p:spPr>
        <p:txBody>
          <a:bodyPr wrap="square" rtlCol="0" anchor="ctr"/>
          <a:lstStyle/>
          <a:p>
            <a:pPr indent="0" marL="0">
              <a:buNone/>
            </a:pPr>
            <a:r>
              <a:rPr lang="en-US" sz="1050" b="1" dirty="0">
                <a:solidFill>
                  <a:srgbClr val="FF4D6D"/>
                </a:solidFill>
              </a:rPr>
              <a:t>FLAGGED</a:t>
            </a:r>
            <a:endParaRPr lang="en-US" sz="1050" dirty="0"/>
          </a:p>
        </p:txBody>
      </p:sp>
      <p:sp>
        <p:nvSpPr>
          <p:cNvPr id="42" name="Shape 40"/>
          <p:cNvSpPr/>
          <p:nvPr/>
        </p:nvSpPr>
        <p:spPr>
          <a:xfrm>
            <a:off x="274320" y="3419856"/>
            <a:ext cx="8595360" cy="384048"/>
          </a:xfrm>
          <a:prstGeom prst="rect">
            <a:avLst/>
          </a:prstGeom>
          <a:solidFill>
            <a:srgbClr val="1A2744">
              <a:alpha val="20000"/>
            </a:srgbClr>
          </a:solidFill>
          <a:ln w="12700">
            <a:solidFill>
              <a:srgbClr val="1E3A5F"/>
            </a:solidFill>
            <a:prstDash val="solid"/>
          </a:ln>
        </p:spPr>
      </p:sp>
      <p:sp>
        <p:nvSpPr>
          <p:cNvPr id="43" name="Text 41"/>
          <p:cNvSpPr/>
          <p:nvPr/>
        </p:nvSpPr>
        <p:spPr>
          <a:xfrm>
            <a:off x="365760" y="3483864"/>
            <a:ext cx="1280160" cy="274320"/>
          </a:xfrm>
          <a:prstGeom prst="rect">
            <a:avLst/>
          </a:prstGeom>
          <a:noFill/>
          <a:ln/>
        </p:spPr>
        <p:txBody>
          <a:bodyPr wrap="square" rtlCol="0" anchor="ctr"/>
          <a:lstStyle/>
          <a:p>
            <a:pPr indent="0" marL="0">
              <a:buNone/>
            </a:pPr>
            <a:r>
              <a:rPr lang="en-US" sz="1050" dirty="0">
                <a:solidFill>
                  <a:srgbClr val="E0E6F0"/>
                </a:solidFill>
              </a:rPr>
              <a:t>INT-0201</a:t>
            </a:r>
            <a:endParaRPr lang="en-US" sz="1050" dirty="0"/>
          </a:p>
        </p:txBody>
      </p:sp>
      <p:sp>
        <p:nvSpPr>
          <p:cNvPr id="44" name="Text 42"/>
          <p:cNvSpPr/>
          <p:nvPr/>
        </p:nvSpPr>
        <p:spPr>
          <a:xfrm>
            <a:off x="1737360" y="3483864"/>
            <a:ext cx="1188720" cy="274320"/>
          </a:xfrm>
          <a:prstGeom prst="rect">
            <a:avLst/>
          </a:prstGeom>
          <a:noFill/>
          <a:ln/>
        </p:spPr>
        <p:txBody>
          <a:bodyPr wrap="square" rtlCol="0" anchor="ctr"/>
          <a:lstStyle/>
          <a:p>
            <a:pPr indent="0" marL="0">
              <a:buNone/>
            </a:pPr>
            <a:r>
              <a:rPr lang="en-US" sz="1050" dirty="0">
                <a:solidFill>
                  <a:srgbClr val="E0E6F0"/>
                </a:solidFill>
              </a:rPr>
              <a:t>276</a:t>
            </a:r>
            <a:endParaRPr lang="en-US" sz="1050" dirty="0"/>
          </a:p>
        </p:txBody>
      </p:sp>
      <p:sp>
        <p:nvSpPr>
          <p:cNvPr id="45" name="Text 43"/>
          <p:cNvSpPr/>
          <p:nvPr/>
        </p:nvSpPr>
        <p:spPr>
          <a:xfrm>
            <a:off x="3017520" y="3483864"/>
            <a:ext cx="109728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46" name="Text 44"/>
          <p:cNvSpPr/>
          <p:nvPr/>
        </p:nvSpPr>
        <p:spPr>
          <a:xfrm>
            <a:off x="4206240" y="3483864"/>
            <a:ext cx="109728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47" name="Text 45"/>
          <p:cNvSpPr/>
          <p:nvPr/>
        </p:nvSpPr>
        <p:spPr>
          <a:xfrm>
            <a:off x="5394960" y="3483864"/>
            <a:ext cx="1371600" cy="274320"/>
          </a:xfrm>
          <a:prstGeom prst="rect">
            <a:avLst/>
          </a:prstGeom>
          <a:noFill/>
          <a:ln/>
        </p:spPr>
        <p:txBody>
          <a:bodyPr wrap="square" rtlCol="0" anchor="ctr"/>
          <a:lstStyle/>
          <a:p>
            <a:pPr indent="0" marL="0">
              <a:buNone/>
            </a:pPr>
            <a:r>
              <a:rPr lang="en-US" sz="1050" dirty="0">
                <a:solidFill>
                  <a:srgbClr val="E0E6F0"/>
                </a:solidFill>
              </a:rPr>
              <a:t>0</a:t>
            </a:r>
            <a:endParaRPr lang="en-US" sz="1050" dirty="0"/>
          </a:p>
        </p:txBody>
      </p:sp>
      <p:sp>
        <p:nvSpPr>
          <p:cNvPr id="48" name="Text 46"/>
          <p:cNvSpPr/>
          <p:nvPr/>
        </p:nvSpPr>
        <p:spPr>
          <a:xfrm>
            <a:off x="6858000" y="3483864"/>
            <a:ext cx="1645920" cy="274320"/>
          </a:xfrm>
          <a:prstGeom prst="rect">
            <a:avLst/>
          </a:prstGeom>
          <a:noFill/>
          <a:ln/>
        </p:spPr>
        <p:txBody>
          <a:bodyPr wrap="square" rtlCol="0" anchor="ctr"/>
          <a:lstStyle/>
          <a:p>
            <a:pPr indent="0" marL="0">
              <a:buNone/>
            </a:pPr>
            <a:r>
              <a:rPr lang="en-US" sz="1050" b="1" dirty="0">
                <a:solidFill>
                  <a:srgbClr val="06D6A0"/>
                </a:solidFill>
              </a:rPr>
              <a:t>CLEAN</a:t>
            </a:r>
            <a:endParaRPr lang="en-US" sz="1050" dirty="0"/>
          </a:p>
        </p:txBody>
      </p:sp>
      <p:sp>
        <p:nvSpPr>
          <p:cNvPr id="49" name="Shape 47"/>
          <p:cNvSpPr/>
          <p:nvPr/>
        </p:nvSpPr>
        <p:spPr>
          <a:xfrm>
            <a:off x="274320" y="3858768"/>
            <a:ext cx="8595360" cy="384048"/>
          </a:xfrm>
          <a:prstGeom prst="rect">
            <a:avLst/>
          </a:prstGeom>
          <a:solidFill>
            <a:srgbClr val="1A2744">
              <a:alpha val="15000"/>
            </a:srgbClr>
          </a:solidFill>
          <a:ln w="12700">
            <a:solidFill>
              <a:srgbClr val="1E3A5F"/>
            </a:solidFill>
            <a:prstDash val="solid"/>
          </a:ln>
        </p:spPr>
      </p:sp>
      <p:sp>
        <p:nvSpPr>
          <p:cNvPr id="50" name="Text 48"/>
          <p:cNvSpPr/>
          <p:nvPr/>
        </p:nvSpPr>
        <p:spPr>
          <a:xfrm>
            <a:off x="365760" y="3922776"/>
            <a:ext cx="1280160" cy="274320"/>
          </a:xfrm>
          <a:prstGeom prst="rect">
            <a:avLst/>
          </a:prstGeom>
          <a:noFill/>
          <a:ln/>
        </p:spPr>
        <p:txBody>
          <a:bodyPr wrap="square" rtlCol="0" anchor="ctr"/>
          <a:lstStyle/>
          <a:p>
            <a:pPr indent="0" marL="0">
              <a:buNone/>
            </a:pPr>
            <a:r>
              <a:rPr lang="en-US" sz="1050" dirty="0">
                <a:solidFill>
                  <a:srgbClr val="E0E6F0"/>
                </a:solidFill>
              </a:rPr>
              <a:t>INT-0244</a:t>
            </a:r>
            <a:endParaRPr lang="en-US" sz="1050" dirty="0"/>
          </a:p>
        </p:txBody>
      </p:sp>
      <p:sp>
        <p:nvSpPr>
          <p:cNvPr id="51" name="Text 49"/>
          <p:cNvSpPr/>
          <p:nvPr/>
        </p:nvSpPr>
        <p:spPr>
          <a:xfrm>
            <a:off x="1737360" y="3922776"/>
            <a:ext cx="1188720" cy="274320"/>
          </a:xfrm>
          <a:prstGeom prst="rect">
            <a:avLst/>
          </a:prstGeom>
          <a:noFill/>
          <a:ln/>
        </p:spPr>
        <p:txBody>
          <a:bodyPr wrap="square" rtlCol="0" anchor="ctr"/>
          <a:lstStyle/>
          <a:p>
            <a:pPr indent="0" marL="0">
              <a:buNone/>
            </a:pPr>
            <a:r>
              <a:rPr lang="en-US" sz="1050" dirty="0">
                <a:solidFill>
                  <a:srgbClr val="E0E6F0"/>
                </a:solidFill>
              </a:rPr>
              <a:t>401</a:t>
            </a:r>
            <a:endParaRPr lang="en-US" sz="1050" dirty="0"/>
          </a:p>
        </p:txBody>
      </p:sp>
      <p:sp>
        <p:nvSpPr>
          <p:cNvPr id="52" name="Text 50"/>
          <p:cNvSpPr/>
          <p:nvPr/>
        </p:nvSpPr>
        <p:spPr>
          <a:xfrm>
            <a:off x="3017520" y="3922776"/>
            <a:ext cx="1097280" cy="274320"/>
          </a:xfrm>
          <a:prstGeom prst="rect">
            <a:avLst/>
          </a:prstGeom>
          <a:noFill/>
          <a:ln/>
        </p:spPr>
        <p:txBody>
          <a:bodyPr wrap="square" rtlCol="0" anchor="ctr"/>
          <a:lstStyle/>
          <a:p>
            <a:pPr indent="0" marL="0">
              <a:buNone/>
            </a:pPr>
            <a:r>
              <a:rPr lang="en-US" sz="1050" dirty="0">
                <a:solidFill>
                  <a:srgbClr val="E0E6F0"/>
                </a:solidFill>
              </a:rPr>
              <a:t>2</a:t>
            </a:r>
            <a:endParaRPr lang="en-US" sz="1050" dirty="0"/>
          </a:p>
        </p:txBody>
      </p:sp>
      <p:sp>
        <p:nvSpPr>
          <p:cNvPr id="53" name="Text 51"/>
          <p:cNvSpPr/>
          <p:nvPr/>
        </p:nvSpPr>
        <p:spPr>
          <a:xfrm>
            <a:off x="4206240" y="3922776"/>
            <a:ext cx="1097280" cy="274320"/>
          </a:xfrm>
          <a:prstGeom prst="rect">
            <a:avLst/>
          </a:prstGeom>
          <a:noFill/>
          <a:ln/>
        </p:spPr>
        <p:txBody>
          <a:bodyPr wrap="square" rtlCol="0" anchor="ctr"/>
          <a:lstStyle/>
          <a:p>
            <a:pPr indent="0" marL="0">
              <a:buNone/>
            </a:pPr>
            <a:r>
              <a:rPr lang="en-US" sz="1050" dirty="0">
                <a:solidFill>
                  <a:srgbClr val="E0E6F0"/>
                </a:solidFill>
              </a:rPr>
              <a:t>1</a:t>
            </a:r>
            <a:endParaRPr lang="en-US" sz="1050" dirty="0"/>
          </a:p>
        </p:txBody>
      </p:sp>
      <p:sp>
        <p:nvSpPr>
          <p:cNvPr id="54" name="Text 52"/>
          <p:cNvSpPr/>
          <p:nvPr/>
        </p:nvSpPr>
        <p:spPr>
          <a:xfrm>
            <a:off x="5394960" y="3922776"/>
            <a:ext cx="1371600" cy="274320"/>
          </a:xfrm>
          <a:prstGeom prst="rect">
            <a:avLst/>
          </a:prstGeom>
          <a:noFill/>
          <a:ln/>
        </p:spPr>
        <p:txBody>
          <a:bodyPr wrap="square" rtlCol="0" anchor="ctr"/>
          <a:lstStyle/>
          <a:p>
            <a:pPr indent="0" marL="0">
              <a:buNone/>
            </a:pPr>
            <a:r>
              <a:rPr lang="en-US" sz="1050" dirty="0">
                <a:solidFill>
                  <a:srgbClr val="FFD166"/>
                </a:solidFill>
              </a:rPr>
              <a:t>3</a:t>
            </a:r>
            <a:endParaRPr lang="en-US" sz="1050" dirty="0"/>
          </a:p>
        </p:txBody>
      </p:sp>
      <p:sp>
        <p:nvSpPr>
          <p:cNvPr id="55" name="Text 53"/>
          <p:cNvSpPr/>
          <p:nvPr/>
        </p:nvSpPr>
        <p:spPr>
          <a:xfrm>
            <a:off x="6858000" y="3922776"/>
            <a:ext cx="1645920" cy="274320"/>
          </a:xfrm>
          <a:prstGeom prst="rect">
            <a:avLst/>
          </a:prstGeom>
          <a:noFill/>
          <a:ln/>
        </p:spPr>
        <p:txBody>
          <a:bodyPr wrap="square" rtlCol="0" anchor="ctr"/>
          <a:lstStyle/>
          <a:p>
            <a:pPr indent="0" marL="0">
              <a:buNone/>
            </a:pPr>
            <a:r>
              <a:rPr lang="en-US" sz="1050" b="1" dirty="0">
                <a:solidFill>
                  <a:srgbClr val="FFD166"/>
                </a:solidFill>
              </a:rPr>
              <a:t>REVIEW</a:t>
            </a:r>
            <a:endParaRPr lang="en-US" sz="1050" dirty="0"/>
          </a:p>
        </p:txBody>
      </p:sp>
      <p:sp>
        <p:nvSpPr>
          <p:cNvPr id="56" name="Shape 54"/>
          <p:cNvSpPr/>
          <p:nvPr/>
        </p:nvSpPr>
        <p:spPr>
          <a:xfrm>
            <a:off x="274320" y="4617720"/>
            <a:ext cx="8595360" cy="411480"/>
          </a:xfrm>
          <a:prstGeom prst="rect">
            <a:avLst/>
          </a:prstGeom>
          <a:solidFill>
            <a:srgbClr val="1A2744">
              <a:alpha val="22000"/>
            </a:srgbClr>
          </a:solidFill>
          <a:ln w="12700">
            <a:solidFill>
              <a:srgbClr val="1E3A5F"/>
            </a:solidFill>
            <a:prstDash val="solid"/>
          </a:ln>
        </p:spPr>
      </p:sp>
      <p:sp>
        <p:nvSpPr>
          <p:cNvPr id="57" name="Text 55"/>
          <p:cNvSpPr/>
          <p:nvPr/>
        </p:nvSpPr>
        <p:spPr>
          <a:xfrm>
            <a:off x="457200" y="4681728"/>
            <a:ext cx="2194560" cy="274320"/>
          </a:xfrm>
          <a:prstGeom prst="rect">
            <a:avLst/>
          </a:prstGeom>
          <a:noFill/>
          <a:ln/>
        </p:spPr>
        <p:txBody>
          <a:bodyPr wrap="square" rtlCol="0" anchor="ctr"/>
          <a:lstStyle/>
          <a:p>
            <a:pPr indent="0" marL="0">
              <a:buNone/>
            </a:pPr>
            <a:r>
              <a:rPr lang="en-US" sz="1000" dirty="0">
                <a:solidFill>
                  <a:srgbClr val="06D6A0"/>
                </a:solidFill>
              </a:rPr>
              <a:t>🟢  CLEAN: Score 0–1</a:t>
            </a:r>
            <a:endParaRPr lang="en-US" sz="1000" dirty="0"/>
          </a:p>
        </p:txBody>
      </p:sp>
      <p:sp>
        <p:nvSpPr>
          <p:cNvPr id="58" name="Text 56"/>
          <p:cNvSpPr/>
          <p:nvPr/>
        </p:nvSpPr>
        <p:spPr>
          <a:xfrm>
            <a:off x="2926080" y="4681728"/>
            <a:ext cx="2286000" cy="274320"/>
          </a:xfrm>
          <a:prstGeom prst="rect">
            <a:avLst/>
          </a:prstGeom>
          <a:noFill/>
          <a:ln/>
        </p:spPr>
        <p:txBody>
          <a:bodyPr wrap="square" rtlCol="0" anchor="ctr"/>
          <a:lstStyle/>
          <a:p>
            <a:pPr indent="0" marL="0">
              <a:buNone/>
            </a:pPr>
            <a:r>
              <a:rPr lang="en-US" sz="1000" dirty="0">
                <a:solidFill>
                  <a:srgbClr val="FFD166"/>
                </a:solidFill>
              </a:rPr>
              <a:t>🟡  REVIEW: Score 2–4</a:t>
            </a:r>
            <a:endParaRPr lang="en-US" sz="1000" dirty="0"/>
          </a:p>
        </p:txBody>
      </p:sp>
      <p:sp>
        <p:nvSpPr>
          <p:cNvPr id="59" name="Text 57"/>
          <p:cNvSpPr/>
          <p:nvPr/>
        </p:nvSpPr>
        <p:spPr>
          <a:xfrm>
            <a:off x="5486400" y="4681728"/>
            <a:ext cx="2286000" cy="274320"/>
          </a:xfrm>
          <a:prstGeom prst="rect">
            <a:avLst/>
          </a:prstGeom>
          <a:noFill/>
          <a:ln/>
        </p:spPr>
        <p:txBody>
          <a:bodyPr wrap="square" rtlCol="0" anchor="ctr"/>
          <a:lstStyle/>
          <a:p>
            <a:pPr indent="0" marL="0">
              <a:buNone/>
            </a:pPr>
            <a:r>
              <a:rPr lang="en-US" sz="1000" dirty="0">
                <a:solidFill>
                  <a:srgbClr val="FF4D6D"/>
                </a:solidFill>
              </a:rPr>
              <a:t>🔴  FLAGGED: Score 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9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00B4D8"/>
                </a:solidFill>
              </a:rPr>
              <a:t>IMPACT</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Before vs After — QA Transformation</a:t>
            </a:r>
            <a:endParaRPr lang="en-US" sz="2800" dirty="0"/>
          </a:p>
        </p:txBody>
      </p:sp>
      <p:sp>
        <p:nvSpPr>
          <p:cNvPr id="7" name="Shape 5"/>
          <p:cNvSpPr/>
          <p:nvPr/>
        </p:nvSpPr>
        <p:spPr>
          <a:xfrm>
            <a:off x="274320" y="1188720"/>
            <a:ext cx="4114800" cy="324612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8899BB"/>
          </a:solidFill>
          <a:ln w="12700">
            <a:solidFill>
              <a:srgbClr val="8899BB">
                <a:alpha val="0"/>
              </a:srgbClr>
            </a:solidFill>
            <a:prstDash val="solid"/>
          </a:ln>
        </p:spPr>
      </p:sp>
      <p:sp>
        <p:nvSpPr>
          <p:cNvPr id="9" name="Text 7"/>
          <p:cNvSpPr/>
          <p:nvPr/>
        </p:nvSpPr>
        <p:spPr>
          <a:xfrm>
            <a:off x="457200" y="1298448"/>
            <a:ext cx="1371600" cy="347472"/>
          </a:xfrm>
          <a:prstGeom prst="rect">
            <a:avLst/>
          </a:prstGeom>
          <a:noFill/>
          <a:ln/>
        </p:spPr>
        <p:txBody>
          <a:bodyPr wrap="square" rtlCol="0" anchor="ctr"/>
          <a:lstStyle/>
          <a:p>
            <a:pPr indent="0" marL="0">
              <a:buNone/>
            </a:pPr>
            <a:r>
              <a:rPr lang="en-US" sz="1400" b="1" dirty="0">
                <a:solidFill>
                  <a:srgbClr val="8899BB"/>
                </a:solidFill>
              </a:rPr>
              <a:t>BEFORE</a:t>
            </a:r>
            <a:endParaRPr lang="en-US" sz="1400" dirty="0"/>
          </a:p>
        </p:txBody>
      </p:sp>
      <p:sp>
        <p:nvSpPr>
          <p:cNvPr id="10" name="Text 8"/>
          <p:cNvSpPr/>
          <p:nvPr/>
        </p:nvSpPr>
        <p:spPr>
          <a:xfrm>
            <a:off x="457200" y="1664208"/>
            <a:ext cx="3749040" cy="320040"/>
          </a:xfrm>
          <a:prstGeom prst="rect">
            <a:avLst/>
          </a:prstGeom>
          <a:noFill/>
          <a:ln/>
        </p:spPr>
        <p:txBody>
          <a:bodyPr wrap="square" rtlCol="0" anchor="ctr"/>
          <a:lstStyle/>
          <a:p>
            <a:pPr indent="0" marL="0">
              <a:buNone/>
            </a:pPr>
            <a:r>
              <a:rPr lang="en-US" sz="1200" dirty="0">
                <a:solidFill>
                  <a:srgbClr val="8899BB"/>
                </a:solidFill>
              </a:rPr>
              <a:t>Traditional QA</a:t>
            </a:r>
            <a:endParaRPr lang="en-US" sz="1200" dirty="0"/>
          </a:p>
        </p:txBody>
      </p:sp>
      <p:sp>
        <p:nvSpPr>
          <p:cNvPr id="11" name="Text 9"/>
          <p:cNvSpPr/>
          <p:nvPr/>
        </p:nvSpPr>
        <p:spPr>
          <a:xfrm>
            <a:off x="457200" y="2084832"/>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Total interview duration only</a:t>
            </a:r>
            <a:endParaRPr lang="en-US" sz="1100" dirty="0"/>
          </a:p>
        </p:txBody>
      </p:sp>
      <p:sp>
        <p:nvSpPr>
          <p:cNvPr id="12" name="Text 10"/>
          <p:cNvSpPr/>
          <p:nvPr/>
        </p:nvSpPr>
        <p:spPr>
          <a:xfrm>
            <a:off x="457200" y="2468880"/>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Manual back-checks: &lt;5% coverage</a:t>
            </a:r>
            <a:endParaRPr lang="en-US" sz="1100" dirty="0"/>
          </a:p>
        </p:txBody>
      </p:sp>
      <p:sp>
        <p:nvSpPr>
          <p:cNvPr id="13" name="Text 11"/>
          <p:cNvSpPr/>
          <p:nvPr/>
        </p:nvSpPr>
        <p:spPr>
          <a:xfrm>
            <a:off x="457200" y="2852928"/>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No behavioral pattern detection</a:t>
            </a:r>
            <a:endParaRPr lang="en-US" sz="1100" dirty="0"/>
          </a:p>
        </p:txBody>
      </p:sp>
      <p:sp>
        <p:nvSpPr>
          <p:cNvPr id="14" name="Text 12"/>
          <p:cNvSpPr/>
          <p:nvPr/>
        </p:nvSpPr>
        <p:spPr>
          <a:xfrm>
            <a:off x="457200" y="3236976"/>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Platform-specific, manual process</a:t>
            </a:r>
            <a:endParaRPr lang="en-US" sz="1100" dirty="0"/>
          </a:p>
        </p:txBody>
      </p:sp>
      <p:sp>
        <p:nvSpPr>
          <p:cNvPr id="15" name="Text 13"/>
          <p:cNvSpPr/>
          <p:nvPr/>
        </p:nvSpPr>
        <p:spPr>
          <a:xfrm>
            <a:off x="457200" y="3621024"/>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Fabrication &amp; speeding undetected</a:t>
            </a:r>
            <a:endParaRPr lang="en-US" sz="1100" dirty="0"/>
          </a:p>
        </p:txBody>
      </p:sp>
      <p:sp>
        <p:nvSpPr>
          <p:cNvPr id="16" name="Text 14"/>
          <p:cNvSpPr/>
          <p:nvPr/>
        </p:nvSpPr>
        <p:spPr>
          <a:xfrm>
            <a:off x="457200" y="4005072"/>
            <a:ext cx="3749040" cy="329184"/>
          </a:xfrm>
          <a:prstGeom prst="rect">
            <a:avLst/>
          </a:prstGeom>
          <a:noFill/>
          <a:ln/>
        </p:spPr>
        <p:txBody>
          <a:bodyPr wrap="square" rtlCol="0" anchor="ctr"/>
          <a:lstStyle/>
          <a:p>
            <a:pPr indent="0" marL="0">
              <a:buNone/>
            </a:pPr>
            <a:r>
              <a:rPr lang="en-US" sz="1100" b="1" dirty="0">
                <a:solidFill>
                  <a:srgbClr val="FF4D6D"/>
                </a:solidFill>
              </a:rPr>
              <a:t>✗  </a:t>
            </a:r>
            <a:pPr indent="0" marL="0">
              <a:buNone/>
            </a:pPr>
            <a:r>
              <a:rPr lang="en-US" sz="1100" dirty="0">
                <a:solidFill>
                  <a:srgbClr val="8899BB"/>
                </a:solidFill>
              </a:rPr>
              <a:t>Weeks to produce quality report</a:t>
            </a:r>
            <a:endParaRPr lang="en-US" sz="1100" dirty="0"/>
          </a:p>
        </p:txBody>
      </p:sp>
      <p:sp>
        <p:nvSpPr>
          <p:cNvPr id="17" name="Shape 15"/>
          <p:cNvSpPr/>
          <p:nvPr/>
        </p:nvSpPr>
        <p:spPr>
          <a:xfrm>
            <a:off x="4663440" y="1188720"/>
            <a:ext cx="4160520" cy="3246120"/>
          </a:xfrm>
          <a:prstGeom prst="rect">
            <a:avLst/>
          </a:prstGeom>
          <a:solidFill>
            <a:srgbClr val="1A2744">
              <a:alpha val="28000"/>
            </a:srgbClr>
          </a:solidFill>
          <a:ln w="12700">
            <a:solidFill>
              <a:srgbClr val="1E3A5F"/>
            </a:solidFill>
            <a:prstDash val="solid"/>
          </a:ln>
        </p:spPr>
      </p:sp>
      <p:sp>
        <p:nvSpPr>
          <p:cNvPr id="18" name="Shape 16"/>
          <p:cNvSpPr/>
          <p:nvPr/>
        </p:nvSpPr>
        <p:spPr>
          <a:xfrm>
            <a:off x="4663440" y="1188720"/>
            <a:ext cx="4160520" cy="54864"/>
          </a:xfrm>
          <a:prstGeom prst="rect">
            <a:avLst/>
          </a:prstGeom>
          <a:solidFill>
            <a:srgbClr val="06D6A0"/>
          </a:solidFill>
          <a:ln w="12700">
            <a:solidFill>
              <a:srgbClr val="06D6A0">
                <a:alpha val="0"/>
              </a:srgbClr>
            </a:solidFill>
            <a:prstDash val="solid"/>
          </a:ln>
        </p:spPr>
      </p:sp>
      <p:sp>
        <p:nvSpPr>
          <p:cNvPr id="19" name="Text 17"/>
          <p:cNvSpPr/>
          <p:nvPr/>
        </p:nvSpPr>
        <p:spPr>
          <a:xfrm>
            <a:off x="4828032" y="1298448"/>
            <a:ext cx="1371600" cy="347472"/>
          </a:xfrm>
          <a:prstGeom prst="rect">
            <a:avLst/>
          </a:prstGeom>
          <a:noFill/>
          <a:ln/>
        </p:spPr>
        <p:txBody>
          <a:bodyPr wrap="square" rtlCol="0" anchor="ctr"/>
          <a:lstStyle/>
          <a:p>
            <a:pPr indent="0" marL="0">
              <a:buNone/>
            </a:pPr>
            <a:r>
              <a:rPr lang="en-US" sz="1400" b="1" dirty="0">
                <a:solidFill>
                  <a:srgbClr val="06D6A0"/>
                </a:solidFill>
              </a:rPr>
              <a:t>AFTER</a:t>
            </a:r>
            <a:endParaRPr lang="en-US" sz="1400" dirty="0"/>
          </a:p>
        </p:txBody>
      </p:sp>
      <p:sp>
        <p:nvSpPr>
          <p:cNvPr id="20" name="Text 18"/>
          <p:cNvSpPr/>
          <p:nvPr/>
        </p:nvSpPr>
        <p:spPr>
          <a:xfrm>
            <a:off x="4828032" y="1664208"/>
            <a:ext cx="3840480" cy="320040"/>
          </a:xfrm>
          <a:prstGeom prst="rect">
            <a:avLst/>
          </a:prstGeom>
          <a:noFill/>
          <a:ln/>
        </p:spPr>
        <p:txBody>
          <a:bodyPr wrap="square" rtlCol="0" anchor="ctr"/>
          <a:lstStyle/>
          <a:p>
            <a:pPr indent="0" marL="0">
              <a:buNone/>
            </a:pPr>
            <a:r>
              <a:rPr lang="en-US" sz="1200" dirty="0">
                <a:solidFill>
                  <a:srgbClr val="06D6A0"/>
                </a:solidFill>
              </a:rPr>
              <a:t>Paradata Pipeline</a:t>
            </a:r>
            <a:endParaRPr lang="en-US" sz="1200" dirty="0"/>
          </a:p>
        </p:txBody>
      </p:sp>
      <p:sp>
        <p:nvSpPr>
          <p:cNvPr id="21" name="Text 19"/>
          <p:cNvSpPr/>
          <p:nvPr/>
        </p:nvSpPr>
        <p:spPr>
          <a:xfrm>
            <a:off x="4828032" y="2084832"/>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40 features across 3 granularity levels</a:t>
            </a:r>
            <a:endParaRPr lang="en-US" sz="1100" dirty="0"/>
          </a:p>
        </p:txBody>
      </p:sp>
      <p:sp>
        <p:nvSpPr>
          <p:cNvPr id="22" name="Text 20"/>
          <p:cNvSpPr/>
          <p:nvPr/>
        </p:nvSpPr>
        <p:spPr>
          <a:xfrm>
            <a:off x="4828032" y="2468880"/>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100% interview coverage, automated</a:t>
            </a:r>
            <a:endParaRPr lang="en-US" sz="1100" dirty="0"/>
          </a:p>
        </p:txBody>
      </p:sp>
      <p:sp>
        <p:nvSpPr>
          <p:cNvPr id="23" name="Text 21"/>
          <p:cNvSpPr/>
          <p:nvPr/>
        </p:nvSpPr>
        <p:spPr>
          <a:xfrm>
            <a:off x="4828032" y="2852928"/>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Behavioral fingerprint per enumerator</a:t>
            </a:r>
            <a:endParaRPr lang="en-US" sz="1100" dirty="0"/>
          </a:p>
        </p:txBody>
      </p:sp>
      <p:sp>
        <p:nvSpPr>
          <p:cNvPr id="24" name="Text 22"/>
          <p:cNvSpPr/>
          <p:nvPr/>
        </p:nvSpPr>
        <p:spPr>
          <a:xfrm>
            <a:off x="4828032" y="3236976"/>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SurveyCTO + ODK, one pipeline</a:t>
            </a:r>
            <a:endParaRPr lang="en-US" sz="1100" dirty="0"/>
          </a:p>
        </p:txBody>
      </p:sp>
      <p:sp>
        <p:nvSpPr>
          <p:cNvPr id="25" name="Text 23"/>
          <p:cNvSpPr/>
          <p:nvPr/>
        </p:nvSpPr>
        <p:spPr>
          <a:xfrm>
            <a:off x="4828032" y="3621024"/>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Fabrication &amp; speeding detected</a:t>
            </a:r>
            <a:endParaRPr lang="en-US" sz="1100" dirty="0"/>
          </a:p>
        </p:txBody>
      </p:sp>
      <p:sp>
        <p:nvSpPr>
          <p:cNvPr id="26" name="Text 24"/>
          <p:cNvSpPr/>
          <p:nvPr/>
        </p:nvSpPr>
        <p:spPr>
          <a:xfrm>
            <a:off x="4828032" y="4005072"/>
            <a:ext cx="3840480" cy="329184"/>
          </a:xfrm>
          <a:prstGeom prst="rect">
            <a:avLst/>
          </a:prstGeom>
          <a:noFill/>
          <a:ln/>
        </p:spPr>
        <p:txBody>
          <a:bodyPr wrap="square" rtlCol="0" anchor="ctr"/>
          <a:lstStyle/>
          <a:p>
            <a:pPr indent="0" marL="0">
              <a:buNone/>
            </a:pPr>
            <a:r>
              <a:rPr lang="en-US" sz="1100" b="1" dirty="0">
                <a:solidFill>
                  <a:srgbClr val="06D6A0"/>
                </a:solidFill>
              </a:rPr>
              <a:t>✓  </a:t>
            </a:r>
            <a:pPr indent="0" marL="0">
              <a:buNone/>
            </a:pPr>
            <a:r>
              <a:rPr lang="en-US" sz="1100" dirty="0">
                <a:solidFill>
                  <a:srgbClr val="E0E6F0"/>
                </a:solidFill>
              </a:rPr>
              <a:t>Minutes to generate anomaly report</a:t>
            </a:r>
            <a:endParaRPr lang="en-US" sz="1100" dirty="0"/>
          </a:p>
        </p:txBody>
      </p:sp>
      <p:sp>
        <p:nvSpPr>
          <p:cNvPr id="27" name="Text 25"/>
          <p:cNvSpPr/>
          <p:nvPr/>
        </p:nvSpPr>
        <p:spPr>
          <a:xfrm>
            <a:off x="4160520" y="2560320"/>
            <a:ext cx="822960" cy="457200"/>
          </a:xfrm>
          <a:prstGeom prst="rect">
            <a:avLst/>
          </a:prstGeom>
          <a:noFill/>
          <a:ln/>
        </p:spPr>
        <p:txBody>
          <a:bodyPr wrap="square" rtlCol="0" anchor="ctr"/>
          <a:lstStyle/>
          <a:p>
            <a:pPr algn="ctr" indent="0" marL="0">
              <a:buNone/>
            </a:pPr>
            <a:r>
              <a:rPr lang="en-US" sz="2000" b="1" dirty="0">
                <a:solidFill>
                  <a:srgbClr val="FFFFFF"/>
                </a:solidFill>
              </a:rPr>
              <a:t>VS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10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FFD166"/>
                </a:solidFill>
              </a:rPr>
              <a:t>LOOKING AHEAD</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Challenges &amp; Future Work</a:t>
            </a:r>
            <a:endParaRPr lang="en-US" sz="2800" dirty="0"/>
          </a:p>
        </p:txBody>
      </p:sp>
      <p:sp>
        <p:nvSpPr>
          <p:cNvPr id="7" name="Shape 5"/>
          <p:cNvSpPr/>
          <p:nvPr/>
        </p:nvSpPr>
        <p:spPr>
          <a:xfrm>
            <a:off x="274320" y="1188720"/>
            <a:ext cx="4023360" cy="297180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D166"/>
          </a:solidFill>
          <a:ln w="12700">
            <a:solidFill>
              <a:srgbClr val="FFD166">
                <a:alpha val="0"/>
              </a:srgbClr>
            </a:solidFill>
            <a:prstDash val="solid"/>
          </a:ln>
        </p:spPr>
      </p:sp>
      <p:sp>
        <p:nvSpPr>
          <p:cNvPr id="9" name="Text 7"/>
          <p:cNvSpPr/>
          <p:nvPr/>
        </p:nvSpPr>
        <p:spPr>
          <a:xfrm>
            <a:off x="457200" y="1298448"/>
            <a:ext cx="3749040" cy="365760"/>
          </a:xfrm>
          <a:prstGeom prst="rect">
            <a:avLst/>
          </a:prstGeom>
          <a:noFill/>
          <a:ln/>
        </p:spPr>
        <p:txBody>
          <a:bodyPr wrap="square" rtlCol="0" anchor="ctr"/>
          <a:lstStyle/>
          <a:p>
            <a:pPr indent="0" marL="0">
              <a:buNone/>
            </a:pPr>
            <a:r>
              <a:rPr lang="en-US" sz="1400" b="1" dirty="0">
                <a:solidFill>
                  <a:srgbClr val="FFD166"/>
                </a:solidFill>
              </a:rPr>
              <a:t>Acknowledged Limitations</a:t>
            </a:r>
            <a:endParaRPr lang="en-US" sz="1400" dirty="0"/>
          </a:p>
        </p:txBody>
      </p:sp>
      <p:sp>
        <p:nvSpPr>
          <p:cNvPr id="10" name="Text 8"/>
          <p:cNvSpPr/>
          <p:nvPr/>
        </p:nvSpPr>
        <p:spPr>
          <a:xfrm>
            <a:off x="457200" y="1783080"/>
            <a:ext cx="3749040" cy="274320"/>
          </a:xfrm>
          <a:prstGeom prst="rect">
            <a:avLst/>
          </a:prstGeom>
          <a:noFill/>
          <a:ln/>
        </p:spPr>
        <p:txBody>
          <a:bodyPr wrap="square" rtlCol="0" anchor="ctr"/>
          <a:lstStyle/>
          <a:p>
            <a:pPr indent="0" marL="0">
              <a:buNone/>
            </a:pPr>
            <a:r>
              <a:rPr lang="en-US" sz="1100" dirty="0">
                <a:solidFill>
                  <a:srgbClr val="E0E6F0"/>
                </a:solidFill>
              </a:rPr>
              <a:t>Synthetic data may not capture all real-world complexity</a:t>
            </a:r>
            <a:endParaRPr lang="en-US" sz="1100" dirty="0"/>
          </a:p>
        </p:txBody>
      </p:sp>
      <p:sp>
        <p:nvSpPr>
          <p:cNvPr id="11" name="Text 9"/>
          <p:cNvSpPr/>
          <p:nvPr/>
        </p:nvSpPr>
        <p:spPr>
          <a:xfrm>
            <a:off x="457200" y="2057400"/>
            <a:ext cx="3749040" cy="256032"/>
          </a:xfrm>
          <a:prstGeom prst="rect">
            <a:avLst/>
          </a:prstGeom>
          <a:noFill/>
          <a:ln/>
        </p:spPr>
        <p:txBody>
          <a:bodyPr wrap="square" rtlCol="0" anchor="ctr"/>
          <a:lstStyle/>
          <a:p>
            <a:pPr indent="0" marL="0">
              <a:buNone/>
            </a:pPr>
            <a:r>
              <a:rPr lang="en-US" sz="1000" i="1" dirty="0">
                <a:solidFill>
                  <a:srgbClr val="8899BB"/>
                </a:solidFill>
              </a:rPr>
              <a:t>→ Class imbalance sensitivity analysis</a:t>
            </a:r>
            <a:endParaRPr lang="en-US" sz="1000" dirty="0"/>
          </a:p>
        </p:txBody>
      </p:sp>
      <p:sp>
        <p:nvSpPr>
          <p:cNvPr id="12" name="Text 10"/>
          <p:cNvSpPr/>
          <p:nvPr/>
        </p:nvSpPr>
        <p:spPr>
          <a:xfrm>
            <a:off x="457200" y="2423160"/>
            <a:ext cx="3749040" cy="274320"/>
          </a:xfrm>
          <a:prstGeom prst="rect">
            <a:avLst/>
          </a:prstGeom>
          <a:noFill/>
          <a:ln/>
        </p:spPr>
        <p:txBody>
          <a:bodyPr wrap="square" rtlCol="0" anchor="ctr"/>
          <a:lstStyle/>
          <a:p>
            <a:pPr indent="0" marL="0">
              <a:buNone/>
            </a:pPr>
            <a:r>
              <a:rPr lang="en-US" sz="1100" dirty="0">
                <a:solidFill>
                  <a:srgbClr val="E0E6F0"/>
                </a:solidFill>
              </a:rPr>
              <a:t>IQR misses multivariate joint anomalies</a:t>
            </a:r>
            <a:endParaRPr lang="en-US" sz="1100" dirty="0"/>
          </a:p>
        </p:txBody>
      </p:sp>
      <p:sp>
        <p:nvSpPr>
          <p:cNvPr id="13" name="Text 11"/>
          <p:cNvSpPr/>
          <p:nvPr/>
        </p:nvSpPr>
        <p:spPr>
          <a:xfrm>
            <a:off x="457200" y="2697480"/>
            <a:ext cx="3749040" cy="256032"/>
          </a:xfrm>
          <a:prstGeom prst="rect">
            <a:avLst/>
          </a:prstGeom>
          <a:noFill/>
          <a:ln/>
        </p:spPr>
        <p:txBody>
          <a:bodyPr wrap="square" rtlCol="0" anchor="ctr"/>
          <a:lstStyle/>
          <a:p>
            <a:pPr indent="0" marL="0">
              <a:buNone/>
            </a:pPr>
            <a:r>
              <a:rPr lang="en-US" sz="1000" i="1" dirty="0">
                <a:solidFill>
                  <a:srgbClr val="8899BB"/>
                </a:solidFill>
              </a:rPr>
              <a:t>→ Documented; ML extension in future work</a:t>
            </a:r>
            <a:endParaRPr lang="en-US" sz="1000" dirty="0"/>
          </a:p>
        </p:txBody>
      </p:sp>
      <p:sp>
        <p:nvSpPr>
          <p:cNvPr id="14" name="Text 12"/>
          <p:cNvSpPr/>
          <p:nvPr/>
        </p:nvSpPr>
        <p:spPr>
          <a:xfrm>
            <a:off x="457200" y="3063240"/>
            <a:ext cx="3749040" cy="274320"/>
          </a:xfrm>
          <a:prstGeom prst="rect">
            <a:avLst/>
          </a:prstGeom>
          <a:noFill/>
          <a:ln/>
        </p:spPr>
        <p:txBody>
          <a:bodyPr wrap="square" rtlCol="0" anchor="ctr"/>
          <a:lstStyle/>
          <a:p>
            <a:pPr indent="0" marL="0">
              <a:buNone/>
            </a:pPr>
            <a:r>
              <a:rPr lang="en-US" sz="1100" dirty="0">
                <a:solidFill>
                  <a:srgbClr val="E0E6F0"/>
                </a:solidFill>
              </a:rPr>
              <a:t>ODK coarser timestamps limit some Q-level features</a:t>
            </a:r>
            <a:endParaRPr lang="en-US" sz="1100" dirty="0"/>
          </a:p>
        </p:txBody>
      </p:sp>
      <p:sp>
        <p:nvSpPr>
          <p:cNvPr id="15" name="Text 13"/>
          <p:cNvSpPr/>
          <p:nvPr/>
        </p:nvSpPr>
        <p:spPr>
          <a:xfrm>
            <a:off x="457200" y="3337560"/>
            <a:ext cx="3749040" cy="256032"/>
          </a:xfrm>
          <a:prstGeom prst="rect">
            <a:avLst/>
          </a:prstGeom>
          <a:noFill/>
          <a:ln/>
        </p:spPr>
        <p:txBody>
          <a:bodyPr wrap="square" rtlCol="0" anchor="ctr"/>
          <a:lstStyle/>
          <a:p>
            <a:pPr indent="0" marL="0">
              <a:buNone/>
            </a:pPr>
            <a:r>
              <a:rPr lang="en-US" sz="1000" i="1" dirty="0">
                <a:solidFill>
                  <a:srgbClr val="8899BB"/>
                </a:solidFill>
              </a:rPr>
              <a:t>→ Documented in the paradata format guide</a:t>
            </a:r>
            <a:endParaRPr lang="en-US" sz="1000" dirty="0"/>
          </a:p>
        </p:txBody>
      </p:sp>
      <p:sp>
        <p:nvSpPr>
          <p:cNvPr id="16" name="Text 14"/>
          <p:cNvSpPr/>
          <p:nvPr/>
        </p:nvSpPr>
        <p:spPr>
          <a:xfrm>
            <a:off x="457200" y="3703320"/>
            <a:ext cx="3749040" cy="274320"/>
          </a:xfrm>
          <a:prstGeom prst="rect">
            <a:avLst/>
          </a:prstGeom>
          <a:noFill/>
          <a:ln/>
        </p:spPr>
        <p:txBody>
          <a:bodyPr wrap="square" rtlCol="0" anchor="ctr"/>
          <a:lstStyle/>
          <a:p>
            <a:pPr indent="0" marL="0">
              <a:buNone/>
            </a:pPr>
            <a:r>
              <a:rPr lang="en-US" sz="1100" dirty="0">
                <a:solidFill>
                  <a:srgbClr val="E0E6F0"/>
                </a:solidFill>
              </a:rPr>
              <a:t>Thresholds may not generalize across survey types</a:t>
            </a:r>
            <a:endParaRPr lang="en-US" sz="1100" dirty="0"/>
          </a:p>
        </p:txBody>
      </p:sp>
      <p:sp>
        <p:nvSpPr>
          <p:cNvPr id="17" name="Text 15"/>
          <p:cNvSpPr/>
          <p:nvPr/>
        </p:nvSpPr>
        <p:spPr>
          <a:xfrm>
            <a:off x="457200" y="3977640"/>
            <a:ext cx="3749040" cy="256032"/>
          </a:xfrm>
          <a:prstGeom prst="rect">
            <a:avLst/>
          </a:prstGeom>
          <a:noFill/>
          <a:ln/>
        </p:spPr>
        <p:txBody>
          <a:bodyPr wrap="square" rtlCol="0" anchor="ctr"/>
          <a:lstStyle/>
          <a:p>
            <a:pPr indent="0" marL="0">
              <a:buNone/>
            </a:pPr>
            <a:r>
              <a:rPr lang="en-US" sz="1000" i="1" dirty="0">
                <a:solidFill>
                  <a:srgbClr val="8899BB"/>
                </a:solidFill>
              </a:rPr>
              <a:t>→ Empirical tuning + sensitivity tests</a:t>
            </a:r>
            <a:endParaRPr lang="en-US" sz="1000" dirty="0"/>
          </a:p>
        </p:txBody>
      </p:sp>
      <p:sp>
        <p:nvSpPr>
          <p:cNvPr id="18" name="Shape 16"/>
          <p:cNvSpPr/>
          <p:nvPr/>
        </p:nvSpPr>
        <p:spPr>
          <a:xfrm>
            <a:off x="4572000" y="1188720"/>
            <a:ext cx="4206240" cy="2971800"/>
          </a:xfrm>
          <a:prstGeom prst="rect">
            <a:avLst/>
          </a:prstGeom>
          <a:solidFill>
            <a:srgbClr val="1A2744">
              <a:alpha val="26000"/>
            </a:srgbClr>
          </a:solidFill>
          <a:ln w="12700">
            <a:solidFill>
              <a:srgbClr val="1E3A5F"/>
            </a:solidFill>
            <a:prstDash val="solid"/>
          </a:ln>
        </p:spPr>
      </p:sp>
      <p:sp>
        <p:nvSpPr>
          <p:cNvPr id="19" name="Shape 17"/>
          <p:cNvSpPr/>
          <p:nvPr/>
        </p:nvSpPr>
        <p:spPr>
          <a:xfrm>
            <a:off x="4572000" y="1188720"/>
            <a:ext cx="4206240" cy="54864"/>
          </a:xfrm>
          <a:prstGeom prst="rect">
            <a:avLst/>
          </a:prstGeom>
          <a:solidFill>
            <a:srgbClr val="00B4D8"/>
          </a:solidFill>
          <a:ln w="12700">
            <a:solidFill>
              <a:srgbClr val="00B4D8">
                <a:alpha val="0"/>
              </a:srgbClr>
            </a:solidFill>
            <a:prstDash val="solid"/>
          </a:ln>
        </p:spPr>
      </p:sp>
      <p:sp>
        <p:nvSpPr>
          <p:cNvPr id="20" name="Text 18"/>
          <p:cNvSpPr/>
          <p:nvPr/>
        </p:nvSpPr>
        <p:spPr>
          <a:xfrm>
            <a:off x="4754880" y="1298448"/>
            <a:ext cx="3840480" cy="365760"/>
          </a:xfrm>
          <a:prstGeom prst="rect">
            <a:avLst/>
          </a:prstGeom>
          <a:noFill/>
          <a:ln/>
        </p:spPr>
        <p:txBody>
          <a:bodyPr wrap="square" rtlCol="0" anchor="ctr"/>
          <a:lstStyle/>
          <a:p>
            <a:pPr indent="0" marL="0">
              <a:buNone/>
            </a:pPr>
            <a:r>
              <a:rPr lang="en-US" sz="1400" b="1" dirty="0">
                <a:solidFill>
                  <a:srgbClr val="00B4D8"/>
                </a:solidFill>
              </a:rPr>
              <a:t>Future Extensions</a:t>
            </a:r>
            <a:endParaRPr lang="en-US" sz="1400" dirty="0"/>
          </a:p>
        </p:txBody>
      </p:sp>
      <p:sp>
        <p:nvSpPr>
          <p:cNvPr id="21" name="Text 19"/>
          <p:cNvSpPr/>
          <p:nvPr/>
        </p:nvSpPr>
        <p:spPr>
          <a:xfrm>
            <a:off x="4754880" y="1783080"/>
            <a:ext cx="3840480" cy="402336"/>
          </a:xfrm>
          <a:prstGeom prst="rect">
            <a:avLst/>
          </a:prstGeom>
          <a:noFill/>
          <a:ln/>
        </p:spPr>
        <p:txBody>
          <a:bodyPr wrap="square" rtlCol="0" anchor="ctr"/>
          <a:lstStyle/>
          <a:p>
            <a:pPr indent="0" marL="0">
              <a:buNone/>
            </a:pPr>
            <a:r>
              <a:rPr lang="en-US" sz="1150" b="1" dirty="0">
                <a:solidFill>
                  <a:srgbClr val="00B4D8"/>
                </a:solidFill>
              </a:rPr>
              <a:t>→  </a:t>
            </a:r>
            <a:pPr indent="0" marL="0">
              <a:buNone/>
            </a:pPr>
            <a:r>
              <a:rPr lang="en-US" sz="1150" dirty="0">
                <a:solidFill>
                  <a:srgbClr val="E0E6F0"/>
                </a:solidFill>
              </a:rPr>
              <a:t>Validate on real labelled paradata corpora</a:t>
            </a:r>
            <a:endParaRPr lang="en-US" sz="1150" dirty="0"/>
          </a:p>
        </p:txBody>
      </p:sp>
      <p:sp>
        <p:nvSpPr>
          <p:cNvPr id="22" name="Text 20"/>
          <p:cNvSpPr/>
          <p:nvPr/>
        </p:nvSpPr>
        <p:spPr>
          <a:xfrm>
            <a:off x="4754880" y="2258568"/>
            <a:ext cx="3840480" cy="402336"/>
          </a:xfrm>
          <a:prstGeom prst="rect">
            <a:avLst/>
          </a:prstGeom>
          <a:noFill/>
          <a:ln/>
        </p:spPr>
        <p:txBody>
          <a:bodyPr wrap="square" rtlCol="0" anchor="ctr"/>
          <a:lstStyle/>
          <a:p>
            <a:pPr indent="0" marL="0">
              <a:buNone/>
            </a:pPr>
            <a:r>
              <a:rPr lang="en-US" sz="1150" b="1" dirty="0">
                <a:solidFill>
                  <a:srgbClr val="00B4D8"/>
                </a:solidFill>
              </a:rPr>
              <a:t>→  </a:t>
            </a:r>
            <a:pPr indent="0" marL="0">
              <a:buNone/>
            </a:pPr>
            <a:r>
              <a:rPr lang="en-US" sz="1150" dirty="0">
                <a:solidFill>
                  <a:srgbClr val="E0E6F0"/>
                </a:solidFill>
              </a:rPr>
              <a:t>ML-based multivariate anomaly detection</a:t>
            </a:r>
            <a:endParaRPr lang="en-US" sz="1150" dirty="0"/>
          </a:p>
        </p:txBody>
      </p:sp>
      <p:sp>
        <p:nvSpPr>
          <p:cNvPr id="23" name="Text 21"/>
          <p:cNvSpPr/>
          <p:nvPr/>
        </p:nvSpPr>
        <p:spPr>
          <a:xfrm>
            <a:off x="4754880" y="2734056"/>
            <a:ext cx="3840480" cy="402336"/>
          </a:xfrm>
          <a:prstGeom prst="rect">
            <a:avLst/>
          </a:prstGeom>
          <a:noFill/>
          <a:ln/>
        </p:spPr>
        <p:txBody>
          <a:bodyPr wrap="square" rtlCol="0" anchor="ctr"/>
          <a:lstStyle/>
          <a:p>
            <a:pPr indent="0" marL="0">
              <a:buNone/>
            </a:pPr>
            <a:r>
              <a:rPr lang="en-US" sz="1150" b="1" dirty="0">
                <a:solidFill>
                  <a:srgbClr val="00B4D8"/>
                </a:solidFill>
              </a:rPr>
              <a:t>→  </a:t>
            </a:r>
            <a:pPr indent="0" marL="0">
              <a:buNone/>
            </a:pPr>
            <a:r>
              <a:rPr lang="en-US" sz="1150" dirty="0">
                <a:solidFill>
                  <a:srgbClr val="E0E6F0"/>
                </a:solidFill>
              </a:rPr>
              <a:t>Real-time survey monitoring integration</a:t>
            </a:r>
            <a:endParaRPr lang="en-US" sz="1150" dirty="0"/>
          </a:p>
        </p:txBody>
      </p:sp>
      <p:sp>
        <p:nvSpPr>
          <p:cNvPr id="24" name="Text 22"/>
          <p:cNvSpPr/>
          <p:nvPr/>
        </p:nvSpPr>
        <p:spPr>
          <a:xfrm>
            <a:off x="4754880" y="3209544"/>
            <a:ext cx="3840480" cy="402336"/>
          </a:xfrm>
          <a:prstGeom prst="rect">
            <a:avLst/>
          </a:prstGeom>
          <a:noFill/>
          <a:ln/>
        </p:spPr>
        <p:txBody>
          <a:bodyPr wrap="square" rtlCol="0" anchor="ctr"/>
          <a:lstStyle/>
          <a:p>
            <a:pPr indent="0" marL="0">
              <a:buNone/>
            </a:pPr>
            <a:r>
              <a:rPr lang="en-US" sz="1150" b="1" dirty="0">
                <a:solidFill>
                  <a:srgbClr val="00B4D8"/>
                </a:solidFill>
              </a:rPr>
              <a:t>→  </a:t>
            </a:r>
            <a:pPr indent="0" marL="0">
              <a:buNone/>
            </a:pPr>
            <a:r>
              <a:rPr lang="en-US" sz="1150" dirty="0">
                <a:solidFill>
                  <a:srgbClr val="E0E6F0"/>
                </a:solidFill>
              </a:rPr>
              <a:t>Extend to CAPI &amp; web survey platforms</a:t>
            </a:r>
            <a:endParaRPr lang="en-US" sz="1150" dirty="0"/>
          </a:p>
        </p:txBody>
      </p:sp>
      <p:sp>
        <p:nvSpPr>
          <p:cNvPr id="25" name="Text 23"/>
          <p:cNvSpPr/>
          <p:nvPr/>
        </p:nvSpPr>
        <p:spPr>
          <a:xfrm>
            <a:off x="4754880" y="3685032"/>
            <a:ext cx="3840480" cy="402336"/>
          </a:xfrm>
          <a:prstGeom prst="rect">
            <a:avLst/>
          </a:prstGeom>
          <a:noFill/>
          <a:ln/>
        </p:spPr>
        <p:txBody>
          <a:bodyPr wrap="square" rtlCol="0" anchor="ctr"/>
          <a:lstStyle/>
          <a:p>
            <a:pPr indent="0" marL="0">
              <a:buNone/>
            </a:pPr>
            <a:r>
              <a:rPr lang="en-US" sz="1150" b="1" dirty="0">
                <a:solidFill>
                  <a:srgbClr val="00B4D8"/>
                </a:solidFill>
              </a:rPr>
              <a:t>→  </a:t>
            </a:r>
            <a:pPr indent="0" marL="0">
              <a:buNone/>
            </a:pPr>
            <a:r>
              <a:rPr lang="en-US" sz="1150" dirty="0">
                <a:solidFill>
                  <a:srgbClr val="E0E6F0"/>
                </a:solidFill>
              </a:rPr>
              <a:t>Open-source Python package release</a:t>
            </a:r>
            <a:endParaRPr lang="en-US" sz="1150" dirty="0"/>
          </a:p>
        </p:txBody>
      </p:sp>
      <p:sp>
        <p:nvSpPr>
          <p:cNvPr id="26" name="Shape 24"/>
          <p:cNvSpPr/>
          <p:nvPr/>
        </p:nvSpPr>
        <p:spPr>
          <a:xfrm>
            <a:off x="274320" y="4343400"/>
            <a:ext cx="8595360" cy="457200"/>
          </a:xfrm>
          <a:prstGeom prst="rect">
            <a:avLst/>
          </a:prstGeom>
          <a:solidFill>
            <a:srgbClr val="1A2744">
              <a:alpha val="20000"/>
            </a:srgbClr>
          </a:solidFill>
          <a:ln w="12700">
            <a:solidFill>
              <a:srgbClr val="1E3A5F"/>
            </a:solidFill>
            <a:prstDash val="solid"/>
          </a:ln>
        </p:spPr>
      </p:sp>
      <p:sp>
        <p:nvSpPr>
          <p:cNvPr id="27" name="Text 25"/>
          <p:cNvSpPr/>
          <p:nvPr/>
        </p:nvSpPr>
        <p:spPr>
          <a:xfrm>
            <a:off x="457200" y="4453128"/>
            <a:ext cx="8412480" cy="274320"/>
          </a:xfrm>
          <a:prstGeom prst="rect">
            <a:avLst/>
          </a:prstGeom>
          <a:noFill/>
          <a:ln/>
        </p:spPr>
        <p:txBody>
          <a:bodyPr wrap="square" rtlCol="0" anchor="ctr"/>
          <a:lstStyle/>
          <a:p>
            <a:pPr algn="ctr" indent="0" marL="0">
              <a:buNone/>
            </a:pPr>
            <a:r>
              <a:rPr lang="en-US" sz="1050" dirty="0">
                <a:solidFill>
                  <a:srgbClr val="8899BB"/>
                </a:solidFill>
              </a:rPr>
              <a:t>32-week timeline  |  Deliverables: Python library  ·  Paradata format guide  ·  Validation report  ·  Final paper (5,000–7,000 words)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11 / 12</a:t>
            </a:r>
            <a:endParaRPr lang="en-US" sz="900" dirty="0"/>
          </a:p>
        </p:txBody>
      </p:sp>
      <p:sp>
        <p:nvSpPr>
          <p:cNvPr id="5" name="Text 3"/>
          <p:cNvSpPr/>
          <p:nvPr/>
        </p:nvSpPr>
        <p:spPr>
          <a:xfrm>
            <a:off x="457200" y="164592"/>
            <a:ext cx="5486400" cy="228600"/>
          </a:xfrm>
          <a:prstGeom prst="rect">
            <a:avLst/>
          </a:prstGeom>
          <a:noFill/>
          <a:ln/>
        </p:spPr>
        <p:txBody>
          <a:bodyPr wrap="square" rtlCol="0" anchor="ctr"/>
          <a:lstStyle/>
          <a:p>
            <a:pPr indent="0" marL="0">
              <a:buNone/>
            </a:pPr>
            <a:r>
              <a:rPr lang="en-US" sz="900" b="1" spc="300" kern="0" dirty="0">
                <a:solidFill>
                  <a:srgbClr val="9D4EDD"/>
                </a:solidFill>
              </a:rPr>
              <a:t>WHAT MAKES THIS SMART</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Four Design Intelligence Principles</a:t>
            </a:r>
            <a:endParaRPr lang="en-US" sz="2800" dirty="0"/>
          </a:p>
        </p:txBody>
      </p:sp>
      <p:sp>
        <p:nvSpPr>
          <p:cNvPr id="7" name="Shape 5"/>
          <p:cNvSpPr/>
          <p:nvPr/>
        </p:nvSpPr>
        <p:spPr>
          <a:xfrm>
            <a:off x="274320" y="1188720"/>
            <a:ext cx="4114800" cy="16002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00B4D8"/>
          </a:solidFill>
          <a:ln w="12700">
            <a:solidFill>
              <a:srgbClr val="00B4D8">
                <a:alpha val="0"/>
              </a:srgbClr>
            </a:solidFill>
            <a:prstDash val="solid"/>
          </a:ln>
        </p:spPr>
      </p:sp>
      <p:sp>
        <p:nvSpPr>
          <p:cNvPr id="9" name="Text 7"/>
          <p:cNvSpPr/>
          <p:nvPr/>
        </p:nvSpPr>
        <p:spPr>
          <a:xfrm>
            <a:off x="411480" y="1298448"/>
            <a:ext cx="457200" cy="411480"/>
          </a:xfrm>
          <a:prstGeom prst="rect">
            <a:avLst/>
          </a:prstGeom>
          <a:noFill/>
          <a:ln/>
        </p:spPr>
        <p:txBody>
          <a:bodyPr wrap="square" rtlCol="0" anchor="ctr"/>
          <a:lstStyle/>
          <a:p>
            <a:pPr indent="0" marL="0">
              <a:buNone/>
            </a:pPr>
            <a:r>
              <a:rPr lang="en-US" sz="2200" b="1" dirty="0">
                <a:solidFill>
                  <a:srgbClr val="00B4D8"/>
                </a:solidFill>
              </a:rPr>
              <a:t>01</a:t>
            </a:r>
            <a:endParaRPr lang="en-US" sz="2200" dirty="0"/>
          </a:p>
        </p:txBody>
      </p:sp>
      <p:sp>
        <p:nvSpPr>
          <p:cNvPr id="10" name="Text 8"/>
          <p:cNvSpPr/>
          <p:nvPr/>
        </p:nvSpPr>
        <p:spPr>
          <a:xfrm>
            <a:off x="914400" y="1344168"/>
            <a:ext cx="3291840" cy="365760"/>
          </a:xfrm>
          <a:prstGeom prst="rect">
            <a:avLst/>
          </a:prstGeom>
          <a:noFill/>
          <a:ln/>
        </p:spPr>
        <p:txBody>
          <a:bodyPr wrap="square" rtlCol="0" anchor="ctr"/>
          <a:lstStyle/>
          <a:p>
            <a:pPr indent="0" marL="0">
              <a:buNone/>
            </a:pPr>
            <a:r>
              <a:rPr lang="en-US" sz="1300" b="1" dirty="0">
                <a:solidFill>
                  <a:srgbClr val="00B4D8"/>
                </a:solidFill>
              </a:rPr>
              <a:t>Distribution-Aware Statistics</a:t>
            </a:r>
            <a:endParaRPr lang="en-US" sz="1300" dirty="0"/>
          </a:p>
        </p:txBody>
      </p:sp>
      <p:sp>
        <p:nvSpPr>
          <p:cNvPr id="11" name="Text 9"/>
          <p:cNvSpPr/>
          <p:nvPr/>
        </p:nvSpPr>
        <p:spPr>
          <a:xfrm>
            <a:off x="411480" y="1783080"/>
            <a:ext cx="3840480" cy="868680"/>
          </a:xfrm>
          <a:prstGeom prst="rect">
            <a:avLst/>
          </a:prstGeom>
          <a:noFill/>
          <a:ln/>
        </p:spPr>
        <p:txBody>
          <a:bodyPr wrap="square" rtlCol="0" anchor="ctr"/>
          <a:lstStyle/>
          <a:p>
            <a:pPr indent="0" marL="0">
              <a:buNone/>
            </a:pPr>
            <a:r>
              <a:rPr lang="en-US" sz="1050" dirty="0">
                <a:solidFill>
                  <a:srgbClr val="E0E6F0"/>
                </a:solidFill>
              </a:rPr>
              <a:t>IQR makes no normality assumption — essential for right-skewed RT data. Z-score methods would fail here.</a:t>
            </a:r>
            <a:endParaRPr lang="en-US" sz="1050" dirty="0"/>
          </a:p>
        </p:txBody>
      </p:sp>
      <p:sp>
        <p:nvSpPr>
          <p:cNvPr id="12" name="Shape 10"/>
          <p:cNvSpPr/>
          <p:nvPr/>
        </p:nvSpPr>
        <p:spPr>
          <a:xfrm>
            <a:off x="4663440" y="1188720"/>
            <a:ext cx="4114800" cy="1600200"/>
          </a:xfrm>
          <a:prstGeom prst="rect">
            <a:avLst/>
          </a:prstGeom>
          <a:solidFill>
            <a:srgbClr val="1A2744">
              <a:alpha val="28000"/>
            </a:srgbClr>
          </a:solidFill>
          <a:ln w="12700">
            <a:solidFill>
              <a:srgbClr val="1E3A5F"/>
            </a:solidFill>
            <a:prstDash val="solid"/>
          </a:ln>
        </p:spPr>
      </p:sp>
      <p:sp>
        <p:nvSpPr>
          <p:cNvPr id="13" name="Shape 11"/>
          <p:cNvSpPr/>
          <p:nvPr/>
        </p:nvSpPr>
        <p:spPr>
          <a:xfrm>
            <a:off x="4663440" y="1188720"/>
            <a:ext cx="4114800" cy="54864"/>
          </a:xfrm>
          <a:prstGeom prst="rect">
            <a:avLst/>
          </a:prstGeom>
          <a:solidFill>
            <a:srgbClr val="9D4EDD"/>
          </a:solidFill>
          <a:ln w="12700">
            <a:solidFill>
              <a:srgbClr val="9D4EDD">
                <a:alpha val="0"/>
              </a:srgbClr>
            </a:solidFill>
            <a:prstDash val="solid"/>
          </a:ln>
        </p:spPr>
      </p:sp>
      <p:sp>
        <p:nvSpPr>
          <p:cNvPr id="14" name="Text 12"/>
          <p:cNvSpPr/>
          <p:nvPr/>
        </p:nvSpPr>
        <p:spPr>
          <a:xfrm>
            <a:off x="4800600" y="1298448"/>
            <a:ext cx="457200" cy="411480"/>
          </a:xfrm>
          <a:prstGeom prst="rect">
            <a:avLst/>
          </a:prstGeom>
          <a:noFill/>
          <a:ln/>
        </p:spPr>
        <p:txBody>
          <a:bodyPr wrap="square" rtlCol="0" anchor="ctr"/>
          <a:lstStyle/>
          <a:p>
            <a:pPr indent="0" marL="0">
              <a:buNone/>
            </a:pPr>
            <a:r>
              <a:rPr lang="en-US" sz="2200" b="1" dirty="0">
                <a:solidFill>
                  <a:srgbClr val="9D4EDD"/>
                </a:solidFill>
              </a:rPr>
              <a:t>02</a:t>
            </a:r>
            <a:endParaRPr lang="en-US" sz="2200" dirty="0"/>
          </a:p>
        </p:txBody>
      </p:sp>
      <p:sp>
        <p:nvSpPr>
          <p:cNvPr id="15" name="Text 13"/>
          <p:cNvSpPr/>
          <p:nvPr/>
        </p:nvSpPr>
        <p:spPr>
          <a:xfrm>
            <a:off x="5303520" y="1344168"/>
            <a:ext cx="3291840" cy="365760"/>
          </a:xfrm>
          <a:prstGeom prst="rect">
            <a:avLst/>
          </a:prstGeom>
          <a:noFill/>
          <a:ln/>
        </p:spPr>
        <p:txBody>
          <a:bodyPr wrap="square" rtlCol="0" anchor="ctr"/>
          <a:lstStyle/>
          <a:p>
            <a:pPr indent="0" marL="0">
              <a:buNone/>
            </a:pPr>
            <a:r>
              <a:rPr lang="en-US" sz="1300" b="1" dirty="0">
                <a:solidFill>
                  <a:srgbClr val="9D4EDD"/>
                </a:solidFill>
              </a:rPr>
              <a:t>Behaviourally Grounded Features</a:t>
            </a:r>
            <a:endParaRPr lang="en-US" sz="1300" dirty="0"/>
          </a:p>
        </p:txBody>
      </p:sp>
      <p:sp>
        <p:nvSpPr>
          <p:cNvPr id="16" name="Text 14"/>
          <p:cNvSpPr/>
          <p:nvPr/>
        </p:nvSpPr>
        <p:spPr>
          <a:xfrm>
            <a:off x="4800600" y="1783080"/>
            <a:ext cx="3840480" cy="868680"/>
          </a:xfrm>
          <a:prstGeom prst="rect">
            <a:avLst/>
          </a:prstGeom>
          <a:noFill/>
          <a:ln/>
        </p:spPr>
        <p:txBody>
          <a:bodyPr wrap="square" rtlCol="0" anchor="ctr"/>
          <a:lstStyle/>
          <a:p>
            <a:pPr indent="0" marL="0">
              <a:buNone/>
            </a:pPr>
            <a:r>
              <a:rPr lang="en-US" sz="1050" dirty="0">
                <a:solidFill>
                  <a:srgbClr val="E0E6F0"/>
                </a:solidFill>
              </a:rPr>
              <a:t>Every feature traces to a peer-reviewed finding — not arbitrary metrics but empirically motivated indicators.</a:t>
            </a:r>
            <a:endParaRPr lang="en-US" sz="1050" dirty="0"/>
          </a:p>
        </p:txBody>
      </p:sp>
      <p:sp>
        <p:nvSpPr>
          <p:cNvPr id="17" name="Shape 15"/>
          <p:cNvSpPr/>
          <p:nvPr/>
        </p:nvSpPr>
        <p:spPr>
          <a:xfrm>
            <a:off x="274320" y="2926080"/>
            <a:ext cx="4114800" cy="1600200"/>
          </a:xfrm>
          <a:prstGeom prst="rect">
            <a:avLst/>
          </a:prstGeom>
          <a:solidFill>
            <a:srgbClr val="1A2744">
              <a:alpha val="28000"/>
            </a:srgbClr>
          </a:solidFill>
          <a:ln w="12700">
            <a:solidFill>
              <a:srgbClr val="1E3A5F"/>
            </a:solidFill>
            <a:prstDash val="solid"/>
          </a:ln>
        </p:spPr>
      </p:sp>
      <p:sp>
        <p:nvSpPr>
          <p:cNvPr id="18" name="Shape 16"/>
          <p:cNvSpPr/>
          <p:nvPr/>
        </p:nvSpPr>
        <p:spPr>
          <a:xfrm>
            <a:off x="274320" y="2926080"/>
            <a:ext cx="4114800" cy="54864"/>
          </a:xfrm>
          <a:prstGeom prst="rect">
            <a:avLst/>
          </a:prstGeom>
          <a:solidFill>
            <a:srgbClr val="C77DFF"/>
          </a:solidFill>
          <a:ln w="12700">
            <a:solidFill>
              <a:srgbClr val="C77DFF">
                <a:alpha val="0"/>
              </a:srgbClr>
            </a:solidFill>
            <a:prstDash val="solid"/>
          </a:ln>
        </p:spPr>
      </p:sp>
      <p:sp>
        <p:nvSpPr>
          <p:cNvPr id="19" name="Text 17"/>
          <p:cNvSpPr/>
          <p:nvPr/>
        </p:nvSpPr>
        <p:spPr>
          <a:xfrm>
            <a:off x="411480" y="3035808"/>
            <a:ext cx="457200" cy="411480"/>
          </a:xfrm>
          <a:prstGeom prst="rect">
            <a:avLst/>
          </a:prstGeom>
          <a:noFill/>
          <a:ln/>
        </p:spPr>
        <p:txBody>
          <a:bodyPr wrap="square" rtlCol="0" anchor="ctr"/>
          <a:lstStyle/>
          <a:p>
            <a:pPr indent="0" marL="0">
              <a:buNone/>
            </a:pPr>
            <a:r>
              <a:rPr lang="en-US" sz="2200" b="1" dirty="0">
                <a:solidFill>
                  <a:srgbClr val="C77DFF"/>
                </a:solidFill>
              </a:rPr>
              <a:t>03</a:t>
            </a:r>
            <a:endParaRPr lang="en-US" sz="2200" dirty="0"/>
          </a:p>
        </p:txBody>
      </p:sp>
      <p:sp>
        <p:nvSpPr>
          <p:cNvPr id="20" name="Text 18"/>
          <p:cNvSpPr/>
          <p:nvPr/>
        </p:nvSpPr>
        <p:spPr>
          <a:xfrm>
            <a:off x="914400" y="3081528"/>
            <a:ext cx="3291840" cy="365760"/>
          </a:xfrm>
          <a:prstGeom prst="rect">
            <a:avLst/>
          </a:prstGeom>
          <a:noFill/>
          <a:ln/>
        </p:spPr>
        <p:txBody>
          <a:bodyPr wrap="square" rtlCol="0" anchor="ctr"/>
          <a:lstStyle/>
          <a:p>
            <a:pPr indent="0" marL="0">
              <a:buNone/>
            </a:pPr>
            <a:r>
              <a:rPr lang="en-US" sz="1300" b="1" dirty="0">
                <a:solidFill>
                  <a:srgbClr val="C77DFF"/>
                </a:solidFill>
              </a:rPr>
              <a:t>Multi-Granularity Scoring</a:t>
            </a:r>
            <a:endParaRPr lang="en-US" sz="1300" dirty="0"/>
          </a:p>
        </p:txBody>
      </p:sp>
      <p:sp>
        <p:nvSpPr>
          <p:cNvPr id="21" name="Text 19"/>
          <p:cNvSpPr/>
          <p:nvPr/>
        </p:nvSpPr>
        <p:spPr>
          <a:xfrm>
            <a:off x="411480" y="3520440"/>
            <a:ext cx="3840480" cy="868680"/>
          </a:xfrm>
          <a:prstGeom prst="rect">
            <a:avLst/>
          </a:prstGeom>
          <a:noFill/>
          <a:ln/>
        </p:spPr>
        <p:txBody>
          <a:bodyPr wrap="square" rtlCol="0" anchor="ctr"/>
          <a:lstStyle/>
          <a:p>
            <a:pPr indent="0" marL="0">
              <a:buNone/>
            </a:pPr>
            <a:r>
              <a:rPr lang="en-US" sz="1050" dirty="0">
                <a:solidFill>
                  <a:srgbClr val="E0E6F0"/>
                </a:solidFill>
              </a:rPr>
              <a:t>Suspicious patterns at the question, section, or survey level all contribute to the anomaly score.</a:t>
            </a:r>
            <a:endParaRPr lang="en-US" sz="1050" dirty="0"/>
          </a:p>
        </p:txBody>
      </p:sp>
      <p:sp>
        <p:nvSpPr>
          <p:cNvPr id="22" name="Shape 20"/>
          <p:cNvSpPr/>
          <p:nvPr/>
        </p:nvSpPr>
        <p:spPr>
          <a:xfrm>
            <a:off x="4663440" y="2926080"/>
            <a:ext cx="4114800" cy="16002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2926080"/>
            <a:ext cx="4114800" cy="54864"/>
          </a:xfrm>
          <a:prstGeom prst="rect">
            <a:avLst/>
          </a:prstGeom>
          <a:solidFill>
            <a:srgbClr val="06D6A0"/>
          </a:solidFill>
          <a:ln w="12700">
            <a:solidFill>
              <a:srgbClr val="06D6A0">
                <a:alpha val="0"/>
              </a:srgbClr>
            </a:solidFill>
            <a:prstDash val="solid"/>
          </a:ln>
        </p:spPr>
      </p:sp>
      <p:sp>
        <p:nvSpPr>
          <p:cNvPr id="24" name="Text 22"/>
          <p:cNvSpPr/>
          <p:nvPr/>
        </p:nvSpPr>
        <p:spPr>
          <a:xfrm>
            <a:off x="4800600" y="3035808"/>
            <a:ext cx="457200" cy="411480"/>
          </a:xfrm>
          <a:prstGeom prst="rect">
            <a:avLst/>
          </a:prstGeom>
          <a:noFill/>
          <a:ln/>
        </p:spPr>
        <p:txBody>
          <a:bodyPr wrap="square" rtlCol="0" anchor="ctr"/>
          <a:lstStyle/>
          <a:p>
            <a:pPr indent="0" marL="0">
              <a:buNone/>
            </a:pPr>
            <a:r>
              <a:rPr lang="en-US" sz="2200" b="1" dirty="0">
                <a:solidFill>
                  <a:srgbClr val="06D6A0"/>
                </a:solidFill>
              </a:rPr>
              <a:t>04</a:t>
            </a:r>
            <a:endParaRPr lang="en-US" sz="2200" dirty="0"/>
          </a:p>
        </p:txBody>
      </p:sp>
      <p:sp>
        <p:nvSpPr>
          <p:cNvPr id="25" name="Text 23"/>
          <p:cNvSpPr/>
          <p:nvPr/>
        </p:nvSpPr>
        <p:spPr>
          <a:xfrm>
            <a:off x="5303520" y="3081528"/>
            <a:ext cx="3291840" cy="365760"/>
          </a:xfrm>
          <a:prstGeom prst="rect">
            <a:avLst/>
          </a:prstGeom>
          <a:noFill/>
          <a:ln/>
        </p:spPr>
        <p:txBody>
          <a:bodyPr wrap="square" rtlCol="0" anchor="ctr"/>
          <a:lstStyle/>
          <a:p>
            <a:pPr indent="0" marL="0">
              <a:buNone/>
            </a:pPr>
            <a:r>
              <a:rPr lang="en-US" sz="1300" b="1" dirty="0">
                <a:solidFill>
                  <a:srgbClr val="06D6A0"/>
                </a:solidFill>
              </a:rPr>
              <a:t>Platform-Agnostic by Design</a:t>
            </a:r>
            <a:endParaRPr lang="en-US" sz="1300" dirty="0"/>
          </a:p>
        </p:txBody>
      </p:sp>
      <p:sp>
        <p:nvSpPr>
          <p:cNvPr id="26" name="Text 24"/>
          <p:cNvSpPr/>
          <p:nvPr/>
        </p:nvSpPr>
        <p:spPr>
          <a:xfrm>
            <a:off x="4800600" y="3520440"/>
            <a:ext cx="3840480" cy="868680"/>
          </a:xfrm>
          <a:prstGeom prst="rect">
            <a:avLst/>
          </a:prstGeom>
          <a:noFill/>
          <a:ln/>
        </p:spPr>
        <p:txBody>
          <a:bodyPr wrap="square" rtlCol="0" anchor="ctr"/>
          <a:lstStyle/>
          <a:p>
            <a:pPr indent="0" marL="0">
              <a:buNone/>
            </a:pPr>
            <a:r>
              <a:rPr lang="en-US" sz="1050" dirty="0">
                <a:solidFill>
                  <a:srgbClr val="E0E6F0"/>
                </a:solidFill>
              </a:rPr>
              <a:t>The CIR abstraction lets the same 40-feature library run unchanged on SurveyCTO and ODK data.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8899BB"/>
                </a:solidFill>
              </a:rPr>
              <a:t>12 / 12</a:t>
            </a:r>
            <a:endParaRPr lang="en-US" sz="900" dirty="0"/>
          </a:p>
        </p:txBody>
      </p:sp>
      <p:sp>
        <p:nvSpPr>
          <p:cNvPr id="5" name="Shape 3"/>
          <p:cNvSpPr/>
          <p:nvPr/>
        </p:nvSpPr>
        <p:spPr>
          <a:xfrm>
            <a:off x="0" y="0"/>
            <a:ext cx="9144000" cy="54864"/>
          </a:xfrm>
          <a:prstGeom prst="rect">
            <a:avLst/>
          </a:prstGeom>
          <a:solidFill>
            <a:srgbClr val="00B4D8"/>
          </a:solidFill>
          <a:ln w="12700">
            <a:solidFill>
              <a:srgbClr val="00B4D8">
                <a:alpha val="0"/>
              </a:srgbClr>
            </a:solidFill>
            <a:prstDash val="solid"/>
          </a:ln>
        </p:spPr>
      </p:sp>
      <p:sp>
        <p:nvSpPr>
          <p:cNvPr id="6" name="Shape 4"/>
          <p:cNvSpPr/>
          <p:nvPr/>
        </p:nvSpPr>
        <p:spPr>
          <a:xfrm>
            <a:off x="457200" y="228600"/>
            <a:ext cx="8229600" cy="4434840"/>
          </a:xfrm>
          <a:prstGeom prst="rect">
            <a:avLst/>
          </a:prstGeom>
          <a:solidFill>
            <a:srgbClr val="1A2744">
              <a:alpha val="25000"/>
            </a:srgbClr>
          </a:solidFill>
          <a:ln w="12700">
            <a:solidFill>
              <a:srgbClr val="1E3A5F"/>
            </a:solidFill>
            <a:prstDash val="solid"/>
          </a:ln>
        </p:spPr>
      </p:sp>
      <p:sp>
        <p:nvSpPr>
          <p:cNvPr id="7" name="Text 5"/>
          <p:cNvSpPr/>
          <p:nvPr/>
        </p:nvSpPr>
        <p:spPr>
          <a:xfrm>
            <a:off x="640080" y="365760"/>
            <a:ext cx="7863840" cy="256032"/>
          </a:xfrm>
          <a:prstGeom prst="rect">
            <a:avLst/>
          </a:prstGeom>
          <a:noFill/>
          <a:ln/>
        </p:spPr>
        <p:txBody>
          <a:bodyPr wrap="square" rtlCol="0" anchor="ctr"/>
          <a:lstStyle/>
          <a:p>
            <a:pPr algn="ctr" indent="0" marL="0">
              <a:buNone/>
            </a:pPr>
            <a:r>
              <a:rPr lang="en-US" sz="900" b="1" spc="300" kern="0" dirty="0">
                <a:solidFill>
                  <a:srgbClr val="00B4D8"/>
                </a:solidFill>
              </a:rPr>
              <a:t>THE CASE FOR THIS PROJECT</a:t>
            </a:r>
            <a:endParaRPr lang="en-US" sz="900" dirty="0"/>
          </a:p>
        </p:txBody>
      </p:sp>
      <p:sp>
        <p:nvSpPr>
          <p:cNvPr id="8" name="Text 6"/>
          <p:cNvSpPr/>
          <p:nvPr/>
        </p:nvSpPr>
        <p:spPr>
          <a:xfrm>
            <a:off x="640080" y="685800"/>
            <a:ext cx="7863840" cy="1188720"/>
          </a:xfrm>
          <a:prstGeom prst="rect">
            <a:avLst/>
          </a:prstGeom>
          <a:noFill/>
          <a:ln/>
        </p:spPr>
        <p:txBody>
          <a:bodyPr wrap="square" rtlCol="0" anchor="ctr"/>
          <a:lstStyle/>
          <a:p>
            <a:pPr algn="ctr" indent="0" marL="0">
              <a:buNone/>
            </a:pPr>
            <a:r>
              <a:rPr lang="en-US" sz="3800" b="1" dirty="0">
                <a:solidFill>
                  <a:srgbClr val="FFFFFF"/>
                </a:solidFill>
              </a:rPr>
              <a:t>Survey data quality</a:t>
            </a:r>
            <a:endParaRPr lang="en-US" sz="3800" dirty="0"/>
          </a:p>
          <a:p>
            <a:pPr algn="ctr" indent="0" marL="0">
              <a:buNone/>
            </a:pPr>
            <a:r>
              <a:rPr lang="en-US" sz="3800" b="1" dirty="0">
                <a:solidFill>
                  <a:srgbClr val="FFFFFF"/>
                </a:solidFill>
              </a:rPr>
              <a:t>starts here.</a:t>
            </a:r>
            <a:endParaRPr lang="en-US" sz="3800" dirty="0"/>
          </a:p>
        </p:txBody>
      </p:sp>
      <p:sp>
        <p:nvSpPr>
          <p:cNvPr id="9" name="Shape 7"/>
          <p:cNvSpPr/>
          <p:nvPr/>
        </p:nvSpPr>
        <p:spPr>
          <a:xfrm>
            <a:off x="3200400" y="178308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914400" y="1920240"/>
            <a:ext cx="7315200" cy="329184"/>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6F0"/>
                </a:solidFill>
              </a:rPr>
              <a:t>40 timing-based features · question, section &amp; survey levels · statistically validated</a:t>
            </a:r>
            <a:endParaRPr lang="en-US" sz="1200" dirty="0"/>
          </a:p>
        </p:txBody>
      </p:sp>
      <p:sp>
        <p:nvSpPr>
          <p:cNvPr id="11" name="Text 9"/>
          <p:cNvSpPr/>
          <p:nvPr/>
        </p:nvSpPr>
        <p:spPr>
          <a:xfrm>
            <a:off x="914400" y="2304288"/>
            <a:ext cx="7315200" cy="329184"/>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6F0"/>
                </a:solidFill>
              </a:rPr>
              <a:t>Platform-agnostic pipeline for SurveyCTO and ODK — one CIR, one feature library</a:t>
            </a:r>
            <a:endParaRPr lang="en-US" sz="1200" dirty="0"/>
          </a:p>
        </p:txBody>
      </p:sp>
      <p:sp>
        <p:nvSpPr>
          <p:cNvPr id="12" name="Text 10"/>
          <p:cNvSpPr/>
          <p:nvPr/>
        </p:nvSpPr>
        <p:spPr>
          <a:xfrm>
            <a:off x="914400" y="2688336"/>
            <a:ext cx="7315200" cy="329184"/>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6F0"/>
                </a:solidFill>
              </a:rPr>
              <a:t>Two-layer detection: IQR statistical flagging + domain-derived rule logic</a:t>
            </a:r>
            <a:endParaRPr lang="en-US" sz="1200" dirty="0"/>
          </a:p>
        </p:txBody>
      </p:sp>
      <p:sp>
        <p:nvSpPr>
          <p:cNvPr id="13" name="Text 11"/>
          <p:cNvSpPr/>
          <p:nvPr/>
        </p:nvSpPr>
        <p:spPr>
          <a:xfrm>
            <a:off x="914400" y="3072384"/>
            <a:ext cx="7315200" cy="329184"/>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6F0"/>
                </a:solidFill>
              </a:rPr>
              <a:t>Precision ≥ 0.80 · Recall ≥ 0.75 · Evaluated against two explicit baselines</a:t>
            </a:r>
            <a:endParaRPr lang="en-US" sz="1200" dirty="0"/>
          </a:p>
        </p:txBody>
      </p:sp>
      <p:sp>
        <p:nvSpPr>
          <p:cNvPr id="14" name="Text 12"/>
          <p:cNvSpPr/>
          <p:nvPr/>
        </p:nvSpPr>
        <p:spPr>
          <a:xfrm>
            <a:off x="914400" y="3456432"/>
            <a:ext cx="7315200" cy="329184"/>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6F0"/>
                </a:solidFill>
              </a:rPr>
              <a:t>Deliverables: Python library · Paradata format guide · Validation report · 5–7k word paper</a:t>
            </a:r>
            <a:endParaRPr lang="en-US" sz="1200" dirty="0"/>
          </a:p>
        </p:txBody>
      </p:sp>
      <p:sp>
        <p:nvSpPr>
          <p:cNvPr id="15" name="Text 13"/>
          <p:cNvSpPr/>
          <p:nvPr/>
        </p:nvSpPr>
        <p:spPr>
          <a:xfrm>
            <a:off x="640080" y="3977640"/>
            <a:ext cx="7863840" cy="256032"/>
          </a:xfrm>
          <a:prstGeom prst="rect">
            <a:avLst/>
          </a:prstGeom>
          <a:noFill/>
          <a:ln/>
        </p:spPr>
        <p:txBody>
          <a:bodyPr wrap="square" rtlCol="0" anchor="ctr"/>
          <a:lstStyle/>
          <a:p>
            <a:pPr algn="ctr" indent="0" marL="0">
              <a:buNone/>
            </a:pPr>
            <a:r>
              <a:rPr lang="en-US" sz="1000" dirty="0">
                <a:solidFill>
                  <a:srgbClr val="8899BB"/>
                </a:solidFill>
              </a:rPr>
              <a:t>Samuel Kaoma  •  2022016530  •  Supervisor: Mr. Mofya Phiri  •  UNZA CSC 4004</a:t>
            </a:r>
            <a:endParaRPr lang="en-US" sz="1000" dirty="0"/>
          </a:p>
        </p:txBody>
      </p:sp>
      <p:sp>
        <p:nvSpPr>
          <p:cNvPr id="16" name="Shape 14"/>
          <p:cNvSpPr/>
          <p:nvPr/>
        </p:nvSpPr>
        <p:spPr>
          <a:xfrm>
            <a:off x="0" y="4956048"/>
            <a:ext cx="9144000" cy="54864"/>
          </a:xfrm>
          <a:prstGeom prst="rect">
            <a:avLst/>
          </a:prstGeom>
          <a:solidFill>
            <a:srgbClr val="7B2FBE"/>
          </a:solidFill>
          <a:ln w="12700">
            <a:solidFill>
              <a:srgbClr val="7B2FBE">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Extraction and Analysis of Timing-Based Paradata Features</dc:title>
  <dc:subject>PptxGenJS Presentation</dc:subject>
  <dc:creator>Samuel Kaoma</dc:creator>
  <cp:lastModifiedBy>Samuel Kaoma</cp:lastModifiedBy>
  <cp:revision>1</cp:revision>
  <dcterms:created xsi:type="dcterms:W3CDTF">2026-03-29T18:43:26Z</dcterms:created>
  <dcterms:modified xsi:type="dcterms:W3CDTF">2026-03-29T18:43:26Z</dcterms:modified>
</cp:coreProperties>
</file>