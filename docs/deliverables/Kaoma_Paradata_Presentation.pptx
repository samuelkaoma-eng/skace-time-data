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07" r:id="rId45"/>
    <p:sldId id="308" r:id="rId46"/>
    <p:sldId id="257" r:id="rId3"/>
    <p:sldId id="258" r:id="rId4"/>
    <p:sldId id="261" r:id="rId7"/>
    <p:sldId id="289" r:id="rId40"/>
    <p:sldId id="263" r:id="rId9"/>
    <p:sldId id="310" r:id="rId48"/>
    <p:sldId id="312" r:id="rId50"/>
    <p:sldId id="313" r:id="rId51"/>
    <p:sldId id="317" r:id="rId41"/>
    <p:sldId id="314" r:id="rId44"/>
    <p:sldId id="272" r:id="rId18"/>
    <p:sldId id="276" r:id="rId22"/>
    <p:sldId id="315" r:id="rId43"/>
    <p:sldId id="301" r:id="rId52"/>
    <p:sldId id="285" r:id="rId31"/>
    <p:sldId id="318" r:id="rId39"/>
    <p:sldId id="320" r:id="rId58"/>
    <p:sldId id="319" r:id="rId38"/>
    <p:sldId id="268" r:id="rId14"/>
    <p:sldId id="286" r:id="rId32"/>
    <p:sldId id="321" r:id="rId59"/>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4.xml"/><Relationship Id="rId4" Type="http://schemas.openxmlformats.org/officeDocument/2006/relationships/slide" Target="slides/slide5.xml"/><Relationship Id="rId7" Type="http://schemas.openxmlformats.org/officeDocument/2006/relationships/slide" Target="slides/slide8.xml"/><Relationship Id="rId9" Type="http://schemas.openxmlformats.org/officeDocument/2006/relationships/slide" Target="slides/slide9.xml"/><Relationship Id="rId14" Type="http://schemas.openxmlformats.org/officeDocument/2006/relationships/slide" Target="slides/slide24.xml"/><Relationship Id="rId18" Type="http://schemas.openxmlformats.org/officeDocument/2006/relationships/slide" Target="slides/slide15.xml"/><Relationship Id="rId22" Type="http://schemas.openxmlformats.org/officeDocument/2006/relationships/slide" Target="slides/slide16.xml"/><Relationship Id="rId31" Type="http://schemas.openxmlformats.org/officeDocument/2006/relationships/slide" Target="slides/slide20.xml"/><Relationship Id="rId32" Type="http://schemas.openxmlformats.org/officeDocument/2006/relationships/slide" Target="slides/slide25.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23.xml"/><Relationship Id="rId39" Type="http://schemas.openxmlformats.org/officeDocument/2006/relationships/slide" Target="slides/slide21.xml"/><Relationship Id="rId40" Type="http://schemas.openxmlformats.org/officeDocument/2006/relationships/slide" Target="slides/slide7.xml"/><Relationship Id="rId41" Type="http://schemas.openxmlformats.org/officeDocument/2006/relationships/slide" Target="slides/slide13.xml"/><Relationship Id="rId43" Type="http://schemas.openxmlformats.org/officeDocument/2006/relationships/slide" Target="slides/slide17.xml"/><Relationship Id="rId44" Type="http://schemas.openxmlformats.org/officeDocument/2006/relationships/slide" Target="slides/slide14.xml"/><Relationship Id="rId45" Type="http://schemas.openxmlformats.org/officeDocument/2006/relationships/slide" Target="slides/slide2.xml"/><Relationship Id="rId46" Type="http://schemas.openxmlformats.org/officeDocument/2006/relationships/slide" Target="slides/slide3.xml"/><Relationship Id="rId48" Type="http://schemas.openxmlformats.org/officeDocument/2006/relationships/slide" Target="slides/slide10.xml"/><Relationship Id="rId50" Type="http://schemas.openxmlformats.org/officeDocument/2006/relationships/slide" Target="slides/slide11.xml"/><Relationship Id="rId51" Type="http://schemas.openxmlformats.org/officeDocument/2006/relationships/slide" Target="slides/slide12.xml"/><Relationship Id="rId52" Type="http://schemas.openxmlformats.org/officeDocument/2006/relationships/slide" Target="slides/slide19.xml"/><Relationship Id="rId58" Type="http://schemas.openxmlformats.org/officeDocument/2006/relationships/slide" Target="slides/slide22.xml"/><Relationship Id="rId59"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Normal, INT-00002</c:v>
                </c:pt>
              </c:strCache>
            </c:strRef>
          </c:tx>
          <c:spPr>
            <a:ln w="25400">
              <a:solidFill>
                <a:srgbClr val="0F766E"/>
              </a:solidFill>
            </a:ln>
          </c:spPr>
          <c:marker>
            <c:symbol val="circle"/>
            <c:size val="5"/>
            <c:spPr>
              <a:solidFill>
                <a:srgbClr val="0F766E"/>
              </a:solidFill>
              <a:ln>
                <a:solidFill>
                  <a:srgbClr val="0F766E"/>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2.69</c:v>
                </c:pt>
                <c:pt idx="1">
                  <c:v>5.98</c:v>
                </c:pt>
                <c:pt idx="2">
                  <c:v>5.72</c:v>
                </c:pt>
                <c:pt idx="3">
                  <c:v>6.43</c:v>
                </c:pt>
                <c:pt idx="4">
                  <c:v>6.08</c:v>
                </c:pt>
                <c:pt idx="5">
                  <c:v>2.52</c:v>
                </c:pt>
                <c:pt idx="6">
                  <c:v>7.81</c:v>
                </c:pt>
                <c:pt idx="7">
                  <c:v>6.95</c:v>
                </c:pt>
                <c:pt idx="8">
                  <c:v>15.64</c:v>
                </c:pt>
                <c:pt idx="9">
                  <c:v>15.91</c:v>
                </c:pt>
                <c:pt idx="10">
                  <c:v>10.71</c:v>
                </c:pt>
                <c:pt idx="11">
                  <c:v>15.79</c:v>
                </c:pt>
                <c:pt idx="12">
                  <c:v>8.97</c:v>
                </c:pt>
                <c:pt idx="13">
                  <c:v>11.99</c:v>
                </c:pt>
                <c:pt idx="14">
                  <c:v>5.06</c:v>
                </c:pt>
                <c:pt idx="15">
                  <c:v>7.68</c:v>
                </c:pt>
                <c:pt idx="16">
                  <c:v>7.06</c:v>
                </c:pt>
                <c:pt idx="17">
                  <c:v>10.25</c:v>
                </c:pt>
                <c:pt idx="18">
                  <c:v>4.93</c:v>
                </c:pt>
                <c:pt idx="19">
                  <c:v>9.34</c:v>
                </c:pt>
              </c:numCache>
            </c:numRef>
          </c:val>
          <c:smooth val="0"/>
        </c:ser>
        <c:ser>
          <c:idx val="1"/>
          <c:order val="1"/>
          <c:tx>
            <c:strRef>
              <c:f>Sheet1!$C$1</c:f>
              <c:strCache>
                <c:ptCount val="1"/>
                <c:pt idx="0">
                  <c:v>Disengaged, INT-00001</c:v>
                </c:pt>
              </c:strCache>
            </c:strRef>
          </c:tx>
          <c:spPr>
            <a:ln w="25400">
              <a:solidFill>
                <a:srgbClr val="6B7785"/>
              </a:solidFill>
            </a:ln>
          </c:spPr>
          <c:marker>
            <c:symbol val="circle"/>
            <c:size val="5"/>
            <c:spPr>
              <a:solidFill>
                <a:srgbClr val="6B7785"/>
              </a:solidFill>
              <a:ln>
                <a:solidFill>
                  <a:srgbClr val="6B7785"/>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5.88</c:v>
                </c:pt>
                <c:pt idx="1">
                  <c:v>6.12</c:v>
                </c:pt>
                <c:pt idx="2">
                  <c:v>5.68</c:v>
                </c:pt>
                <c:pt idx="3">
                  <c:v>6.29</c:v>
                </c:pt>
                <c:pt idx="4">
                  <c:v>6.07</c:v>
                </c:pt>
                <c:pt idx="5">
                  <c:v>6.17</c:v>
                </c:pt>
                <c:pt idx="6">
                  <c:v>5.88</c:v>
                </c:pt>
                <c:pt idx="7">
                  <c:v>6.16</c:v>
                </c:pt>
                <c:pt idx="8">
                  <c:v>6.21</c:v>
                </c:pt>
                <c:pt idx="9">
                  <c:v>6.05</c:v>
                </c:pt>
                <c:pt idx="10">
                  <c:v>6.05</c:v>
                </c:pt>
                <c:pt idx="11">
                  <c:v>6.05</c:v>
                </c:pt>
                <c:pt idx="12">
                  <c:v>5.83</c:v>
                </c:pt>
                <c:pt idx="13">
                  <c:v>5.97</c:v>
                </c:pt>
                <c:pt idx="14">
                  <c:v>5.97</c:v>
                </c:pt>
                <c:pt idx="15">
                  <c:v>6.08</c:v>
                </c:pt>
                <c:pt idx="16">
                  <c:v>6.2</c:v>
                </c:pt>
                <c:pt idx="17">
                  <c:v>5.79</c:v>
                </c:pt>
                <c:pt idx="18">
                  <c:v>5.97</c:v>
                </c:pt>
                <c:pt idx="19">
                  <c:v>6.3</c:v>
                </c:pt>
              </c:numCache>
            </c:numRef>
          </c:val>
          <c:smooth val="0"/>
        </c:ser>
        <c:ser>
          <c:idx val="2"/>
          <c:order val="2"/>
          <c:tx>
            <c:strRef>
              <c:f>Sheet1!$D$1</c:f>
              <c:strCache>
                <c:ptCount val="1"/>
                <c:pt idx="0">
                  <c:v>Fabricated, INT-00008</c:v>
                </c:pt>
              </c:strCache>
            </c:strRef>
          </c:tx>
          <c:spPr>
            <a:ln w="25400">
              <a:solidFill>
                <a:srgbClr val="B45309"/>
              </a:solidFill>
            </a:ln>
          </c:spPr>
          <c:marker>
            <c:symbol val="circle"/>
            <c:size val="5"/>
            <c:spPr>
              <a:solidFill>
                <a:srgbClr val="B45309"/>
              </a:solidFill>
              <a:ln>
                <a:solidFill>
                  <a:srgbClr val="B45309"/>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1.2</c:v>
                </c:pt>
                <c:pt idx="1">
                  <c:v>1.22</c:v>
                </c:pt>
                <c:pt idx="2">
                  <c:v>1.15</c:v>
                </c:pt>
                <c:pt idx="3">
                  <c:v>1.24</c:v>
                </c:pt>
                <c:pt idx="4">
                  <c:v>1.16</c:v>
                </c:pt>
                <c:pt idx="5">
                  <c:v>1.17</c:v>
                </c:pt>
                <c:pt idx="6">
                  <c:v>1.31</c:v>
                </c:pt>
                <c:pt idx="7">
                  <c:v>1.12</c:v>
                </c:pt>
                <c:pt idx="8">
                  <c:v>1.01</c:v>
                </c:pt>
                <c:pt idx="9">
                  <c:v>1.33</c:v>
                </c:pt>
                <c:pt idx="10">
                  <c:v>1.4</c:v>
                </c:pt>
                <c:pt idx="11">
                  <c:v>1.17</c:v>
                </c:pt>
                <c:pt idx="12">
                  <c:v>1.04</c:v>
                </c:pt>
                <c:pt idx="13">
                  <c:v>1.18</c:v>
                </c:pt>
                <c:pt idx="14">
                  <c:v>1.18</c:v>
                </c:pt>
                <c:pt idx="15">
                  <c:v>1.18</c:v>
                </c:pt>
                <c:pt idx="16">
                  <c:v>1.11</c:v>
                </c:pt>
                <c:pt idx="17">
                  <c:v>1.25</c:v>
                </c:pt>
                <c:pt idx="18">
                  <c:v>1.24</c:v>
                </c:pt>
                <c:pt idx="19">
                  <c:v>1.08</c:v>
                </c:pt>
              </c:numCache>
            </c:numRef>
          </c:val>
          <c:smooth val="0"/>
        </c:ser>
        <c:ser>
          <c:idx val="3"/>
          <c:order val="3"/>
          <c:tx>
            <c:strRef>
              <c:f>Sheet1!$E$1</c:f>
              <c:strCache>
                <c:ptCount val="1"/>
                <c:pt idx="0">
                  <c:v>Speeding, INT-00013</c:v>
                </c:pt>
              </c:strCache>
            </c:strRef>
          </c:tx>
          <c:spPr>
            <a:ln w="25400">
              <a:solidFill>
                <a:srgbClr val="7C3AED"/>
              </a:solidFill>
            </a:ln>
          </c:spPr>
          <c:marker>
            <c:symbol val="circle"/>
            <c:size val="5"/>
            <c:spPr>
              <a:solidFill>
                <a:srgbClr val="7C3AED"/>
              </a:solidFill>
              <a:ln>
                <a:solidFill>
                  <a:srgbClr val="7C3AED"/>
                </a:solidFill>
              </a:ln>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Sheet1!$E$2:$E$21</c:f>
              <c:numCache>
                <c:formatCode>General</c:formatCode>
                <c:ptCount val="20"/>
                <c:pt idx="0">
                  <c:v>0.79</c:v>
                </c:pt>
                <c:pt idx="1">
                  <c:v>0.29</c:v>
                </c:pt>
                <c:pt idx="2">
                  <c:v>0.45</c:v>
                </c:pt>
                <c:pt idx="3">
                  <c:v>0.75</c:v>
                </c:pt>
                <c:pt idx="4">
                  <c:v>0.51</c:v>
                </c:pt>
                <c:pt idx="5">
                  <c:v>0.77</c:v>
                </c:pt>
                <c:pt idx="6">
                  <c:v>0.21</c:v>
                </c:pt>
                <c:pt idx="7">
                  <c:v>0.22</c:v>
                </c:pt>
                <c:pt idx="8">
                  <c:v>0.68</c:v>
                </c:pt>
                <c:pt idx="9">
                  <c:v>0.41</c:v>
                </c:pt>
                <c:pt idx="10">
                  <c:v>0.51</c:v>
                </c:pt>
                <c:pt idx="11">
                  <c:v>0.46</c:v>
                </c:pt>
                <c:pt idx="12">
                  <c:v>0.44</c:v>
                </c:pt>
                <c:pt idx="13">
                  <c:v>0.76</c:v>
                </c:pt>
                <c:pt idx="14">
                  <c:v>0.26</c:v>
                </c:pt>
                <c:pt idx="15">
                  <c:v>0.66</c:v>
                </c:pt>
                <c:pt idx="16">
                  <c:v>0.73</c:v>
                </c:pt>
                <c:pt idx="17">
                  <c:v>0.59</c:v>
                </c:pt>
                <c:pt idx="18">
                  <c:v>0.44</c:v>
                </c:pt>
                <c:pt idx="19">
                  <c:v>0.3</c:v>
                </c:pt>
              </c:numCache>
            </c:numRef>
          </c:val>
          <c:smooth val="0"/>
        </c:ser>
        <c:marker val="1"/>
        <c:smooth val="0"/>
        <c:axId val="2118791784"/>
        <c:axId val="2140495176"/>
      </c:lineChart>
      <c:catAx>
        <c:axId val="2118791784"/>
        <c:scaling>
          <c:orientation val="minMax"/>
        </c:scaling>
        <c:delete val="0"/>
        <c:axPos val="b"/>
        <c:title>
          <c:tx>
            <c:rich>
              <a:bodyPr/>
              <a:lstStyle/>
              <a:p>
                <a:r>
                  <a:rPr sz="1050"/>
                  <a:t>Question, in instrument order (1–4 demographics … 9–12 health … 17–20 nutrition)</a:t>
                </a:r>
              </a:p>
            </c:rich>
          </c:tx>
          <c:layout/>
          <c:overlay val="0"/>
        </c:title>
        <c:majorTickMark val="out"/>
        <c:minorTickMark val="none"/>
        <c:tickLblPos val="nextTo"/>
        <c:spPr>
          <a:ln>
            <a:solidFill>
              <a:srgbClr val="D6DEE5"/>
            </a:solidFill>
          </a:ln>
        </c:spPr>
        <c:txPr>
          <a:bodyPr/>
          <a:lstStyle/>
          <a:p>
            <a:pPr>
              <a:defRPr sz="1000">
                <a:solidFill>
                  <a:srgbClr val="6B7785"/>
                </a:solidFill>
              </a:defRPr>
            </a:pPr>
          </a:p>
        </c:txPr>
        <c:crossAx val="2140495176"/>
        <c:crosses val="autoZero"/>
        <c:auto val="1"/>
        <c:lblAlgn val="ctr"/>
        <c:lblOffset val="100"/>
        <c:noMultiLvlLbl val="0"/>
      </c:catAx>
      <c:valAx>
        <c:axId val="2140495176"/>
        <c:scaling/>
        <c:delete val="0"/>
        <c:axPos val="l"/>
        <c:majorGridlines>
          <c:spPr>
            <a:ln>
              <a:solidFill>
                <a:srgbClr val="D6DEE5"/>
              </a:solidFill>
            </a:ln>
          </c:spPr>
        </c:majorGridlines>
        <c:title>
          <c:tx>
            <c:rich>
              <a:bodyPr/>
              <a:lstStyle/>
              <a:p>
                <a:r>
                  <a:rPr sz="1050"/>
                  <a:t>Response time, seconds</a:t>
                </a:r>
              </a:p>
            </c:rich>
          </c:tx>
          <c:layout/>
          <c:overlay val="0"/>
        </c:title>
        <c:majorTickMark val="out"/>
        <c:minorTickMark val="none"/>
        <c:tickLblPos val="nextTo"/>
        <c:spPr>
          <a:ln>
            <a:noFill/>
          </a:ln>
        </c:spPr>
        <c:txPr>
          <a:bodyPr/>
          <a:lstStyle/>
          <a:p>
            <a:pPr>
              <a:defRPr sz="1000">
                <a:solidFill>
                  <a:srgbClr val="6B7785"/>
                </a:solidFill>
              </a:defRPr>
            </a:pPr>
          </a:p>
        </c:txPr>
        <c:crossAx val="2118791784"/>
        <c:crosses val="autoZero"/>
      </c:valAx>
    </c:plotArea>
    <c:legend>
      <c:legendPos val="t"/>
      <c:layout/>
      <c:overlay val="0"/>
      <c:txPr>
        <a:bodyPr/>
        <a:lstStyle/>
        <a:p>
          <a:pPr>
            <a:defRPr sz="1050">
              <a:solidFill>
                <a:srgbClr val="1F2933"/>
              </a:solidFill>
            </a:defRPr>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takes the audit logs that SurveyCTO and ODK already write for every interview, and turns them into an automated check on survey data quality. Everything I report today is reproducible from the repository, and each figure names the file it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starting point is that the data already exists. What is missing is tooling. And the check people do run, total duration, misses a third of the anomalies in my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six objectives as written in the proposal, unchanged. Five are met in full. The second, format-aware parsers, is met for the two synthetic layouts the evaluation ran on and only in part for the platforms' native exports: ODK's documented audit log is parsed and tested, SurveyCTO's native text audit is not yet. I say so rather than round it up.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Figure 1 in the report, and the right-hand column names the module behind each layer. The key claim is the contract at layer 2. I test that claim by running both formats through and comparing. Parsers mark rather than repair: missing field names, unparseable timestamps and negative durations are flagged into a separate data-quality path, so device faults never read as behavioural anomalies.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modelling phase. The modelling approach is unsupervised and rule-based, not machine learning, for two reasons: there is no labelled field data to train a model on, and a flag is an accusation about a person's work, so a supervisor must be able to see exactly which rules fired and check them. Statistical fences catch values far outside the batch, rule flags catch known patterns from the literature, and the score is simply how many flags fired.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from the demonstration, this is it. Explainability was a design constraint, not a nice-to-have, and this is what it buys.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project's central claim, and it is measured rather than asserted, because all three methods run inside the same audited script. The gain is 34 percentage points of recall, from 0.66 to 1.00. Under the harder stress condition the gap widens rather than narrows: the duration check finds none of the 400 anomalies across the four held-out runs, while the full detector finds 346.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report the weakest class prominently rather than burying it, because locating where a method fails is more useful than an aggregate that hides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talk follows the department template: background, design, implementation, testing and results, discussion, conclusion, and the system demonstration at the end. The method is CRISP-DM, applied iteratively, as section 3 of the report describes: its six phases run from understanding the problem to deployment, and the tracker at the top of each slide shows which phase we are in. It was iterative in practice: the first evaluation scored 1.00 everywhere, which sent me back to rebuild the test data with held-out seeds and overlapping profiles, and a clean-environment audit sent me back to data preparation to fix a pandas 3 timestamp bug.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there is one thing to take from this, it is that I would rather report where the method is weak than show you only the aggregate that hides it: fabricated recall of 0.70 under stress, and a detector that needs anomalies to be a minority of the batch. I will finish by showing the system itself.</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two references withdrawn after verification, Wenz et al. (2019) and Conrad et al. (2013), no longer appear anywhere.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Fallback for the live run. This is the exact output of the command in step 3: both files are detected automatically, 24 interviews are scored, five files are written, and because the labels were supplied it finishes with precision and recall of 1.00 on the sample and passes all four acceptance checks.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is the raw data exactly as the platforms export it, the first rows of each file. The two formats differ: ODK uses ISO timestamps, SurveyCTO uses epoch milliseconds. On the right is the result after one command: every interview has a score, a category and a status. Of the ten flagged, six are data-quality faults, the degenerate records the sample includes on purpose, and four are behavioural anomalies. ODK401 scores six and is flagged; the next slide shows why.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 understanding phase. There is no labelled field data, so the data is synthetic, generated in four behaviour profiles, alongside the two platform log formats shown in the demonstration. The chart shows one generated interview per profile at canonical difficulty. The normal interview in teal climbs in the health questions, nine to twelve, because those items carry the highest complexity weights. The fabricated interview in amber is flat at about 1.2 seconds whatever the question, and the speeder is flat below one second. The disengaged interview is slow but just as flat. Flatness is what entropy and the coefficient of variation measure. The canonical profiles are cleanly separated on purpose. The reported numbers come from the stress difficulty, where some genuine interviews are fast with little navigation and some fabrications are only mildly compressed, so the profiles overlap.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the system runs: a terminal opened in the project folder before the slot, with the environment already installed, so step 2 is not run live. Step 3 is the single command behind every demo screenshot; on the 24 sample interviews it finishes in about seven and a half seconds and prints precision and recall at the end. Outputs land in output, named by the label. Step 4 runs the 44 tests in about ten seconds. The full synthetic evaluation takes about thirty minutes, so its results are shown as figures, and they are also published at paradata.samuelkaoma.dev with the executed notebook. Run steps 3 and 4 live. If the live run fails, slides 20 to 22 are screenshots of exactly the same steps.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five rows are the risk table from my proposal, with what actually happened. The fourth is the one that materialised and mattered most. The last two I did not foresee; I include them because how they were handled is part of the risk management.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comparison with Birnbaum et al. is about which signals carry the result, not about detection rates: their labels come from people fabricating under controlled conditions, mine from a generator. The next slide sets out what these results do not establish.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individual project, so every role on the template's table is mine, under Mr. Phiri's supervision. AI tools were used during development and writing, and each use is logged in Appendix 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is Python. Pinned versions: pandas 3.0.1, NumPy 2.4, SciPy 1.17, statsmodels 0.14, scikit-learn 1.8, pytest 9. The CI matrix exists because a pandas 3 change silently broke timestamp conversion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these five choices is that the system fails loudly rather than silently: wrong formats, bad rows and label leaks all surface instead of quietly changing the numbers.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and third are the ones I learned most from. A perfect score is a warning that the test is too easy, and the entropy fix is an improvement I deliberately did not make the default because its extra false flags land on genuine enumerators.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test case on the template corresponds to one test file. The full list of 44 tests is in the repository; five of them are regression tests for the five defects found during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limits of what the results establish. The evaluation is synthetic throughout, so the results are an upper bound on field performance; eight of the forty features never vary in the corpus, so the evaluation is silent on them. Detection is univariate. The limitation that matters most for deployment is the prevalence envelope on the left: my supervisor ran the same interviews at rising prevalence and found recall falling, and I reproduced it with a committed script, eighty runs from five to ninety percent. Both criteria hold up to fifty percent in every condition. Past half, the batch median is an anomalous interview, so the thresholds are estimated from a batch that is mostly anomalous. One enumerator's fabricated caseload, analysed alone, is largely undetectable, so the detector must run on batches pooled across enumerators. Validation against real field paradata remains the most important extension.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 Id="rId3" Type="http://schemas.openxmlformats.org/officeDocument/2006/relationships/notesSlide" Target="../notesSlides/notesSlide34.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3.xml"/></Relationships>
</file>

<file path=ppt/slides/_rels/slide24.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p:bgPr>
    </p:bg>
    <p:spTree>
      <p:nvGrpSpPr>
        <p:cNvPr id="1" name=""/>
        <p:cNvGrpSpPr/>
        <p:nvPr/>
      </p:nvGrpSpPr>
      <p:grpSpPr>
        <a:xfrm>
          <a:off x="0" y="0"/>
          <a:ext cx="0" cy="0"/>
          <a:chOff x="0" y="0"/>
          <a:chExt cx="0" cy="0"/>
        </a:xfrm>
      </p:grpSpPr>
      <p:sp>
        <p:nvSpPr>
          <p:cNvPr id="2" name="Text 0"/>
          <p:cNvSpPr txBox="1"/>
          <p:nvPr/>
        </p:nvSpPr>
        <p:spPr>
          <a:xfrm>
            <a:off x="566928" y="640080"/>
            <a:ext cx="11055096" cy="274320"/>
          </a:xfrm>
          <a:prstGeom prst="rect">
            <a:avLst/>
          </a:prstGeom>
          <a:noFill/>
          <a:ln/>
        </p:spPr>
        <p:txBody>
          <a:bodyPr wrap="square" lIns="0" tIns="0" rIns="0" bIns="0" rtlCol="0" anchor="ctr"/>
          <a:lstStyle/>
          <a:p>
            <a:pPr indent="0" marL="0">
              <a:buNone/>
            </a:pPr>
            <a:r>
              <a:rPr lang="en-US" sz="1100" b="1" spc="110" kern="0" dirty="0">
                <a:solidFill>
                  <a:srgbClr val="6FA9A2"/>
                </a:solidFill>
                <a:latin typeface="Calibri" pitchFamily="34" charset="0"/>
                <a:ea typeface="Calibri" pitchFamily="34" charset="-122"/>
                <a:cs typeface="Calibri" pitchFamily="34" charset="-120"/>
              </a:rPr>
              <a:t>THE UNIVERSITY OF ZAMBIA  |  SCHOOL OF NATURAL AND APPLIED SCIENCES  |  DEPARTMENT OF COMPUTING AND INFORMATICS</a:t>
            </a:r>
            <a:endParaRPr lang="en-US" sz="1100" dirty="0"/>
          </a:p>
        </p:txBody>
      </p:sp>
      <p:sp>
        <p:nvSpPr>
          <p:cNvPr id="3" name="Text 1"/>
          <p:cNvSpPr txBox="1"/>
          <p:nvPr/>
        </p:nvSpPr>
        <p:spPr>
          <a:xfrm>
            <a:off x="566928" y="1554480"/>
            <a:ext cx="9957816" cy="1920240"/>
          </a:xfrm>
          <a:prstGeom prst="rect">
            <a:avLst/>
          </a:prstGeom>
          <a:noFill/>
          <a:ln/>
        </p:spPr>
        <p:txBody>
          <a:bodyPr wrap="square" lIns="0" tIns="0" rIns="0" bIns="0" rtlCol="0" anchor="ctr"/>
          <a:lstStyle/>
          <a:p>
            <a:pPr indent="0" marL="0">
              <a:lnSpc>
                <a:spcPts val="4600"/>
              </a:lnSpc>
              <a:buNone/>
            </a:pPr>
            <a:r>
              <a:rPr lang="en-US" sz="3800" b="1" dirty="0">
                <a:solidFill>
                  <a:srgbClr val="FFFFFF"/>
                </a:solidFill>
                <a:latin typeface="Cambria" pitchFamily="34" charset="0"/>
                <a:ea typeface="Cambria" pitchFamily="34" charset="-122"/>
                <a:cs typeface="Cambria" pitchFamily="34" charset="-120"/>
              </a:rPr>
              <a:t>Automated Extraction and Analysis of Timing-Based Paradata Features for Survey Quality Assurance</a:t>
            </a:r>
            <a:endParaRPr lang="en-US" sz="3800" dirty="0"/>
          </a:p>
        </p:txBody>
      </p:sp>
      <p:sp>
        <p:nvSpPr>
          <p:cNvPr id="4" name="Text 2"/>
          <p:cNvSpPr txBox="1"/>
          <p:nvPr/>
        </p:nvSpPr>
        <p:spPr>
          <a:xfrm>
            <a:off x="566928" y="3611880"/>
            <a:ext cx="8860536" cy="731520"/>
          </a:xfrm>
          <a:prstGeom prst="rect">
            <a:avLst/>
          </a:prstGeom>
          <a:noFill/>
          <a:ln/>
        </p:spPr>
        <p:txBody>
          <a:bodyPr wrap="square" lIns="0" tIns="0" rIns="0" bIns="0" rtlCol="0" anchor="ctr"/>
          <a:lstStyle/>
          <a:p>
            <a:pPr indent="0" marL="0">
              <a:lnSpc>
                <a:spcPts val="2300"/>
              </a:lnSpc>
              <a:buNone/>
            </a:pPr>
            <a:r>
              <a:rPr lang="en-US" sz="1500" dirty="0">
                <a:solidFill>
                  <a:srgbClr val="AFC0C9"/>
                </a:solidFill>
                <a:latin typeface="Calibri" pitchFamily="34" charset="0"/>
                <a:ea typeface="Calibri" pitchFamily="34" charset="-122"/>
                <a:cs typeface="Calibri" pitchFamily="34" charset="-120"/>
              </a:rPr>
              <a:t>Detecting fabricated, rushed and disengaged interviews from the audit logs SurveyCTO and ODK already produce</a:t>
            </a:r>
            <a:endParaRPr lang="en-US" sz="1500" dirty="0"/>
          </a:p>
        </p:txBody>
      </p:sp>
      <p:sp>
        <p:nvSpPr>
          <p:cNvPr id="5" name="Shape 3"/>
          <p:cNvSpPr/>
          <p:nvPr/>
        </p:nvSpPr>
        <p:spPr>
          <a:xfrm>
            <a:off x="566928" y="4617720"/>
            <a:ext cx="91440" cy="1143000"/>
          </a:xfrm>
          <a:prstGeom prst="roundRect">
            <a:avLst>
              <a:gd name="adj" fmla="val 40000"/>
            </a:avLst>
          </a:prstGeom>
          <a:solidFill>
            <a:srgbClr val="0F766E"/>
          </a:solidFill>
          <a:ln w="12700">
            <a:solidFill>
              <a:srgbClr val="0F766E"/>
            </a:solidFill>
            <a:prstDash val="solid"/>
          </a:ln>
        </p:spPr>
        <p:txBody>
          <a:bodyPr/>
          <a:p/>
        </p:txBody>
      </p:sp>
      <p:sp>
        <p:nvSpPr>
          <p:cNvPr id="6" name="Text 4"/>
          <p:cNvSpPr txBox="1"/>
          <p:nvPr/>
        </p:nvSpPr>
        <p:spPr>
          <a:xfrm>
            <a:off x="822960" y="4590288"/>
            <a:ext cx="5943600" cy="123444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libri" pitchFamily="34" charset="0"/>
                <a:ea typeface="Calibri" pitchFamily="34" charset="-122"/>
                <a:cs typeface="Calibri" pitchFamily="34" charset="-120"/>
              </a:rPr>
              <a:t>Samuel Kaoma</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Computer number 2022016530  |  CSC 4004</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Supervisor: Mr. Mofya Phiri</a:t>
            </a:r>
            <a:endParaRPr lang="en-US" sz="1600" dirty="0"/>
          </a:p>
          <a:p>
            <a:pPr indent="0" marL="0">
              <a:lnSpc>
                <a:spcPts val="2000"/>
              </a:lnSpc>
              <a:buNone/>
            </a:pPr>
            <a:r>
              <a:rPr lang="en-US" sz="1300" dirty="0">
                <a:solidFill>
                  <a:srgbClr val="AFC0C9"/>
                </a:solidFill>
                <a:latin typeface="Calibri" pitchFamily="34" charset="0"/>
                <a:ea typeface="Calibri" pitchFamily="34" charset="-122"/>
                <a:cs typeface="Calibri" pitchFamily="34" charset="-120"/>
              </a:rPr>
              <a:t>Final Year Project Presentation  |  Academic Year 2026</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TEAM</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Team roles and responsibilities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2</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graphicFrame>
        <p:nvGraphicFramePr>
          <p:cNvPr id="6" name="Table 5"/>
          <p:cNvGraphicFramePr>
            <a:graphicFrameLocks noGrp="1"/>
          </p:cNvGraphicFramePr>
          <p:nvPr/>
        </p:nvGraphicFramePr>
        <p:xfrm>
          <a:off x="566928" y="1371600"/>
          <a:ext cx="11055096" cy="1417320"/>
        </p:xfrm>
        <a:graphic>
          <a:graphicData uri="http://schemas.openxmlformats.org/drawingml/2006/table">
            <a:tbl>
              <a:tblPr firstRow="0" bandRow="0"/>
              <a:tblGrid>
                <a:gridCol w="2377440"/>
                <a:gridCol w="1828800"/>
                <a:gridCol w="6848856"/>
              </a:tblGrid>
              <a:tr h="457200">
                <a:tc>
                  <a:txBody>
                    <a:bodyPr wrap="square"/>
                    <a:lstStyle/>
                    <a:p>
                      <a:r>
                        <a:rPr sz="1200" b="1">
                          <a:solidFill>
                            <a:srgbClr val="FFFFFF"/>
                          </a:solidFill>
                          <a:latin typeface="Calibri"/>
                        </a:rPr>
                        <a:t>Member</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Computer No.</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Primary role / responsibilities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r>
              <a:tr h="960120">
                <a:tc>
                  <a:txBody>
                    <a:bodyPr wrap="square"/>
                    <a:lstStyle/>
                    <a:p>
                      <a:r>
                        <a:rPr sz="1150" b="1">
                          <a:solidFill>
                            <a:srgbClr val="1F2933"/>
                          </a:solidFill>
                          <a:latin typeface="Calibri"/>
                        </a:rPr>
                        <a:t>Samuel Kaoma</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50" b="0">
                          <a:solidFill>
                            <a:srgbClr val="1F2933"/>
                          </a:solidFill>
                          <a:latin typeface="Calibri"/>
                        </a:rPr>
                        <a:t>2022016530</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50" b="0">
                          <a:solidFill>
                            <a:srgbClr val="1F2933"/>
                          </a:solidFill>
                          <a:latin typeface="Calibri"/>
                        </a:rPr>
                        <a:t>Sole developer, responsible for every stage: literature review and requirements, system design, parsers, feature library and anomaly detector, synthetic data generator and evaluation, automated tests and continuous integration, report and documentation.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bl>
          </a:graphicData>
        </a:graphic>
      </p:graphicFrame>
      <p:sp>
        <p:nvSpPr>
          <p:cNvPr id="7" name="TextBox 6"/>
          <p:cNvSpPr txBox="1"/>
          <p:nvPr/>
        </p:nvSpPr>
        <p:spPr>
          <a:xfrm>
            <a:off x="566928" y="2971800"/>
            <a:ext cx="11055096" cy="365760"/>
          </a:xfrm>
          <a:prstGeom prst="rect">
            <a:avLst/>
          </a:prstGeom>
          <a:noFill/>
        </p:spPr>
        <p:txBody>
          <a:bodyPr wrap="square" lIns="0" rIns="0" tIns="0" bIns="0" anchor="ctr">
            <a:spAutoFit/>
          </a:bodyPr>
          <a:lstStyle/>
          <a:p>
            <a:pPr algn="l"/>
            <a:r>
              <a:rPr sz="1400" b="1">
                <a:solidFill>
                  <a:srgbClr val="1F2933"/>
                </a:solidFill>
                <a:latin typeface="Calibri"/>
              </a:rPr>
              <a:t>Supervisor:  </a:t>
            </a:r>
            <a:r>
              <a:rPr sz="1400" b="0">
                <a:solidFill>
                  <a:srgbClr val="1F2933"/>
                </a:solidFill>
                <a:latin typeface="Calibri"/>
              </a:rPr>
              <a:t>Mr. Mofya Phiri</a:t>
            </a:r>
          </a:p>
        </p:txBody>
      </p:sp>
      <p:sp>
        <p:nvSpPr>
          <p:cNvPr id="8" name="Rounded Rectangle 7"/>
          <p:cNvSpPr/>
          <p:nvPr/>
        </p:nvSpPr>
        <p:spPr>
          <a:xfrm>
            <a:off x="566928" y="3611880"/>
            <a:ext cx="2660904" cy="141732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3749039"/>
            <a:ext cx="2286000" cy="685800"/>
          </a:xfrm>
          <a:prstGeom prst="rect">
            <a:avLst/>
          </a:prstGeom>
          <a:noFill/>
        </p:spPr>
        <p:txBody>
          <a:bodyPr wrap="square" lIns="0" rIns="0" tIns="0" bIns="0" anchor="ctr">
            <a:spAutoFit/>
          </a:bodyPr>
          <a:lstStyle/>
          <a:p>
            <a:pPr algn="l"/>
            <a:r>
              <a:rPr sz="3400" b="1">
                <a:solidFill>
                  <a:srgbClr val="0F766E"/>
                </a:solidFill>
                <a:latin typeface="Cambria"/>
              </a:rPr>
              <a:t>1</a:t>
            </a:r>
          </a:p>
        </p:txBody>
      </p:sp>
      <p:sp>
        <p:nvSpPr>
          <p:cNvPr id="10" name="TextBox 9"/>
          <p:cNvSpPr txBox="1"/>
          <p:nvPr/>
        </p:nvSpPr>
        <p:spPr>
          <a:xfrm>
            <a:off x="749808" y="4434840"/>
            <a:ext cx="2286000" cy="457200"/>
          </a:xfrm>
          <a:prstGeom prst="rect">
            <a:avLst/>
          </a:prstGeom>
          <a:noFill/>
        </p:spPr>
        <p:txBody>
          <a:bodyPr wrap="square" lIns="0" rIns="0" tIns="0" bIns="0" anchor="t">
            <a:spAutoFit/>
          </a:bodyPr>
          <a:lstStyle/>
          <a:p>
            <a:pPr algn="l"/>
            <a:r>
              <a:rPr sz="1200" b="0">
                <a:solidFill>
                  <a:srgbClr val="1F2933"/>
                </a:solidFill>
                <a:latin typeface="Calibri"/>
              </a:rPr>
              <a:t>developer: an individual project</a:t>
            </a:r>
          </a:p>
        </p:txBody>
      </p:sp>
      <p:sp>
        <p:nvSpPr>
          <p:cNvPr id="11" name="Rounded Rectangle 10"/>
          <p:cNvSpPr/>
          <p:nvPr/>
        </p:nvSpPr>
        <p:spPr>
          <a:xfrm>
            <a:off x="3364992" y="3611880"/>
            <a:ext cx="2660904" cy="141732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3749039"/>
            <a:ext cx="2286000" cy="685800"/>
          </a:xfrm>
          <a:prstGeom prst="rect">
            <a:avLst/>
          </a:prstGeom>
          <a:noFill/>
        </p:spPr>
        <p:txBody>
          <a:bodyPr wrap="square" lIns="0" rIns="0" tIns="0" bIns="0" anchor="ctr">
            <a:spAutoFit/>
          </a:bodyPr>
          <a:lstStyle/>
          <a:p>
            <a:pPr algn="l"/>
            <a:r>
              <a:rPr sz="3400" b="1">
                <a:solidFill>
                  <a:srgbClr val="0F766E"/>
                </a:solidFill>
                <a:latin typeface="Cambria"/>
              </a:rPr>
              <a:t>40</a:t>
            </a:r>
          </a:p>
        </p:txBody>
      </p:sp>
      <p:sp>
        <p:nvSpPr>
          <p:cNvPr id="13" name="TextBox 12"/>
          <p:cNvSpPr txBox="1"/>
          <p:nvPr/>
        </p:nvSpPr>
        <p:spPr>
          <a:xfrm>
            <a:off x="3547872" y="4434840"/>
            <a:ext cx="2286000" cy="457200"/>
          </a:xfrm>
          <a:prstGeom prst="rect">
            <a:avLst/>
          </a:prstGeom>
          <a:noFill/>
        </p:spPr>
        <p:txBody>
          <a:bodyPr wrap="square" lIns="0" rIns="0" tIns="0" bIns="0" anchor="t">
            <a:spAutoFit/>
          </a:bodyPr>
          <a:lstStyle/>
          <a:p>
            <a:pPr algn="l"/>
            <a:r>
              <a:rPr sz="1200" b="0">
                <a:solidFill>
                  <a:srgbClr val="1F2933"/>
                </a:solidFill>
                <a:latin typeface="Calibri"/>
              </a:rPr>
              <a:t>timing features implemented</a:t>
            </a:r>
          </a:p>
        </p:txBody>
      </p:sp>
      <p:sp>
        <p:nvSpPr>
          <p:cNvPr id="14" name="Rounded Rectangle 13"/>
          <p:cNvSpPr/>
          <p:nvPr/>
        </p:nvSpPr>
        <p:spPr>
          <a:xfrm>
            <a:off x="6163056" y="3611880"/>
            <a:ext cx="2660904" cy="141732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3749039"/>
            <a:ext cx="2286000" cy="685800"/>
          </a:xfrm>
          <a:prstGeom prst="rect">
            <a:avLst/>
          </a:prstGeom>
          <a:noFill/>
        </p:spPr>
        <p:txBody>
          <a:bodyPr wrap="square" lIns="0" rIns="0" tIns="0" bIns="0" anchor="ctr">
            <a:spAutoFit/>
          </a:bodyPr>
          <a:lstStyle/>
          <a:p>
            <a:pPr algn="l"/>
            <a:r>
              <a:rPr sz="3400" b="1">
                <a:solidFill>
                  <a:srgbClr val="0F766E"/>
                </a:solidFill>
                <a:latin typeface="Cambria"/>
              </a:rPr>
              <a:t>44</a:t>
            </a:r>
          </a:p>
        </p:txBody>
      </p:sp>
      <p:sp>
        <p:nvSpPr>
          <p:cNvPr id="16" name="TextBox 15"/>
          <p:cNvSpPr txBox="1"/>
          <p:nvPr/>
        </p:nvSpPr>
        <p:spPr>
          <a:xfrm>
            <a:off x="6345936" y="4434840"/>
            <a:ext cx="2286000" cy="457200"/>
          </a:xfrm>
          <a:prstGeom prst="rect">
            <a:avLst/>
          </a:prstGeom>
          <a:noFill/>
        </p:spPr>
        <p:txBody>
          <a:bodyPr wrap="square" lIns="0" rIns="0" tIns="0" bIns="0" anchor="t">
            <a:spAutoFit/>
          </a:bodyPr>
          <a:lstStyle/>
          <a:p>
            <a:pPr algn="l"/>
            <a:r>
              <a:rPr sz="1200" b="0">
                <a:solidFill>
                  <a:srgbClr val="1F2933"/>
                </a:solidFill>
                <a:latin typeface="Calibri"/>
              </a:rPr>
              <a:t>automated tests, all passing</a:t>
            </a:r>
          </a:p>
        </p:txBody>
      </p:sp>
      <p:sp>
        <p:nvSpPr>
          <p:cNvPr id="17" name="Rounded Rectangle 16"/>
          <p:cNvSpPr/>
          <p:nvPr/>
        </p:nvSpPr>
        <p:spPr>
          <a:xfrm>
            <a:off x="8961119" y="3611880"/>
            <a:ext cx="2660904" cy="141732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3999" y="3749039"/>
            <a:ext cx="2286000" cy="685800"/>
          </a:xfrm>
          <a:prstGeom prst="rect">
            <a:avLst/>
          </a:prstGeom>
          <a:noFill/>
        </p:spPr>
        <p:txBody>
          <a:bodyPr wrap="square" lIns="0" rIns="0" tIns="0" bIns="0" anchor="ctr">
            <a:spAutoFit/>
          </a:bodyPr>
          <a:lstStyle/>
          <a:p>
            <a:pPr algn="l"/>
            <a:r>
              <a:rPr sz="3400" b="1">
                <a:solidFill>
                  <a:srgbClr val="0F766E"/>
                </a:solidFill>
                <a:latin typeface="Cambria"/>
              </a:rPr>
              <a:t>32</a:t>
            </a:r>
          </a:p>
        </p:txBody>
      </p:sp>
      <p:sp>
        <p:nvSpPr>
          <p:cNvPr id="19" name="TextBox 18"/>
          <p:cNvSpPr txBox="1"/>
          <p:nvPr/>
        </p:nvSpPr>
        <p:spPr>
          <a:xfrm>
            <a:off x="9143999" y="4434840"/>
            <a:ext cx="2286000" cy="457200"/>
          </a:xfrm>
          <a:prstGeom prst="rect">
            <a:avLst/>
          </a:prstGeom>
          <a:noFill/>
        </p:spPr>
        <p:txBody>
          <a:bodyPr wrap="square" lIns="0" rIns="0" tIns="0" bIns="0" anchor="t">
            <a:spAutoFit/>
          </a:bodyPr>
          <a:lstStyle/>
          <a:p>
            <a:pPr algn="l"/>
            <a:r>
              <a:rPr sz="1200" b="0">
                <a:solidFill>
                  <a:srgbClr val="1F2933"/>
                </a:solidFill>
                <a:latin typeface="Calibri"/>
              </a:rPr>
              <a:t>weeks, against the project plan</a:t>
            </a:r>
          </a:p>
        </p:txBody>
      </p:sp>
      <p:sp>
        <p:nvSpPr>
          <p:cNvPr id="20" name="Rounded Rectangle 19"/>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AI tool use (GitHub Copilot, Claude, ChatGPT) is disclosed episode by episode in Appendix A of the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OVERVIEW</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Presentation overview</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3</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Oval 5"/>
          <p:cNvSpPr/>
          <p:nvPr/>
        </p:nvSpPr>
        <p:spPr>
          <a:xfrm>
            <a:off x="566928" y="148132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81328"/>
            <a:ext cx="329184" cy="329184"/>
          </a:xfrm>
          <a:prstGeom prst="rect">
            <a:avLst/>
          </a:prstGeom>
          <a:noFill/>
        </p:spPr>
        <p:txBody>
          <a:bodyPr wrap="square" lIns="0" rIns="0" tIns="0" bIns="0" anchor="ctr">
            <a:spAutoFit/>
          </a:bodyPr>
          <a:lstStyle/>
          <a:p>
            <a:pPr algn="ctr"/>
            <a:r>
              <a:rPr sz="1300" b="1">
                <a:solidFill>
                  <a:srgbClr val="FFFFFF"/>
                </a:solidFill>
                <a:latin typeface="Calibri"/>
              </a:rPr>
              <a:t>1</a:t>
            </a:r>
          </a:p>
        </p:txBody>
      </p:sp>
      <p:sp>
        <p:nvSpPr>
          <p:cNvPr id="8" name="TextBox 7"/>
          <p:cNvSpPr txBox="1"/>
          <p:nvPr/>
        </p:nvSpPr>
        <p:spPr>
          <a:xfrm>
            <a:off x="1042416" y="1426464"/>
            <a:ext cx="3840480" cy="402336"/>
          </a:xfrm>
          <a:prstGeom prst="rect">
            <a:avLst/>
          </a:prstGeom>
          <a:noFill/>
        </p:spPr>
        <p:txBody>
          <a:bodyPr wrap="square" lIns="0" rIns="0" tIns="0" bIns="0" anchor="ctr">
            <a:spAutoFit/>
          </a:bodyPr>
          <a:lstStyle/>
          <a:p>
            <a:pPr algn="l"/>
            <a:r>
              <a:rPr sz="1500" b="1">
                <a:solidFill>
                  <a:srgbClr val="1F2933"/>
                </a:solidFill>
                <a:latin typeface="Calibri"/>
              </a:rPr>
              <a:t>Background and context</a:t>
            </a:r>
          </a:p>
        </p:txBody>
      </p:sp>
      <p:sp>
        <p:nvSpPr>
          <p:cNvPr id="9" name="TextBox 8"/>
          <p:cNvSpPr txBox="1"/>
          <p:nvPr/>
        </p:nvSpPr>
        <p:spPr>
          <a:xfrm>
            <a:off x="4773168" y="1426464"/>
            <a:ext cx="1097280" cy="402336"/>
          </a:xfrm>
          <a:prstGeom prst="rect">
            <a:avLst/>
          </a:prstGeom>
          <a:noFill/>
        </p:spPr>
        <p:txBody>
          <a:bodyPr wrap="square" lIns="0" rIns="0" tIns="0" bIns="0" anchor="ctr">
            <a:spAutoFit/>
          </a:bodyPr>
          <a:lstStyle/>
          <a:p>
            <a:pPr algn="r"/>
            <a:r>
              <a:rPr sz="1200" b="0">
                <a:solidFill>
                  <a:srgbClr val="6B7785"/>
                </a:solidFill>
                <a:latin typeface="Calibri"/>
              </a:rPr>
              <a:t>4 to 5</a:t>
            </a:r>
          </a:p>
        </p:txBody>
      </p:sp>
      <p:sp>
        <p:nvSpPr>
          <p:cNvPr id="10" name="TextBox 9"/>
          <p:cNvSpPr txBox="1"/>
          <p:nvPr/>
        </p:nvSpPr>
        <p:spPr>
          <a:xfrm>
            <a:off x="1042416" y="1792224"/>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business understanding</a:t>
            </a:r>
          </a:p>
        </p:txBody>
      </p:sp>
      <p:sp>
        <p:nvSpPr>
          <p:cNvPr id="11" name="Oval 10"/>
          <p:cNvSpPr/>
          <p:nvPr/>
        </p:nvSpPr>
        <p:spPr>
          <a:xfrm>
            <a:off x="566928" y="235000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350008"/>
            <a:ext cx="329184" cy="329184"/>
          </a:xfrm>
          <a:prstGeom prst="rect">
            <a:avLst/>
          </a:prstGeom>
          <a:noFill/>
        </p:spPr>
        <p:txBody>
          <a:bodyPr wrap="square" lIns="0" rIns="0" tIns="0" bIns="0" anchor="ctr">
            <a:spAutoFit/>
          </a:bodyPr>
          <a:lstStyle/>
          <a:p>
            <a:pPr algn="ctr"/>
            <a:r>
              <a:rPr sz="1300" b="1">
                <a:solidFill>
                  <a:srgbClr val="FFFFFF"/>
                </a:solidFill>
                <a:latin typeface="Calibri"/>
              </a:rPr>
              <a:t>2</a:t>
            </a:r>
          </a:p>
        </p:txBody>
      </p:sp>
      <p:sp>
        <p:nvSpPr>
          <p:cNvPr id="13" name="TextBox 12"/>
          <p:cNvSpPr txBox="1"/>
          <p:nvPr/>
        </p:nvSpPr>
        <p:spPr>
          <a:xfrm>
            <a:off x="1042416" y="2295144"/>
            <a:ext cx="3840480" cy="402336"/>
          </a:xfrm>
          <a:prstGeom prst="rect">
            <a:avLst/>
          </a:prstGeom>
          <a:noFill/>
        </p:spPr>
        <p:txBody>
          <a:bodyPr wrap="square" lIns="0" rIns="0" tIns="0" bIns="0" anchor="ctr">
            <a:spAutoFit/>
          </a:bodyPr>
          <a:lstStyle/>
          <a:p>
            <a:pPr algn="l"/>
            <a:r>
              <a:rPr sz="1500" b="1">
                <a:solidFill>
                  <a:srgbClr val="1F2933"/>
                </a:solidFill>
                <a:latin typeface="Calibri"/>
              </a:rPr>
              <a:t>System analysis and design</a:t>
            </a:r>
          </a:p>
        </p:txBody>
      </p:sp>
      <p:sp>
        <p:nvSpPr>
          <p:cNvPr id="14" name="TextBox 13"/>
          <p:cNvSpPr txBox="1"/>
          <p:nvPr/>
        </p:nvSpPr>
        <p:spPr>
          <a:xfrm>
            <a:off x="4773168" y="2295144"/>
            <a:ext cx="1097280" cy="402336"/>
          </a:xfrm>
          <a:prstGeom prst="rect">
            <a:avLst/>
          </a:prstGeom>
          <a:noFill/>
        </p:spPr>
        <p:txBody>
          <a:bodyPr wrap="square" lIns="0" rIns="0" tIns="0" bIns="0" anchor="ctr">
            <a:spAutoFit/>
          </a:bodyPr>
          <a:lstStyle/>
          <a:p>
            <a:pPr algn="r"/>
            <a:r>
              <a:rPr sz="1200" b="0">
                <a:solidFill>
                  <a:srgbClr val="6B7785"/>
                </a:solidFill>
                <a:latin typeface="Calibri"/>
              </a:rPr>
              <a:t>6 to 8</a:t>
            </a:r>
          </a:p>
        </p:txBody>
      </p:sp>
      <p:sp>
        <p:nvSpPr>
          <p:cNvPr id="15" name="TextBox 14"/>
          <p:cNvSpPr txBox="1"/>
          <p:nvPr/>
        </p:nvSpPr>
        <p:spPr>
          <a:xfrm>
            <a:off x="1042416" y="2660903"/>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data understanding, data preparation, modelling</a:t>
            </a:r>
          </a:p>
        </p:txBody>
      </p:sp>
      <p:sp>
        <p:nvSpPr>
          <p:cNvPr id="16" name="Oval 15"/>
          <p:cNvSpPr/>
          <p:nvPr/>
        </p:nvSpPr>
        <p:spPr>
          <a:xfrm>
            <a:off x="566928" y="321868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18688"/>
            <a:ext cx="329184" cy="329184"/>
          </a:xfrm>
          <a:prstGeom prst="rect">
            <a:avLst/>
          </a:prstGeom>
          <a:noFill/>
        </p:spPr>
        <p:txBody>
          <a:bodyPr wrap="square" lIns="0" rIns="0" tIns="0" bIns="0" anchor="ctr">
            <a:spAutoFit/>
          </a:bodyPr>
          <a:lstStyle/>
          <a:p>
            <a:pPr algn="ctr"/>
            <a:r>
              <a:rPr sz="1300" b="1">
                <a:solidFill>
                  <a:srgbClr val="FFFFFF"/>
                </a:solidFill>
                <a:latin typeface="Calibri"/>
              </a:rPr>
              <a:t>3</a:t>
            </a:r>
          </a:p>
        </p:txBody>
      </p:sp>
      <p:sp>
        <p:nvSpPr>
          <p:cNvPr id="18" name="TextBox 17"/>
          <p:cNvSpPr txBox="1"/>
          <p:nvPr/>
        </p:nvSpPr>
        <p:spPr>
          <a:xfrm>
            <a:off x="1042416" y="3163824"/>
            <a:ext cx="3840480" cy="402336"/>
          </a:xfrm>
          <a:prstGeom prst="rect">
            <a:avLst/>
          </a:prstGeom>
          <a:noFill/>
        </p:spPr>
        <p:txBody>
          <a:bodyPr wrap="square" lIns="0" rIns="0" tIns="0" bIns="0" anchor="ctr">
            <a:spAutoFit/>
          </a:bodyPr>
          <a:lstStyle/>
          <a:p>
            <a:pPr algn="l"/>
            <a:r>
              <a:rPr sz="1500" b="1">
                <a:solidFill>
                  <a:srgbClr val="1F2933"/>
                </a:solidFill>
                <a:latin typeface="Calibri"/>
              </a:rPr>
              <a:t>Implementation and development</a:t>
            </a:r>
          </a:p>
        </p:txBody>
      </p:sp>
      <p:sp>
        <p:nvSpPr>
          <p:cNvPr id="19" name="TextBox 18"/>
          <p:cNvSpPr txBox="1"/>
          <p:nvPr/>
        </p:nvSpPr>
        <p:spPr>
          <a:xfrm>
            <a:off x="4773168" y="3163824"/>
            <a:ext cx="1097280" cy="402336"/>
          </a:xfrm>
          <a:prstGeom prst="rect">
            <a:avLst/>
          </a:prstGeom>
          <a:noFill/>
        </p:spPr>
        <p:txBody>
          <a:bodyPr wrap="square" lIns="0" rIns="0" tIns="0" bIns="0" anchor="ctr">
            <a:spAutoFit/>
          </a:bodyPr>
          <a:lstStyle/>
          <a:p>
            <a:pPr algn="r"/>
            <a:r>
              <a:rPr sz="1200" b="0">
                <a:solidFill>
                  <a:srgbClr val="6B7785"/>
                </a:solidFill>
                <a:latin typeface="Calibri"/>
              </a:rPr>
              <a:t>9 to 12</a:t>
            </a:r>
          </a:p>
        </p:txBody>
      </p:sp>
      <p:sp>
        <p:nvSpPr>
          <p:cNvPr id="20" name="TextBox 19"/>
          <p:cNvSpPr txBox="1"/>
          <p:nvPr/>
        </p:nvSpPr>
        <p:spPr>
          <a:xfrm>
            <a:off x="1042416" y="3529584"/>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building the preparation and modelling stages</a:t>
            </a:r>
          </a:p>
        </p:txBody>
      </p:sp>
      <p:sp>
        <p:nvSpPr>
          <p:cNvPr id="21" name="Oval 20"/>
          <p:cNvSpPr/>
          <p:nvPr/>
        </p:nvSpPr>
        <p:spPr>
          <a:xfrm>
            <a:off x="566928" y="4087367"/>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087367"/>
            <a:ext cx="329184" cy="329184"/>
          </a:xfrm>
          <a:prstGeom prst="rect">
            <a:avLst/>
          </a:prstGeom>
          <a:noFill/>
        </p:spPr>
        <p:txBody>
          <a:bodyPr wrap="square" lIns="0" rIns="0" tIns="0" bIns="0" anchor="ctr">
            <a:spAutoFit/>
          </a:bodyPr>
          <a:lstStyle/>
          <a:p>
            <a:pPr algn="ctr"/>
            <a:r>
              <a:rPr sz="1300" b="1">
                <a:solidFill>
                  <a:srgbClr val="FFFFFF"/>
                </a:solidFill>
                <a:latin typeface="Calibri"/>
              </a:rPr>
              <a:t>4</a:t>
            </a:r>
          </a:p>
        </p:txBody>
      </p:sp>
      <p:sp>
        <p:nvSpPr>
          <p:cNvPr id="23" name="TextBox 22"/>
          <p:cNvSpPr txBox="1"/>
          <p:nvPr/>
        </p:nvSpPr>
        <p:spPr>
          <a:xfrm>
            <a:off x="1042416" y="4032503"/>
            <a:ext cx="3840480" cy="402336"/>
          </a:xfrm>
          <a:prstGeom prst="rect">
            <a:avLst/>
          </a:prstGeom>
          <a:noFill/>
        </p:spPr>
        <p:txBody>
          <a:bodyPr wrap="square" lIns="0" rIns="0" tIns="0" bIns="0" anchor="ctr">
            <a:spAutoFit/>
          </a:bodyPr>
          <a:lstStyle/>
          <a:p>
            <a:pPr algn="l"/>
            <a:r>
              <a:rPr sz="1500" b="1">
                <a:solidFill>
                  <a:srgbClr val="1F2933"/>
                </a:solidFill>
                <a:latin typeface="Calibri"/>
              </a:rPr>
              <a:t>Testing, results and evaluation</a:t>
            </a:r>
          </a:p>
        </p:txBody>
      </p:sp>
      <p:sp>
        <p:nvSpPr>
          <p:cNvPr id="24" name="TextBox 23"/>
          <p:cNvSpPr txBox="1"/>
          <p:nvPr/>
        </p:nvSpPr>
        <p:spPr>
          <a:xfrm>
            <a:off x="4773168" y="4032503"/>
            <a:ext cx="1097280" cy="402336"/>
          </a:xfrm>
          <a:prstGeom prst="rect">
            <a:avLst/>
          </a:prstGeom>
          <a:noFill/>
        </p:spPr>
        <p:txBody>
          <a:bodyPr wrap="square" lIns="0" rIns="0" tIns="0" bIns="0" anchor="ctr">
            <a:spAutoFit/>
          </a:bodyPr>
          <a:lstStyle/>
          <a:p>
            <a:pPr algn="r"/>
            <a:r>
              <a:rPr sz="1200" b="0">
                <a:solidFill>
                  <a:srgbClr val="6B7785"/>
                </a:solidFill>
                <a:latin typeface="Calibri"/>
              </a:rPr>
              <a:t>13 to 15</a:t>
            </a:r>
          </a:p>
        </p:txBody>
      </p:sp>
      <p:sp>
        <p:nvSpPr>
          <p:cNvPr id="25" name="TextBox 24"/>
          <p:cNvSpPr txBox="1"/>
          <p:nvPr/>
        </p:nvSpPr>
        <p:spPr>
          <a:xfrm>
            <a:off x="1042416" y="4398264"/>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evaluation</a:t>
            </a:r>
          </a:p>
        </p:txBody>
      </p:sp>
      <p:sp>
        <p:nvSpPr>
          <p:cNvPr id="26" name="Oval 25"/>
          <p:cNvSpPr/>
          <p:nvPr/>
        </p:nvSpPr>
        <p:spPr>
          <a:xfrm>
            <a:off x="6281928" y="148132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1481328"/>
            <a:ext cx="329184" cy="329184"/>
          </a:xfrm>
          <a:prstGeom prst="rect">
            <a:avLst/>
          </a:prstGeom>
          <a:noFill/>
        </p:spPr>
        <p:txBody>
          <a:bodyPr wrap="square" lIns="0" rIns="0" tIns="0" bIns="0" anchor="ctr">
            <a:spAutoFit/>
          </a:bodyPr>
          <a:lstStyle/>
          <a:p>
            <a:pPr algn="ctr"/>
            <a:r>
              <a:rPr sz="1300" b="1">
                <a:solidFill>
                  <a:srgbClr val="FFFFFF"/>
                </a:solidFill>
                <a:latin typeface="Calibri"/>
              </a:rPr>
              <a:t>5</a:t>
            </a:r>
          </a:p>
        </p:txBody>
      </p:sp>
      <p:sp>
        <p:nvSpPr>
          <p:cNvPr id="28" name="TextBox 27"/>
          <p:cNvSpPr txBox="1"/>
          <p:nvPr/>
        </p:nvSpPr>
        <p:spPr>
          <a:xfrm>
            <a:off x="6757416" y="1426464"/>
            <a:ext cx="3840480" cy="402336"/>
          </a:xfrm>
          <a:prstGeom prst="rect">
            <a:avLst/>
          </a:prstGeom>
          <a:noFill/>
        </p:spPr>
        <p:txBody>
          <a:bodyPr wrap="square" lIns="0" rIns="0" tIns="0" bIns="0" anchor="ctr">
            <a:spAutoFit/>
          </a:bodyPr>
          <a:lstStyle/>
          <a:p>
            <a:pPr algn="l"/>
            <a:r>
              <a:rPr sz="1500" b="1">
                <a:solidFill>
                  <a:srgbClr val="1F2933"/>
                </a:solidFill>
                <a:latin typeface="Calibri"/>
              </a:rPr>
              <a:t>Discussion and limitations</a:t>
            </a:r>
          </a:p>
        </p:txBody>
      </p:sp>
      <p:sp>
        <p:nvSpPr>
          <p:cNvPr id="29" name="TextBox 28"/>
          <p:cNvSpPr txBox="1"/>
          <p:nvPr/>
        </p:nvSpPr>
        <p:spPr>
          <a:xfrm>
            <a:off x="10488167" y="1426464"/>
            <a:ext cx="1097280" cy="402336"/>
          </a:xfrm>
          <a:prstGeom prst="rect">
            <a:avLst/>
          </a:prstGeom>
          <a:noFill/>
        </p:spPr>
        <p:txBody>
          <a:bodyPr wrap="square" lIns="0" rIns="0" tIns="0" bIns="0" anchor="ctr">
            <a:spAutoFit/>
          </a:bodyPr>
          <a:lstStyle/>
          <a:p>
            <a:pPr algn="r"/>
            <a:r>
              <a:rPr sz="1200" b="0">
                <a:solidFill>
                  <a:srgbClr val="6B7785"/>
                </a:solidFill>
                <a:latin typeface="Calibri"/>
              </a:rPr>
              <a:t>16 to 17</a:t>
            </a:r>
          </a:p>
        </p:txBody>
      </p:sp>
      <p:sp>
        <p:nvSpPr>
          <p:cNvPr id="30" name="TextBox 29"/>
          <p:cNvSpPr txBox="1"/>
          <p:nvPr/>
        </p:nvSpPr>
        <p:spPr>
          <a:xfrm>
            <a:off x="6757416" y="1792224"/>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evaluation: what the results mean</a:t>
            </a:r>
          </a:p>
        </p:txBody>
      </p:sp>
      <p:sp>
        <p:nvSpPr>
          <p:cNvPr id="31" name="Oval 30"/>
          <p:cNvSpPr/>
          <p:nvPr/>
        </p:nvSpPr>
        <p:spPr>
          <a:xfrm>
            <a:off x="6281928" y="235000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81928" y="2350008"/>
            <a:ext cx="329184" cy="329184"/>
          </a:xfrm>
          <a:prstGeom prst="rect">
            <a:avLst/>
          </a:prstGeom>
          <a:noFill/>
        </p:spPr>
        <p:txBody>
          <a:bodyPr wrap="square" lIns="0" rIns="0" tIns="0" bIns="0" anchor="ctr">
            <a:spAutoFit/>
          </a:bodyPr>
          <a:lstStyle/>
          <a:p>
            <a:pPr algn="ctr"/>
            <a:r>
              <a:rPr sz="1300" b="1">
                <a:solidFill>
                  <a:srgbClr val="FFFFFF"/>
                </a:solidFill>
                <a:latin typeface="Calibri"/>
              </a:rPr>
              <a:t>6</a:t>
            </a:r>
          </a:p>
        </p:txBody>
      </p:sp>
      <p:sp>
        <p:nvSpPr>
          <p:cNvPr id="33" name="TextBox 32"/>
          <p:cNvSpPr txBox="1"/>
          <p:nvPr/>
        </p:nvSpPr>
        <p:spPr>
          <a:xfrm>
            <a:off x="6757416" y="2295144"/>
            <a:ext cx="3840480" cy="402336"/>
          </a:xfrm>
          <a:prstGeom prst="rect">
            <a:avLst/>
          </a:prstGeom>
          <a:noFill/>
        </p:spPr>
        <p:txBody>
          <a:bodyPr wrap="square" lIns="0" rIns="0" tIns="0" bIns="0" anchor="ctr">
            <a:spAutoFit/>
          </a:bodyPr>
          <a:lstStyle/>
          <a:p>
            <a:pPr algn="l"/>
            <a:r>
              <a:rPr sz="1500" b="1">
                <a:solidFill>
                  <a:srgbClr val="1F2933"/>
                </a:solidFill>
                <a:latin typeface="Calibri"/>
              </a:rPr>
              <a:t>Conclusion</a:t>
            </a:r>
          </a:p>
        </p:txBody>
      </p:sp>
      <p:sp>
        <p:nvSpPr>
          <p:cNvPr id="34" name="TextBox 33"/>
          <p:cNvSpPr txBox="1"/>
          <p:nvPr/>
        </p:nvSpPr>
        <p:spPr>
          <a:xfrm>
            <a:off x="10488167" y="2295144"/>
            <a:ext cx="1097280" cy="402336"/>
          </a:xfrm>
          <a:prstGeom prst="rect">
            <a:avLst/>
          </a:prstGeom>
          <a:noFill/>
        </p:spPr>
        <p:txBody>
          <a:bodyPr wrap="square" lIns="0" rIns="0" tIns="0" bIns="0" anchor="ctr">
            <a:spAutoFit/>
          </a:bodyPr>
          <a:lstStyle/>
          <a:p>
            <a:pPr algn="r"/>
            <a:r>
              <a:rPr sz="1200" b="0">
                <a:solidFill>
                  <a:srgbClr val="6B7785"/>
                </a:solidFill>
                <a:latin typeface="Calibri"/>
              </a:rPr>
              <a:t>18</a:t>
            </a:r>
          </a:p>
        </p:txBody>
      </p:sp>
      <p:sp>
        <p:nvSpPr>
          <p:cNvPr id="35" name="TextBox 34"/>
          <p:cNvSpPr txBox="1"/>
          <p:nvPr/>
        </p:nvSpPr>
        <p:spPr>
          <a:xfrm>
            <a:off x="6757416" y="2660903"/>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evaluation: was the aim met</a:t>
            </a:r>
          </a:p>
        </p:txBody>
      </p:sp>
      <p:sp>
        <p:nvSpPr>
          <p:cNvPr id="36" name="Oval 35"/>
          <p:cNvSpPr/>
          <p:nvPr/>
        </p:nvSpPr>
        <p:spPr>
          <a:xfrm>
            <a:off x="6281928" y="321868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1928" y="3218688"/>
            <a:ext cx="329184" cy="329184"/>
          </a:xfrm>
          <a:prstGeom prst="rect">
            <a:avLst/>
          </a:prstGeom>
          <a:noFill/>
        </p:spPr>
        <p:txBody>
          <a:bodyPr wrap="square" lIns="0" rIns="0" tIns="0" bIns="0" anchor="ctr">
            <a:spAutoFit/>
          </a:bodyPr>
          <a:lstStyle/>
          <a:p>
            <a:pPr algn="ctr"/>
            <a:r>
              <a:rPr sz="1300" b="1">
                <a:solidFill>
                  <a:srgbClr val="FFFFFF"/>
                </a:solidFill>
                <a:latin typeface="Calibri"/>
              </a:rPr>
              <a:t>7</a:t>
            </a:r>
          </a:p>
        </p:txBody>
      </p:sp>
      <p:sp>
        <p:nvSpPr>
          <p:cNvPr id="38" name="TextBox 37"/>
          <p:cNvSpPr txBox="1"/>
          <p:nvPr/>
        </p:nvSpPr>
        <p:spPr>
          <a:xfrm>
            <a:off x="6757416" y="3163824"/>
            <a:ext cx="3840480" cy="402336"/>
          </a:xfrm>
          <a:prstGeom prst="rect">
            <a:avLst/>
          </a:prstGeom>
          <a:noFill/>
        </p:spPr>
        <p:txBody>
          <a:bodyPr wrap="square" lIns="0" rIns="0" tIns="0" bIns="0" anchor="ctr">
            <a:spAutoFit/>
          </a:bodyPr>
          <a:lstStyle/>
          <a:p>
            <a:pPr algn="l"/>
            <a:r>
              <a:rPr sz="1500" b="1">
                <a:solidFill>
                  <a:srgbClr val="1F2933"/>
                </a:solidFill>
                <a:latin typeface="Calibri"/>
              </a:rPr>
              <a:t>System demonstration</a:t>
            </a:r>
          </a:p>
        </p:txBody>
      </p:sp>
      <p:sp>
        <p:nvSpPr>
          <p:cNvPr id="39" name="TextBox 38"/>
          <p:cNvSpPr txBox="1"/>
          <p:nvPr/>
        </p:nvSpPr>
        <p:spPr>
          <a:xfrm>
            <a:off x="10488167" y="3163824"/>
            <a:ext cx="1097280" cy="402336"/>
          </a:xfrm>
          <a:prstGeom prst="rect">
            <a:avLst/>
          </a:prstGeom>
          <a:noFill/>
        </p:spPr>
        <p:txBody>
          <a:bodyPr wrap="square" lIns="0" rIns="0" tIns="0" bIns="0" anchor="ctr">
            <a:spAutoFit/>
          </a:bodyPr>
          <a:lstStyle/>
          <a:p>
            <a:pPr algn="r"/>
            <a:r>
              <a:rPr sz="1200" b="0">
                <a:solidFill>
                  <a:srgbClr val="6B7785"/>
                </a:solidFill>
                <a:latin typeface="Calibri"/>
              </a:rPr>
              <a:t>19 to 22</a:t>
            </a:r>
          </a:p>
        </p:txBody>
      </p:sp>
      <p:sp>
        <p:nvSpPr>
          <p:cNvPr id="40" name="TextBox 39"/>
          <p:cNvSpPr txBox="1"/>
          <p:nvPr/>
        </p:nvSpPr>
        <p:spPr>
          <a:xfrm>
            <a:off x="6757416" y="3529584"/>
            <a:ext cx="4754880" cy="274320"/>
          </a:xfrm>
          <a:prstGeom prst="rect">
            <a:avLst/>
          </a:prstGeom>
          <a:noFill/>
        </p:spPr>
        <p:txBody>
          <a:bodyPr wrap="square" lIns="0" rIns="0" tIns="0" bIns="0" anchor="ctr">
            <a:spAutoFit/>
          </a:bodyPr>
          <a:lstStyle/>
          <a:p>
            <a:pPr algn="l"/>
            <a:r>
              <a:rPr sz="1050" b="0">
                <a:solidFill>
                  <a:srgbClr val="0F766E"/>
                </a:solidFill>
                <a:latin typeface="Calibri"/>
              </a:rPr>
              <a:t>CRISP-DM:  deployment</a:t>
            </a:r>
          </a:p>
        </p:txBody>
      </p:sp>
      <p:sp>
        <p:nvSpPr>
          <p:cNvPr id="41" name="Rounded Rectangle 40"/>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About 15 minutes. Risks are on slide 12, limitations on slide 17, references on slide 23. Slides 20 to 22 are shown only if the live demo fails.</a:t>
            </a:r>
          </a:p>
        </p:txBody>
      </p:sp>
      <p:sp>
        <p:nvSpPr>
          <p:cNvPr id="44" name="TextBox 37"/>
          <p:cNvSpPr txBox="1"/>
          <p:nvPr/>
        </p:nvSpPr>
        <p:spPr>
          <a:xfrm>
            <a:off x="6757416" y="4032504"/>
            <a:ext cx="4864608" cy="402336"/>
          </a:xfrm>
          <a:prstGeom prst="rect">
            <a:avLst/>
          </a:prstGeom>
          <a:noFill/>
        </p:spPr>
        <p:txBody>
          <a:bodyPr wrap="square" lIns="0" rIns="0" tIns="0" bIns="0" anchor="ctr">
            <a:spAutoFit/>
          </a:bodyPr>
          <a:lstStyle/>
          <a:p>
            <a:pPr algn="l"/>
            <a:r>
              <a:rPr sz="1500" b="1">
                <a:solidFill>
                  <a:srgbClr val="1F2933"/>
                </a:solidFill>
                <a:latin typeface="Calibri"/>
              </a:rPr>
              <a:t>Method: CRISP-DM, applied iteratively</a:t>
            </a:r>
          </a:p>
        </p:txBody>
      </p:sp>
      <p:sp>
        <p:nvSpPr>
          <p:cNvPr id="45" name="TextBox 39"/>
          <p:cNvSpPr txBox="1"/>
          <p:nvPr/>
        </p:nvSpPr>
        <p:spPr>
          <a:xfrm>
            <a:off x="6757416" y="4398264"/>
            <a:ext cx="4864608" cy="274320"/>
          </a:xfrm>
          <a:prstGeom prst="rect">
            <a:avLst/>
          </a:prstGeom>
          <a:noFill/>
        </p:spPr>
        <p:txBody>
          <a:bodyPr wrap="square" lIns="0" rIns="0" tIns="0" bIns="0" anchor="ctr">
            <a:spAutoFit/>
          </a:bodyPr>
          <a:lstStyle/>
          <a:p>
            <a:pPr algn="l"/>
            <a:r>
              <a:rPr sz="1050" b="0">
                <a:solidFill>
                  <a:srgbClr val="0F766E"/>
                </a:solidFill>
                <a:latin typeface="Calibri"/>
              </a:rPr>
              <a:t>The phase tracker on each slide shows where we are.</a:t>
            </a:r>
          </a:p>
        </p:txBody>
      </p:sp>
      <p:sp>
        <p:nvSpPr>
          <p:cNvPr id="46" name="TextBox 39"/>
          <p:cNvSpPr txBox="1"/>
          <p:nvPr/>
        </p:nvSpPr>
        <p:spPr>
          <a:xfrm>
            <a:off x="6757416" y="4672584"/>
            <a:ext cx="4864608" cy="274320"/>
          </a:xfrm>
          <a:prstGeom prst="rect">
            <a:avLst/>
          </a:prstGeom>
          <a:noFill/>
        </p:spPr>
        <p:txBody>
          <a:bodyPr wrap="square" lIns="0" rIns="0" tIns="0" bIns="0" anchor="ctr">
            <a:spAutoFit/>
          </a:bodyPr>
          <a:lstStyle/>
          <a:p>
            <a:pPr algn="l"/>
            <a:r>
              <a:rPr sz="1050" b="0">
                <a:solidFill>
                  <a:srgbClr val="0F766E"/>
                </a:solidFill>
                <a:latin typeface="Calibri"/>
              </a:rPr>
              <a:t>Evaluation twice sent the work back: to rebuild the test data, and to fix a timestamp bug.</a:t>
            </a:r>
          </a:p>
        </p:txBody>
      </p:sp>
      <p:sp>
        <p:nvSpPr>
          <p:cNvPr id="47" name="TextBox 29"/>
          <p:cNvSpPr txBox="1"/>
          <p:nvPr/>
        </p:nvSpPr>
        <p:spPr>
          <a:xfrm>
            <a:off x="566928" y="6144768"/>
            <a:ext cx="10140696" cy="274320"/>
          </a:xfrm>
          <a:prstGeom prst="rect">
            <a:avLst/>
          </a:prstGeom>
          <a:noFill/>
        </p:spPr>
        <p:txBody>
          <a:bodyPr wrap="square" lIns="0" rIns="0" tIns="0" bIns="0" anchor="ctr">
            <a:spAutoFit/>
          </a:bodyPr>
          <a:lstStyle/>
          <a:p>
            <a:pPr algn="l"/>
            <a:r>
              <a:rPr sz="1050" b="0">
                <a:solidFill>
                  <a:srgbClr val="6B7785"/>
                </a:solidFill>
                <a:latin typeface="Calibri"/>
              </a:rPr>
              <a:t>Method: Chapman et al. (2000) CRISP-DM 1.0, p. 10; Wirth and Hipp (2000), section 5; report section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BACKGROUND AND CONTEXT  ·  THE PROBLEM</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Rich timing data, almost entirely unused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4</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sp>
        <p:nvSpPr>
          <p:cNvPr id="6" name="Text 4"/>
          <p:cNvSpPr txBox="1"/>
          <p:nvPr/>
        </p:nvSpPr>
        <p:spPr>
          <a:xfrm>
            <a:off x="566928" y="1371600"/>
            <a:ext cx="6309360" cy="2377440"/>
          </a:xfrm>
          <a:prstGeom prst="rect">
            <a:avLst/>
          </a:prstGeom>
          <a:noFill/>
          <a:ln/>
        </p:spPr>
        <p:txBody>
          <a:bodyPr wrap="square" lIns="0" tIns="0" rIns="0" bIns="0" rtlCol="0" anchor="ctr"/>
          <a:lstStyle/>
          <a:p>
            <a:pPr indent="0" marL="0">
              <a:lnSpc>
                <a:spcPts val="2200"/>
              </a:lnSpc>
              <a:buNone/>
            </a:pPr>
            <a:r>
              <a:rPr lang="en-US" sz="1450" dirty="0">
                <a:solidFill>
                  <a:srgbClr val="1F2933"/>
                </a:solidFill>
                <a:latin typeface="Calibri" pitchFamily="34" charset="0"/>
                <a:ea typeface="Calibri" pitchFamily="34" charset="-122"/>
                <a:cs typeface="Calibri" pitchFamily="34" charset="-120"/>
              </a:rPr>
              <a:t>Every interview on SurveyCTO or ODK writes a timestamped event log: when each question opened, how long it took, when the enumerator navigated back. This is paradata, and survey methodology has shown for decades that fabrication, speeding and disengagement leave clear signatures in it.</a:t>
            </a:r>
            <a:endParaRPr lang="en-US" sz="1450" dirty="0"/>
          </a:p>
          <a:p>
            <a:pPr indent="0" marL="0">
              <a:lnSpc>
                <a:spcPts val="2200"/>
              </a:lnSpc>
              <a:buNone/>
            </a:pPr>
            <a:r>
              <a:rPr lang="en-US" sz="600" dirty="0">
                <a:solidFill>
                  <a:srgbClr val="1F2933"/>
                </a:solidFill>
                <a:latin typeface="Calibri" pitchFamily="34" charset="0"/>
                <a:ea typeface="Calibri" pitchFamily="34" charset="-122"/>
                <a:cs typeface="Calibri" pitchFamily="34" charset="-120"/>
              </a:rPr>
              <a:t> </a:t>
            </a:r>
            <a:endParaRPr lang="en-US" sz="1450" dirty="0"/>
          </a:p>
          <a:p>
            <a:pPr indent="0" marL="0">
              <a:lnSpc>
                <a:spcPts val="2200"/>
              </a:lnSpc>
              <a:buNone/>
            </a:pPr>
            <a:r>
              <a:rPr lang="en-US" sz="1450" dirty="0">
                <a:solidFill>
                  <a:srgbClr val="1F2933"/>
                </a:solidFill>
                <a:latin typeface="Calibri" pitchFamily="34" charset="0"/>
                <a:ea typeface="Calibri" pitchFamily="34" charset="-122"/>
                <a:cs typeface="Calibri" pitchFamily="34" charset="-120"/>
              </a:rPr>
              <a:t>It goes unused because the two platforms log differently, and because converting millions of raw event rows into defensible indicators is beyond most survey teams. Current practice falls back on total interview duration and manual back-checking.</a:t>
            </a:r>
            <a:endParaRPr lang="en-US" sz="1450" dirty="0"/>
          </a:p>
        </p:txBody>
      </p:sp>
      <p:sp>
        <p:nvSpPr>
          <p:cNvPr id="7" name="Shape 5"/>
          <p:cNvSpPr/>
          <p:nvPr/>
        </p:nvSpPr>
        <p:spPr>
          <a:xfrm>
            <a:off x="7178040" y="1371600"/>
            <a:ext cx="2286000" cy="1572768"/>
          </a:xfrm>
          <a:prstGeom prst="roundRect">
            <a:avLst>
              <a:gd name="adj" fmla="val 2907"/>
            </a:avLst>
          </a:prstGeom>
          <a:solidFill>
            <a:srgbClr val="EEF2F6"/>
          </a:solidFill>
          <a:ln w="12700">
            <a:solidFill>
              <a:srgbClr val="EEF2F6"/>
            </a:solidFill>
            <a:prstDash val="solid"/>
          </a:ln>
        </p:spPr>
        <p:txBody>
          <a:bodyPr/>
          <a:p/>
        </p:txBody>
      </p:sp>
      <p:sp>
        <p:nvSpPr>
          <p:cNvPr id="8" name="Text 6"/>
          <p:cNvSpPr txBox="1"/>
          <p:nvPr/>
        </p:nvSpPr>
        <p:spPr>
          <a:xfrm>
            <a:off x="7324344" y="1517904"/>
            <a:ext cx="1993392"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0.66</a:t>
            </a:r>
            <a:endParaRPr lang="en-US" sz="3400" dirty="0"/>
          </a:p>
        </p:txBody>
      </p:sp>
      <p:sp>
        <p:nvSpPr>
          <p:cNvPr id="9" name="Text 7"/>
          <p:cNvSpPr txBox="1"/>
          <p:nvPr/>
        </p:nvSpPr>
        <p:spPr>
          <a:xfrm>
            <a:off x="7324344" y="2286000"/>
            <a:ext cx="1993392"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recall of a duration-only</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check on my benchmark</a:t>
            </a:r>
            <a:endParaRPr lang="en-US" sz="1150" dirty="0"/>
          </a:p>
        </p:txBody>
      </p:sp>
      <p:sp>
        <p:nvSpPr>
          <p:cNvPr id="10" name="Shape 8"/>
          <p:cNvSpPr/>
          <p:nvPr/>
        </p:nvSpPr>
        <p:spPr>
          <a:xfrm>
            <a:off x="9646920" y="1371600"/>
            <a:ext cx="1975104" cy="1572768"/>
          </a:xfrm>
          <a:prstGeom prst="roundRect">
            <a:avLst>
              <a:gd name="adj" fmla="val 2907"/>
            </a:avLst>
          </a:prstGeom>
          <a:solidFill>
            <a:srgbClr val="EEF2F6"/>
          </a:solidFill>
          <a:ln w="12700">
            <a:solidFill>
              <a:srgbClr val="EEF2F6"/>
            </a:solidFill>
            <a:prstDash val="solid"/>
          </a:ln>
        </p:spPr>
        <p:txBody>
          <a:bodyPr/>
          <a:p/>
        </p:txBody>
      </p:sp>
      <p:sp>
        <p:nvSpPr>
          <p:cNvPr id="11" name="Text 9"/>
          <p:cNvSpPr txBox="1"/>
          <p:nvPr/>
        </p:nvSpPr>
        <p:spPr>
          <a:xfrm>
            <a:off x="9793224" y="1517904"/>
            <a:ext cx="1682496" cy="749808"/>
          </a:xfrm>
          <a:prstGeom prst="rect">
            <a:avLst/>
          </a:prstGeom>
          <a:noFill/>
          <a:ln/>
        </p:spPr>
        <p:txBody>
          <a:bodyPr wrap="square" lIns="0" tIns="0" rIns="0" bIns="0" rtlCol="0" anchor="ctr"/>
          <a:lstStyle/>
          <a:p>
            <a:pPr algn="ctr" indent="0" marL="0">
              <a:buNone/>
            </a:pPr>
            <a:r>
              <a:rPr lang="en-US" sz="3400" b="1" dirty="0">
                <a:solidFill>
                  <a:srgbClr val="B45309"/>
                </a:solidFill>
                <a:latin typeface="Cambria" pitchFamily="34" charset="0"/>
                <a:ea typeface="Cambria" pitchFamily="34" charset="-122"/>
                <a:cs typeface="Cambria" pitchFamily="34" charset="-120"/>
              </a:rPr>
              <a:t>34</a:t>
            </a:r>
            <a:endParaRPr lang="en-US" sz="3400" dirty="0"/>
          </a:p>
        </p:txBody>
      </p:sp>
      <p:sp>
        <p:nvSpPr>
          <p:cNvPr id="12" name="Text 10"/>
          <p:cNvSpPr txBox="1"/>
          <p:nvPr/>
        </p:nvSpPr>
        <p:spPr>
          <a:xfrm>
            <a:off x="9793224" y="2286000"/>
            <a:ext cx="1682496"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of 100 anomalies it</a:t>
            </a:r>
            <a:endParaRPr lang="en-US" sz="1150" dirty="0"/>
          </a:p>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misses entirely</a:t>
            </a:r>
            <a:endParaRPr lang="en-US" sz="1150" dirty="0"/>
          </a:p>
        </p:txBody>
      </p:sp>
      <p:sp>
        <p:nvSpPr>
          <p:cNvPr id="13" name="Text 11"/>
          <p:cNvSpPr txBox="1"/>
          <p:nvPr/>
        </p:nvSpPr>
        <p:spPr>
          <a:xfrm>
            <a:off x="7178040" y="3154680"/>
            <a:ext cx="4443984" cy="822960"/>
          </a:xfrm>
          <a:prstGeom prst="rect">
            <a:avLst/>
          </a:prstGeom>
          <a:noFill/>
          <a:ln/>
        </p:spPr>
        <p:txBody>
          <a:bodyPr wrap="square" lIns="0" tIns="0" rIns="0" bIns="0" rtlCol="0" anchor="ctr"/>
          <a:lstStyle/>
          <a:p>
            <a:pPr indent="0" marL="0">
              <a:lnSpc>
                <a:spcPts val="1800"/>
              </a:lnSpc>
              <a:buNone/>
            </a:pPr>
            <a:r>
              <a:rPr lang="en-US" sz="1250" dirty="0">
                <a:solidFill>
                  <a:srgbClr val="6B7785"/>
                </a:solidFill>
                <a:latin typeface="Calibri" pitchFamily="34" charset="0"/>
                <a:ea typeface="Calibri" pitchFamily="34" charset="-122"/>
                <a:cs typeface="Calibri" pitchFamily="34" charset="-120"/>
              </a:rPr>
              <a:t>Every one of those 34 has a total duration sitting inside the Tukey fences. Aggregate duration cannot see them.</a:t>
            </a:r>
            <a:endParaRPr lang="en-US" sz="1250" dirty="0"/>
          </a:p>
        </p:txBody>
      </p:sp>
      <p:sp>
        <p:nvSpPr>
          <p:cNvPr id="14" name="Shape 12"/>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5" name="Shape 13"/>
          <p:cNvSpPr/>
          <p:nvPr/>
        </p:nvSpPr>
        <p:spPr>
          <a:xfrm>
            <a:off x="694944" y="5568696"/>
            <a:ext cx="91440" cy="310896"/>
          </a:xfrm>
          <a:prstGeom prst="roundRect">
            <a:avLst>
              <a:gd name="adj" fmla="val 40000"/>
            </a:avLst>
          </a:prstGeom>
          <a:solidFill>
            <a:srgbClr val="B45309"/>
          </a:solidFill>
          <a:ln w="12700">
            <a:solidFill>
              <a:srgbClr val="B45309"/>
            </a:solidFill>
            <a:prstDash val="solid"/>
          </a:ln>
        </p:spPr>
        <p:txBody>
          <a:bodyPr/>
          <a:p/>
        </p:txBody>
      </p:sp>
      <p:sp>
        <p:nvSpPr>
          <p:cNvPr id="16" name="Text 14"/>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 third of bad interviews pass the check that field practice actually runs.</a:t>
            </a:r>
            <a:endParaRPr lang="en-US" sz="1350" dirty="0"/>
          </a:p>
        </p:txBody>
      </p:sp>
      <p:sp>
        <p:nvSpPr>
          <p:cNvPr id="17" name="Text 1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 output/examiner_audit/strict_examiner_audit_report.md, n500 SurveyCTO benchmark, 100 anomalies in 500 interviews.</a:t>
            </a:r>
            <a:endParaRPr lang="en-US" sz="1050" dirty="0"/>
          </a:p>
        </p:txBody>
      </p:sp>
      <p:sp>
        <p:nvSpPr>
          <p:cNvPr id="18" name="TextBox 17"/>
          <p:cNvSpPr txBox="1"/>
          <p:nvPr/>
        </p:nvSpPr>
        <p:spPr>
          <a:xfrm>
            <a:off x="566928" y="4206240"/>
            <a:ext cx="11055096" cy="822960"/>
          </a:xfrm>
          <a:prstGeom prst="rect">
            <a:avLst/>
          </a:prstGeom>
          <a:noFill/>
        </p:spPr>
        <p:txBody>
          <a:bodyPr wrap="square" lIns="0" rIns="0" tIns="0" bIns="0" anchor="t">
            <a:spAutoFit/>
          </a:bodyPr>
          <a:lstStyle/>
          <a:p>
            <a:pPr algn="l"/>
            <a:r>
              <a:rPr sz="1100" b="1">
                <a:solidFill>
                  <a:srgbClr val="0F766E"/>
                </a:solidFill>
                <a:latin typeface="Calibri"/>
              </a:rPr>
              <a:t>WHO IT IS FOR   </a:t>
            </a:r>
            <a:r>
              <a:rPr sz="1250" b="0">
                <a:solidFill>
                  <a:srgbClr val="3E4C55"/>
                </a:solidFill>
                <a:latin typeface="Calibri"/>
              </a:rPr>
              <a:t>Survey teams and field supervisors running SurveyCTO or ODK surveys, and researchers reusing the feature library. The enumerators whose work a flag concerns are stakeholders too, which is why every flag has to be explainable.</a:t>
            </a:r>
          </a:p>
        </p:txBody>
      </p:sp>
      <p:sp>
        <p:nvSpPr>
          <p:cNvPr id="19" name="Rounded Rectangle 18"/>
          <p:cNvSpPr/>
          <p:nvPr/>
        </p:nvSpPr>
        <p:spPr>
          <a:xfrm>
            <a:off x="5641848" y="365760"/>
            <a:ext cx="129844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41848" y="365760"/>
            <a:ext cx="1298448" cy="246888"/>
          </a:xfrm>
          <a:prstGeom prst="rect">
            <a:avLst/>
          </a:prstGeom>
          <a:noFill/>
        </p:spPr>
        <p:txBody>
          <a:bodyPr wrap="square" lIns="0" rIns="0" tIns="0" bIns="0" anchor="ctr">
            <a:spAutoFit/>
          </a:bodyPr>
          <a:lstStyle/>
          <a:p>
            <a:pPr algn="ctr"/>
            <a:r>
              <a:rPr sz="850" b="1">
                <a:solidFill>
                  <a:srgbClr val="FFFFFF"/>
                </a:solidFill>
                <a:latin typeface="Calibri"/>
              </a:rPr>
              <a:t>Business understanding</a:t>
            </a:r>
          </a:p>
        </p:txBody>
      </p:sp>
      <p:sp>
        <p:nvSpPr>
          <p:cNvPr id="21" name="Rounded Rectangle 20"/>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23" name="Rounded Rectangle 22"/>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25" name="Rounded Rectangle 24"/>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7" name="Rounded Rectangle 26"/>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29" name="Rounded Rectangle 28"/>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SCOPE</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Aim and six objectives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sp>
        <p:nvSpPr>
          <p:cNvPr id="6" name="Shape 4"/>
          <p:cNvSpPr/>
          <p:nvPr/>
        </p:nvSpPr>
        <p:spPr>
          <a:xfrm>
            <a:off x="566928" y="1371600"/>
            <a:ext cx="11055096" cy="786384"/>
          </a:xfrm>
          <a:prstGeom prst="roundRect">
            <a:avLst>
              <a:gd name="adj" fmla="val 5814"/>
            </a:avLst>
          </a:prstGeom>
          <a:solidFill>
            <a:srgbClr val="EEF2F6"/>
          </a:solidFill>
          <a:ln w="12700">
            <a:solidFill>
              <a:srgbClr val="EEF2F6"/>
            </a:solidFill>
            <a:prstDash val="solid"/>
          </a:ln>
        </p:spPr>
        <p:txBody>
          <a:bodyPr/>
          <a:p/>
        </p:txBody>
      </p:sp>
      <p:sp>
        <p:nvSpPr>
          <p:cNvPr id="7" name="Text 5"/>
          <p:cNvSpPr txBox="1"/>
          <p:nvPr/>
        </p:nvSpPr>
        <p:spPr>
          <a:xfrm>
            <a:off x="841248" y="1444752"/>
            <a:ext cx="10506456" cy="640080"/>
          </a:xfrm>
          <a:prstGeom prst="rect">
            <a:avLst/>
          </a:prstGeom>
          <a:noFill/>
          <a:ln/>
        </p:spPr>
        <p:txBody>
          <a:bodyPr wrap="square" lIns="0" tIns="0" rIns="0" bIns="0" rtlCol="0" anchor="ctr"/>
          <a:lstStyle/>
          <a:p>
            <a:pPr indent="0" marL="0">
              <a:lnSpc>
                <a:spcPts val="1900"/>
              </a:lnSpc>
              <a:buNone/>
            </a:pPr>
            <a:r>
              <a:rPr lang="en-US" sz="1350" b="1" dirty="0">
                <a:solidFill>
                  <a:srgbClr val="0F766E"/>
                </a:solidFill>
                <a:latin typeface="Calibri" pitchFamily="34" charset="0"/>
                <a:ea typeface="Calibri" pitchFamily="34" charset="-122"/>
                <a:cs typeface="Calibri" pitchFamily="34" charset="-120"/>
              </a:rPr>
              <a:t>Aim.  </a:t>
            </a:r>
            <a:pPr indent="0" marL="0">
              <a:lnSpc>
                <a:spcPts val="1900"/>
              </a:lnSpc>
              <a:buNone/>
            </a:pPr>
            <a:r>
              <a:rPr lang="en-US" sz="1350" dirty="0">
                <a:solidFill>
                  <a:srgbClr val="1F2933"/>
                </a:solidFill>
                <a:latin typeface="Calibri" pitchFamily="34" charset="0"/>
                <a:ea typeface="Calibri" pitchFamily="34" charset="-122"/>
                <a:cs typeface="Calibri" pitchFamily="34" charset="-120"/>
              </a:rPr>
              <a:t>Design and implement an automated pipeline that extracts, catalogues and analyses timing-based paradata features from SurveyCTO and ODK audit logs, to support scalable survey data quality assessment.</a:t>
            </a:r>
            <a:endParaRPr lang="en-US" sz="1350" dirty="0"/>
          </a:p>
        </p:txBody>
      </p:sp>
      <p:sp>
        <p:nvSpPr>
          <p:cNvPr id="8" name="Shape 6"/>
          <p:cNvSpPr/>
          <p:nvPr/>
        </p:nvSpPr>
        <p:spPr>
          <a:xfrm>
            <a:off x="566928" y="2459736"/>
            <a:ext cx="329184" cy="329184"/>
          </a:xfrm>
          <a:prstGeom prst="ellipse">
            <a:avLst/>
          </a:prstGeom>
          <a:solidFill>
            <a:srgbClr val="0F766E"/>
          </a:solidFill>
          <a:ln w="12700">
            <a:solidFill>
              <a:srgbClr val="0F766E"/>
            </a:solidFill>
            <a:prstDash val="solid"/>
          </a:ln>
        </p:spPr>
        <p:txBody>
          <a:bodyPr/>
          <a:p/>
        </p:txBody>
      </p:sp>
      <p:sp>
        <p:nvSpPr>
          <p:cNvPr id="9" name="Text 7"/>
          <p:cNvSpPr txBox="1"/>
          <p:nvPr/>
        </p:nvSpPr>
        <p:spPr>
          <a:xfrm>
            <a:off x="566928" y="2459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042416" y="2423160"/>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Catalogue timing-based quality indicators from the survey methodology literature</a:t>
            </a:r>
            <a:endParaRPr lang="en-US" sz="1300" dirty="0"/>
          </a:p>
        </p:txBody>
      </p:sp>
      <p:sp>
        <p:nvSpPr>
          <p:cNvPr id="11" name="Shape 9"/>
          <p:cNvSpPr/>
          <p:nvPr/>
        </p:nvSpPr>
        <p:spPr>
          <a:xfrm>
            <a:off x="566928" y="3172968"/>
            <a:ext cx="329184" cy="329184"/>
          </a:xfrm>
          <a:prstGeom prst="ellipse">
            <a:avLst/>
          </a:prstGeom>
          <a:solidFill>
            <a:srgbClr val="0F766E"/>
          </a:solidFill>
          <a:ln w="12700">
            <a:solidFill>
              <a:srgbClr val="0F766E"/>
            </a:solidFill>
            <a:prstDash val="solid"/>
          </a:ln>
        </p:spPr>
        <p:txBody>
          <a:bodyPr/>
          <a:p/>
        </p:txBody>
      </p:sp>
      <p:sp>
        <p:nvSpPr>
          <p:cNvPr id="12" name="Text 10"/>
          <p:cNvSpPr txBox="1"/>
          <p:nvPr/>
        </p:nvSpPr>
        <p:spPr>
          <a:xfrm>
            <a:off x="56692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042416" y="3136392"/>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Build format-aware parsers producing a common intermediate representation</a:t>
            </a:r>
            <a:endParaRPr lang="en-US" sz="1300" dirty="0"/>
          </a:p>
        </p:txBody>
      </p:sp>
      <p:sp>
        <p:nvSpPr>
          <p:cNvPr id="14" name="Shape 12"/>
          <p:cNvSpPr/>
          <p:nvPr/>
        </p:nvSpPr>
        <p:spPr>
          <a:xfrm>
            <a:off x="566928" y="3886200"/>
            <a:ext cx="329184" cy="329184"/>
          </a:xfrm>
          <a:prstGeom prst="ellipse">
            <a:avLst/>
          </a:prstGeom>
          <a:solidFill>
            <a:srgbClr val="0F766E"/>
          </a:solidFill>
          <a:ln w="12700">
            <a:solidFill>
              <a:srgbClr val="0F766E"/>
            </a:solidFill>
            <a:prstDash val="solid"/>
          </a:ln>
        </p:spPr>
        <p:txBody>
          <a:bodyPr/>
          <a:p/>
        </p:txBody>
      </p:sp>
      <p:sp>
        <p:nvSpPr>
          <p:cNvPr id="15" name="Text 13"/>
          <p:cNvSpPr txBox="1"/>
          <p:nvPr/>
        </p:nvSpPr>
        <p:spPr>
          <a:xfrm>
            <a:off x="566928" y="3886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042416" y="3849624"/>
            <a:ext cx="4919472" cy="658368"/>
          </a:xfrm>
          <a:prstGeom prst="rect">
            <a:avLst/>
          </a:prstGeom>
          <a:noFill/>
          <a:ln/>
        </p:spPr>
        <p:txBody>
          <a:bodyPr wrap="square" lIns="0" tIns="0" rIns="0" bIns="0" rtlCol="0" anchor="t"/>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Implement 30 to 50 timing features across question, section and survey levels</a:t>
            </a:r>
            <a:endParaRPr lang="en-US" sz="1300" dirty="0"/>
          </a:p>
        </p:txBody>
      </p:sp>
      <p:sp>
        <p:nvSpPr>
          <p:cNvPr id="17" name="Shape 15"/>
          <p:cNvSpPr/>
          <p:nvPr/>
        </p:nvSpPr>
        <p:spPr>
          <a:xfrm>
            <a:off x="6419088" y="2459736"/>
            <a:ext cx="329184" cy="329184"/>
          </a:xfrm>
          <a:prstGeom prst="ellipse">
            <a:avLst/>
          </a:prstGeom>
          <a:solidFill>
            <a:srgbClr val="0F766E"/>
          </a:solidFill>
          <a:ln w="12700">
            <a:solidFill>
              <a:srgbClr val="0F766E"/>
            </a:solidFill>
            <a:prstDash val="solid"/>
          </a:ln>
        </p:spPr>
        <p:txBody>
          <a:bodyPr/>
          <a:p/>
        </p:txBody>
      </p:sp>
      <p:sp>
        <p:nvSpPr>
          <p:cNvPr id="18" name="Text 16"/>
          <p:cNvSpPr txBox="1"/>
          <p:nvPr/>
        </p:nvSpPr>
        <p:spPr>
          <a:xfrm>
            <a:off x="6419088" y="24597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6894576" y="2423160"/>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Compute statistical measures: variance, entropy, skewness, kurtosis</a:t>
            </a:r>
            <a:endParaRPr lang="en-US" sz="1300" dirty="0"/>
          </a:p>
        </p:txBody>
      </p:sp>
      <p:sp>
        <p:nvSpPr>
          <p:cNvPr id="20" name="Shape 18"/>
          <p:cNvSpPr/>
          <p:nvPr/>
        </p:nvSpPr>
        <p:spPr>
          <a:xfrm>
            <a:off x="6419088" y="3172968"/>
            <a:ext cx="329184" cy="329184"/>
          </a:xfrm>
          <a:prstGeom prst="ellipse">
            <a:avLst/>
          </a:prstGeom>
          <a:solidFill>
            <a:srgbClr val="0F766E"/>
          </a:solidFill>
          <a:ln w="12700">
            <a:solidFill>
              <a:srgbClr val="0F766E"/>
            </a:solidFill>
            <a:prstDash val="solid"/>
          </a:ln>
        </p:spPr>
        <p:txBody>
          <a:bodyPr/>
          <a:p/>
        </p:txBody>
      </p:sp>
      <p:sp>
        <p:nvSpPr>
          <p:cNvPr id="21" name="Text 19"/>
          <p:cNvSpPr txBox="1"/>
          <p:nvPr/>
        </p:nvSpPr>
        <p:spPr>
          <a:xfrm>
            <a:off x="6419088" y="317296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6894576" y="3136392"/>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Detect anomalies with IQR fences plus rules, validated on precision and recall</a:t>
            </a:r>
            <a:endParaRPr lang="en-US" sz="1300" dirty="0"/>
          </a:p>
        </p:txBody>
      </p:sp>
      <p:sp>
        <p:nvSpPr>
          <p:cNvPr id="23" name="Shape 21"/>
          <p:cNvSpPr/>
          <p:nvPr/>
        </p:nvSpPr>
        <p:spPr>
          <a:xfrm>
            <a:off x="6419088" y="3886200"/>
            <a:ext cx="329184" cy="329184"/>
          </a:xfrm>
          <a:prstGeom prst="ellipse">
            <a:avLst/>
          </a:prstGeom>
          <a:solidFill>
            <a:srgbClr val="0F766E"/>
          </a:solidFill>
          <a:ln w="12700">
            <a:solidFill>
              <a:srgbClr val="0F766E"/>
            </a:solidFill>
            <a:prstDash val="solid"/>
          </a:ln>
        </p:spPr>
        <p:txBody>
          <a:bodyPr/>
          <a:p/>
        </p:txBody>
      </p:sp>
      <p:sp>
        <p:nvSpPr>
          <p:cNvPr id="24" name="Text 22"/>
          <p:cNvSpPr txBox="1"/>
          <p:nvPr/>
        </p:nvSpPr>
        <p:spPr>
          <a:xfrm>
            <a:off x="6419088" y="3886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5" name="Text 23"/>
          <p:cNvSpPr txBox="1"/>
          <p:nvPr/>
        </p:nvSpPr>
        <p:spPr>
          <a:xfrm>
            <a:off x="6894576" y="3849624"/>
            <a:ext cx="4937760" cy="658368"/>
          </a:xfrm>
          <a:prstGeom prst="rect">
            <a:avLst/>
          </a:prstGeom>
          <a:noFill/>
          <a:ln/>
        </p:spPr>
        <p:txBody>
          <a:bodyPr wrap="square" lIns="0" tIns="0" rIns="0" bIns="0" rtlCol="0" anchor="ctr"/>
          <a:lstStyle/>
          <a:p>
            <a:pPr indent="0" marL="0">
              <a:lnSpc>
                <a:spcPts val="1700"/>
              </a:lnSpc>
              <a:buNone/>
            </a:pPr>
            <a:r>
              <a:rPr lang="en-US" sz="1300" dirty="0">
                <a:solidFill>
                  <a:srgbClr val="1F2933"/>
                </a:solidFill>
                <a:latin typeface="Calibri" pitchFamily="34" charset="0"/>
                <a:ea typeface="Calibri" pitchFamily="34" charset="-122"/>
                <a:cs typeface="Calibri" pitchFamily="34" charset="-120"/>
              </a:rPr>
              <a:t>Deliver structured outputs, feature documentation and a paradata format guide</a:t>
            </a:r>
            <a:endParaRPr lang="en-US" sz="1300" dirty="0"/>
          </a:p>
        </p:txBody>
      </p:sp>
      <p:sp>
        <p:nvSpPr>
          <p:cNvPr id="26" name="Shape 24"/>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7" name="Shape 25"/>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8" name="Text 26"/>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Five of the six are met in full. Objective 2 is met for the two synthetic formats and only in part for native exports.</a:t>
            </a:r>
          </a:p>
        </p:txBody>
      </p:sp>
      <p:sp>
        <p:nvSpPr>
          <p:cNvPr id="29" name="Rounded Rectangle 28"/>
          <p:cNvSpPr/>
          <p:nvPr/>
        </p:nvSpPr>
        <p:spPr>
          <a:xfrm>
            <a:off x="5641848" y="365760"/>
            <a:ext cx="129844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41848" y="365760"/>
            <a:ext cx="1298448" cy="246888"/>
          </a:xfrm>
          <a:prstGeom prst="rect">
            <a:avLst/>
          </a:prstGeom>
          <a:noFill/>
        </p:spPr>
        <p:txBody>
          <a:bodyPr wrap="square" lIns="0" rIns="0" tIns="0" bIns="0" anchor="ctr">
            <a:spAutoFit/>
          </a:bodyPr>
          <a:lstStyle/>
          <a:p>
            <a:pPr algn="ctr"/>
            <a:r>
              <a:rPr sz="850" b="1">
                <a:solidFill>
                  <a:srgbClr val="FFFFFF"/>
                </a:solidFill>
                <a:latin typeface="Calibri"/>
              </a:rPr>
              <a:t>Business understanding</a:t>
            </a:r>
          </a:p>
        </p:txBody>
      </p:sp>
      <p:sp>
        <p:nvSpPr>
          <p:cNvPr id="31" name="Rounded Rectangle 30"/>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33" name="Rounded Rectangle 32"/>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35" name="Rounded Rectangle 34"/>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37" name="Rounded Rectangle 36"/>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39" name="Rounded Rectangle 38"/>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7</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Final Year Project • Academic Year 2026</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DATA UNDERSTANDING  ·  SYNTHETIC DATA</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What the four profiles look like</a:t>
            </a:r>
          </a:p>
        </p:txBody>
      </p:sp>
      <p:graphicFrame>
        <p:nvGraphicFramePr>
          <p:cNvPr id="6" name="Chart 5"/>
          <p:cNvGraphicFramePr>
            <a:graphicFrameLocks noGrp="1"/>
          </p:cNvGraphicFramePr>
          <p:nvPr/>
        </p:nvGraphicFramePr>
        <p:xfrm>
          <a:off x="566928" y="1325880"/>
          <a:ext cx="7040880" cy="3611880"/>
        </p:xfrm>
        <a:graphic>
          <a:graphicData uri="http://schemas.openxmlformats.org/drawingml/2006/chart">
            <c:chart xmlns:c="http://schemas.openxmlformats.org/drawingml/2006/chart" r:id="rId2"/>
          </a:graphicData>
        </a:graphic>
      </p:graphicFrame>
      <p:sp>
        <p:nvSpPr>
          <p:cNvPr id="7" name="TextBox 6"/>
          <p:cNvSpPr txBox="1"/>
          <p:nvPr/>
        </p:nvSpPr>
        <p:spPr>
          <a:xfrm>
            <a:off x="7863840" y="1371600"/>
            <a:ext cx="3758184" cy="365760"/>
          </a:xfrm>
          <a:prstGeom prst="rect">
            <a:avLst/>
          </a:prstGeom>
          <a:noFill/>
        </p:spPr>
        <p:txBody>
          <a:bodyPr wrap="square" lIns="36576" rIns="36576" tIns="18288" bIns="18288" anchor="t">
            <a:spAutoFit/>
          </a:bodyPr>
          <a:lstStyle/>
          <a:p>
            <a:pPr algn="l">
              <a:spcAft>
                <a:spcPts val="400"/>
              </a:spcAft>
            </a:pPr>
            <a:r>
              <a:rPr sz="1400" b="1" i="0">
                <a:solidFill>
                  <a:srgbClr val="1F2933"/>
                </a:solidFill>
                <a:latin typeface="Calibri"/>
              </a:rPr>
              <a:t>Canonical profiles, cleanly separated</a:t>
            </a:r>
          </a:p>
        </p:txBody>
      </p:sp>
      <p:sp>
        <p:nvSpPr>
          <p:cNvPr id="8" name="TextBox 7"/>
          <p:cNvSpPr txBox="1"/>
          <p:nvPr/>
        </p:nvSpPr>
        <p:spPr>
          <a:xfrm>
            <a:off x="7863840" y="1783080"/>
            <a:ext cx="3758184" cy="3200400"/>
          </a:xfrm>
          <a:prstGeom prst="rect">
            <a:avLst/>
          </a:prstGeom>
          <a:noFill/>
        </p:spPr>
        <p:txBody>
          <a:bodyPr wrap="square" lIns="36576" rIns="36576" tIns="18288" bIns="18288" anchor="t">
            <a:spAutoFit/>
          </a:bodyPr>
          <a:lstStyle/>
          <a:p>
            <a:pPr algn="l">
              <a:spcAft>
                <a:spcPts val="800"/>
              </a:spcAft>
            </a:pPr>
            <a:r>
              <a:rPr sz="1150" b="0" i="0">
                <a:solidFill>
                  <a:srgbClr val="1F2933"/>
                </a:solidFill>
                <a:latin typeface="Calibri"/>
              </a:rPr>
              <a:t>Genuine interviews centre on about 8 s per question, scaled by question complexity, with about two back-navigations.</a:t>
            </a:r>
          </a:p>
          <a:p>
            <a:pPr algn="l">
              <a:spcAft>
                <a:spcPts val="800"/>
              </a:spcAft>
            </a:pPr>
            <a:r>
              <a:rPr sz="1150" b="0" i="0">
                <a:solidFill>
                  <a:srgbClr val="1F2933"/>
                </a:solidFill>
                <a:latin typeface="Calibri"/>
              </a:rPr>
              <a:t>Fabrications are flat at 1.2 s ± 0.08 s whatever the question, with no back-navigation.</a:t>
            </a:r>
          </a:p>
          <a:p>
            <a:pPr algn="l">
              <a:spcAft>
                <a:spcPts val="800"/>
              </a:spcAft>
            </a:pPr>
            <a:r>
              <a:rPr sz="1150" b="0" i="0">
                <a:solidFill>
                  <a:srgbClr val="1F2933"/>
                </a:solidFill>
                <a:latin typeface="Calibri"/>
              </a:rPr>
              <a:t>Speeders answer every question in 0.2 to 0.8 s.</a:t>
            </a:r>
          </a:p>
          <a:p>
            <a:pPr algn="l">
              <a:spcAft>
                <a:spcPts val="800"/>
              </a:spcAft>
            </a:pPr>
            <a:r>
              <a:rPr sz="1150" b="0" i="0">
                <a:solidFill>
                  <a:srgbClr val="1F2933"/>
                </a:solidFill>
                <a:latin typeface="Calibri"/>
              </a:rPr>
              <a:t>Disengaged interviews are slow but just as flat, at 6.0 s ± 0.2 s, with six to ten back-navigations.</a:t>
            </a:r>
          </a:p>
        </p:txBody>
      </p:sp>
      <p:sp>
        <p:nvSpPr>
          <p:cNvPr id="9" name="Rectangle 8"/>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4944" y="5248655"/>
            <a:ext cx="91440" cy="31089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Canonical data checks that the pipeline works. The reported results come from stress data on held-out seeds 7 and 99, where the profiles overlap.</a:t>
            </a:r>
          </a:p>
        </p:txBody>
      </p:sp>
      <p:sp>
        <p:nvSpPr>
          <p:cNvPr id="12" name="TextBox 11"/>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Chart: Q-01 per question for four generated interviews, one per profile, canonical n500 benchmark, output/robustness_validation/question_features_benchmark_n500_surveycto.csv.</a:t>
            </a:r>
          </a:p>
        </p:txBody>
      </p:sp>
      <p:sp>
        <p:nvSpPr>
          <p:cNvPr id="13" name="Rounded Rectangle 12"/>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5" name="Rounded Rectangle 14"/>
          <p:cNvSpPr/>
          <p:nvPr/>
        </p:nvSpPr>
        <p:spPr>
          <a:xfrm>
            <a:off x="6995160" y="365760"/>
            <a:ext cx="111556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65760"/>
            <a:ext cx="1115568" cy="246888"/>
          </a:xfrm>
          <a:prstGeom prst="rect">
            <a:avLst/>
          </a:prstGeom>
          <a:noFill/>
        </p:spPr>
        <p:txBody>
          <a:bodyPr wrap="square" lIns="0" rIns="0" tIns="0" bIns="0" anchor="ctr">
            <a:spAutoFit/>
          </a:bodyPr>
          <a:lstStyle/>
          <a:p>
            <a:pPr algn="ctr"/>
            <a:r>
              <a:rPr sz="850" b="1">
                <a:solidFill>
                  <a:srgbClr val="FFFFFF"/>
                </a:solidFill>
                <a:latin typeface="Calibri"/>
              </a:rPr>
              <a:t>Data understanding</a:t>
            </a:r>
          </a:p>
        </p:txBody>
      </p:sp>
      <p:sp>
        <p:nvSpPr>
          <p:cNvPr id="17" name="Rounded Rectangle 16"/>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19" name="Rounded Rectangle 18"/>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1" name="Rounded Rectangle 20"/>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23" name="Rounded Rectangle 22"/>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SYSTEM ARCHITECTURE AND COMPONENTS  ·  CHAPTERS 3 AND 4</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Five layers, one contract between them</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8</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pic>
        <p:nvPicPr>
          <p:cNvPr id="6" name="Image 0" descr="C:\Users\Samuel\Desktop\4th year\Final year project\SKACE-Time-Data\report\figures\figure1_architecture.png">    </p:cNvPr>
          <p:cNvPicPr>
            <a:picLocks noChangeAspect="1"/>
          </p:cNvPicPr>
          <p:nvPr/>
        </p:nvPicPr>
        <p:blipFill>
          <a:blip r:embed="rId1"/>
          <a:stretch>
            <a:fillRect/>
          </a:stretch>
        </p:blipFill>
        <p:spPr>
          <a:xfrm>
            <a:off x="3877056" y="1170432"/>
            <a:ext cx="4590288" cy="3657600"/>
          </a:xfrm>
          <a:prstGeom prst="rect">
            <a:avLst/>
          </a:prstGeom>
        </p:spPr>
      </p:pic>
      <p:sp>
        <p:nvSpPr>
          <p:cNvPr id="7" name="Text 4"/>
          <p:cNvSpPr txBox="1"/>
          <p:nvPr/>
        </p:nvSpPr>
        <p:spPr>
          <a:xfrm>
            <a:off x="566928" y="1371600"/>
            <a:ext cx="3154680" cy="3566160"/>
          </a:xfrm>
          <a:prstGeom prst="rect">
            <a:avLst/>
          </a:prstGeom>
          <a:noFill/>
          <a:ln/>
        </p:spPr>
        <p:txBody>
          <a:bodyPr wrap="square" lIns="0" tIns="0" rIns="0" bIns="0" rtlCol="0" anchor="ctr"/>
          <a:lstStyle/>
          <a:p>
            <a:pPr indent="0" marL="0">
              <a:lnSpc>
                <a:spcPts val="1750"/>
              </a:lnSpc>
              <a:buNone/>
            </a:pPr>
            <a:r>
              <a:rPr lang="en-US" sz="1250" b="1" dirty="0">
                <a:solidFill>
                  <a:srgbClr val="1F2933"/>
                </a:solidFill>
                <a:latin typeface="Calibri" pitchFamily="34" charset="0"/>
                <a:ea typeface="Calibri" pitchFamily="34" charset="-122"/>
                <a:cs typeface="Calibri" pitchFamily="34" charset="-120"/>
              </a:rPr>
              <a:t>The intermediate representation is the only contract between parsing and everything above it.</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SurveyCTO exports epoch milliseconds against XPath node ids. ODK exports ISO 8601 strings against instance and name columns. Both reduce to the same six columns: interview id, field name, event type, start, end and duration in milliseconds.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Because nothing above layer 2 knows which platform produced a row, the same detector runs unmodified on both, and adding a platform is a parser and no more.</a:t>
            </a:r>
            <a:endParaRPr lang="en-US" sz="1250" dirty="0"/>
          </a:p>
        </p:txBody>
      </p:sp>
      <p:sp>
        <p:nvSpPr>
          <p:cNvPr id="8" name="Text 5"/>
          <p:cNvSpPr txBox="1"/>
          <p:nvPr/>
        </p:nvSpPr>
        <p:spPr>
          <a:xfrm>
            <a:off x="8686800" y="1371600"/>
            <a:ext cx="2935224" cy="2377440"/>
          </a:xfrm>
          <a:prstGeom prst="rect">
            <a:avLst/>
          </a:prstGeom>
          <a:noFill/>
          <a:ln/>
        </p:spPr>
        <p:txBody>
          <a:bodyPr wrap="square" lIns="0" tIns="0" rIns="0" bIns="0" rtlCol="0" anchor="ctr"/>
          <a:lstStyle/>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Modules.</a:t>
            </a:r>
            <a:endParaRPr lang="en-US" sz="1200" dirty="0"/>
          </a:p>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src/parsers  </a:t>
            </a:r>
            <a:r>
              <a:rPr lang="en-US" sz="1200" dirty="0" b="0">
                <a:solidFill>
                  <a:srgbClr val="1F2933"/>
                </a:solidFill>
                <a:latin typeface="Calibri" pitchFamily="34" charset="0"/>
                <a:ea typeface="Calibri" pitchFamily="34" charset="-122"/>
                <a:cs typeface="Calibri" pitchFamily="34" charset="-120"/>
              </a:rPr>
              <a:t>SurveyCTO and ODK parsers into the intermediate representation</a:t>
            </a:r>
            <a:endParaRPr lang="en-US" sz="1200" dirty="0"/>
          </a:p>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src/features  </a:t>
            </a:r>
            <a:r>
              <a:rPr lang="en-US" sz="1200" dirty="0" b="0">
                <a:solidFill>
                  <a:srgbClr val="1F2933"/>
                </a:solidFill>
                <a:latin typeface="Calibri" pitchFamily="34" charset="0"/>
                <a:ea typeface="Calibri" pitchFamily="34" charset="-122"/>
                <a:cs typeface="Calibri" pitchFamily="34" charset="-120"/>
              </a:rPr>
              <a:t>question, section, survey and statistical extractors</a:t>
            </a:r>
            <a:endParaRPr lang="en-US" sz="1200" dirty="0"/>
          </a:p>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src/validation  </a:t>
            </a:r>
            <a:r>
              <a:rPr lang="en-US" sz="1200" dirty="0" b="0">
                <a:solidFill>
                  <a:srgbClr val="1F2933"/>
                </a:solidFill>
                <a:latin typeface="Calibri" pitchFamily="34" charset="0"/>
                <a:ea typeface="Calibri" pitchFamily="34" charset="-122"/>
                <a:cs typeface="Calibri" pitchFamily="34" charset="-120"/>
              </a:rPr>
              <a:t>detector, configuration and evaluation reporting</a:t>
            </a:r>
            <a:endParaRPr lang="en-US" sz="1200" dirty="0"/>
          </a:p>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src/pipeline  </a:t>
            </a:r>
            <a:r>
              <a:rPr lang="en-US" sz="1200" dirty="0" b="0">
                <a:solidFill>
                  <a:srgbClr val="1F2933"/>
                </a:solidFill>
                <a:latin typeface="Calibri" pitchFamily="34" charset="0"/>
                <a:ea typeface="Calibri" pitchFamily="34" charset="-122"/>
                <a:cs typeface="Calibri" pitchFamily="34" charset="-120"/>
              </a:rPr>
              <a:t>the controller that runs the batch</a:t>
            </a:r>
            <a:endParaRPr lang="en-US" sz="1200" dirty="0"/>
          </a:p>
          <a:p>
            <a:pPr indent="0" marL="0">
              <a:lnSpc>
                <a:spcPts val="1700"/>
              </a:lnSpc>
              <a:buNone/>
            </a:pPr>
            <a:r>
              <a:rPr lang="en-US" sz="1200" b="1" dirty="0">
                <a:solidFill>
                  <a:srgbClr val="0F766E"/>
                </a:solidFill>
                <a:latin typeface="Calibri" pitchFamily="34" charset="0"/>
                <a:ea typeface="Calibri" pitchFamily="34" charset="-122"/>
                <a:cs typeface="Calibri" pitchFamily="34" charset="-120"/>
              </a:rPr>
              <a:t>run_pipeline.py  </a:t>
            </a:r>
            <a:r>
              <a:rPr lang="en-US" sz="1200" dirty="0" b="0">
                <a:solidFill>
                  <a:srgbClr val="1F2933"/>
                </a:solidFill>
                <a:latin typeface="Calibri" pitchFamily="34" charset="0"/>
                <a:ea typeface="Calibri" pitchFamily="34" charset="-122"/>
                <a:cs typeface="Calibri" pitchFamily="34" charset="-120"/>
              </a:rPr>
              <a:t>the one command a user runs</a:t>
            </a:r>
            <a:endParaRPr lang="en-US" sz="1200" dirty="0"/>
          </a:p>
        </p:txBody>
      </p:sp>
      <p:sp>
        <p:nvSpPr>
          <p:cNvPr id="9" name="Shape 6"/>
          <p:cNvSpPr/>
          <p:nvPr/>
        </p:nvSpPr>
        <p:spPr>
          <a:xfrm>
            <a:off x="566928" y="5138928"/>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0" name="Shape 7"/>
          <p:cNvSpPr/>
          <p:nvPr/>
        </p:nvSpPr>
        <p:spPr>
          <a:xfrm>
            <a:off x="694944" y="5266944"/>
            <a:ext cx="91440" cy="310896"/>
          </a:xfrm>
          <a:prstGeom prst="roundRect">
            <a:avLst>
              <a:gd name="adj" fmla="val 40000"/>
            </a:avLst>
          </a:prstGeom>
          <a:solidFill>
            <a:srgbClr val="0F766E"/>
          </a:solidFill>
          <a:ln w="12700">
            <a:solidFill>
              <a:srgbClr val="0F766E"/>
            </a:solidFill>
            <a:prstDash val="solid"/>
          </a:ln>
        </p:spPr>
        <p:txBody>
          <a:bodyPr/>
          <a:p/>
        </p:txBody>
      </p:sp>
      <p:sp>
        <p:nvSpPr>
          <p:cNvPr id="11" name="Text 8"/>
          <p:cNvSpPr txBox="1"/>
          <p:nvPr/>
        </p:nvSpPr>
        <p:spPr>
          <a:xfrm>
            <a:off x="932688" y="5184648"/>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Cross-format parity is a result, not an assumption: the same detector scores 1.0000 / 1.0000 on both formats at n500.</a:t>
            </a:r>
            <a:endParaRPr lang="en-US" sz="1350" dirty="0"/>
          </a:p>
        </p:txBody>
      </p:sp>
      <p:sp>
        <p:nvSpPr>
          <p:cNvPr id="12" name="Rounded Rectangle 11"/>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4" name="Rounded Rectangle 13"/>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6" name="Rounded Rectangle 15"/>
          <p:cNvSpPr/>
          <p:nvPr/>
        </p:nvSpPr>
        <p:spPr>
          <a:xfrm>
            <a:off x="8165592" y="365760"/>
            <a:ext cx="1005840"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65760"/>
            <a:ext cx="1005840" cy="246888"/>
          </a:xfrm>
          <a:prstGeom prst="rect">
            <a:avLst/>
          </a:prstGeom>
          <a:noFill/>
        </p:spPr>
        <p:txBody>
          <a:bodyPr wrap="square" lIns="0" rIns="0" tIns="0" bIns="0" anchor="ctr">
            <a:spAutoFit/>
          </a:bodyPr>
          <a:lstStyle/>
          <a:p>
            <a:pPr algn="ctr"/>
            <a:r>
              <a:rPr sz="850" b="1">
                <a:solidFill>
                  <a:srgbClr val="FFFFFF"/>
                </a:solidFill>
                <a:latin typeface="Calibri"/>
              </a:rPr>
              <a:t>Data preparation</a:t>
            </a:r>
          </a:p>
        </p:txBody>
      </p:sp>
      <p:sp>
        <p:nvSpPr>
          <p:cNvPr id="18" name="Rounded Rectangle 17"/>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0" name="Rounded Rectangle 19"/>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22" name="Rounded Rectangle 21"/>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ALGORITHMS AND MODELS  ·  MODELLING APPROACH</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Detection that a supervisor can argue with</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9</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sp>
        <p:nvSpPr>
          <p:cNvPr id="6" name="Shape 4"/>
          <p:cNvSpPr/>
          <p:nvPr/>
        </p:nvSpPr>
        <p:spPr>
          <a:xfrm>
            <a:off x="566928" y="1938528"/>
            <a:ext cx="3566160" cy="2743200"/>
          </a:xfrm>
          <a:prstGeom prst="roundRect">
            <a:avLst>
              <a:gd name="adj" fmla="val 1667"/>
            </a:avLst>
          </a:prstGeom>
          <a:solidFill>
            <a:srgbClr val="FFFFFF"/>
          </a:solidFill>
          <a:ln w="12700">
            <a:solidFill>
              <a:srgbClr val="D6DEE5"/>
            </a:solidFill>
            <a:prstDash val="solid"/>
          </a:ln>
        </p:spPr>
        <p:txBody>
          <a:bodyPr/>
          <a:p/>
        </p:txBody>
      </p:sp>
      <p:sp>
        <p:nvSpPr>
          <p:cNvPr id="7" name="Shape 5"/>
          <p:cNvSpPr/>
          <p:nvPr/>
        </p:nvSpPr>
        <p:spPr>
          <a:xfrm>
            <a:off x="786384" y="2157984"/>
            <a:ext cx="365760" cy="365760"/>
          </a:xfrm>
          <a:prstGeom prst="ellipse">
            <a:avLst/>
          </a:prstGeom>
          <a:solidFill>
            <a:srgbClr val="0F766E"/>
          </a:solidFill>
          <a:ln w="12700">
            <a:solidFill>
              <a:srgbClr val="0F766E"/>
            </a:solidFill>
            <a:prstDash val="solid"/>
          </a:ln>
        </p:spPr>
        <p:txBody>
          <a:bodyPr/>
          <a:p/>
        </p:txBody>
      </p:sp>
      <p:sp>
        <p:nvSpPr>
          <p:cNvPr id="8" name="Text 6"/>
          <p:cNvSpPr txBox="1"/>
          <p:nvPr/>
        </p:nvSpPr>
        <p:spPr>
          <a:xfrm>
            <a:off x="786384" y="2157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61872" y="2157984"/>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Statistical fences</a:t>
            </a:r>
            <a:endParaRPr lang="en-US" sz="1450" dirty="0"/>
          </a:p>
        </p:txBody>
      </p:sp>
      <p:sp>
        <p:nvSpPr>
          <p:cNvPr id="10" name="Text 8"/>
          <p:cNvSpPr txBox="1"/>
          <p:nvPr/>
        </p:nvSpPr>
        <p:spPr>
          <a:xfrm>
            <a:off x="786384" y="2715768"/>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Tukey fences on total duration, mean response time, entropy and variance. No distributional assumption, and resistant to the outliers they are meant to find. Capped at one point jointly, so correlated timing outliers cannot stack.</a:t>
            </a:r>
            <a:endParaRPr lang="en-US" sz="1150" dirty="0"/>
          </a:p>
        </p:txBody>
      </p:sp>
      <p:sp>
        <p:nvSpPr>
          <p:cNvPr id="11" name="Shape 9"/>
          <p:cNvSpPr/>
          <p:nvPr/>
        </p:nvSpPr>
        <p:spPr>
          <a:xfrm>
            <a:off x="4306824" y="1938528"/>
            <a:ext cx="3566160" cy="2743200"/>
          </a:xfrm>
          <a:prstGeom prst="roundRect">
            <a:avLst>
              <a:gd name="adj" fmla="val 1667"/>
            </a:avLst>
          </a:prstGeom>
          <a:solidFill>
            <a:srgbClr val="FFFFFF"/>
          </a:solidFill>
          <a:ln w="12700">
            <a:solidFill>
              <a:srgbClr val="D6DEE5"/>
            </a:solidFill>
            <a:prstDash val="solid"/>
          </a:ln>
        </p:spPr>
        <p:txBody>
          <a:bodyPr/>
          <a:p/>
        </p:txBody>
      </p:sp>
      <p:sp>
        <p:nvSpPr>
          <p:cNvPr id="12" name="Shape 10"/>
          <p:cNvSpPr/>
          <p:nvPr/>
        </p:nvSpPr>
        <p:spPr>
          <a:xfrm>
            <a:off x="4526280" y="2157984"/>
            <a:ext cx="365760" cy="365760"/>
          </a:xfrm>
          <a:prstGeom prst="ellipse">
            <a:avLst/>
          </a:prstGeom>
          <a:solidFill>
            <a:srgbClr val="7C3AED"/>
          </a:solidFill>
          <a:ln w="12700">
            <a:solidFill>
              <a:srgbClr val="7C3AED"/>
            </a:solidFill>
            <a:prstDash val="solid"/>
          </a:ln>
        </p:spPr>
        <p:txBody>
          <a:bodyPr/>
          <a:p/>
        </p:txBody>
      </p:sp>
      <p:sp>
        <p:nvSpPr>
          <p:cNvPr id="13" name="Text 11"/>
          <p:cNvSpPr txBox="1"/>
          <p:nvPr/>
        </p:nvSpPr>
        <p:spPr>
          <a:xfrm>
            <a:off x="4526280" y="2157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001768" y="2157984"/>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Rule flags</a:t>
            </a:r>
            <a:endParaRPr lang="en-US" sz="1450" dirty="0"/>
          </a:p>
        </p:txBody>
      </p:sp>
      <p:sp>
        <p:nvSpPr>
          <p:cNvPr id="15" name="Text 13"/>
          <p:cNvSpPr txBox="1"/>
          <p:nvPr/>
        </p:nvSpPr>
        <p:spPr>
          <a:xfrm>
            <a:off x="4526280" y="2715768"/>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Implausible session length, low mean response time against the sample median, low entropy, uniform pacing by coefficient of variation, compressed spread, absent or excessive back-navigation, elevated pauses. Median-relative and configurable.</a:t>
            </a:r>
            <a:endParaRPr lang="en-US" sz="1150" dirty="0"/>
          </a:p>
        </p:txBody>
      </p:sp>
      <p:sp>
        <p:nvSpPr>
          <p:cNvPr id="16" name="Shape 14"/>
          <p:cNvSpPr/>
          <p:nvPr/>
        </p:nvSpPr>
        <p:spPr>
          <a:xfrm>
            <a:off x="8046720" y="1938528"/>
            <a:ext cx="3566160" cy="2743200"/>
          </a:xfrm>
          <a:prstGeom prst="roundRect">
            <a:avLst>
              <a:gd name="adj" fmla="val 1667"/>
            </a:avLst>
          </a:prstGeom>
          <a:solidFill>
            <a:srgbClr val="FFFFFF"/>
          </a:solidFill>
          <a:ln w="12700">
            <a:solidFill>
              <a:srgbClr val="D6DEE5"/>
            </a:solidFill>
            <a:prstDash val="solid"/>
          </a:ln>
        </p:spPr>
        <p:txBody>
          <a:bodyPr/>
          <a:p/>
        </p:txBody>
      </p:sp>
      <p:sp>
        <p:nvSpPr>
          <p:cNvPr id="17" name="Shape 15"/>
          <p:cNvSpPr/>
          <p:nvPr/>
        </p:nvSpPr>
        <p:spPr>
          <a:xfrm>
            <a:off x="8266176" y="2157984"/>
            <a:ext cx="365760" cy="365760"/>
          </a:xfrm>
          <a:prstGeom prst="ellipse">
            <a:avLst/>
          </a:prstGeom>
          <a:solidFill>
            <a:srgbClr val="B45309"/>
          </a:solidFill>
          <a:ln w="12700">
            <a:solidFill>
              <a:srgbClr val="B45309"/>
            </a:solidFill>
            <a:prstDash val="solid"/>
          </a:ln>
        </p:spPr>
        <p:txBody>
          <a:bodyPr/>
          <a:p/>
        </p:txBody>
      </p:sp>
      <p:sp>
        <p:nvSpPr>
          <p:cNvPr id="18" name="Text 16"/>
          <p:cNvSpPr txBox="1"/>
          <p:nvPr/>
        </p:nvSpPr>
        <p:spPr>
          <a:xfrm>
            <a:off x="8266176" y="21579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741664" y="2157984"/>
            <a:ext cx="2651760" cy="384048"/>
          </a:xfrm>
          <a:prstGeom prst="rect">
            <a:avLst/>
          </a:prstGeom>
          <a:noFill/>
          <a:ln/>
        </p:spPr>
        <p:txBody>
          <a:bodyPr wrap="square" lIns="0" tIns="0" rIns="0" bIns="0" rtlCol="0" anchor="ctr"/>
          <a:lstStyle/>
          <a:p>
            <a:pPr indent="0" marL="0">
              <a:buNone/>
            </a:pPr>
            <a:r>
              <a:rPr lang="en-US" sz="1450" b="1" dirty="0">
                <a:solidFill>
                  <a:srgbClr val="1F2933"/>
                </a:solidFill>
                <a:latin typeface="Cambria" pitchFamily="34" charset="0"/>
                <a:ea typeface="Cambria" pitchFamily="34" charset="-122"/>
                <a:cs typeface="Cambria" pitchFamily="34" charset="-120"/>
              </a:rPr>
              <a:t>Score = count of flags</a:t>
            </a:r>
            <a:endParaRPr lang="en-US" sz="1450" dirty="0"/>
          </a:p>
        </p:txBody>
      </p:sp>
      <p:sp>
        <p:nvSpPr>
          <p:cNvPr id="20" name="Text 18"/>
          <p:cNvSpPr txBox="1"/>
          <p:nvPr/>
        </p:nvSpPr>
        <p:spPr>
          <a:xfrm>
            <a:off x="8266176" y="2715768"/>
            <a:ext cx="3127248" cy="1828800"/>
          </a:xfrm>
          <a:prstGeom prst="rect">
            <a:avLst/>
          </a:prstGeom>
          <a:noFill/>
          <a:ln/>
        </p:spPr>
        <p:txBody>
          <a:bodyPr wrap="square" lIns="0" tIns="0" rIns="0" bIns="0" rtlCol="0" anchor="ctr"/>
          <a:lstStyle/>
          <a:p>
            <a:pPr indent="0" marL="0">
              <a:lnSpc>
                <a:spcPts val="1600"/>
              </a:lnSpc>
              <a:buNone/>
            </a:pPr>
            <a:r>
              <a:rPr lang="en-US" sz="1150" dirty="0">
                <a:solidFill>
                  <a:srgbClr val="3E4C55"/>
                </a:solidFill>
                <a:latin typeface="Calibri" pitchFamily="34" charset="0"/>
                <a:ea typeface="Calibri" pitchFamily="34" charset="-122"/>
                <a:cs typeface="Calibri" pitchFamily="34" charset="-120"/>
              </a:rPr>
              <a:t>Suspicious at 2, anomalous at 5. Data-quality faults route to their own category. Every flagged interview lists exactly which named flags fired.</a:t>
            </a:r>
            <a:endParaRPr lang="en-US" sz="1150" dirty="0"/>
          </a:p>
        </p:txBody>
      </p:sp>
      <p:sp>
        <p:nvSpPr>
          <p:cNvPr id="21" name="Shape 19"/>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22" name="Shape 20"/>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23" name="Text 21"/>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 flag leads to a conversation with a named enumerator, so it has to be explainable. That is why the score is a count, not a model output.</a:t>
            </a:r>
            <a:endParaRPr lang="en-US" sz="1350" dirty="0"/>
          </a:p>
        </p:txBody>
      </p:sp>
      <p:sp>
        <p:nvSpPr>
          <p:cNvPr id="24" name="TextBox 23"/>
          <p:cNvSpPr txBox="1"/>
          <p:nvPr/>
        </p:nvSpPr>
        <p:spPr>
          <a:xfrm>
            <a:off x="566928" y="1325880"/>
            <a:ext cx="11055096" cy="530352"/>
          </a:xfrm>
          <a:prstGeom prst="rect">
            <a:avLst/>
          </a:prstGeom>
          <a:noFill/>
        </p:spPr>
        <p:txBody>
          <a:bodyPr wrap="square" lIns="0" rIns="0" tIns="0" bIns="0" anchor="t">
            <a:spAutoFit/>
          </a:bodyPr>
          <a:lstStyle/>
          <a:p>
            <a:pPr algn="l"/>
            <a:r>
              <a:rPr sz="1300" b="1">
                <a:solidFill>
                  <a:srgbClr val="0F766E"/>
                </a:solidFill>
                <a:latin typeface="Calibri"/>
              </a:rPr>
              <a:t>Modelling approach:  </a:t>
            </a:r>
            <a:r>
              <a:rPr sz="1300" b="0">
                <a:solidFill>
                  <a:srgbClr val="1F2933"/>
                </a:solidFill>
                <a:latin typeface="Calibri"/>
              </a:rPr>
              <a:t>unsupervised, rule-based outlier detection over 40 timing features. No machine-learning model: there is no labelled field data to train on, and every flag must be explainable.</a:t>
            </a:r>
          </a:p>
        </p:txBody>
      </p:sp>
      <p:sp>
        <p:nvSpPr>
          <p:cNvPr id="25" name="Rounded Rectangle 24"/>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27" name="Rounded Rectangle 26"/>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29" name="Rounded Rectangle 28"/>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31" name="Rounded Rectangle 30"/>
          <p:cNvSpPr/>
          <p:nvPr/>
        </p:nvSpPr>
        <p:spPr>
          <a:xfrm>
            <a:off x="9226296" y="365760"/>
            <a:ext cx="731520"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26296" y="365760"/>
            <a:ext cx="731520" cy="246888"/>
          </a:xfrm>
          <a:prstGeom prst="rect">
            <a:avLst/>
          </a:prstGeom>
          <a:noFill/>
        </p:spPr>
        <p:txBody>
          <a:bodyPr wrap="square" lIns="0" rIns="0" tIns="0" bIns="0" anchor="ctr">
            <a:spAutoFit/>
          </a:bodyPr>
          <a:lstStyle/>
          <a:p>
            <a:pPr algn="ctr"/>
            <a:r>
              <a:rPr sz="850" b="1">
                <a:solidFill>
                  <a:srgbClr val="FFFFFF"/>
                </a:solidFill>
                <a:latin typeface="Calibri"/>
              </a:rPr>
              <a:t>Modelling</a:t>
            </a:r>
          </a:p>
        </p:txBody>
      </p:sp>
      <p:sp>
        <p:nvSpPr>
          <p:cNvPr id="33" name="Rounded Rectangle 32"/>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35" name="Rounded Rectangle 34"/>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IMPLEMENTATION</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Development environment</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10</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Rounded Rectangle 5"/>
          <p:cNvSpPr/>
          <p:nvPr/>
        </p:nvSpPr>
        <p:spPr>
          <a:xfrm>
            <a:off x="566928" y="137160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554480"/>
            <a:ext cx="3154680" cy="274320"/>
          </a:xfrm>
          <a:prstGeom prst="rect">
            <a:avLst/>
          </a:prstGeom>
          <a:noFill/>
        </p:spPr>
        <p:txBody>
          <a:bodyPr wrap="square" lIns="0" rIns="0" tIns="0" bIns="0" anchor="ctr">
            <a:spAutoFit/>
          </a:bodyPr>
          <a:lstStyle/>
          <a:p>
            <a:pPr algn="l"/>
            <a:r>
              <a:rPr sz="1050" b="1">
                <a:solidFill>
                  <a:srgbClr val="0F766E"/>
                </a:solidFill>
                <a:latin typeface="Calibri"/>
              </a:rPr>
              <a:t>OPERATING SYSTEM</a:t>
            </a:r>
          </a:p>
        </p:txBody>
      </p:sp>
      <p:sp>
        <p:nvSpPr>
          <p:cNvPr id="8" name="TextBox 7"/>
          <p:cNvSpPr txBox="1"/>
          <p:nvPr/>
        </p:nvSpPr>
        <p:spPr>
          <a:xfrm>
            <a:off x="795528" y="1874519"/>
            <a:ext cx="3154680" cy="411480"/>
          </a:xfrm>
          <a:prstGeom prst="rect">
            <a:avLst/>
          </a:prstGeom>
          <a:noFill/>
        </p:spPr>
        <p:txBody>
          <a:bodyPr wrap="square" lIns="0" rIns="0" tIns="0" bIns="0" anchor="ctr">
            <a:spAutoFit/>
          </a:bodyPr>
          <a:lstStyle/>
          <a:p>
            <a:pPr algn="l"/>
            <a:r>
              <a:rPr sz="1700" b="1">
                <a:solidFill>
                  <a:srgbClr val="1F2933"/>
                </a:solidFill>
                <a:latin typeface="Cambria"/>
              </a:rPr>
              <a:t>Windows 11</a:t>
            </a:r>
          </a:p>
        </p:txBody>
      </p:sp>
      <p:sp>
        <p:nvSpPr>
          <p:cNvPr id="9" name="TextBox 8"/>
          <p:cNvSpPr txBox="1"/>
          <p:nvPr/>
        </p:nvSpPr>
        <p:spPr>
          <a:xfrm>
            <a:off x="795528" y="2331720"/>
            <a:ext cx="3154680" cy="685800"/>
          </a:xfrm>
          <a:prstGeom prst="rect">
            <a:avLst/>
          </a:prstGeom>
          <a:noFill/>
        </p:spPr>
        <p:txBody>
          <a:bodyPr wrap="square" lIns="0" rIns="0" tIns="0" bIns="0" anchor="t">
            <a:spAutoFit/>
          </a:bodyPr>
          <a:lstStyle/>
          <a:p>
            <a:pPr algn="l"/>
            <a:r>
              <a:rPr sz="1150" b="0">
                <a:solidFill>
                  <a:srgbClr val="3E4C55"/>
                </a:solidFill>
                <a:latin typeface="Calibri"/>
              </a:rPr>
              <a:t>Used for development. Continuous integration runs on Ubuntu Linux.</a:t>
            </a:r>
          </a:p>
        </p:txBody>
      </p:sp>
      <p:sp>
        <p:nvSpPr>
          <p:cNvPr id="10" name="Rounded Rectangle 9"/>
          <p:cNvSpPr/>
          <p:nvPr/>
        </p:nvSpPr>
        <p:spPr>
          <a:xfrm>
            <a:off x="4288536" y="137160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554480"/>
            <a:ext cx="3154680" cy="274320"/>
          </a:xfrm>
          <a:prstGeom prst="rect">
            <a:avLst/>
          </a:prstGeom>
          <a:noFill/>
        </p:spPr>
        <p:txBody>
          <a:bodyPr wrap="square" lIns="0" rIns="0" tIns="0" bIns="0" anchor="ctr">
            <a:spAutoFit/>
          </a:bodyPr>
          <a:lstStyle/>
          <a:p>
            <a:pPr algn="l"/>
            <a:r>
              <a:rPr sz="1050" b="1">
                <a:solidFill>
                  <a:srgbClr val="0F766E"/>
                </a:solidFill>
                <a:latin typeface="Calibri"/>
              </a:rPr>
              <a:t>PROGRAMMING LANGUAGE</a:t>
            </a:r>
          </a:p>
        </p:txBody>
      </p:sp>
      <p:sp>
        <p:nvSpPr>
          <p:cNvPr id="12" name="TextBox 11"/>
          <p:cNvSpPr txBox="1"/>
          <p:nvPr/>
        </p:nvSpPr>
        <p:spPr>
          <a:xfrm>
            <a:off x="4517136" y="1874519"/>
            <a:ext cx="3154680" cy="411480"/>
          </a:xfrm>
          <a:prstGeom prst="rect">
            <a:avLst/>
          </a:prstGeom>
          <a:noFill/>
        </p:spPr>
        <p:txBody>
          <a:bodyPr wrap="square" lIns="0" rIns="0" tIns="0" bIns="0" anchor="ctr">
            <a:spAutoFit/>
          </a:bodyPr>
          <a:lstStyle/>
          <a:p>
            <a:pPr algn="l"/>
            <a:r>
              <a:rPr sz="1700" b="1">
                <a:solidFill>
                  <a:srgbClr val="1F2933"/>
                </a:solidFill>
                <a:latin typeface="Cambria"/>
              </a:rPr>
              <a:t>Python 3.14</a:t>
            </a:r>
          </a:p>
        </p:txBody>
      </p:sp>
      <p:sp>
        <p:nvSpPr>
          <p:cNvPr id="13" name="TextBox 12"/>
          <p:cNvSpPr txBox="1"/>
          <p:nvPr/>
        </p:nvSpPr>
        <p:spPr>
          <a:xfrm>
            <a:off x="4517136" y="2331720"/>
            <a:ext cx="3154680" cy="685800"/>
          </a:xfrm>
          <a:prstGeom prst="rect">
            <a:avLst/>
          </a:prstGeom>
          <a:noFill/>
        </p:spPr>
        <p:txBody>
          <a:bodyPr wrap="square" lIns="0" rIns="0" tIns="0" bIns="0" anchor="t">
            <a:spAutoFit/>
          </a:bodyPr>
          <a:lstStyle/>
          <a:p>
            <a:pPr algn="l"/>
            <a:r>
              <a:rPr sz="1150" b="0">
                <a:solidFill>
                  <a:srgbClr val="3E4C55"/>
                </a:solidFill>
                <a:latin typeface="Calibri"/>
              </a:rPr>
              <a:t>CI also tests Python 3.12 with pandas 2, to catch version breaks.</a:t>
            </a:r>
          </a:p>
        </p:txBody>
      </p:sp>
      <p:sp>
        <p:nvSpPr>
          <p:cNvPr id="14" name="Rounded Rectangle 13"/>
          <p:cNvSpPr/>
          <p:nvPr/>
        </p:nvSpPr>
        <p:spPr>
          <a:xfrm>
            <a:off x="8010144" y="137160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1554480"/>
            <a:ext cx="3154680" cy="274320"/>
          </a:xfrm>
          <a:prstGeom prst="rect">
            <a:avLst/>
          </a:prstGeom>
          <a:noFill/>
        </p:spPr>
        <p:txBody>
          <a:bodyPr wrap="square" lIns="0" rIns="0" tIns="0" bIns="0" anchor="ctr">
            <a:spAutoFit/>
          </a:bodyPr>
          <a:lstStyle/>
          <a:p>
            <a:pPr algn="l"/>
            <a:r>
              <a:rPr sz="1050" b="1">
                <a:solidFill>
                  <a:srgbClr val="0F766E"/>
                </a:solidFill>
                <a:latin typeface="Calibri"/>
              </a:rPr>
              <a:t>LIBRARIES</a:t>
            </a:r>
          </a:p>
        </p:txBody>
      </p:sp>
      <p:sp>
        <p:nvSpPr>
          <p:cNvPr id="16" name="TextBox 15"/>
          <p:cNvSpPr txBox="1"/>
          <p:nvPr/>
        </p:nvSpPr>
        <p:spPr>
          <a:xfrm>
            <a:off x="8238744" y="1874519"/>
            <a:ext cx="3154680" cy="411480"/>
          </a:xfrm>
          <a:prstGeom prst="rect">
            <a:avLst/>
          </a:prstGeom>
          <a:noFill/>
        </p:spPr>
        <p:txBody>
          <a:bodyPr wrap="square" lIns="0" rIns="0" tIns="0" bIns="0" anchor="ctr">
            <a:spAutoFit/>
          </a:bodyPr>
          <a:lstStyle/>
          <a:p>
            <a:pPr algn="l"/>
            <a:r>
              <a:rPr sz="1700" b="1">
                <a:solidFill>
                  <a:srgbClr val="1F2933"/>
                </a:solidFill>
                <a:latin typeface="Cambria"/>
              </a:rPr>
              <a:t>pandas, NumPy, SciPy</a:t>
            </a:r>
          </a:p>
        </p:txBody>
      </p:sp>
      <p:sp>
        <p:nvSpPr>
          <p:cNvPr id="17" name="TextBox 16"/>
          <p:cNvSpPr txBox="1"/>
          <p:nvPr/>
        </p:nvSpPr>
        <p:spPr>
          <a:xfrm>
            <a:off x="8238744" y="2331720"/>
            <a:ext cx="3154680" cy="685800"/>
          </a:xfrm>
          <a:prstGeom prst="rect">
            <a:avLst/>
          </a:prstGeom>
          <a:noFill/>
        </p:spPr>
        <p:txBody>
          <a:bodyPr wrap="square" lIns="0" rIns="0" tIns="0" bIns="0" anchor="t">
            <a:spAutoFit/>
          </a:bodyPr>
          <a:lstStyle/>
          <a:p>
            <a:pPr algn="l"/>
            <a:r>
              <a:rPr sz="1150" b="0">
                <a:solidFill>
                  <a:srgbClr val="3E4C55"/>
                </a:solidFill>
                <a:latin typeface="Calibri"/>
              </a:rPr>
              <a:t>statsmodels and scikit-learn for statistics; matplotlib and seaborn for figures.</a:t>
            </a:r>
          </a:p>
        </p:txBody>
      </p:sp>
      <p:sp>
        <p:nvSpPr>
          <p:cNvPr id="18" name="Rounded Rectangle 17"/>
          <p:cNvSpPr/>
          <p:nvPr/>
        </p:nvSpPr>
        <p:spPr>
          <a:xfrm>
            <a:off x="566928" y="333756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3520440"/>
            <a:ext cx="3154680" cy="274320"/>
          </a:xfrm>
          <a:prstGeom prst="rect">
            <a:avLst/>
          </a:prstGeom>
          <a:noFill/>
        </p:spPr>
        <p:txBody>
          <a:bodyPr wrap="square" lIns="0" rIns="0" tIns="0" bIns="0" anchor="ctr">
            <a:spAutoFit/>
          </a:bodyPr>
          <a:lstStyle/>
          <a:p>
            <a:pPr algn="l"/>
            <a:r>
              <a:rPr sz="1050" b="1">
                <a:solidFill>
                  <a:srgbClr val="0F766E"/>
                </a:solidFill>
                <a:latin typeface="Calibri"/>
              </a:rPr>
              <a:t>DATABASE</a:t>
            </a:r>
          </a:p>
        </p:txBody>
      </p:sp>
      <p:sp>
        <p:nvSpPr>
          <p:cNvPr id="20" name="TextBox 19"/>
          <p:cNvSpPr txBox="1"/>
          <p:nvPr/>
        </p:nvSpPr>
        <p:spPr>
          <a:xfrm>
            <a:off x="795528" y="3840480"/>
            <a:ext cx="3154680" cy="411480"/>
          </a:xfrm>
          <a:prstGeom prst="rect">
            <a:avLst/>
          </a:prstGeom>
          <a:noFill/>
        </p:spPr>
        <p:txBody>
          <a:bodyPr wrap="square" lIns="0" rIns="0" tIns="0" bIns="0" anchor="ctr">
            <a:spAutoFit/>
          </a:bodyPr>
          <a:lstStyle/>
          <a:p>
            <a:pPr algn="l"/>
            <a:r>
              <a:rPr sz="1700" b="1">
                <a:solidFill>
                  <a:srgbClr val="1F2933"/>
                </a:solidFill>
                <a:latin typeface="Cambria"/>
              </a:rPr>
              <a:t>None: CSV in, CSV out</a:t>
            </a:r>
          </a:p>
        </p:txBody>
      </p:sp>
      <p:sp>
        <p:nvSpPr>
          <p:cNvPr id="21" name="TextBox 20"/>
          <p:cNvSpPr txBox="1"/>
          <p:nvPr/>
        </p:nvSpPr>
        <p:spPr>
          <a:xfrm>
            <a:off x="795528" y="4297680"/>
            <a:ext cx="3154680" cy="685800"/>
          </a:xfrm>
          <a:prstGeom prst="rect">
            <a:avLst/>
          </a:prstGeom>
          <a:noFill/>
        </p:spPr>
        <p:txBody>
          <a:bodyPr wrap="square" lIns="0" rIns="0" tIns="0" bIns="0" anchor="t">
            <a:spAutoFit/>
          </a:bodyPr>
          <a:lstStyle/>
          <a:p>
            <a:pPr algn="l"/>
            <a:r>
              <a:rPr sz="1150" b="0">
                <a:solidFill>
                  <a:srgbClr val="3E4C55"/>
                </a:solidFill>
                <a:latin typeface="Calibri"/>
              </a:rPr>
              <a:t>Audit logs are read from CSV exports and every output is a CSV file.</a:t>
            </a:r>
          </a:p>
        </p:txBody>
      </p:sp>
      <p:sp>
        <p:nvSpPr>
          <p:cNvPr id="22" name="Rounded Rectangle 21"/>
          <p:cNvSpPr/>
          <p:nvPr/>
        </p:nvSpPr>
        <p:spPr>
          <a:xfrm>
            <a:off x="4288536" y="333756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17136" y="3520440"/>
            <a:ext cx="3154680" cy="274320"/>
          </a:xfrm>
          <a:prstGeom prst="rect">
            <a:avLst/>
          </a:prstGeom>
          <a:noFill/>
        </p:spPr>
        <p:txBody>
          <a:bodyPr wrap="square" lIns="0" rIns="0" tIns="0" bIns="0" anchor="ctr">
            <a:spAutoFit/>
          </a:bodyPr>
          <a:lstStyle/>
          <a:p>
            <a:pPr algn="l"/>
            <a:r>
              <a:rPr sz="1050" b="1">
                <a:solidFill>
                  <a:srgbClr val="0F766E"/>
                </a:solidFill>
                <a:latin typeface="Calibri"/>
              </a:rPr>
              <a:t>IDE AND TOOLS</a:t>
            </a:r>
          </a:p>
        </p:txBody>
      </p:sp>
      <p:sp>
        <p:nvSpPr>
          <p:cNvPr id="24" name="TextBox 23"/>
          <p:cNvSpPr txBox="1"/>
          <p:nvPr/>
        </p:nvSpPr>
        <p:spPr>
          <a:xfrm>
            <a:off x="4517136" y="3840480"/>
            <a:ext cx="3154680" cy="411480"/>
          </a:xfrm>
          <a:prstGeom prst="rect">
            <a:avLst/>
          </a:prstGeom>
          <a:noFill/>
        </p:spPr>
        <p:txBody>
          <a:bodyPr wrap="square" lIns="0" rIns="0" tIns="0" bIns="0" anchor="ctr">
            <a:spAutoFit/>
          </a:bodyPr>
          <a:lstStyle/>
          <a:p>
            <a:pPr algn="l"/>
            <a:r>
              <a:rPr sz="1700" b="1">
                <a:solidFill>
                  <a:srgbClr val="1F2933"/>
                </a:solidFill>
                <a:latin typeface="Cambria"/>
              </a:rPr>
              <a:t>VS Code, Jupyter</a:t>
            </a:r>
          </a:p>
        </p:txBody>
      </p:sp>
      <p:sp>
        <p:nvSpPr>
          <p:cNvPr id="25" name="TextBox 24"/>
          <p:cNvSpPr txBox="1"/>
          <p:nvPr/>
        </p:nvSpPr>
        <p:spPr>
          <a:xfrm>
            <a:off x="4517136" y="4297680"/>
            <a:ext cx="3154680" cy="685800"/>
          </a:xfrm>
          <a:prstGeom prst="rect">
            <a:avLst/>
          </a:prstGeom>
          <a:noFill/>
        </p:spPr>
        <p:txBody>
          <a:bodyPr wrap="square" lIns="0" rIns="0" tIns="0" bIns="0" anchor="t">
            <a:spAutoFit/>
          </a:bodyPr>
          <a:lstStyle/>
          <a:p>
            <a:pPr algn="l"/>
            <a:r>
              <a:rPr sz="1150" b="0">
                <a:solidFill>
                  <a:srgbClr val="3E4C55"/>
                </a:solidFill>
                <a:latin typeface="Calibri"/>
              </a:rPr>
              <a:t>pytest for the 44 automated tests; notebooks for analysis.</a:t>
            </a:r>
          </a:p>
        </p:txBody>
      </p:sp>
      <p:sp>
        <p:nvSpPr>
          <p:cNvPr id="26" name="Rounded Rectangle 25"/>
          <p:cNvSpPr/>
          <p:nvPr/>
        </p:nvSpPr>
        <p:spPr>
          <a:xfrm>
            <a:off x="8010144" y="3337560"/>
            <a:ext cx="3611880" cy="17830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38744" y="3520440"/>
            <a:ext cx="3154680" cy="274320"/>
          </a:xfrm>
          <a:prstGeom prst="rect">
            <a:avLst/>
          </a:prstGeom>
          <a:noFill/>
        </p:spPr>
        <p:txBody>
          <a:bodyPr wrap="square" lIns="0" rIns="0" tIns="0" bIns="0" anchor="ctr">
            <a:spAutoFit/>
          </a:bodyPr>
          <a:lstStyle/>
          <a:p>
            <a:pPr algn="l"/>
            <a:r>
              <a:rPr sz="1050" b="1">
                <a:solidFill>
                  <a:srgbClr val="0F766E"/>
                </a:solidFill>
                <a:latin typeface="Calibri"/>
              </a:rPr>
              <a:t>VERSION CONTROL</a:t>
            </a:r>
          </a:p>
        </p:txBody>
      </p:sp>
      <p:sp>
        <p:nvSpPr>
          <p:cNvPr id="28" name="TextBox 27"/>
          <p:cNvSpPr txBox="1"/>
          <p:nvPr/>
        </p:nvSpPr>
        <p:spPr>
          <a:xfrm>
            <a:off x="8238744" y="3840480"/>
            <a:ext cx="3154680" cy="411480"/>
          </a:xfrm>
          <a:prstGeom prst="rect">
            <a:avLst/>
          </a:prstGeom>
          <a:noFill/>
        </p:spPr>
        <p:txBody>
          <a:bodyPr wrap="square" lIns="0" rIns="0" tIns="0" bIns="0" anchor="ctr">
            <a:spAutoFit/>
          </a:bodyPr>
          <a:lstStyle/>
          <a:p>
            <a:pPr algn="l"/>
            <a:r>
              <a:rPr sz="1700" b="1">
                <a:solidFill>
                  <a:srgbClr val="1F2933"/>
                </a:solidFill>
                <a:latin typeface="Cambria"/>
              </a:rPr>
              <a:t>Git, GitHub, Actions</a:t>
            </a:r>
          </a:p>
        </p:txBody>
      </p:sp>
      <p:sp>
        <p:nvSpPr>
          <p:cNvPr id="29" name="TextBox 28"/>
          <p:cNvSpPr txBox="1"/>
          <p:nvPr/>
        </p:nvSpPr>
        <p:spPr>
          <a:xfrm>
            <a:off x="8238744" y="4297680"/>
            <a:ext cx="3154680" cy="685800"/>
          </a:xfrm>
          <a:prstGeom prst="rect">
            <a:avLst/>
          </a:prstGeom>
          <a:noFill/>
        </p:spPr>
        <p:txBody>
          <a:bodyPr wrap="square" lIns="0" rIns="0" tIns="0" bIns="0" anchor="t">
            <a:spAutoFit/>
          </a:bodyPr>
          <a:lstStyle/>
          <a:p>
            <a:pPr algn="l"/>
            <a:r>
              <a:rPr sz="1150" b="0">
                <a:solidFill>
                  <a:srgbClr val="3E4C55"/>
                </a:solidFill>
                <a:latin typeface="Calibri"/>
              </a:rPr>
              <a:t>CI runs the tests and the pipeline on every push to main.</a:t>
            </a:r>
          </a:p>
        </p:txBody>
      </p:sp>
      <p:sp>
        <p:nvSpPr>
          <p:cNvPr id="30" name="Rounded Rectangle 29"/>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One command rebuilds the environment: pip install -r requirements-validated.txt (148 pinned packages).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IMPLEMENTATION  ·  CHAPTER 4</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Key implementation details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11</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Oval 5"/>
          <p:cNvSpPr/>
          <p:nvPr/>
        </p:nvSpPr>
        <p:spPr>
          <a:xfrm>
            <a:off x="566928" y="1408176"/>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08176"/>
            <a:ext cx="329184" cy="329184"/>
          </a:xfrm>
          <a:prstGeom prst="rect">
            <a:avLst/>
          </a:prstGeom>
          <a:noFill/>
        </p:spPr>
        <p:txBody>
          <a:bodyPr wrap="square" lIns="0" rIns="0" tIns="0" bIns="0" anchor="ctr">
            <a:spAutoFit/>
          </a:bodyPr>
          <a:lstStyle/>
          <a:p>
            <a:pPr algn="ctr"/>
            <a:r>
              <a:rPr sz="1300" b="1">
                <a:solidFill>
                  <a:srgbClr val="FFFFFF"/>
                </a:solidFill>
                <a:latin typeface="Calibri"/>
              </a:rPr>
              <a:t>1</a:t>
            </a:r>
          </a:p>
        </p:txBody>
      </p:sp>
      <p:sp>
        <p:nvSpPr>
          <p:cNvPr id="8" name="TextBox 7"/>
          <p:cNvSpPr txBox="1"/>
          <p:nvPr/>
        </p:nvSpPr>
        <p:spPr>
          <a:xfrm>
            <a:off x="1042415" y="1371600"/>
            <a:ext cx="10305288" cy="694944"/>
          </a:xfrm>
          <a:prstGeom prst="rect">
            <a:avLst/>
          </a:prstGeom>
          <a:noFill/>
        </p:spPr>
        <p:txBody>
          <a:bodyPr wrap="square" lIns="0" rIns="0" tIns="0" bIns="0" anchor="t">
            <a:spAutoFit/>
          </a:bodyPr>
          <a:lstStyle/>
          <a:p>
            <a:pPr algn="l"/>
            <a:r>
              <a:rPr sz="1300" b="1">
                <a:solidFill>
                  <a:srgbClr val="1F2933"/>
                </a:solidFill>
                <a:latin typeface="Calibri"/>
              </a:rPr>
              <a:t>Automatic format detection. </a:t>
            </a:r>
            <a:r>
              <a:rPr sz="1300" b="0">
                <a:solidFill>
                  <a:srgbClr val="1F2933"/>
                </a:solidFill>
                <a:latin typeface="Calibri"/>
              </a:rPr>
              <a:t>The controller recognises each file from its columns and timestamp shape, so the user never declares the platform, and it splits files that mix both platforms.</a:t>
            </a:r>
          </a:p>
        </p:txBody>
      </p:sp>
      <p:sp>
        <p:nvSpPr>
          <p:cNvPr id="9" name="Oval 8"/>
          <p:cNvSpPr/>
          <p:nvPr/>
        </p:nvSpPr>
        <p:spPr>
          <a:xfrm>
            <a:off x="566928" y="2194560"/>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194560"/>
            <a:ext cx="329184" cy="329184"/>
          </a:xfrm>
          <a:prstGeom prst="rect">
            <a:avLst/>
          </a:prstGeom>
          <a:noFill/>
        </p:spPr>
        <p:txBody>
          <a:bodyPr wrap="square" lIns="0" rIns="0" tIns="0" bIns="0" anchor="ctr">
            <a:spAutoFit/>
          </a:bodyPr>
          <a:lstStyle/>
          <a:p>
            <a:pPr algn="ctr"/>
            <a:r>
              <a:rPr sz="1300" b="1">
                <a:solidFill>
                  <a:srgbClr val="FFFFFF"/>
                </a:solidFill>
                <a:latin typeface="Calibri"/>
              </a:rPr>
              <a:t>2</a:t>
            </a:r>
          </a:p>
        </p:txBody>
      </p:sp>
      <p:sp>
        <p:nvSpPr>
          <p:cNvPr id="11" name="TextBox 10"/>
          <p:cNvSpPr txBox="1"/>
          <p:nvPr/>
        </p:nvSpPr>
        <p:spPr>
          <a:xfrm>
            <a:off x="1042415" y="2157984"/>
            <a:ext cx="10305288" cy="694944"/>
          </a:xfrm>
          <a:prstGeom prst="rect">
            <a:avLst/>
          </a:prstGeom>
          <a:noFill/>
        </p:spPr>
        <p:txBody>
          <a:bodyPr wrap="square" lIns="0" rIns="0" tIns="0" bIns="0" anchor="t">
            <a:spAutoFit/>
          </a:bodyPr>
          <a:lstStyle/>
          <a:p>
            <a:pPr algn="l"/>
            <a:r>
              <a:rPr sz="1300" b="1">
                <a:solidFill>
                  <a:srgbClr val="1F2933"/>
                </a:solidFill>
                <a:latin typeface="Calibri"/>
              </a:rPr>
              <a:t>Batch-level features. </a:t>
            </a:r>
            <a:r>
              <a:rPr sz="1300" b="0">
                <a:solidFill>
                  <a:srgbClr val="1F2933"/>
                </a:solidFill>
                <a:latin typeface="Calibri"/>
              </a:rPr>
              <a:t>Measures such as duration relative to the sample median are computed only once every interview in the batch has been extracted.</a:t>
            </a:r>
          </a:p>
        </p:txBody>
      </p:sp>
      <p:sp>
        <p:nvSpPr>
          <p:cNvPr id="12" name="Oval 11"/>
          <p:cNvSpPr/>
          <p:nvPr/>
        </p:nvSpPr>
        <p:spPr>
          <a:xfrm>
            <a:off x="566928" y="2980944"/>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980944"/>
            <a:ext cx="329184" cy="329184"/>
          </a:xfrm>
          <a:prstGeom prst="rect">
            <a:avLst/>
          </a:prstGeom>
          <a:noFill/>
        </p:spPr>
        <p:txBody>
          <a:bodyPr wrap="square" lIns="0" rIns="0" tIns="0" bIns="0" anchor="ctr">
            <a:spAutoFit/>
          </a:bodyPr>
          <a:lstStyle/>
          <a:p>
            <a:pPr algn="ctr"/>
            <a:r>
              <a:rPr sz="1300" b="1">
                <a:solidFill>
                  <a:srgbClr val="FFFFFF"/>
                </a:solidFill>
                <a:latin typeface="Calibri"/>
              </a:rPr>
              <a:t>3</a:t>
            </a:r>
          </a:p>
        </p:txBody>
      </p:sp>
      <p:sp>
        <p:nvSpPr>
          <p:cNvPr id="14" name="TextBox 13"/>
          <p:cNvSpPr txBox="1"/>
          <p:nvPr/>
        </p:nvSpPr>
        <p:spPr>
          <a:xfrm>
            <a:off x="1042415" y="2944368"/>
            <a:ext cx="10305288" cy="694944"/>
          </a:xfrm>
          <a:prstGeom prst="rect">
            <a:avLst/>
          </a:prstGeom>
          <a:noFill/>
        </p:spPr>
        <p:txBody>
          <a:bodyPr wrap="square" lIns="0" rIns="0" tIns="0" bIns="0" anchor="t">
            <a:spAutoFit/>
          </a:bodyPr>
          <a:lstStyle/>
          <a:p>
            <a:pPr algn="l"/>
            <a:r>
              <a:rPr sz="1300" b="1">
                <a:solidFill>
                  <a:srgbClr val="1F2933"/>
                </a:solidFill>
                <a:latin typeface="Calibri"/>
              </a:rPr>
              <a:t>Configuration, not code. </a:t>
            </a:r>
            <a:r>
              <a:rPr sz="1300" b="0">
                <a:solidFill>
                  <a:srgbClr val="1F2933"/>
                </a:solidFill>
                <a:latin typeface="Calibri"/>
              </a:rPr>
              <a:t>Every threshold lives in a configuration object validated at load time, overridable from a file or the command line, and each configuration records where its values came from.</a:t>
            </a:r>
          </a:p>
        </p:txBody>
      </p:sp>
      <p:sp>
        <p:nvSpPr>
          <p:cNvPr id="15" name="Oval 14"/>
          <p:cNvSpPr/>
          <p:nvPr/>
        </p:nvSpPr>
        <p:spPr>
          <a:xfrm>
            <a:off x="566928" y="3767328"/>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3767328"/>
            <a:ext cx="329184" cy="329184"/>
          </a:xfrm>
          <a:prstGeom prst="rect">
            <a:avLst/>
          </a:prstGeom>
          <a:noFill/>
        </p:spPr>
        <p:txBody>
          <a:bodyPr wrap="square" lIns="0" rIns="0" tIns="0" bIns="0" anchor="ctr">
            <a:spAutoFit/>
          </a:bodyPr>
          <a:lstStyle/>
          <a:p>
            <a:pPr algn="ctr"/>
            <a:r>
              <a:rPr sz="1300" b="1">
                <a:solidFill>
                  <a:srgbClr val="FFFFFF"/>
                </a:solidFill>
                <a:latin typeface="Calibri"/>
              </a:rPr>
              <a:t>4</a:t>
            </a:r>
          </a:p>
        </p:txBody>
      </p:sp>
      <p:sp>
        <p:nvSpPr>
          <p:cNvPr id="17" name="TextBox 16"/>
          <p:cNvSpPr txBox="1"/>
          <p:nvPr/>
        </p:nvSpPr>
        <p:spPr>
          <a:xfrm>
            <a:off x="1042415" y="3730752"/>
            <a:ext cx="10305288" cy="694944"/>
          </a:xfrm>
          <a:prstGeom prst="rect">
            <a:avLst/>
          </a:prstGeom>
          <a:noFill/>
        </p:spPr>
        <p:txBody>
          <a:bodyPr wrap="square" lIns="0" rIns="0" tIns="0" bIns="0" anchor="t">
            <a:spAutoFit/>
          </a:bodyPr>
          <a:lstStyle/>
          <a:p>
            <a:pPr algn="l"/>
            <a:r>
              <a:rPr sz="1300" b="1">
                <a:solidFill>
                  <a:srgbClr val="1F2933"/>
                </a:solidFill>
                <a:latin typeface="Calibri"/>
              </a:rPr>
              <a:t>Evaluation that cannot leak. </a:t>
            </a:r>
            <a:r>
              <a:rPr sz="1300" b="0">
                <a:solidFill>
                  <a:srgbClr val="1F2933"/>
                </a:solidFill>
                <a:latin typeface="Calibri"/>
              </a:rPr>
              <a:t>Predictions join to ground-truth labels one to one and fail loudly on duplicate or missing IDs. The detector never sees the labels.</a:t>
            </a:r>
          </a:p>
        </p:txBody>
      </p:sp>
      <p:sp>
        <p:nvSpPr>
          <p:cNvPr id="18" name="Oval 17"/>
          <p:cNvSpPr/>
          <p:nvPr/>
        </p:nvSpPr>
        <p:spPr>
          <a:xfrm>
            <a:off x="566928" y="4553712"/>
            <a:ext cx="329184" cy="329184"/>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553712"/>
            <a:ext cx="329184" cy="329184"/>
          </a:xfrm>
          <a:prstGeom prst="rect">
            <a:avLst/>
          </a:prstGeom>
          <a:noFill/>
        </p:spPr>
        <p:txBody>
          <a:bodyPr wrap="square" lIns="0" rIns="0" tIns="0" bIns="0" anchor="ctr">
            <a:spAutoFit/>
          </a:bodyPr>
          <a:lstStyle/>
          <a:p>
            <a:pPr algn="ctr"/>
            <a:r>
              <a:rPr sz="1300" b="1">
                <a:solidFill>
                  <a:srgbClr val="FFFFFF"/>
                </a:solidFill>
                <a:latin typeface="Calibri"/>
              </a:rPr>
              <a:t>5</a:t>
            </a:r>
          </a:p>
        </p:txBody>
      </p:sp>
      <p:sp>
        <p:nvSpPr>
          <p:cNvPr id="20" name="TextBox 19"/>
          <p:cNvSpPr txBox="1"/>
          <p:nvPr/>
        </p:nvSpPr>
        <p:spPr>
          <a:xfrm>
            <a:off x="1042415" y="4517136"/>
            <a:ext cx="10305288" cy="694944"/>
          </a:xfrm>
          <a:prstGeom prst="rect">
            <a:avLst/>
          </a:prstGeom>
          <a:noFill/>
        </p:spPr>
        <p:txBody>
          <a:bodyPr wrap="square" lIns="0" rIns="0" tIns="0" bIns="0" anchor="t">
            <a:spAutoFit/>
          </a:bodyPr>
          <a:lstStyle/>
          <a:p>
            <a:pPr algn="l"/>
            <a:r>
              <a:rPr sz="1300" b="1">
                <a:solidFill>
                  <a:srgbClr val="1F2933"/>
                </a:solidFill>
                <a:latin typeface="Calibri"/>
              </a:rPr>
              <a:t>Defensive parsing. </a:t>
            </a:r>
            <a:r>
              <a:rPr sz="1300" b="0">
                <a:solidFill>
                  <a:srgbClr val="1F2933"/>
                </a:solidFill>
                <a:latin typeface="Calibri"/>
              </a:rPr>
              <a:t>Unparseable timestamps, missing field names and negative durations are flagged rather than dropped, and epoch seconds are detected and rescaled.</a:t>
            </a:r>
          </a:p>
        </p:txBody>
      </p:sp>
      <p:sp>
        <p:nvSpPr>
          <p:cNvPr id="21" name="Rounded Rectangle 20"/>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All five defects found during development now have a regression test in the suite.</a:t>
            </a:r>
          </a:p>
        </p:txBody>
      </p:sp>
      <p:sp>
        <p:nvSpPr>
          <p:cNvPr id="24" name="Rounded Rectangle 23"/>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26" name="Rounded Rectangle 25"/>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28" name="Rounded Rectangle 27"/>
          <p:cNvSpPr/>
          <p:nvPr/>
        </p:nvSpPr>
        <p:spPr>
          <a:xfrm>
            <a:off x="8165592" y="365760"/>
            <a:ext cx="1005840"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65592" y="365760"/>
            <a:ext cx="1005840" cy="246888"/>
          </a:xfrm>
          <a:prstGeom prst="rect">
            <a:avLst/>
          </a:prstGeom>
          <a:noFill/>
        </p:spPr>
        <p:txBody>
          <a:bodyPr wrap="square" lIns="0" rIns="0" tIns="0" bIns="0" anchor="ctr">
            <a:spAutoFit/>
          </a:bodyPr>
          <a:lstStyle/>
          <a:p>
            <a:pPr algn="ctr"/>
            <a:r>
              <a:rPr sz="850" b="1">
                <a:solidFill>
                  <a:srgbClr val="FFFFFF"/>
                </a:solidFill>
                <a:latin typeface="Calibri"/>
              </a:rPr>
              <a:t>Data preparation</a:t>
            </a:r>
          </a:p>
        </p:txBody>
      </p:sp>
      <p:sp>
        <p:nvSpPr>
          <p:cNvPr id="30" name="Rounded Rectangle 29"/>
          <p:cNvSpPr/>
          <p:nvPr/>
        </p:nvSpPr>
        <p:spPr>
          <a:xfrm>
            <a:off x="9226296" y="365760"/>
            <a:ext cx="731520"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26296" y="365760"/>
            <a:ext cx="731520" cy="246888"/>
          </a:xfrm>
          <a:prstGeom prst="rect">
            <a:avLst/>
          </a:prstGeom>
          <a:noFill/>
        </p:spPr>
        <p:txBody>
          <a:bodyPr wrap="square" lIns="0" rIns="0" tIns="0" bIns="0" anchor="ctr">
            <a:spAutoFit/>
          </a:bodyPr>
          <a:lstStyle/>
          <a:p>
            <a:pPr algn="ctr"/>
            <a:r>
              <a:rPr sz="850" b="1">
                <a:solidFill>
                  <a:srgbClr val="FFFFFF"/>
                </a:solidFill>
                <a:latin typeface="Calibri"/>
              </a:rPr>
              <a:t>Modelling</a:t>
            </a:r>
          </a:p>
        </p:txBody>
      </p:sp>
      <p:sp>
        <p:nvSpPr>
          <p:cNvPr id="32" name="Rounded Rectangle 31"/>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34" name="Rounded Rectangle 33"/>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IMPLEMENTATION</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Challenges and solutions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12</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Rounded Rectangle 5"/>
          <p:cNvSpPr/>
          <p:nvPr/>
        </p:nvSpPr>
        <p:spPr>
          <a:xfrm>
            <a:off x="566928" y="137160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159105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91056"/>
            <a:ext cx="310896" cy="310896"/>
          </a:xfrm>
          <a:prstGeom prst="rect">
            <a:avLst/>
          </a:prstGeom>
          <a:noFill/>
        </p:spPr>
        <p:txBody>
          <a:bodyPr wrap="square" lIns="0" rIns="0" tIns="0" bIns="0" anchor="ctr">
            <a:spAutoFit/>
          </a:bodyPr>
          <a:lstStyle/>
          <a:p>
            <a:pPr algn="ctr"/>
            <a:r>
              <a:rPr sz="1200" b="1">
                <a:solidFill>
                  <a:srgbClr val="FFFFFF"/>
                </a:solidFill>
                <a:latin typeface="Calibri"/>
              </a:rPr>
              <a:t>1</a:t>
            </a:r>
          </a:p>
        </p:txBody>
      </p:sp>
      <p:sp>
        <p:nvSpPr>
          <p:cNvPr id="9" name="TextBox 8"/>
          <p:cNvSpPr txBox="1"/>
          <p:nvPr/>
        </p:nvSpPr>
        <p:spPr>
          <a:xfrm>
            <a:off x="1225295" y="1554480"/>
            <a:ext cx="4526280" cy="384048"/>
          </a:xfrm>
          <a:prstGeom prst="rect">
            <a:avLst/>
          </a:prstGeom>
          <a:noFill/>
        </p:spPr>
        <p:txBody>
          <a:bodyPr wrap="square" lIns="0" rIns="0" tIns="0" bIns="0" anchor="ctr">
            <a:spAutoFit/>
          </a:bodyPr>
          <a:lstStyle/>
          <a:p>
            <a:pPr algn="l"/>
            <a:r>
              <a:rPr sz="1450" b="1">
                <a:solidFill>
                  <a:srgbClr val="1F2933"/>
                </a:solidFill>
                <a:latin typeface="Cambria"/>
              </a:rPr>
              <a:t>Perfect scores that meant the test was too easy</a:t>
            </a:r>
          </a:p>
        </p:txBody>
      </p:sp>
      <p:sp>
        <p:nvSpPr>
          <p:cNvPr id="10" name="TextBox 9"/>
          <p:cNvSpPr txBox="1"/>
          <p:nvPr/>
        </p:nvSpPr>
        <p:spPr>
          <a:xfrm>
            <a:off x="1225295" y="1993392"/>
            <a:ext cx="4526280" cy="1188720"/>
          </a:xfrm>
          <a:prstGeom prst="rect">
            <a:avLst/>
          </a:prstGeom>
          <a:noFill/>
        </p:spPr>
        <p:txBody>
          <a:bodyPr wrap="square" lIns="0" rIns="0" tIns="0" bIns="0" anchor="t">
            <a:spAutoFit/>
          </a:bodyPr>
          <a:lstStyle/>
          <a:p>
            <a:pPr algn="l">
              <a:spcAft>
                <a:spcPts val="400"/>
              </a:spcAft>
            </a:pPr>
            <a:r>
              <a:rPr sz="1200" b="0">
                <a:solidFill>
                  <a:srgbClr val="3E4C55"/>
                </a:solidFill>
                <a:latin typeface="Calibri"/>
              </a:rPr>
              <a:t>Early runs scored 1.00 everywhere: anomalies were too cleanly separated and parts of the detector mirrored the generator.</a:t>
            </a:r>
          </a:p>
          <a:p>
            <a:pPr algn="l">
              <a:spcAft>
                <a:spcPts val="400"/>
              </a:spcAft>
            </a:pPr>
            <a:r>
              <a:rPr sz="1200" b="1">
                <a:solidFill>
                  <a:srgbClr val="0F766E"/>
                </a:solidFill>
                <a:latin typeface="Calibri"/>
              </a:rPr>
              <a:t>Solution: </a:t>
            </a:r>
            <a:r>
              <a:rPr sz="1200" b="0">
                <a:solidFill>
                  <a:srgbClr val="3E4C55"/>
                </a:solidFill>
                <a:latin typeface="Calibri"/>
              </a:rPr>
              <a:t>held-out seeds, overlapping stress profiles and a prevalence sweep.</a:t>
            </a:r>
          </a:p>
        </p:txBody>
      </p:sp>
      <p:sp>
        <p:nvSpPr>
          <p:cNvPr id="11" name="Rounded Rectangle 10"/>
          <p:cNvSpPr/>
          <p:nvPr/>
        </p:nvSpPr>
        <p:spPr>
          <a:xfrm>
            <a:off x="6281928" y="137160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9672" y="159105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591056"/>
            <a:ext cx="310896" cy="310896"/>
          </a:xfrm>
          <a:prstGeom prst="rect">
            <a:avLst/>
          </a:prstGeom>
          <a:noFill/>
        </p:spPr>
        <p:txBody>
          <a:bodyPr wrap="square" lIns="0" rIns="0" tIns="0" bIns="0" anchor="ctr">
            <a:spAutoFit/>
          </a:bodyPr>
          <a:lstStyle/>
          <a:p>
            <a:pPr algn="ctr"/>
            <a:r>
              <a:rPr sz="1200" b="1">
                <a:solidFill>
                  <a:srgbClr val="FFFFFF"/>
                </a:solidFill>
                <a:latin typeface="Calibri"/>
              </a:rPr>
              <a:t>2</a:t>
            </a:r>
          </a:p>
        </p:txBody>
      </p:sp>
      <p:sp>
        <p:nvSpPr>
          <p:cNvPr id="14" name="TextBox 13"/>
          <p:cNvSpPr txBox="1"/>
          <p:nvPr/>
        </p:nvSpPr>
        <p:spPr>
          <a:xfrm>
            <a:off x="6940296" y="1554480"/>
            <a:ext cx="4526280" cy="384048"/>
          </a:xfrm>
          <a:prstGeom prst="rect">
            <a:avLst/>
          </a:prstGeom>
          <a:noFill/>
        </p:spPr>
        <p:txBody>
          <a:bodyPr wrap="square" lIns="0" rIns="0" tIns="0" bIns="0" anchor="ctr">
            <a:spAutoFit/>
          </a:bodyPr>
          <a:lstStyle/>
          <a:p>
            <a:pPr algn="l"/>
            <a:r>
              <a:rPr sz="1450" b="1">
                <a:solidFill>
                  <a:srgbClr val="1F2933"/>
                </a:solidFill>
                <a:latin typeface="Cambria"/>
              </a:rPr>
              <a:t>A library upgrade that silently broke timestamps</a:t>
            </a:r>
          </a:p>
        </p:txBody>
      </p:sp>
      <p:sp>
        <p:nvSpPr>
          <p:cNvPr id="15" name="TextBox 14"/>
          <p:cNvSpPr txBox="1"/>
          <p:nvPr/>
        </p:nvSpPr>
        <p:spPr>
          <a:xfrm>
            <a:off x="6940296" y="1993392"/>
            <a:ext cx="4526280" cy="1188720"/>
          </a:xfrm>
          <a:prstGeom prst="rect">
            <a:avLst/>
          </a:prstGeom>
          <a:noFill/>
        </p:spPr>
        <p:txBody>
          <a:bodyPr wrap="square" lIns="0" rIns="0" tIns="0" bIns="0" anchor="t">
            <a:spAutoFit/>
          </a:bodyPr>
          <a:lstStyle/>
          <a:p>
            <a:pPr algn="l">
              <a:spcAft>
                <a:spcPts val="400"/>
              </a:spcAft>
            </a:pPr>
            <a:r>
              <a:rPr sz="1200" b="0">
                <a:solidFill>
                  <a:srgbClr val="3E4C55"/>
                </a:solidFill>
                <a:latin typeface="Calibri"/>
              </a:rPr>
              <a:t>Under pandas 3, ISO 8601 times converted to values a thousand times too small, with no error raised.</a:t>
            </a:r>
          </a:p>
          <a:p>
            <a:pPr algn="l">
              <a:spcAft>
                <a:spcPts val="400"/>
              </a:spcAft>
            </a:pPr>
            <a:r>
              <a:rPr sz="1200" b="1">
                <a:solidFill>
                  <a:srgbClr val="0F766E"/>
                </a:solidFill>
                <a:latin typeface="Calibri"/>
              </a:rPr>
              <a:t>Solution: </a:t>
            </a:r>
            <a:r>
              <a:rPr sz="1200" b="0">
                <a:solidFill>
                  <a:srgbClr val="3E4C55"/>
                </a:solidFill>
                <a:latin typeface="Calibri"/>
              </a:rPr>
              <a:t>found in a clean-environment audit and fixed; CI now tests pandas 2 and 3.</a:t>
            </a:r>
          </a:p>
        </p:txBody>
      </p:sp>
      <p:sp>
        <p:nvSpPr>
          <p:cNvPr id="16" name="Rounded Rectangle 15"/>
          <p:cNvSpPr/>
          <p:nvPr/>
        </p:nvSpPr>
        <p:spPr>
          <a:xfrm>
            <a:off x="566928" y="338328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 y="360273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602736"/>
            <a:ext cx="310896" cy="310896"/>
          </a:xfrm>
          <a:prstGeom prst="rect">
            <a:avLst/>
          </a:prstGeom>
          <a:noFill/>
        </p:spPr>
        <p:txBody>
          <a:bodyPr wrap="square" lIns="0" rIns="0" tIns="0" bIns="0" anchor="ctr">
            <a:spAutoFit/>
          </a:bodyPr>
          <a:lstStyle/>
          <a:p>
            <a:pPr algn="ctr"/>
            <a:r>
              <a:rPr sz="1200" b="1">
                <a:solidFill>
                  <a:srgbClr val="FFFFFF"/>
                </a:solidFill>
                <a:latin typeface="Calibri"/>
              </a:rPr>
              <a:t>3</a:t>
            </a:r>
          </a:p>
        </p:txBody>
      </p:sp>
      <p:sp>
        <p:nvSpPr>
          <p:cNvPr id="19" name="TextBox 18"/>
          <p:cNvSpPr txBox="1"/>
          <p:nvPr/>
        </p:nvSpPr>
        <p:spPr>
          <a:xfrm>
            <a:off x="1225295" y="3566160"/>
            <a:ext cx="4526280" cy="384048"/>
          </a:xfrm>
          <a:prstGeom prst="rect">
            <a:avLst/>
          </a:prstGeom>
          <a:noFill/>
        </p:spPr>
        <p:txBody>
          <a:bodyPr wrap="square" lIns="0" rIns="0" tIns="0" bIns="0" anchor="ctr">
            <a:spAutoFit/>
          </a:bodyPr>
          <a:lstStyle/>
          <a:p>
            <a:pPr algn="l"/>
            <a:r>
              <a:rPr sz="1450" b="1">
                <a:solidFill>
                  <a:srgbClr val="1F2933"/>
                </a:solidFill>
                <a:latin typeface="Cambria"/>
              </a:rPr>
              <a:t>Mild fabrication slipping through</a:t>
            </a:r>
          </a:p>
        </p:txBody>
      </p:sp>
      <p:sp>
        <p:nvSpPr>
          <p:cNvPr id="20" name="TextBox 19"/>
          <p:cNvSpPr txBox="1"/>
          <p:nvPr/>
        </p:nvSpPr>
        <p:spPr>
          <a:xfrm>
            <a:off x="1225295" y="4005072"/>
            <a:ext cx="4526280" cy="1188720"/>
          </a:xfrm>
          <a:prstGeom prst="rect">
            <a:avLst/>
          </a:prstGeom>
          <a:noFill/>
        </p:spPr>
        <p:txBody>
          <a:bodyPr wrap="square" lIns="0" rIns="0" tIns="0" bIns="0" anchor="t">
            <a:spAutoFit/>
          </a:bodyPr>
          <a:lstStyle/>
          <a:p>
            <a:pPr algn="l">
              <a:spcAft>
                <a:spcPts val="400"/>
              </a:spcAft>
            </a:pPr>
            <a:r>
              <a:rPr sz="1200" b="0">
                <a:solidFill>
                  <a:srgbClr val="3E4C55"/>
                </a:solidFill>
                <a:latin typeface="Calibri"/>
              </a:rPr>
              <a:t>Only 93 of 132 mildly fabricated interviews were flagged under stress.</a:t>
            </a:r>
          </a:p>
          <a:p>
            <a:pPr algn="l">
              <a:spcAft>
                <a:spcPts val="400"/>
              </a:spcAft>
            </a:pPr>
            <a:r>
              <a:rPr sz="1200" b="1">
                <a:solidFill>
                  <a:srgbClr val="0F766E"/>
                </a:solidFill>
                <a:latin typeface="Calibri"/>
              </a:rPr>
              <a:t>Solution: </a:t>
            </a:r>
            <a:r>
              <a:rPr sz="1200" b="0">
                <a:solidFill>
                  <a:srgbClr val="3E4C55"/>
                </a:solidFill>
                <a:latin typeface="Calibri"/>
              </a:rPr>
              <a:t>a diagnostic traced it to entropy calibration. The fix catches 132 of 132 but costs precision, so it ships switched off.</a:t>
            </a:r>
          </a:p>
        </p:txBody>
      </p:sp>
      <p:sp>
        <p:nvSpPr>
          <p:cNvPr id="21" name="Rounded Rectangle 20"/>
          <p:cNvSpPr/>
          <p:nvPr/>
        </p:nvSpPr>
        <p:spPr>
          <a:xfrm>
            <a:off x="6281928" y="338328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19672" y="360273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3602736"/>
            <a:ext cx="310896" cy="310896"/>
          </a:xfrm>
          <a:prstGeom prst="rect">
            <a:avLst/>
          </a:prstGeom>
          <a:noFill/>
        </p:spPr>
        <p:txBody>
          <a:bodyPr wrap="square" lIns="0" rIns="0" tIns="0" bIns="0" anchor="ctr">
            <a:spAutoFit/>
          </a:bodyPr>
          <a:lstStyle/>
          <a:p>
            <a:pPr algn="ctr"/>
            <a:r>
              <a:rPr sz="1200" b="1">
                <a:solidFill>
                  <a:srgbClr val="FFFFFF"/>
                </a:solidFill>
                <a:latin typeface="Calibri"/>
              </a:rPr>
              <a:t>4</a:t>
            </a:r>
          </a:p>
        </p:txBody>
      </p:sp>
      <p:sp>
        <p:nvSpPr>
          <p:cNvPr id="24" name="TextBox 23"/>
          <p:cNvSpPr txBox="1"/>
          <p:nvPr/>
        </p:nvSpPr>
        <p:spPr>
          <a:xfrm>
            <a:off x="6940296" y="3566160"/>
            <a:ext cx="4526280" cy="384048"/>
          </a:xfrm>
          <a:prstGeom prst="rect">
            <a:avLst/>
          </a:prstGeom>
          <a:noFill/>
        </p:spPr>
        <p:txBody>
          <a:bodyPr wrap="square" lIns="0" rIns="0" tIns="0" bIns="0" anchor="ctr">
            <a:spAutoFit/>
          </a:bodyPr>
          <a:lstStyle/>
          <a:p>
            <a:pPr algn="l"/>
            <a:r>
              <a:rPr sz="1450" b="1">
                <a:solidFill>
                  <a:srgbClr val="1F2933"/>
                </a:solidFill>
                <a:latin typeface="Cambria"/>
              </a:rPr>
              <a:t>References that could not be found</a:t>
            </a:r>
          </a:p>
        </p:txBody>
      </p:sp>
      <p:sp>
        <p:nvSpPr>
          <p:cNvPr id="25" name="TextBox 24"/>
          <p:cNvSpPr txBox="1"/>
          <p:nvPr/>
        </p:nvSpPr>
        <p:spPr>
          <a:xfrm>
            <a:off x="6940296" y="4005072"/>
            <a:ext cx="4526280" cy="1188720"/>
          </a:xfrm>
          <a:prstGeom prst="rect">
            <a:avLst/>
          </a:prstGeom>
          <a:noFill/>
        </p:spPr>
        <p:txBody>
          <a:bodyPr wrap="square" lIns="0" rIns="0" tIns="0" bIns="0" anchor="t">
            <a:spAutoFit/>
          </a:bodyPr>
          <a:lstStyle/>
          <a:p>
            <a:pPr algn="l">
              <a:spcAft>
                <a:spcPts val="400"/>
              </a:spcAft>
            </a:pPr>
            <a:r>
              <a:rPr sz="1200" b="0">
                <a:solidFill>
                  <a:srgbClr val="3E4C55"/>
                </a:solidFill>
                <a:latin typeface="Calibri"/>
              </a:rPr>
              <a:t>Two sources in the first submission could not be located.</a:t>
            </a:r>
          </a:p>
          <a:p>
            <a:pPr algn="l">
              <a:spcAft>
                <a:spcPts val="400"/>
              </a:spcAft>
            </a:pPr>
            <a:r>
              <a:rPr sz="1200" b="1">
                <a:solidFill>
                  <a:srgbClr val="0F766E"/>
                </a:solidFill>
                <a:latin typeface="Calibri"/>
              </a:rPr>
              <a:t>Solution: </a:t>
            </a:r>
            <a:r>
              <a:rPr sz="1200" b="0">
                <a:solidFill>
                  <a:srgbClr val="3E4C55"/>
                </a:solidFill>
                <a:latin typeface="Calibri"/>
              </a:rPr>
              <a:t>withdrawn, every reference checked against its source, each check recorded in Appendix E.</a:t>
            </a:r>
          </a:p>
        </p:txBody>
      </p:sp>
      <p:sp>
        <p:nvSpPr>
          <p:cNvPr id="26" name="Rounded Rectangle 25"/>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Each challenge is recorded in the report, so every fix can be checked.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IMPLEMENTATION  ·  PROPOSAL SECTION 7</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Risks and mitigations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13</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graphicFrame>
        <p:nvGraphicFramePr>
          <p:cNvPr id="6" name="Table 5"/>
          <p:cNvGraphicFramePr>
            <a:graphicFrameLocks noGrp="1"/>
          </p:cNvGraphicFramePr>
          <p:nvPr/>
        </p:nvGraphicFramePr>
        <p:xfrm>
          <a:off x="566928" y="1325880"/>
          <a:ext cx="11055096" cy="4224528"/>
        </p:xfrm>
        <a:graphic>
          <a:graphicData uri="http://schemas.openxmlformats.org/drawingml/2006/table">
            <a:tbl>
              <a:tblPr firstRow="0" bandRow="0"/>
              <a:tblGrid>
                <a:gridCol w="2331720"/>
                <a:gridCol w="1005840"/>
                <a:gridCol w="3063240"/>
                <a:gridCol w="4654296"/>
              </a:tblGrid>
              <a:tr h="384048">
                <a:tc>
                  <a:txBody>
                    <a:bodyPr wrap="square"/>
                    <a:lstStyle/>
                    <a:p>
                      <a:r>
                        <a:rPr sz="1200" b="1">
                          <a:solidFill>
                            <a:srgbClr val="FFFFFF"/>
                          </a:solidFill>
                          <a:latin typeface="Calibri"/>
                        </a:rPr>
                        <a:t>Risk</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Likelihood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Mitigation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What happened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r>
              <a:tr h="548640">
                <a:tc>
                  <a:txBody>
                    <a:bodyPr wrap="square"/>
                    <a:lstStyle/>
                    <a:p>
                      <a:r>
                        <a:rPr sz="1050" b="1">
                          <a:solidFill>
                            <a:srgbClr val="1F2933"/>
                          </a:solidFill>
                          <a:latin typeface="Calibri"/>
                        </a:rPr>
                        <a:t>Missing or incomplete audit log data</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Medium</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Validate input; handle incomplete records gracefully</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Parsers mark missing names, bad timestamps and negative durations instead of dropping rows (TC-01).</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Format changes in SurveyCTO or ODK logs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Low</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Configurable field mapping; documented format guide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Automatic format detection and event mapping; native ODK logs detected. SurveyCTO's native text audit is still unsupported.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Slow processing on large datasets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Medium</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Vectorised pandas; benchmark at increasing sizes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10,000 interviews in 1,069 s: roughly constant cost per interview, about 0.11 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Incorrect or unstable detection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Medium</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Validate on labelled synthetic data; report precision and recall</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Occurred: early perfect scores were too easy. Rebuilt evaluation gives precision 0.96 to 1.00, recall 0.84 to 1.00.</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Features that do not discriminate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Low</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Mann-Whitney tests; document weak features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30 of 40 features are significant; the other 10 are documented, not hidden.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Library version change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1">
                          <a:solidFill>
                            <a:srgbClr val="B45309"/>
                          </a:solidFill>
                          <a:latin typeface="Calibri"/>
                        </a:rPr>
                        <a:t>Not foreseen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Pinned environment; CI on pandas 2 and 3</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pandas 3 silently broke ISO timestamp conversion; found in a clean-environment audit and fixed.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548640">
                <a:tc>
                  <a:txBody>
                    <a:bodyPr wrap="square"/>
                    <a:lstStyle/>
                    <a:p>
                      <a:r>
                        <a:rPr sz="1050" b="1">
                          <a:solidFill>
                            <a:srgbClr val="1F2933"/>
                          </a:solidFill>
                          <a:latin typeface="Calibri"/>
                        </a:rPr>
                        <a:t>Sources that cannot be verified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1">
                          <a:solidFill>
                            <a:srgbClr val="B45309"/>
                          </a:solidFill>
                          <a:latin typeface="Calibri"/>
                        </a:rPr>
                        <a:t>Not foreseen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Check every reference against its source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050" b="0">
                          <a:solidFill>
                            <a:srgbClr val="1F2933"/>
                          </a:solidFill>
                          <a:latin typeface="Calibri"/>
                        </a:rPr>
                        <a:t>Two references withdrawn; every check recorded in Appendix 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bl>
          </a:graphicData>
        </a:graphic>
      </p:graphicFrame>
      <p:sp>
        <p:nvSpPr>
          <p:cNvPr id="7" name="TextBox 6"/>
          <p:cNvSpPr txBox="1"/>
          <p:nvPr/>
        </p:nvSpPr>
        <p:spPr>
          <a:xfrm>
            <a:off x="566928" y="6144768"/>
            <a:ext cx="10140696" cy="274320"/>
          </a:xfrm>
          <a:prstGeom prst="rect">
            <a:avLst/>
          </a:prstGeom>
          <a:noFill/>
        </p:spPr>
        <p:txBody>
          <a:bodyPr wrap="square" lIns="0" rIns="0" tIns="0" bIns="0" anchor="ctr">
            <a:spAutoFit/>
          </a:bodyPr>
          <a:lstStyle/>
          <a:p>
            <a:pPr algn="l"/>
            <a:r>
              <a:rPr sz="1050" b="0">
                <a:solidFill>
                  <a:srgbClr val="6B7785"/>
                </a:solidFill>
                <a:latin typeface="Calibri"/>
              </a:rPr>
              <a:t>Risks 1 to 5 and their likelihoods are from the proposal's risk analysis (section 7). Risks 6 and 7 were not foreseen and were mitigated after they occurred.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TESTING  ·  APPENDIX D.2</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Test results: 44 of 44 pass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14</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graphicFrame>
        <p:nvGraphicFramePr>
          <p:cNvPr id="6" name="Table 5"/>
          <p:cNvGraphicFramePr>
            <a:graphicFrameLocks noGrp="1"/>
          </p:cNvGraphicFramePr>
          <p:nvPr/>
        </p:nvGraphicFramePr>
        <p:xfrm>
          <a:off x="566928" y="1371600"/>
          <a:ext cx="11055096" cy="2852928"/>
        </p:xfrm>
        <a:graphic>
          <a:graphicData uri="http://schemas.openxmlformats.org/drawingml/2006/table">
            <a:tbl>
              <a:tblPr firstRow="0" bandRow="0"/>
              <a:tblGrid>
                <a:gridCol w="731520"/>
                <a:gridCol w="2331720"/>
                <a:gridCol w="6355080"/>
                <a:gridCol w="685800"/>
                <a:gridCol w="950976"/>
              </a:tblGrid>
              <a:tr h="475488">
                <a:tc>
                  <a:txBody>
                    <a:bodyPr wrap="square"/>
                    <a:lstStyle/>
                    <a:p>
                      <a:r>
                        <a:rPr sz="1200" b="1">
                          <a:solidFill>
                            <a:srgbClr val="FFFFFF"/>
                          </a:solidFill>
                          <a:latin typeface="Calibri"/>
                        </a:rPr>
                        <a:t>TC</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Test suite</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What it checks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Tests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c>
                  <a:txBody>
                    <a:bodyPr wrap="square"/>
                    <a:lstStyle/>
                    <a:p>
                      <a:r>
                        <a:rPr sz="1200" b="1">
                          <a:solidFill>
                            <a:srgbClr val="FFFFFF"/>
                          </a:solidFill>
                          <a:latin typeface="Calibri"/>
                        </a:rPr>
                        <a:t>Result</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0F766E"/>
                    </a:solidFill>
                  </a:tcPr>
                </a:tc>
              </a:tr>
              <a:tr h="475488">
                <a:tc>
                  <a:txBody>
                    <a:bodyPr wrap="square"/>
                    <a:lstStyle/>
                    <a:p>
                      <a:r>
                        <a:rPr sz="1100" b="1">
                          <a:solidFill>
                            <a:srgbClr val="1F2933"/>
                          </a:solidFill>
                          <a:latin typeface="Calibri"/>
                        </a:rPr>
                        <a:t>TC-01</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Parsers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Both formats parse; ISO times convert to epoch ms; native ODK logs detected; one history parses identically from both formats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7</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1">
                          <a:solidFill>
                            <a:srgbClr val="0F766E"/>
                          </a:solidFill>
                          <a:latin typeface="Calibri"/>
                        </a:rPr>
                        <a:t>PASS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475488">
                <a:tc>
                  <a:txBody>
                    <a:bodyPr wrap="square"/>
                    <a:lstStyle/>
                    <a:p>
                      <a:r>
                        <a:rPr sz="1100" b="1">
                          <a:solidFill>
                            <a:srgbClr val="1F2933"/>
                          </a:solidFill>
                          <a:latin typeface="Calibri"/>
                        </a:rPr>
                        <a:t>TC-02</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Feature extraction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Question, section, survey and statistical features; administrative events kept out of section statistics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9</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1">
                          <a:solidFill>
                            <a:srgbClr val="0F766E"/>
                          </a:solidFill>
                          <a:latin typeface="Calibri"/>
                        </a:rPr>
                        <a:t>PASS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475488">
                <a:tc>
                  <a:txBody>
                    <a:bodyPr wrap="square"/>
                    <a:lstStyle/>
                    <a:p>
                      <a:r>
                        <a:rPr sz="1100" b="1">
                          <a:solidFill>
                            <a:srgbClr val="1F2933"/>
                          </a:solidFill>
                          <a:latin typeface="Calibri"/>
                        </a:rPr>
                        <a:t>TC-03</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Pipeline controller</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Per-interview aggregation, automatic format detection, question and section output files written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7</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1">
                          <a:solidFill>
                            <a:srgbClr val="0F766E"/>
                          </a:solidFill>
                          <a:latin typeface="Calibri"/>
                        </a:rPr>
                        <a:t>PASS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475488">
                <a:tc>
                  <a:txBody>
                    <a:bodyPr wrap="square"/>
                    <a:lstStyle/>
                    <a:p>
                      <a:r>
                        <a:rPr sz="1100" b="1">
                          <a:solidFill>
                            <a:srgbClr val="1F2933"/>
                          </a:solidFill>
                          <a:latin typeface="Calibri"/>
                        </a:rPr>
                        <a:t>TC-04</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Detector and configuration</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Score contract, upstream data-quality flag preserved, configurable thresholds, entropy fence off by default</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9</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1">
                          <a:solidFill>
                            <a:srgbClr val="0F766E"/>
                          </a:solidFill>
                          <a:latin typeface="Calibri"/>
                        </a:rPr>
                        <a:t>PASS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r h="475488">
                <a:tc>
                  <a:txBody>
                    <a:bodyPr wrap="square"/>
                    <a:lstStyle/>
                    <a:p>
                      <a:r>
                        <a:rPr sz="1100" b="1">
                          <a:solidFill>
                            <a:srgbClr val="1F2933"/>
                          </a:solidFill>
                          <a:latin typeface="Calibri"/>
                        </a:rPr>
                        <a:t>TC-05</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End to end</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Full run on the labelled sample: precision and recall meet thresholds, fabricated interviews score at least 5</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0">
                          <a:solidFill>
                            <a:srgbClr val="1F2933"/>
                          </a:solidFill>
                          <a:latin typeface="Calibri"/>
                        </a:rPr>
                        <a:t>12</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c>
                  <a:txBody>
                    <a:bodyPr wrap="square"/>
                    <a:lstStyle/>
                    <a:p>
                      <a:r>
                        <a:rPr sz="1100" b="1">
                          <a:solidFill>
                            <a:srgbClr val="0F766E"/>
                          </a:solidFill>
                          <a:latin typeface="Calibri"/>
                        </a:rPr>
                        <a:t>PASS</a:t>
                      </a:r>
                    </a:p>
                  </a:txBody>
                  <a:tcPr marL="91440" marR="91440" marT="45720" marB="45720" anchor="ctr">
                    <a:lnL w="9525">
                      <a:solidFill>
                        <a:srgbClr val="D6DEE5"/>
                      </a:solidFill>
                    </a:lnL>
                    <a:lnR w="9525">
                      <a:solidFill>
                        <a:srgbClr val="D6DEE5"/>
                      </a:solidFill>
                    </a:lnR>
                    <a:lnT w="9525">
                      <a:solidFill>
                        <a:srgbClr val="D6DEE5"/>
                      </a:solidFill>
                    </a:lnT>
                    <a:lnB w="9525">
                      <a:solidFill>
                        <a:srgbClr val="D6DEE5"/>
                      </a:solidFill>
                    </a:lnB>
                    <a:solidFill>
                      <a:srgbClr val="FFFFFF"/>
                    </a:solidFill>
                  </a:tcPr>
                </a:tc>
              </a:tr>
            </a:tbl>
          </a:graphicData>
        </a:graphic>
      </p:graphicFrame>
      <p:pic>
        <p:nvPicPr>
          <p:cNvPr id="7" name="Picture 6" descr="demo6_tests.png"/>
          <p:cNvPicPr>
            <a:picLocks noChangeAspect="1"/>
          </p:cNvPicPr>
          <p:nvPr/>
        </p:nvPicPr>
        <p:blipFill>
          <a:blip r:embed="rId2"/>
          <a:stretch>
            <a:fillRect/>
          </a:stretch>
        </p:blipFill>
        <p:spPr>
          <a:xfrm>
            <a:off x="566928" y="4434840"/>
            <a:ext cx="7223760" cy="1560332"/>
          </a:xfrm>
          <a:prstGeom prst="rect">
            <a:avLst/>
          </a:prstGeom>
        </p:spPr>
      </p:pic>
      <p:sp>
        <p:nvSpPr>
          <p:cNvPr id="8" name="Rounded Rectangle 7"/>
          <p:cNvSpPr/>
          <p:nvPr/>
        </p:nvSpPr>
        <p:spPr>
          <a:xfrm>
            <a:off x="8001000" y="4434840"/>
            <a:ext cx="3621024" cy="1563624"/>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02168" y="4572000"/>
            <a:ext cx="3200400" cy="594360"/>
          </a:xfrm>
          <a:prstGeom prst="rect">
            <a:avLst/>
          </a:prstGeom>
          <a:noFill/>
        </p:spPr>
        <p:txBody>
          <a:bodyPr wrap="square" lIns="0" rIns="0" tIns="0" bIns="0" anchor="ctr">
            <a:spAutoFit/>
          </a:bodyPr>
          <a:lstStyle/>
          <a:p>
            <a:pPr algn="l"/>
            <a:r>
              <a:rPr sz="3400" b="1">
                <a:solidFill>
                  <a:srgbClr val="0F766E"/>
                </a:solidFill>
                <a:latin typeface="Cambria"/>
              </a:rPr>
              <a:t>44 / 44</a:t>
            </a:r>
          </a:p>
        </p:txBody>
      </p:sp>
      <p:sp>
        <p:nvSpPr>
          <p:cNvPr id="10" name="TextBox 9"/>
          <p:cNvSpPr txBox="1"/>
          <p:nvPr/>
        </p:nvSpPr>
        <p:spPr>
          <a:xfrm>
            <a:off x="8202168" y="5212080"/>
            <a:ext cx="3246120" cy="685800"/>
          </a:xfrm>
          <a:prstGeom prst="rect">
            <a:avLst/>
          </a:prstGeom>
          <a:noFill/>
        </p:spPr>
        <p:txBody>
          <a:bodyPr wrap="square" lIns="0" rIns="0" tIns="0" bIns="0" anchor="t">
            <a:spAutoFit/>
          </a:bodyPr>
          <a:lstStyle/>
          <a:p>
            <a:pPr algn="l"/>
            <a:r>
              <a:rPr sz="1100" b="0">
                <a:solidFill>
                  <a:srgbClr val="1F2933"/>
                </a:solidFill>
                <a:latin typeface="Calibri"/>
              </a:rPr>
              <a:t>pass in about 8 seconds. CI repeats them on Python 3.12 with pandas 2 and Python 3.14 with pandas 3.</a:t>
            </a:r>
          </a:p>
        </p:txBody>
      </p:sp>
      <p:sp>
        <p:nvSpPr>
          <p:cNvPr id="11" name="TextBox 10"/>
          <p:cNvSpPr txBox="1"/>
          <p:nvPr/>
        </p:nvSpPr>
        <p:spPr>
          <a:xfrm>
            <a:off x="566928" y="6144768"/>
            <a:ext cx="10140696" cy="274320"/>
          </a:xfrm>
          <a:prstGeom prst="rect">
            <a:avLst/>
          </a:prstGeom>
          <a:noFill/>
        </p:spPr>
        <p:txBody>
          <a:bodyPr wrap="square" lIns="0" rIns="0" tIns="0" bIns="0" anchor="ctr">
            <a:spAutoFit/>
          </a:bodyPr>
          <a:lstStyle/>
          <a:p>
            <a:pPr algn="l"/>
            <a:r>
              <a:rPr sz="1050" b="0">
                <a:solidFill>
                  <a:srgbClr val="6B7785"/>
                </a:solidFill>
                <a:latin typeface="Calibri"/>
              </a:rPr>
              <a:t>Screenshot: python -m pytest, run on 12 October 2026 (Python 3.14.0, pytest 9.0.2). Suites: tests/test_*.py.</a:t>
            </a:r>
          </a:p>
        </p:txBody>
      </p:sp>
      <p:sp>
        <p:nvSpPr>
          <p:cNvPr id="12" name="Rounded Rectangle 11"/>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4" name="Rounded Rectangle 13"/>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6" name="Rounded Rectangle 15"/>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18" name="Rounded Rectangle 17"/>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0" name="Rounded Rectangle 19"/>
          <p:cNvSpPr/>
          <p:nvPr/>
        </p:nvSpPr>
        <p:spPr>
          <a:xfrm>
            <a:off x="10012680" y="365760"/>
            <a:ext cx="74980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365760"/>
            <a:ext cx="749808" cy="246888"/>
          </a:xfrm>
          <a:prstGeom prst="rect">
            <a:avLst/>
          </a:prstGeom>
          <a:noFill/>
        </p:spPr>
        <p:txBody>
          <a:bodyPr wrap="square" lIns="0" rIns="0" tIns="0" bIns="0" anchor="ctr">
            <a:spAutoFit/>
          </a:bodyPr>
          <a:lstStyle/>
          <a:p>
            <a:pPr algn="ctr"/>
            <a:r>
              <a:rPr sz="850" b="1">
                <a:solidFill>
                  <a:srgbClr val="FFFFFF"/>
                </a:solidFill>
                <a:latin typeface="Calibri"/>
              </a:rPr>
              <a:t>Evaluation</a:t>
            </a:r>
          </a:p>
        </p:txBody>
      </p:sp>
      <p:sp>
        <p:nvSpPr>
          <p:cNvPr id="22" name="Rounded Rectangle 21"/>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6.3</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Against the methods field practice actually uses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15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71600"/>
          <a:ext cx="7406640" cy="914400"/>
        </p:xfrm>
        <a:graphic>
          <a:graphicData uri="http://schemas.openxmlformats.org/drawingml/2006/table">
            <a:tbl>
              <a:tblPr/>
              <a:tblGrid>
                <a:gridCol w="3291840"/>
                <a:gridCol w="1371600"/>
                <a:gridCol w="1371600"/>
                <a:gridCol w="137160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solidFill>
                      <a:srgbClr val="0F766E"/>
                    </a:solidFill>
                  </a:tcPr>
                </a:tc>
              </a:tr>
              <a:tr h="384048">
                <a:tc>
                  <a:txBody>
                    <a:bodyPr/>
                    <a:lstStyle/>
                    <a:p>
                      <a:pPr algn="l" indent="0" marL="0">
                        <a:buNone/>
                      </a:pPr>
                      <a:r>
                        <a:rPr lang="en-US" sz="1300" b="1" dirty="0">
                          <a:solidFill>
                            <a:srgbClr val="1F2933"/>
                          </a:solidFill>
                          <a:latin typeface="Calibri" pitchFamily="34" charset="0"/>
                          <a:ea typeface="Calibri" pitchFamily="34" charset="-122"/>
                          <a:cs typeface="Calibri" pitchFamily="34" charset="-120"/>
                        </a:rPr>
                        <a:t>Full detector</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b="1" dirty="0">
                          <a:solidFill>
                            <a:srgbClr val="0F766E"/>
                          </a:solidFill>
                          <a:latin typeface="Calibri" pitchFamily="34" charset="0"/>
                          <a:ea typeface="Calibri" pitchFamily="34" charset="-122"/>
                          <a:cs typeface="Calibri" pitchFamily="34" charset="-120"/>
                        </a:rPr>
                        <a:t>1.0000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Duration-only IQR baseline</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0.9565</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0.6600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0.7811</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r h="384048">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V-10 rule, 20+ events without going back</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0.4648</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B45309"/>
                          </a:solidFill>
                          <a:latin typeface="Calibri" pitchFamily="34" charset="0"/>
                          <a:ea typeface="Calibri" pitchFamily="34" charset="-122"/>
                          <a:cs typeface="Calibri" pitchFamily="34" charset="-120"/>
                        </a:rPr>
                        <a:t>0.6600</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c>
                  <a:txBody>
                    <a:bodyPr/>
                    <a:lstStyle/>
                    <a:p>
                      <a:pPr algn="l" indent="0" marL="0">
                        <a:buNone/>
                      </a:pPr>
                      <a:r>
                        <a:rPr lang="en-US" sz="1300" dirty="0">
                          <a:solidFill>
                            <a:srgbClr val="1F2933"/>
                          </a:solidFill>
                          <a:latin typeface="Calibri" pitchFamily="34" charset="0"/>
                          <a:ea typeface="Calibri" pitchFamily="34" charset="-122"/>
                          <a:cs typeface="Calibri" pitchFamily="34" charset="-120"/>
                        </a:rPr>
                        <a:t>0.5455</a:t>
                      </a:r>
                      <a:endParaRPr lang="en-US" sz="1300" dirty="0">
                        <a:latin typeface="Calibri" charset="0"/>
                        <a:ea typeface="Calibri" charset="0"/>
                        <a:cs typeface="Calibri" charset="0"/>
                      </a:endParaRPr>
                    </a:p>
                  </a:txBody>
                  <a:tcPr marL="91440" marR="91440" marT="45720" marB="45720" anchor="ctr">
                    <a:lnL w="9525" cap="flat" cmpd="sng" algn="ctr">
                      <a:solidFill>
                        <a:srgbClr val="D6DEE5"/>
                      </a:solidFill>
                      <a:prstDash val="solid"/>
                      <a:round/>
                      <a:headEnd type="none" w="med" len="med"/>
                      <a:tailEnd type="none" w="med" len="med"/>
                    </a:lnL>
                    <a:lnR w="9525" cap="flat" cmpd="sng" algn="ctr">
                      <a:solidFill>
                        <a:srgbClr val="D6DEE5"/>
                      </a:solidFill>
                      <a:prstDash val="solid"/>
                      <a:round/>
                      <a:headEnd type="none" w="med" len="med"/>
                      <a:tailEnd type="none" w="med" len="med"/>
                    </a:lnR>
                    <a:lnT w="9525" cap="flat" cmpd="sng" algn="ctr">
                      <a:solidFill>
                        <a:srgbClr val="D6DEE5"/>
                      </a:solidFill>
                      <a:prstDash val="solid"/>
                      <a:round/>
                      <a:headEnd type="none" w="med" len="med"/>
                      <a:tailEnd type="none" w="med" len="med"/>
                    </a:lnT>
                    <a:lnB w="9525" cap="flat" cmpd="sng" algn="ctr">
                      <a:solidFill>
                        <a:srgbClr val="D6DEE5"/>
                      </a:solidFill>
                      <a:prstDash val="solid"/>
                      <a:round/>
                      <a:headEnd type="none" w="med" len="med"/>
                      <a:tailEnd type="none" w="med" len="med"/>
                    </a:lnB>
                  </a:tcPr>
                </a:tc>
              </a:tr>
            </a:tbl>
          </a:graphicData>
        </a:graphic>
      </p:graphicFrame>
      <p:sp>
        <p:nvSpPr>
          <p:cNvPr id="7" name="Text 4"/>
          <p:cNvSpPr txBox="1"/>
          <p:nvPr/>
        </p:nvSpPr>
        <p:spPr>
          <a:xfrm>
            <a:off x="566928" y="3246120"/>
            <a:ext cx="7406640" cy="1691640"/>
          </a:xfrm>
          <a:prstGeom prst="rect">
            <a:avLst/>
          </a:prstGeom>
          <a:noFill/>
          <a:ln/>
        </p:spPr>
        <p:txBody>
          <a:bodyPr wrap="square" lIns="0" tIns="0" rIns="0" bIns="0" rtlCol="0" anchor="ctr"/>
          <a:lstStyle/>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The duration-only baseline misses 34 of the 100 anomalies, every one with a total duration inside the fences.</a:t>
            </a:r>
            <a:endParaRPr lang="en-US" sz="1250" dirty="0"/>
          </a:p>
          <a:p>
            <a:pPr indent="0" marL="0">
              <a:lnSpc>
                <a:spcPts val="1750"/>
              </a:lnSpc>
              <a:buNone/>
            </a:pPr>
            <a:r>
              <a:rPr lang="en-US" sz="60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The V-10 rule flags 142 interviews to find the same 66, giving 76 false positives. Neither meets the 0.75 recall threshold.</a:t>
            </a:r>
            <a:endParaRPr lang="en-US" sz="1250" dirty="0"/>
          </a:p>
          <a:p>
            <a:pPr indent="0" marL="0">
              <a:lnSpc>
                <a:spcPts val="1750"/>
              </a:lnSpc>
              <a:buNone/>
            </a:pPr>
            <a:r>
              <a:rPr lang="en-US" sz="1250" dirty="0">
                <a:solidFill>
                  <a:srgbClr val="1F2933"/>
                </a:solidFill>
                <a:latin typeface="Calibri" pitchFamily="34" charset="0"/>
                <a:ea typeface="Calibri" pitchFamily="34" charset="-122"/>
                <a:cs typeface="Calibri" pitchFamily="34" charset="-120"/>
              </a:rPr>
              <a:t> </a:t>
            </a:r>
            <a:endParaRPr lang="en-US" sz="1250" dirty="0"/>
          </a:p>
          <a:p>
            <a:pPr indent="0" marL="0">
              <a:lnSpc>
                <a:spcPts val="1750"/>
              </a:lnSpc>
              <a:buNone/>
            </a:pPr>
            <a:r>
              <a:rPr lang="en-US" sz="1250" dirty="0" b="1">
                <a:solidFill>
                  <a:srgbClr val="1F2933"/>
                </a:solidFill>
                <a:latin typeface="Calibri" pitchFamily="34" charset="0"/>
                <a:ea typeface="Calibri" pitchFamily="34" charset="-122"/>
                <a:cs typeface="Calibri" pitchFamily="34" charset="-120"/>
              </a:rPr>
              <a:t>Under stress on held-out seeds: </a:t>
            </a:r>
            <a:r>
              <a:rPr lang="en-US" sz="1250" dirty="0" b="0">
                <a:solidFill>
                  <a:srgbClr val="1F2933"/>
                </a:solidFill>
                <a:latin typeface="Calibri" pitchFamily="34" charset="0"/>
                <a:ea typeface="Calibri" pitchFamily="34" charset="-122"/>
                <a:cs typeface="Calibri" pitchFamily="34" charset="-120"/>
              </a:rPr>
              <a:t>the duration check finds 0 of 400 anomalies, the full detector 346 (Table 6a).</a:t>
            </a:r>
            <a:endParaRPr lang="en-US" sz="1250" dirty="0"/>
          </a:p>
        </p:txBody>
      </p:sp>
      <p:sp>
        <p:nvSpPr>
          <p:cNvPr id="8" name="Shape 5"/>
          <p:cNvSpPr/>
          <p:nvPr/>
        </p:nvSpPr>
        <p:spPr>
          <a:xfrm>
            <a:off x="8229600" y="1371600"/>
            <a:ext cx="3401568" cy="1572768"/>
          </a:xfrm>
          <a:prstGeom prst="roundRect">
            <a:avLst>
              <a:gd name="adj" fmla="val 2907"/>
            </a:avLst>
          </a:prstGeom>
          <a:solidFill>
            <a:srgbClr val="EEF2F6"/>
          </a:solidFill>
          <a:ln w="12700">
            <a:solidFill>
              <a:srgbClr val="EEF2F6"/>
            </a:solidFill>
            <a:prstDash val="solid"/>
          </a:ln>
        </p:spPr>
        <p:txBody>
          <a:bodyPr/>
          <a:p/>
        </p:txBody>
      </p:sp>
      <p:sp>
        <p:nvSpPr>
          <p:cNvPr id="9" name="Text 6"/>
          <p:cNvSpPr txBox="1"/>
          <p:nvPr/>
        </p:nvSpPr>
        <p:spPr>
          <a:xfrm>
            <a:off x="8375904" y="1517904"/>
            <a:ext cx="3108960" cy="749808"/>
          </a:xfrm>
          <a:prstGeom prst="rect">
            <a:avLst/>
          </a:prstGeom>
          <a:noFill/>
          <a:ln/>
        </p:spPr>
        <p:txBody>
          <a:bodyPr wrap="square" lIns="0" tIns="0" rIns="0" bIns="0" rtlCol="0" anchor="ctr"/>
          <a:lstStyle/>
          <a:p>
            <a:pPr algn="ctr" indent="0" marL="0">
              <a:buNone/>
            </a:pPr>
            <a:r>
              <a:rPr lang="en-US" sz="3400" b="1" dirty="0">
                <a:solidFill>
                  <a:srgbClr val="0F766E"/>
                </a:solidFill>
                <a:latin typeface="Cambria" pitchFamily="34" charset="0"/>
                <a:ea typeface="Cambria" pitchFamily="34" charset="-122"/>
                <a:cs typeface="Cambria" pitchFamily="34" charset="-120"/>
              </a:rPr>
              <a:t>+34</a:t>
            </a:r>
            <a:endParaRPr lang="en-US" sz="3400" dirty="0"/>
          </a:p>
        </p:txBody>
      </p:sp>
      <p:sp>
        <p:nvSpPr>
          <p:cNvPr id="10" name="Text 7"/>
          <p:cNvSpPr txBox="1"/>
          <p:nvPr/>
        </p:nvSpPr>
        <p:spPr>
          <a:xfrm>
            <a:off x="8375904" y="2286000"/>
            <a:ext cx="3108960" cy="548640"/>
          </a:xfrm>
          <a:prstGeom prst="rect">
            <a:avLst/>
          </a:prstGeom>
          <a:noFill/>
          <a:ln/>
        </p:spPr>
        <p:txBody>
          <a:bodyPr wrap="square" lIns="0" tIns="0" rIns="0" bIns="0" rtlCol="0" anchor="ctr"/>
          <a:lstStyle/>
          <a:p>
            <a:pPr algn="ctr" indent="0" marL="0">
              <a:lnSpc>
                <a:spcPts val="1500"/>
              </a:lnSpc>
              <a:buNone/>
            </a:pPr>
            <a:r>
              <a:rPr lang="en-US" sz="1150" dirty="0">
                <a:solidFill>
                  <a:srgbClr val="1F2933"/>
                </a:solidFill>
                <a:latin typeface="Calibri" pitchFamily="34" charset="0"/>
                <a:ea typeface="Calibri" pitchFamily="34" charset="-122"/>
                <a:cs typeface="Calibri" pitchFamily="34" charset="-120"/>
              </a:rPr>
              <a:t>percentage points of recall over the
check field teams actually run (0.66 to 1.00)</a:t>
            </a:r>
            <a:endParaRPr lang="en-US" sz="1150" dirty="0"/>
          </a:p>
        </p:txBody>
      </p:sp>
      <p:sp>
        <p:nvSpPr>
          <p:cNvPr id="11" name="Text 8"/>
          <p:cNvSpPr txBox="1"/>
          <p:nvPr/>
        </p:nvSpPr>
        <p:spPr>
          <a:xfrm>
            <a:off x="8229600" y="3154680"/>
            <a:ext cx="3401568" cy="1097280"/>
          </a:xfrm>
          <a:prstGeom prst="rect">
            <a:avLst/>
          </a:prstGeom>
          <a:noFill/>
          <a:ln/>
        </p:spPr>
        <p:txBody>
          <a:bodyPr wrap="square" lIns="0" tIns="0" rIns="0" bIns="0" rtlCol="0" anchor="ctr"/>
          <a:lstStyle/>
          <a:p>
            <a:pPr indent="0" marL="0">
              <a:lnSpc>
                <a:spcPts val="1600"/>
              </a:lnSpc>
              <a:buNone/>
            </a:pPr>
            <a:r>
              <a:rPr lang="en-US" sz="1150" dirty="0">
                <a:solidFill>
                  <a:srgbClr val="6B7785"/>
                </a:solidFill>
                <a:latin typeface="Calibri" pitchFamily="34" charset="0"/>
                <a:ea typeface="Calibri" pitchFamily="34" charset="-122"/>
                <a:cs typeface="Calibri" pitchFamily="34" charset="-120"/>
              </a:rPr>
              <a:t>All three methods are computed from the same raw files, the same features and the same labels inside one script, so the comparison involves no manual step.</a:t>
            </a:r>
            <a:endParaRPr lang="en-US" sz="1150" dirty="0"/>
          </a:p>
        </p:txBody>
      </p:sp>
      <p:sp>
        <p:nvSpPr>
          <p:cNvPr id="12" name="Shape 9"/>
          <p:cNvSpPr/>
          <p:nvPr/>
        </p:nvSpPr>
        <p:spPr>
          <a:xfrm>
            <a:off x="566928" y="502920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13" name="Shape 10"/>
          <p:cNvSpPr/>
          <p:nvPr/>
        </p:nvSpPr>
        <p:spPr>
          <a:xfrm>
            <a:off x="694944" y="5157216"/>
            <a:ext cx="91440" cy="310896"/>
          </a:xfrm>
          <a:prstGeom prst="roundRect">
            <a:avLst>
              <a:gd name="adj" fmla="val 40000"/>
            </a:avLst>
          </a:prstGeom>
          <a:solidFill>
            <a:srgbClr val="0F766E"/>
          </a:solidFill>
          <a:ln w="12700">
            <a:solidFill>
              <a:srgbClr val="0F766E"/>
            </a:solidFill>
            <a:prstDash val="solid"/>
          </a:ln>
        </p:spPr>
        <p:txBody>
          <a:bodyPr/>
          <a:p/>
        </p:txBody>
      </p:sp>
      <p:sp>
        <p:nvSpPr>
          <p:cNvPr id="14" name="Text 11"/>
          <p:cNvSpPr txBox="1"/>
          <p:nvPr/>
        </p:nvSpPr>
        <p:spPr>
          <a:xfrm>
            <a:off x="932688" y="507492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central result: multi-feature timing analysis captures about a third of anomalies that aggregate duration cannot see.</a:t>
            </a:r>
            <a:endParaRPr lang="en-US" sz="1350" dirty="0"/>
          </a:p>
        </p:txBody>
      </p:sp>
      <p:sp>
        <p:nvSpPr>
          <p:cNvPr id="15" name="Text 12"/>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Sources: output/examiner_audit/strict_examiner_audit_report.md, n500 SurveyCTO benchmark; output/robustness_validation/baseline_breakdown.csv, held-out stress runs.</a:t>
            </a:r>
            <a:endParaRPr lang="en-US" sz="1050" dirty="0"/>
          </a:p>
        </p:txBody>
      </p:sp>
      <p:sp>
        <p:nvSpPr>
          <p:cNvPr id="19" name="Rounded Rectangle 18"/>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21" name="Rounded Rectangle 20"/>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23" name="Rounded Rectangle 22"/>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25" name="Rounded Rectangle 24"/>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7" name="Rounded Rectangle 26"/>
          <p:cNvSpPr/>
          <p:nvPr/>
        </p:nvSpPr>
        <p:spPr>
          <a:xfrm>
            <a:off x="10012680" y="365760"/>
            <a:ext cx="74980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12680" y="365760"/>
            <a:ext cx="749808" cy="246888"/>
          </a:xfrm>
          <a:prstGeom prst="rect">
            <a:avLst/>
          </a:prstGeom>
          <a:noFill/>
        </p:spPr>
        <p:txBody>
          <a:bodyPr wrap="square" lIns="0" rIns="0" tIns="0" bIns="0" anchor="ctr">
            <a:spAutoFit/>
          </a:bodyPr>
          <a:lstStyle/>
          <a:p>
            <a:pPr algn="ctr"/>
            <a:r>
              <a:rPr sz="850" b="1">
                <a:solidFill>
                  <a:srgbClr val="FFFFFF"/>
                </a:solidFill>
                <a:latin typeface="Calibri"/>
              </a:rPr>
              <a:t>Evaluation</a:t>
            </a:r>
          </a:p>
        </p:txBody>
      </p:sp>
      <p:sp>
        <p:nvSpPr>
          <p:cNvPr id="29" name="Rounded Rectangle 28"/>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RESULTS 6.6</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Where the method is strong and where it is weak</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16</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pic>
        <p:nvPicPr>
          <p:cNvPr id="6" name="Image 0" descr="C:\Users\Samuel\Desktop\4th year\Final year project\SKACE-Time-Data\report\figures\figure3_per_class_recall.png">    </p:cNvPr>
          <p:cNvPicPr>
            <a:picLocks noChangeAspect="1"/>
          </p:cNvPicPr>
          <p:nvPr/>
        </p:nvPicPr>
        <p:blipFill>
          <a:blip r:embed="rId1"/>
          <a:stretch>
            <a:fillRect/>
          </a:stretch>
        </p:blipFill>
        <p:spPr>
          <a:xfrm>
            <a:off x="566928" y="1280160"/>
            <a:ext cx="7040880" cy="4379976"/>
          </a:xfrm>
          <a:prstGeom prst="rect">
            <a:avLst/>
          </a:prstGeom>
        </p:spPr>
      </p:pic>
      <p:sp>
        <p:nvSpPr>
          <p:cNvPr id="7" name="Text 4"/>
          <p:cNvSpPr txBox="1"/>
          <p:nvPr/>
        </p:nvSpPr>
        <p:spPr>
          <a:xfrm>
            <a:off x="7818120" y="1463040"/>
            <a:ext cx="3813048" cy="3840480"/>
          </a:xfrm>
          <a:prstGeom prst="rect">
            <a:avLst/>
          </a:prstGeom>
          <a:noFill/>
          <a:ln/>
        </p:spPr>
        <p:txBody>
          <a:bodyPr wrap="square" lIns="0" tIns="0" rIns="0" bIns="0" rtlCol="0" anchor="ctr"/>
          <a:lstStyle/>
          <a:p>
            <a:pPr indent="0" marL="0">
              <a:lnSpc>
                <a:spcPts val="1700"/>
              </a:lnSpc>
              <a:buNone/>
            </a:pPr>
            <a:r>
              <a:rPr lang="en-US" sz="1500" b="1" dirty="0">
                <a:solidFill>
                  <a:srgbClr val="0F766E"/>
                </a:solidFill>
                <a:latin typeface="Cambria" pitchFamily="34" charset="0"/>
                <a:ea typeface="Cambria" pitchFamily="34" charset="-122"/>
                <a:cs typeface="Cambria" pitchFamily="34" charset="-120"/>
              </a:rPr>
              <a:t>Speeding  132 / 132</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Detected without exception in all four runs.</a:t>
            </a:r>
            <a:endParaRPr lang="en-US" sz="1500" dirty="0"/>
          </a:p>
          <a:p>
            <a:pPr indent="0" marL="0">
              <a:lnSpc>
                <a:spcPts val="1700"/>
              </a:lnSpc>
              <a:buNone/>
            </a:pPr>
            <a:r>
              <a:rPr lang="en-US" sz="800" dirty="0">
                <a:solidFill>
                  <a:srgbClr val="1F2933"/>
                </a:solidFill>
                <a:latin typeface="Calibri" pitchFamily="34" charset="0"/>
                <a:ea typeface="Calibri" pitchFamily="34" charset="-122"/>
                <a:cs typeface="Calibri" pitchFamily="34" charset="-120"/>
              </a:rPr>
              <a:t> </a:t>
            </a:r>
            <a:endParaRPr lang="en-US" sz="1500" dirty="0"/>
          </a:p>
          <a:p>
            <a:pPr indent="0" marL="0">
              <a:lnSpc>
                <a:spcPts val="1700"/>
              </a:lnSpc>
              <a:buNone/>
            </a:pPr>
            <a:r>
              <a:rPr lang="en-US" sz="1500" b="1" dirty="0">
                <a:solidFill>
                  <a:srgbClr val="7C3AED"/>
                </a:solidFill>
                <a:latin typeface="Cambria" pitchFamily="34" charset="0"/>
                <a:ea typeface="Cambria" pitchFamily="34" charset="-122"/>
                <a:cs typeface="Cambria" pitchFamily="34" charset="-120"/>
              </a:rPr>
              <a:t>Disengaged  121 / 136</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0.89, driven by the median-relative pause rule with elevated back-navigation.</a:t>
            </a:r>
            <a:endParaRPr lang="en-US" sz="1500" dirty="0"/>
          </a:p>
          <a:p>
            <a:pPr indent="0" marL="0">
              <a:lnSpc>
                <a:spcPts val="1700"/>
              </a:lnSpc>
              <a:buNone/>
            </a:pPr>
            <a:r>
              <a:rPr lang="en-US" sz="800" dirty="0">
                <a:solidFill>
                  <a:srgbClr val="1F2933"/>
                </a:solidFill>
                <a:latin typeface="Calibri" pitchFamily="34" charset="0"/>
                <a:ea typeface="Calibri" pitchFamily="34" charset="-122"/>
                <a:cs typeface="Calibri" pitchFamily="34" charset="-120"/>
              </a:rPr>
              <a:t> </a:t>
            </a:r>
            <a:endParaRPr lang="en-US" sz="1500" dirty="0"/>
          </a:p>
          <a:p>
            <a:pPr indent="0" marL="0">
              <a:lnSpc>
                <a:spcPts val="1700"/>
              </a:lnSpc>
              <a:buNone/>
            </a:pPr>
            <a:r>
              <a:rPr lang="en-US" sz="1500" b="1" dirty="0">
                <a:solidFill>
                  <a:srgbClr val="B45309"/>
                </a:solidFill>
                <a:latin typeface="Cambria" pitchFamily="34" charset="0"/>
                <a:ea typeface="Cambria" pitchFamily="34" charset="-122"/>
                <a:cs typeface="Cambria" pitchFamily="34" charset="-120"/>
              </a:rPr>
              <a:t>Fabricated  93 / 132</a:t>
            </a:r>
            <a:endParaRPr lang="en-US" sz="1500" dirty="0"/>
          </a:p>
          <a:p>
            <a:pPr indent="0" marL="0">
              <a:lnSpc>
                <a:spcPts val="1700"/>
              </a:lnSpc>
              <a:buNone/>
            </a:pPr>
            <a:r>
              <a:rPr lang="en-US" sz="1200" dirty="0">
                <a:solidFill>
                  <a:srgbClr val="1F2933"/>
                </a:solidFill>
                <a:latin typeface="Calibri" pitchFamily="34" charset="0"/>
                <a:ea typeface="Calibri" pitchFamily="34" charset="-122"/>
                <a:cs typeface="Calibri" pitchFamily="34" charset="-120"/>
              </a:rPr>
              <a:t>0.70, per-run between 0.61 and 0.76. The weakest class: the misses are mild fabrications.</a:t>
            </a:r>
            <a:endParaRPr lang="en-US" sz="1500" dirty="0"/>
          </a:p>
        </p:txBody>
      </p:sp>
      <p:sp>
        <p:nvSpPr>
          <p:cNvPr id="8" name="Text 5"/>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These are diagnostic breakdowns of one detector, not three detectors. The 0.75 criterion is defined for the combined detector and is not a per-class commitment.</a:t>
            </a:r>
            <a:endParaRPr lang="en-US" sz="1050" dirty="0"/>
          </a:p>
        </p:txBody>
      </p:sp>
      <p:sp>
        <p:nvSpPr>
          <p:cNvPr id="9" name="Rounded Rectangle 8"/>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1" name="Rounded Rectangle 10"/>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3" name="Rounded Rectangle 12"/>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15" name="Rounded Rectangle 14"/>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17" name="Rounded Rectangle 16"/>
          <p:cNvSpPr/>
          <p:nvPr/>
        </p:nvSpPr>
        <p:spPr>
          <a:xfrm>
            <a:off x="10012680" y="365760"/>
            <a:ext cx="74980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12680" y="365760"/>
            <a:ext cx="749808" cy="246888"/>
          </a:xfrm>
          <a:prstGeom prst="rect">
            <a:avLst/>
          </a:prstGeom>
          <a:noFill/>
        </p:spPr>
        <p:txBody>
          <a:bodyPr wrap="square" lIns="0" rIns="0" tIns="0" bIns="0" anchor="ctr">
            <a:spAutoFit/>
          </a:bodyPr>
          <a:lstStyle/>
          <a:p>
            <a:pPr algn="ctr"/>
            <a:r>
              <a:rPr sz="850" b="1">
                <a:solidFill>
                  <a:srgbClr val="FFFFFF"/>
                </a:solidFill>
                <a:latin typeface="Calibri"/>
              </a:rPr>
              <a:t>Evaluation</a:t>
            </a:r>
          </a:p>
        </p:txBody>
      </p:sp>
      <p:sp>
        <p:nvSpPr>
          <p:cNvPr id="19" name="Rounded Rectangle 18"/>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DISCUSSION  ·  CHAPTER 7</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Discussion of findings</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17</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Rounded Rectangle 5"/>
          <p:cNvSpPr/>
          <p:nvPr/>
        </p:nvSpPr>
        <p:spPr>
          <a:xfrm>
            <a:off x="566928" y="137160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159105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91056"/>
            <a:ext cx="310896" cy="310896"/>
          </a:xfrm>
          <a:prstGeom prst="rect">
            <a:avLst/>
          </a:prstGeom>
          <a:noFill/>
        </p:spPr>
        <p:txBody>
          <a:bodyPr wrap="square" lIns="0" rIns="0" tIns="0" bIns="0" anchor="ctr">
            <a:spAutoFit/>
          </a:bodyPr>
          <a:lstStyle/>
          <a:p>
            <a:pPr algn="ctr"/>
            <a:r>
              <a:rPr sz="1200" b="1">
                <a:solidFill>
                  <a:srgbClr val="FFFFFF"/>
                </a:solidFill>
                <a:latin typeface="Calibri"/>
              </a:rPr>
              <a:t>1</a:t>
            </a:r>
          </a:p>
        </p:txBody>
      </p:sp>
      <p:sp>
        <p:nvSpPr>
          <p:cNvPr id="9" name="TextBox 8"/>
          <p:cNvSpPr txBox="1"/>
          <p:nvPr/>
        </p:nvSpPr>
        <p:spPr>
          <a:xfrm>
            <a:off x="1225295" y="1554480"/>
            <a:ext cx="4526280" cy="384048"/>
          </a:xfrm>
          <a:prstGeom prst="rect">
            <a:avLst/>
          </a:prstGeom>
          <a:noFill/>
        </p:spPr>
        <p:txBody>
          <a:bodyPr wrap="square" lIns="0" rIns="0" tIns="0" bIns="0" anchor="ctr">
            <a:spAutoFit/>
          </a:bodyPr>
          <a:lstStyle/>
          <a:p>
            <a:pPr algn="l"/>
            <a:r>
              <a:rPr sz="1450" b="1">
                <a:solidFill>
                  <a:srgbClr val="1F2933"/>
                </a:solidFill>
                <a:latin typeface="Cambria"/>
              </a:rPr>
              <a:t>What do the results mean?</a:t>
            </a:r>
          </a:p>
        </p:txBody>
      </p:sp>
      <p:sp>
        <p:nvSpPr>
          <p:cNvPr id="10" name="TextBox 9"/>
          <p:cNvSpPr txBox="1"/>
          <p:nvPr/>
        </p:nvSpPr>
        <p:spPr>
          <a:xfrm>
            <a:off x="1225295" y="1993392"/>
            <a:ext cx="4526280" cy="1188720"/>
          </a:xfrm>
          <a:prstGeom prst="rect">
            <a:avLst/>
          </a:prstGeom>
          <a:noFill/>
        </p:spPr>
        <p:txBody>
          <a:bodyPr wrap="square" lIns="0" rIns="0" tIns="0" bIns="0" anchor="t">
            <a:spAutoFit/>
          </a:bodyPr>
          <a:lstStyle/>
          <a:p>
            <a:pPr algn="l"/>
            <a:r>
              <a:rPr sz="1200" b="0">
                <a:solidFill>
                  <a:srgbClr val="3E4C55"/>
                </a:solidFill>
                <a:latin typeface="Calibri"/>
              </a:rPr>
              <a:t>Timing data alone separates speeding, disengagement and blatant fabrication. Mild fabrication is the weak point, at 0.70 recall under stress, and the diagnostic places that in threshold calibration.</a:t>
            </a:r>
          </a:p>
        </p:txBody>
      </p:sp>
      <p:sp>
        <p:nvSpPr>
          <p:cNvPr id="11" name="Rounded Rectangle 10"/>
          <p:cNvSpPr/>
          <p:nvPr/>
        </p:nvSpPr>
        <p:spPr>
          <a:xfrm>
            <a:off x="6281928" y="137160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519672" y="159105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591056"/>
            <a:ext cx="310896" cy="310896"/>
          </a:xfrm>
          <a:prstGeom prst="rect">
            <a:avLst/>
          </a:prstGeom>
          <a:noFill/>
        </p:spPr>
        <p:txBody>
          <a:bodyPr wrap="square" lIns="0" rIns="0" tIns="0" bIns="0" anchor="ctr">
            <a:spAutoFit/>
          </a:bodyPr>
          <a:lstStyle/>
          <a:p>
            <a:pPr algn="ctr"/>
            <a:r>
              <a:rPr sz="1200" b="1">
                <a:solidFill>
                  <a:srgbClr val="FFFFFF"/>
                </a:solidFill>
                <a:latin typeface="Calibri"/>
              </a:rPr>
              <a:t>2</a:t>
            </a:r>
          </a:p>
        </p:txBody>
      </p:sp>
      <p:sp>
        <p:nvSpPr>
          <p:cNvPr id="14" name="TextBox 13"/>
          <p:cNvSpPr txBox="1"/>
          <p:nvPr/>
        </p:nvSpPr>
        <p:spPr>
          <a:xfrm>
            <a:off x="6940296" y="1554480"/>
            <a:ext cx="4526280" cy="384048"/>
          </a:xfrm>
          <a:prstGeom prst="rect">
            <a:avLst/>
          </a:prstGeom>
          <a:noFill/>
        </p:spPr>
        <p:txBody>
          <a:bodyPr wrap="square" lIns="0" rIns="0" tIns="0" bIns="0" anchor="ctr">
            <a:spAutoFit/>
          </a:bodyPr>
          <a:lstStyle/>
          <a:p>
            <a:pPr algn="l"/>
            <a:r>
              <a:rPr sz="1450" b="1">
                <a:solidFill>
                  <a:srgbClr val="1F2933"/>
                </a:solidFill>
                <a:latin typeface="Cambria"/>
              </a:rPr>
              <a:t>Does it solve the original problem?</a:t>
            </a:r>
          </a:p>
        </p:txBody>
      </p:sp>
      <p:sp>
        <p:nvSpPr>
          <p:cNvPr id="15" name="TextBox 14"/>
          <p:cNvSpPr txBox="1"/>
          <p:nvPr/>
        </p:nvSpPr>
        <p:spPr>
          <a:xfrm>
            <a:off x="6940296" y="1993392"/>
            <a:ext cx="4526280" cy="1188720"/>
          </a:xfrm>
          <a:prstGeom prst="rect">
            <a:avLst/>
          </a:prstGeom>
          <a:noFill/>
        </p:spPr>
        <p:txBody>
          <a:bodyPr wrap="square" lIns="0" rIns="0" tIns="0" bIns="0" anchor="t">
            <a:spAutoFit/>
          </a:bodyPr>
          <a:lstStyle/>
          <a:p>
            <a:pPr algn="l"/>
            <a:r>
              <a:rPr sz="1200" b="0">
                <a:solidFill>
                  <a:srgbClr val="3E4C55"/>
                </a:solidFill>
                <a:latin typeface="Calibri"/>
              </a:rPr>
              <a:t>For the formats tested, yes. Recall rises from 0.66 with a duration-only check to between 0.84 and 1.00, with precision at 0.96 or above, from raw exports in one command.</a:t>
            </a:r>
          </a:p>
        </p:txBody>
      </p:sp>
      <p:sp>
        <p:nvSpPr>
          <p:cNvPr id="16" name="Rounded Rectangle 15"/>
          <p:cNvSpPr/>
          <p:nvPr/>
        </p:nvSpPr>
        <p:spPr>
          <a:xfrm>
            <a:off x="566928" y="338328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04672" y="360273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602736"/>
            <a:ext cx="310896" cy="310896"/>
          </a:xfrm>
          <a:prstGeom prst="rect">
            <a:avLst/>
          </a:prstGeom>
          <a:noFill/>
        </p:spPr>
        <p:txBody>
          <a:bodyPr wrap="square" lIns="0" rIns="0" tIns="0" bIns="0" anchor="ctr">
            <a:spAutoFit/>
          </a:bodyPr>
          <a:lstStyle/>
          <a:p>
            <a:pPr algn="ctr"/>
            <a:r>
              <a:rPr sz="1200" b="1">
                <a:solidFill>
                  <a:srgbClr val="FFFFFF"/>
                </a:solidFill>
                <a:latin typeface="Calibri"/>
              </a:rPr>
              <a:t>3</a:t>
            </a:r>
          </a:p>
        </p:txBody>
      </p:sp>
      <p:sp>
        <p:nvSpPr>
          <p:cNvPr id="19" name="TextBox 18"/>
          <p:cNvSpPr txBox="1"/>
          <p:nvPr/>
        </p:nvSpPr>
        <p:spPr>
          <a:xfrm>
            <a:off x="1225295" y="3566160"/>
            <a:ext cx="4526280" cy="384048"/>
          </a:xfrm>
          <a:prstGeom prst="rect">
            <a:avLst/>
          </a:prstGeom>
          <a:noFill/>
        </p:spPr>
        <p:txBody>
          <a:bodyPr wrap="square" lIns="0" rIns="0" tIns="0" bIns="0" anchor="ctr">
            <a:spAutoFit/>
          </a:bodyPr>
          <a:lstStyle/>
          <a:p>
            <a:pPr algn="l"/>
            <a:r>
              <a:rPr sz="1450" b="1">
                <a:solidFill>
                  <a:srgbClr val="1F2933"/>
                </a:solidFill>
                <a:latin typeface="Cambria"/>
              </a:rPr>
              <a:t>How does it meet the objectives?</a:t>
            </a:r>
          </a:p>
        </p:txBody>
      </p:sp>
      <p:sp>
        <p:nvSpPr>
          <p:cNvPr id="20" name="TextBox 19"/>
          <p:cNvSpPr txBox="1"/>
          <p:nvPr/>
        </p:nvSpPr>
        <p:spPr>
          <a:xfrm>
            <a:off x="1225295" y="4005072"/>
            <a:ext cx="4526280" cy="1188720"/>
          </a:xfrm>
          <a:prstGeom prst="rect">
            <a:avLst/>
          </a:prstGeom>
          <a:noFill/>
        </p:spPr>
        <p:txBody>
          <a:bodyPr wrap="square" lIns="0" rIns="0" tIns="0" bIns="0" anchor="t">
            <a:spAutoFit/>
          </a:bodyPr>
          <a:lstStyle/>
          <a:p>
            <a:pPr algn="l"/>
            <a:r>
              <a:rPr sz="1200" b="0">
                <a:solidFill>
                  <a:srgbClr val="3E4C55"/>
                </a:solidFill>
                <a:latin typeface="Calibri"/>
              </a:rPr>
              <a:t>Five of six objectives are met in full. Objective 2, the parsers, is met for the two synthetic formats and only in part for the platforms' native exports.</a:t>
            </a:r>
          </a:p>
        </p:txBody>
      </p:sp>
      <p:sp>
        <p:nvSpPr>
          <p:cNvPr id="21" name="Rounded Rectangle 20"/>
          <p:cNvSpPr/>
          <p:nvPr/>
        </p:nvSpPr>
        <p:spPr>
          <a:xfrm>
            <a:off x="6281928" y="3383280"/>
            <a:ext cx="5349240" cy="1874519"/>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19672" y="3602736"/>
            <a:ext cx="310896" cy="310896"/>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19672" y="3602736"/>
            <a:ext cx="310896" cy="310896"/>
          </a:xfrm>
          <a:prstGeom prst="rect">
            <a:avLst/>
          </a:prstGeom>
          <a:noFill/>
        </p:spPr>
        <p:txBody>
          <a:bodyPr wrap="square" lIns="0" rIns="0" tIns="0" bIns="0" anchor="ctr">
            <a:spAutoFit/>
          </a:bodyPr>
          <a:lstStyle/>
          <a:p>
            <a:pPr algn="ctr"/>
            <a:r>
              <a:rPr sz="1200" b="1">
                <a:solidFill>
                  <a:srgbClr val="FFFFFF"/>
                </a:solidFill>
                <a:latin typeface="Calibri"/>
              </a:rPr>
              <a:t>4</a:t>
            </a:r>
          </a:p>
        </p:txBody>
      </p:sp>
      <p:sp>
        <p:nvSpPr>
          <p:cNvPr id="24" name="TextBox 23"/>
          <p:cNvSpPr txBox="1"/>
          <p:nvPr/>
        </p:nvSpPr>
        <p:spPr>
          <a:xfrm>
            <a:off x="6940296" y="3566160"/>
            <a:ext cx="4526280" cy="384048"/>
          </a:xfrm>
          <a:prstGeom prst="rect">
            <a:avLst/>
          </a:prstGeom>
          <a:noFill/>
        </p:spPr>
        <p:txBody>
          <a:bodyPr wrap="square" lIns="0" rIns="0" tIns="0" bIns="0" anchor="ctr">
            <a:spAutoFit/>
          </a:bodyPr>
          <a:lstStyle/>
          <a:p>
            <a:pPr algn="l"/>
            <a:r>
              <a:rPr sz="1450" b="1">
                <a:solidFill>
                  <a:srgbClr val="1F2933"/>
                </a:solidFill>
                <a:latin typeface="Cambria"/>
              </a:rPr>
              <a:t>How does it compare with existing work?</a:t>
            </a:r>
          </a:p>
        </p:txBody>
      </p:sp>
      <p:sp>
        <p:nvSpPr>
          <p:cNvPr id="25" name="TextBox 24"/>
          <p:cNvSpPr txBox="1"/>
          <p:nvPr/>
        </p:nvSpPr>
        <p:spPr>
          <a:xfrm>
            <a:off x="6940296" y="4005072"/>
            <a:ext cx="4526280" cy="1188720"/>
          </a:xfrm>
          <a:prstGeom prst="rect">
            <a:avLst/>
          </a:prstGeom>
          <a:noFill/>
        </p:spPr>
        <p:txBody>
          <a:bodyPr wrap="square" lIns="0" rIns="0" tIns="0" bIns="0" anchor="t">
            <a:spAutoFit/>
          </a:bodyPr>
          <a:lstStyle/>
          <a:p>
            <a:pPr algn="l"/>
            <a:r>
              <a:rPr sz="1200" b="0">
                <a:solidFill>
                  <a:srgbClr val="3E4C55"/>
                </a:solidFill>
                <a:latin typeface="Calibri"/>
              </a:rPr>
              <a:t>Birnbaum et al. (2013) reach up to 96 percent accuracy with models trained on human-labelled data. The rates are not comparable, but both judge timing against a relative baseline, and this design needs no labels.</a:t>
            </a:r>
          </a:p>
        </p:txBody>
      </p:sp>
      <p:sp>
        <p:nvSpPr>
          <p:cNvPr id="26" name="Rounded Rectangle 25"/>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Most important finding: multi-feature timing analysis catches what a duration check misses, without labelled training data.</a:t>
            </a:r>
          </a:p>
        </p:txBody>
      </p:sp>
      <p:sp>
        <p:nvSpPr>
          <p:cNvPr id="29" name="Rounded Rectangle 28"/>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31" name="Rounded Rectangle 30"/>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33" name="Rounded Rectangle 32"/>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35" name="Rounded Rectangle 34"/>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37" name="Rounded Rectangle 36"/>
          <p:cNvSpPr/>
          <p:nvPr/>
        </p:nvSpPr>
        <p:spPr>
          <a:xfrm>
            <a:off x="10012680" y="365760"/>
            <a:ext cx="74980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12680" y="365760"/>
            <a:ext cx="749808" cy="246888"/>
          </a:xfrm>
          <a:prstGeom prst="rect">
            <a:avLst/>
          </a:prstGeom>
          <a:noFill/>
        </p:spPr>
        <p:txBody>
          <a:bodyPr wrap="square" lIns="0" rIns="0" tIns="0" bIns="0" anchor="ctr">
            <a:spAutoFit/>
          </a:bodyPr>
          <a:lstStyle/>
          <a:p>
            <a:pPr algn="ctr"/>
            <a:r>
              <a:rPr sz="850" b="1">
                <a:solidFill>
                  <a:srgbClr val="FFFFFF"/>
                </a:solidFill>
                <a:latin typeface="Calibri"/>
              </a:rPr>
              <a:t>Evaluation</a:t>
            </a:r>
          </a:p>
        </p:txBody>
      </p:sp>
      <p:sp>
        <p:nvSpPr>
          <p:cNvPr id="39" name="Rounded Rectangle 38"/>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36576" rIns="36576" tIns="18288" bIns="18288" anchor="t">
            <a:spAutoFit/>
          </a:bodyPr>
          <a:lstStyle/>
          <a:p>
            <a:pPr algn="r">
              <a:spcAft>
                <a:spcPts val="400"/>
              </a:spcAft>
            </a:pPr>
            <a:fld id="{B6F15528-21DE-4FAA-801E-634DDDAF4B2B}" type="slidenum">
              <a:rPr sz="1000" b="0" i="0">
                <a:solidFill>
                  <a:srgbClr val="6B7785"/>
                </a:solidFill>
                <a:latin typeface="Calibri"/>
              </a:rPr>
              <a:t>19</a:t>
            </a:fld>
          </a:p>
        </p:txBody>
      </p:sp>
      <p:sp>
        <p:nvSpPr>
          <p:cNvPr id="3" name="TextBox 2"/>
          <p:cNvSpPr txBox="1"/>
          <p:nvPr/>
        </p:nvSpPr>
        <p:spPr>
          <a:xfrm>
            <a:off x="566928" y="6437376"/>
            <a:ext cx="5486400" cy="274320"/>
          </a:xfrm>
          <a:prstGeom prst="rect">
            <a:avLst/>
          </a:prstGeom>
          <a:noFill/>
        </p:spPr>
        <p:txBody>
          <a:bodyPr wrap="square" lIns="36576" rIns="36576" tIns="18288" bIns="18288" anchor="t">
            <a:spAutoFit/>
          </a:bodyPr>
          <a:lstStyle/>
          <a:p>
            <a:pPr algn="l">
              <a:spcAft>
                <a:spcPts val="400"/>
              </a:spcAft>
            </a:pPr>
            <a:r>
              <a:rPr sz="1000" b="0" i="0">
                <a:solidFill>
                  <a:srgbClr val="6B7785"/>
                </a:solidFill>
                <a:latin typeface="Calibri"/>
              </a:rPr>
              <a:t>Final Year Project • Academic Year 2026</a:t>
            </a:r>
          </a:p>
        </p:txBody>
      </p:sp>
      <p:sp>
        <p:nvSpPr>
          <p:cNvPr id="4" name="TextBox 3"/>
          <p:cNvSpPr txBox="1"/>
          <p:nvPr/>
        </p:nvSpPr>
        <p:spPr>
          <a:xfrm>
            <a:off x="566928" y="384048"/>
            <a:ext cx="11055096" cy="237744"/>
          </a:xfrm>
          <a:prstGeom prst="rect">
            <a:avLst/>
          </a:prstGeom>
          <a:noFill/>
        </p:spPr>
        <p:txBody>
          <a:bodyPr wrap="square" lIns="36576" rIns="36576" tIns="18288" bIns="18288" anchor="t">
            <a:spAutoFit/>
          </a:bodyPr>
          <a:lstStyle/>
          <a:p>
            <a:pPr algn="l">
              <a:spcAft>
                <a:spcPts val="400"/>
              </a:spcAft>
            </a:pPr>
            <a:r>
              <a:rPr sz="1100" b="1" i="0">
                <a:solidFill>
                  <a:srgbClr val="0F766E"/>
                </a:solidFill>
                <a:latin typeface="Calibri"/>
              </a:rPr>
              <a:t>LIMITATIONS  ·  CHAPTER 8</a:t>
            </a:r>
          </a:p>
        </p:txBody>
      </p:sp>
      <p:sp>
        <p:nvSpPr>
          <p:cNvPr id="5" name="TextBox 4"/>
          <p:cNvSpPr txBox="1"/>
          <p:nvPr/>
        </p:nvSpPr>
        <p:spPr>
          <a:xfrm>
            <a:off x="566928" y="658368"/>
            <a:ext cx="11055096" cy="566928"/>
          </a:xfrm>
          <a:prstGeom prst="rect">
            <a:avLst/>
          </a:prstGeom>
          <a:noFill/>
        </p:spPr>
        <p:txBody>
          <a:bodyPr wrap="square" lIns="36576" rIns="36576" tIns="18288" bIns="18288" anchor="t">
            <a:spAutoFit/>
          </a:bodyPr>
          <a:lstStyle/>
          <a:p>
            <a:pPr algn="l">
              <a:spcAft>
                <a:spcPts val="400"/>
              </a:spcAft>
            </a:pPr>
            <a:r>
              <a:rPr sz="3000" b="1" i="0">
                <a:solidFill>
                  <a:srgbClr val="1F2933"/>
                </a:solidFill>
                <a:latin typeface="Cambria"/>
              </a:rPr>
              <a:t>What this does not establish</a:t>
            </a:r>
          </a:p>
        </p:txBody>
      </p:sp>
      <p:pic>
        <p:nvPicPr>
          <p:cNvPr id="6" name="Picture 5" descr="figure3_prevalence_envelope.png"/>
          <p:cNvPicPr>
            <a:picLocks noChangeAspect="1"/>
          </p:cNvPicPr>
          <p:nvPr/>
        </p:nvPicPr>
        <p:blipFill>
          <a:blip r:embed="rId2"/>
          <a:stretch>
            <a:fillRect/>
          </a:stretch>
        </p:blipFill>
        <p:spPr>
          <a:xfrm>
            <a:off x="566928" y="1280160"/>
            <a:ext cx="5989320" cy="3232712"/>
          </a:xfrm>
          <a:prstGeom prst="rect">
            <a:avLst/>
          </a:prstGeom>
        </p:spPr>
      </p:pic>
      <p:sp>
        <p:nvSpPr>
          <p:cNvPr id="17" name="Rectangle 16"/>
          <p:cNvSpPr/>
          <p:nvPr/>
        </p:nvSpPr>
        <p:spPr>
          <a:xfrm>
            <a:off x="566928" y="5120640"/>
            <a:ext cx="11055096" cy="566928"/>
          </a:xfrm>
          <a:prstGeom prst="rect">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4944" y="5248655"/>
            <a:ext cx="91440" cy="31089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166359"/>
            <a:ext cx="10506456" cy="475488"/>
          </a:xfrm>
          <a:prstGeom prst="rect">
            <a:avLst/>
          </a:prstGeom>
          <a:noFill/>
        </p:spPr>
        <p:txBody>
          <a:bodyPr wrap="square" lIns="36576" rIns="36576" tIns="18288" bIns="18288" anchor="ctr">
            <a:spAutoFit/>
          </a:bodyPr>
          <a:lstStyle/>
          <a:p>
            <a:pPr algn="l">
              <a:spcAft>
                <a:spcPts val="400"/>
              </a:spcAft>
            </a:pPr>
            <a:r>
              <a:rPr sz="1350" b="1" i="0">
                <a:solidFill>
                  <a:srgbClr val="1F2933"/>
                </a:solidFill>
                <a:latin typeface="Calibri"/>
              </a:rPr>
              <a:t>The method assumes anomalies are a minority of the batch: pool batches across enumerators, never one caseload alone.</a:t>
            </a:r>
          </a:p>
        </p:txBody>
      </p:sp>
      <p:sp>
        <p:nvSpPr>
          <p:cNvPr id="20" name="TextBox 19"/>
          <p:cNvSpPr txBox="1"/>
          <p:nvPr/>
        </p:nvSpPr>
        <p:spPr>
          <a:xfrm>
            <a:off x="566928" y="6144768"/>
            <a:ext cx="11055096" cy="274320"/>
          </a:xfrm>
          <a:prstGeom prst="rect">
            <a:avLst/>
          </a:prstGeom>
          <a:noFill/>
        </p:spPr>
        <p:txBody>
          <a:bodyPr wrap="square" lIns="36576" rIns="36576" tIns="18288" bIns="18288" anchor="t">
            <a:spAutoFit/>
          </a:bodyPr>
          <a:lstStyle/>
          <a:p>
            <a:pPr algn="l">
              <a:spcAft>
                <a:spcPts val="400"/>
              </a:spcAft>
            </a:pPr>
            <a:r>
              <a:rPr sz="1050" b="0" i="0">
                <a:solidFill>
                  <a:srgbClr val="6B7785"/>
                </a:solidFill>
                <a:latin typeface="Calibri"/>
              </a:rPr>
              <a:t>Source: scripts/run_prevalence_envelope.py; output/prevalence_envelope/envelope_summary.csv. Held-out seeds 7 and 99 pooled, 500 interviews.</a:t>
            </a:r>
          </a:p>
        </p:txBody>
      </p:sp>
      <p:sp>
        <p:nvSpPr>
          <p:cNvPr id="21" name="Rounded Rectangle 20"/>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23" name="Rounded Rectangle 22"/>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25" name="Rounded Rectangle 24"/>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27" name="Rounded Rectangle 26"/>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9" name="Rounded Rectangle 28"/>
          <p:cNvSpPr/>
          <p:nvPr/>
        </p:nvSpPr>
        <p:spPr>
          <a:xfrm>
            <a:off x="10012680" y="365760"/>
            <a:ext cx="749808"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365760"/>
            <a:ext cx="749808" cy="246888"/>
          </a:xfrm>
          <a:prstGeom prst="rect">
            <a:avLst/>
          </a:prstGeom>
          <a:noFill/>
        </p:spPr>
        <p:txBody>
          <a:bodyPr wrap="square" lIns="0" rIns="0" tIns="0" bIns="0" anchor="ctr">
            <a:spAutoFit/>
          </a:bodyPr>
          <a:lstStyle/>
          <a:p>
            <a:pPr algn="ctr"/>
            <a:r>
              <a:rPr sz="850" b="1">
                <a:solidFill>
                  <a:srgbClr val="FFFFFF"/>
                </a:solidFill>
                <a:latin typeface="Calibri"/>
              </a:rPr>
              <a:t>Evaluation</a:t>
            </a:r>
          </a:p>
        </p:txBody>
      </p:sp>
      <p:sp>
        <p:nvSpPr>
          <p:cNvPr id="31" name="Rounded Rectangle 30"/>
          <p:cNvSpPr/>
          <p:nvPr/>
        </p:nvSpPr>
        <p:spPr>
          <a:xfrm>
            <a:off x="10817351" y="365760"/>
            <a:ext cx="804672"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817351" y="365760"/>
            <a:ext cx="804672" cy="246888"/>
          </a:xfrm>
          <a:prstGeom prst="rect">
            <a:avLst/>
          </a:prstGeom>
          <a:noFill/>
        </p:spPr>
        <p:txBody>
          <a:bodyPr wrap="square" lIns="0" rIns="0" tIns="0" bIns="0" anchor="ctr">
            <a:spAutoFit/>
          </a:bodyPr>
          <a:lstStyle/>
          <a:p>
            <a:pPr algn="ctr"/>
            <a:r>
              <a:rPr sz="850" b="0">
                <a:solidFill>
                  <a:srgbClr val="6B7785"/>
                </a:solidFill>
                <a:latin typeface="Calibri"/>
              </a:rPr>
              <a:t>Deployment</a:t>
            </a:r>
          </a:p>
        </p:txBody>
      </p:sp>
      <p:sp>
        <p:nvSpPr>
          <p:cNvPr id="33" name="Shape 4"/>
          <p:cNvSpPr/>
          <p:nvPr/>
        </p:nvSpPr>
        <p:spPr>
          <a:xfrm>
            <a:off x="6812280" y="1280160"/>
            <a:ext cx="82296" cy="841248"/>
          </a:xfrm>
          <a:prstGeom prst="roundRect">
            <a:avLst>
              <a:gd name="adj" fmla="val 33333"/>
            </a:avLst>
          </a:prstGeom>
          <a:solidFill>
            <a:srgbClr val="B45309"/>
          </a:solidFill>
          <a:ln w="12700">
            <a:solidFill>
              <a:srgbClr val="B45309"/>
            </a:solidFill>
            <a:prstDash val="solid"/>
          </a:ln>
        </p:spPr>
        <p:txBody>
          <a:bodyPr/>
          <a:p/>
        </p:txBody>
      </p:sp>
      <p:sp>
        <p:nvSpPr>
          <p:cNvPr id="34" name="Text 5"/>
          <p:cNvSpPr txBox="1"/>
          <p:nvPr/>
        </p:nvSpPr>
        <p:spPr>
          <a:xfrm>
            <a:off x="7040880" y="1243584"/>
            <a:ext cx="4581144" cy="310896"/>
          </a:xfrm>
          <a:prstGeom prst="rect">
            <a:avLst/>
          </a:prstGeom>
          <a:noFill/>
          <a:ln/>
        </p:spPr>
        <p:txBody>
          <a:bodyPr wrap="square" lIns="0" tIns="0" rIns="0" bIns="0" rtlCol="0"/>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Evaluation is synthetic throughout</a:t>
            </a:r>
            <a:endParaRPr lang="en-US" sz="1300" dirty="0"/>
          </a:p>
        </p:txBody>
      </p:sp>
      <p:sp>
        <p:nvSpPr>
          <p:cNvPr id="35" name="Text 6"/>
          <p:cNvSpPr txBox="1"/>
          <p:nvPr/>
        </p:nvSpPr>
        <p:spPr>
          <a:xfrm>
            <a:off x="7040880" y="1554480"/>
            <a:ext cx="4581144" cy="566928"/>
          </a:xfrm>
          <a:prstGeom prst="rect">
            <a:avLst/>
          </a:prstGeom>
          <a:noFill/>
          <a:ln/>
        </p:spPr>
        <p:txBody>
          <a:bodyPr wrap="square" lIns="0" tIns="0" rIns="0" bIns="0" rtlCol="0"/>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Results are an upper bound on field performance, against a documented threat model.</a:t>
            </a:r>
            <a:endParaRPr lang="en-US" sz="1150" dirty="0"/>
          </a:p>
        </p:txBody>
      </p:sp>
      <p:sp>
        <p:nvSpPr>
          <p:cNvPr id="36" name="Shape 7"/>
          <p:cNvSpPr/>
          <p:nvPr/>
        </p:nvSpPr>
        <p:spPr>
          <a:xfrm>
            <a:off x="6812280" y="2231136"/>
            <a:ext cx="82296" cy="841248"/>
          </a:xfrm>
          <a:prstGeom prst="roundRect">
            <a:avLst>
              <a:gd name="adj" fmla="val 33333"/>
            </a:avLst>
          </a:prstGeom>
          <a:solidFill>
            <a:srgbClr val="B45309"/>
          </a:solidFill>
          <a:ln w="12700">
            <a:solidFill>
              <a:srgbClr val="B45309"/>
            </a:solidFill>
            <a:prstDash val="solid"/>
          </a:ln>
        </p:spPr>
        <p:txBody>
          <a:bodyPr/>
          <a:p/>
        </p:txBody>
      </p:sp>
      <p:sp>
        <p:nvSpPr>
          <p:cNvPr id="37" name="Text 8"/>
          <p:cNvSpPr txBox="1"/>
          <p:nvPr/>
        </p:nvSpPr>
        <p:spPr>
          <a:xfrm>
            <a:off x="7040880" y="2194560"/>
            <a:ext cx="4581144" cy="310896"/>
          </a:xfrm>
          <a:prstGeom prst="rect">
            <a:avLst/>
          </a:prstGeom>
          <a:noFill/>
          <a:ln/>
        </p:spPr>
        <p:txBody>
          <a:bodyPr wrap="square" lIns="0" tIns="0" rIns="0" bIns="0" rtlCol="0"/>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Detection is univariate</a:t>
            </a:r>
            <a:endParaRPr lang="en-US" sz="1300" dirty="0"/>
          </a:p>
        </p:txBody>
      </p:sp>
      <p:sp>
        <p:nvSpPr>
          <p:cNvPr id="38" name="Text 9"/>
          <p:cNvSpPr txBox="1"/>
          <p:nvPr/>
        </p:nvSpPr>
        <p:spPr>
          <a:xfrm>
            <a:off x="7040880" y="2505456"/>
            <a:ext cx="4581144" cy="566928"/>
          </a:xfrm>
          <a:prstGeom prst="rect">
            <a:avLst/>
          </a:prstGeom>
          <a:noFill/>
          <a:ln/>
        </p:spPr>
        <p:txBody>
          <a:bodyPr wrap="square" lIns="0" tIns="0" rIns="0" bIns="0" rtlCol="0"/>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Anomalies visible only in joint feature patterns evade both fences and rules.</a:t>
            </a:r>
            <a:endParaRPr lang="en-US" sz="1150" dirty="0"/>
          </a:p>
        </p:txBody>
      </p:sp>
      <p:sp>
        <p:nvSpPr>
          <p:cNvPr id="39" name="Shape 10"/>
          <p:cNvSpPr/>
          <p:nvPr/>
        </p:nvSpPr>
        <p:spPr>
          <a:xfrm>
            <a:off x="6812280" y="3182112"/>
            <a:ext cx="82296" cy="841248"/>
          </a:xfrm>
          <a:prstGeom prst="roundRect">
            <a:avLst>
              <a:gd name="adj" fmla="val 33333"/>
            </a:avLst>
          </a:prstGeom>
          <a:solidFill>
            <a:srgbClr val="B45309"/>
          </a:solidFill>
          <a:ln w="12700">
            <a:solidFill>
              <a:srgbClr val="B45309"/>
            </a:solidFill>
            <a:prstDash val="solid"/>
          </a:ln>
        </p:spPr>
        <p:txBody>
          <a:bodyPr/>
          <a:p/>
        </p:txBody>
      </p:sp>
      <p:sp>
        <p:nvSpPr>
          <p:cNvPr id="40" name="Text 11"/>
          <p:cNvSpPr txBox="1"/>
          <p:nvPr/>
        </p:nvSpPr>
        <p:spPr>
          <a:xfrm>
            <a:off x="7040880" y="3145536"/>
            <a:ext cx="4581144" cy="310896"/>
          </a:xfrm>
          <a:prstGeom prst="rect">
            <a:avLst/>
          </a:prstGeom>
          <a:noFill/>
          <a:ln/>
        </p:spPr>
        <p:txBody>
          <a:bodyPr wrap="square" lIns="0" tIns="0" rIns="0" bIns="0" rtlCol="0"/>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Anomalies must be a minority of the batch</a:t>
            </a:r>
          </a:p>
        </p:txBody>
      </p:sp>
      <p:sp>
        <p:nvSpPr>
          <p:cNvPr id="41" name="Text 12"/>
          <p:cNvSpPr txBox="1"/>
          <p:nvPr/>
        </p:nvSpPr>
        <p:spPr>
          <a:xfrm>
            <a:off x="7040880" y="3456432"/>
            <a:ext cx="4581144" cy="566928"/>
          </a:xfrm>
          <a:prstGeom prst="rect">
            <a:avLst/>
          </a:prstGeom>
          <a:noFill/>
          <a:ln/>
        </p:spPr>
        <p:txBody>
          <a:bodyPr wrap="square" lIns="0" tIns="0" rIns="0" bIns="0" rtlCol="0"/>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Both criteria hold up to 50 percent prevalence; at 90 percent, stress recall falls to 0.44 (left).</a:t>
            </a:r>
          </a:p>
        </p:txBody>
      </p:sp>
      <p:sp>
        <p:nvSpPr>
          <p:cNvPr id="42" name="Shape 13"/>
          <p:cNvSpPr/>
          <p:nvPr/>
        </p:nvSpPr>
        <p:spPr>
          <a:xfrm>
            <a:off x="6812280" y="4133087"/>
            <a:ext cx="82296" cy="841248"/>
          </a:xfrm>
          <a:prstGeom prst="roundRect">
            <a:avLst>
              <a:gd name="adj" fmla="val 33333"/>
            </a:avLst>
          </a:prstGeom>
          <a:solidFill>
            <a:srgbClr val="B45309"/>
          </a:solidFill>
          <a:ln w="12700">
            <a:solidFill>
              <a:srgbClr val="B45309"/>
            </a:solidFill>
            <a:prstDash val="solid"/>
          </a:ln>
        </p:spPr>
        <p:txBody>
          <a:bodyPr/>
          <a:p/>
        </p:txBody>
      </p:sp>
      <p:sp>
        <p:nvSpPr>
          <p:cNvPr id="43" name="Text 14"/>
          <p:cNvSpPr txBox="1"/>
          <p:nvPr/>
        </p:nvSpPr>
        <p:spPr>
          <a:xfrm>
            <a:off x="7040880" y="4096511"/>
            <a:ext cx="4581144" cy="310896"/>
          </a:xfrm>
          <a:prstGeom prst="rect">
            <a:avLst/>
          </a:prstGeom>
          <a:noFill/>
          <a:ln/>
        </p:spPr>
        <p:txBody>
          <a:bodyPr wrap="square" lIns="0" tIns="0" rIns="0" bIns="0" rtlCol="0"/>
          <a:lstStyle/>
          <a:p>
            <a:pPr indent="0" marL="0">
              <a:lnSpc>
                <a:spcPts val="1700"/>
              </a:lnSpc>
              <a:buNone/>
            </a:pPr>
            <a:r>
              <a:rPr lang="en-US" sz="1300" b="1" dirty="0">
                <a:solidFill>
                  <a:srgbClr val="1F2933"/>
                </a:solidFill>
                <a:latin typeface="Calibri" pitchFamily="34" charset="0"/>
                <a:ea typeface="Calibri" pitchFamily="34" charset="-122"/>
                <a:cs typeface="Calibri" pitchFamily="34" charset="-120"/>
              </a:rPr>
              <a:t>Thresholds and external dependencies</a:t>
            </a:r>
            <a:endParaRPr lang="en-US" sz="1300" dirty="0"/>
          </a:p>
        </p:txBody>
      </p:sp>
      <p:sp>
        <p:nvSpPr>
          <p:cNvPr id="44" name="Text 15"/>
          <p:cNvSpPr txBox="1"/>
          <p:nvPr/>
        </p:nvSpPr>
        <p:spPr>
          <a:xfrm>
            <a:off x="7040880" y="4407407"/>
            <a:ext cx="4581144" cy="566928"/>
          </a:xfrm>
          <a:prstGeom prst="rect">
            <a:avLst/>
          </a:prstGeom>
          <a:noFill/>
          <a:ln/>
        </p:spPr>
        <p:txBody>
          <a:bodyPr wrap="square" lIns="0" tIns="0" rIns="0" bIns="0" rtlCol="0"/>
          <a:lstStyle/>
          <a:p>
            <a:pPr indent="0" marL="0">
              <a:lnSpc>
                <a:spcPts val="1550"/>
              </a:lnSpc>
              <a:buNone/>
            </a:pPr>
            <a:r>
              <a:rPr lang="en-US" sz="1150" dirty="0">
                <a:solidFill>
                  <a:srgbClr val="3E4C55"/>
                </a:solidFill>
                <a:latin typeface="Calibri" pitchFamily="34" charset="0"/>
                <a:ea typeface="Calibri" pitchFamily="34" charset="-122"/>
                <a:cs typeface="Calibri" pitchFamily="34" charset="-120"/>
              </a:rPr>
              <a:t>Other instruments should recalibrate; device clocks and audit schemas must hold.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0">
    <p:bg>
      <p:bgPr>
        <a:solidFill>
          <a:srgbClr val="16232B"/>
        </a:solidFill>
      </p:bgPr>
    </p:bg>
    <p:spTree>
      <p:nvGrpSpPr>
        <p:cNvPr id="1" name=""/>
        <p:cNvGrpSpPr/>
        <p:nvPr/>
      </p:nvGrpSpPr>
      <p:grpSpPr>
        <a:xfrm>
          <a:off x="0" y="0"/>
          <a:ext cx="0" cy="0"/>
          <a:chOff x="0" y="0"/>
          <a:chExt cx="0" cy="0"/>
        </a:xfrm>
      </p:grpSpPr>
      <p:sp>
        <p:nvSpPr>
          <p:cNvPr id="2" name="Text 0"/>
          <p:cNvSpPr txBox="1"/>
          <p:nvPr/>
        </p:nvSpPr>
        <p:spPr>
          <a:xfrm>
            <a:off x="566928" y="2286000"/>
            <a:ext cx="9774936"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Timing paradata is usable, and it beats what field practice runs today.</a:t>
            </a:r>
            <a:endParaRPr lang="en-US" sz="4000" dirty="0"/>
          </a:p>
        </p:txBody>
      </p:sp>
      <p:sp>
        <p:nvSpPr>
          <p:cNvPr id="3" name="Text 1"/>
          <p:cNvSpPr txBox="1"/>
          <p:nvPr/>
        </p:nvSpPr>
        <p:spPr>
          <a:xfrm>
            <a:off x="566928" y="3657600"/>
            <a:ext cx="9043416" cy="914400"/>
          </a:xfrm>
          <a:prstGeom prst="rect">
            <a:avLst/>
          </a:prstGeom>
          <a:noFill/>
          <a:ln/>
        </p:spPr>
        <p:txBody>
          <a:bodyPr wrap="square" lIns="0" tIns="0" rIns="0" bIns="0" rtlCol="0" anchor="ctr"/>
          <a:lstStyle/>
          <a:p>
            <a:pPr indent="0" marL="0">
              <a:lnSpc>
                <a:spcPts val="2400"/>
              </a:lnSpc>
              <a:buNone/>
            </a:pPr>
            <a:r>
              <a:rPr lang="en-US" sz="1500" dirty="0">
                <a:solidFill>
                  <a:srgbClr val="AFC0C9"/>
                </a:solidFill>
                <a:latin typeface="Calibri" pitchFamily="34" charset="0"/>
                <a:ea typeface="Calibri" pitchFamily="34" charset="-122"/>
                <a:cs typeface="Calibri" pitchFamily="34" charset="-120"/>
              </a:rPr>
              <a:t>Precision 0.96 to 1.00 and recall 0.84 to 1.00 on data the detector had never seen, inside a measured envelope: anomalies must be a minority of the batch. Five of six objectives met in full.</a:t>
            </a:r>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7C8B95"/>
                </a:solidFill>
                <a:latin typeface="Calibri" pitchFamily="34" charset="0"/>
                <a:ea typeface="Calibri" pitchFamily="34" charset="-122"/>
                <a:cs typeface="Calibri" pitchFamily="34" charset="-120"/>
              </a:rPr>
              <a:t>20</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7C8B95"/>
                </a:solidFill>
                <a:latin typeface="Calibri" pitchFamily="34" charset="0"/>
                <a:ea typeface="Calibri" pitchFamily="34" charset="-122"/>
                <a:cs typeface="Calibri" pitchFamily="34" charset="-120"/>
              </a:rPr>
              <a:t>Final Year Project • Academic Year 2026</a:t>
            </a:r>
            <a:endParaRPr lang="en-US" sz="1000" dirty="0"/>
          </a:p>
        </p:txBody>
      </p:sp>
      <p:sp>
        <p:nvSpPr>
          <p:cNvPr id="6" name="Shape 4"/>
          <p:cNvSpPr/>
          <p:nvPr/>
        </p:nvSpPr>
        <p:spPr>
          <a:xfrm>
            <a:off x="566928"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7" name="Text 5"/>
          <p:cNvSpPr txBox="1"/>
          <p:nvPr/>
        </p:nvSpPr>
        <p:spPr>
          <a:xfrm>
            <a:off x="731520"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+34</a:t>
            </a:r>
            <a:endParaRPr lang="en-US" sz="2400" dirty="0"/>
          </a:p>
        </p:txBody>
      </p:sp>
      <p:sp>
        <p:nvSpPr>
          <p:cNvPr id="8" name="Text 6"/>
          <p:cNvSpPr txBox="1"/>
          <p:nvPr/>
        </p:nvSpPr>
        <p:spPr>
          <a:xfrm>
            <a:off x="731520"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points of recall over duration-only checking</a:t>
            </a:r>
            <a:endParaRPr lang="en-US" sz="1050" dirty="0"/>
          </a:p>
        </p:txBody>
      </p:sp>
      <p:sp>
        <p:nvSpPr>
          <p:cNvPr id="9" name="Shape 7"/>
          <p:cNvSpPr/>
          <p:nvPr/>
        </p:nvSpPr>
        <p:spPr>
          <a:xfrm>
            <a:off x="3410712"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0" name="Text 8"/>
          <p:cNvSpPr txBox="1"/>
          <p:nvPr/>
        </p:nvSpPr>
        <p:spPr>
          <a:xfrm>
            <a:off x="3575304"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40</a:t>
            </a:r>
            <a:endParaRPr lang="en-US" sz="2400" dirty="0"/>
          </a:p>
        </p:txBody>
      </p:sp>
      <p:sp>
        <p:nvSpPr>
          <p:cNvPr id="11" name="Text 9"/>
          <p:cNvSpPr txBox="1"/>
          <p:nvPr/>
        </p:nvSpPr>
        <p:spPr>
          <a:xfrm>
            <a:off x="3575304"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documented, tested features</a:t>
            </a:r>
            <a:endParaRPr lang="en-US" sz="1050" dirty="0"/>
          </a:p>
        </p:txBody>
      </p:sp>
      <p:sp>
        <p:nvSpPr>
          <p:cNvPr id="12" name="Shape 10"/>
          <p:cNvSpPr/>
          <p:nvPr/>
        </p:nvSpPr>
        <p:spPr>
          <a:xfrm>
            <a:off x="6254496"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3" name="Text 11"/>
          <p:cNvSpPr txBox="1"/>
          <p:nvPr/>
        </p:nvSpPr>
        <p:spPr>
          <a:xfrm>
            <a:off x="6419088" y="4919472"/>
            <a:ext cx="2340864" cy="457200"/>
          </a:xfrm>
          <a:prstGeom prst="rect">
            <a:avLst/>
          </a:prstGeom>
          <a:noFill/>
          <a:ln/>
        </p:spPr>
        <p:txBody>
          <a:bodyPr wrap="square" lIns="0" tIns="0" rIns="0" bIns="0" rtlCol="0" anchor="ctr"/>
          <a:lstStyle/>
          <a:p>
            <a:pPr indent="0" marL="0">
              <a:buNone/>
            </a:pPr>
            <a:r>
              <a:rPr lang="en-US" sz="2400" b="1" dirty="0">
                <a:solidFill>
                  <a:srgbClr val="0F766E"/>
                </a:solidFill>
                <a:latin typeface="Cambria" pitchFamily="34" charset="0"/>
                <a:ea typeface="Cambria" pitchFamily="34" charset="-122"/>
                <a:cs typeface="Cambria" pitchFamily="34" charset="-120"/>
              </a:rPr>
              <a:t>≤ 50%</a:t>
            </a:r>
          </a:p>
        </p:txBody>
      </p:sp>
      <p:sp>
        <p:nvSpPr>
          <p:cNvPr id="14" name="Text 12"/>
          <p:cNvSpPr txBox="1"/>
          <p:nvPr/>
        </p:nvSpPr>
        <p:spPr>
          <a:xfrm>
            <a:off x="6419088"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anomaly prevalence the method holds to</a:t>
            </a:r>
          </a:p>
        </p:txBody>
      </p:sp>
      <p:sp>
        <p:nvSpPr>
          <p:cNvPr id="15" name="Shape 13"/>
          <p:cNvSpPr/>
          <p:nvPr/>
        </p:nvSpPr>
        <p:spPr>
          <a:xfrm>
            <a:off x="9098280" y="4800600"/>
            <a:ext cx="2670048" cy="1234440"/>
          </a:xfrm>
          <a:prstGeom prst="roundRect">
            <a:avLst>
              <a:gd name="adj" fmla="val 3704"/>
            </a:avLst>
          </a:prstGeom>
          <a:solidFill>
            <a:srgbClr val="203038"/>
          </a:solidFill>
          <a:ln w="12700">
            <a:solidFill>
              <a:srgbClr val="203038"/>
            </a:solidFill>
            <a:prstDash val="solid"/>
          </a:ln>
        </p:spPr>
        <p:txBody>
          <a:bodyPr/>
          <a:p/>
        </p:txBody>
      </p:sp>
      <p:sp>
        <p:nvSpPr>
          <p:cNvPr id="16" name="Text 14"/>
          <p:cNvSpPr txBox="1"/>
          <p:nvPr/>
        </p:nvSpPr>
        <p:spPr>
          <a:xfrm>
            <a:off x="9262872" y="4919472"/>
            <a:ext cx="2340864" cy="457200"/>
          </a:xfrm>
          <a:prstGeom prst="rect">
            <a:avLst/>
          </a:prstGeom>
          <a:noFill/>
          <a:ln/>
        </p:spPr>
        <p:txBody>
          <a:bodyPr wrap="square" lIns="0" tIns="0" rIns="0" bIns="0" rtlCol="0" anchor="ctr"/>
          <a:lstStyle/>
          <a:p>
            <a:pPr indent="0" marL="0">
              <a:buNone/>
            </a:pPr>
            <a:r>
              <a:rPr lang="en-US" sz="2400" b="1" dirty="0">
                <a:solidFill>
                  <a:srgbClr val="B45309"/>
                </a:solidFill>
                <a:latin typeface="Cambria" pitchFamily="34" charset="0"/>
                <a:ea typeface="Cambria" pitchFamily="34" charset="-122"/>
                <a:cs typeface="Cambria" pitchFamily="34" charset="-120"/>
              </a:rPr>
              <a:t>0.70</a:t>
            </a:r>
            <a:endParaRPr lang="en-US" sz="2400" dirty="0"/>
          </a:p>
        </p:txBody>
      </p:sp>
      <p:sp>
        <p:nvSpPr>
          <p:cNvPr id="17" name="Text 15"/>
          <p:cNvSpPr txBox="1"/>
          <p:nvPr/>
        </p:nvSpPr>
        <p:spPr>
          <a:xfrm>
            <a:off x="9262872" y="5394960"/>
            <a:ext cx="2340864" cy="548640"/>
          </a:xfrm>
          <a:prstGeom prst="rect">
            <a:avLst/>
          </a:prstGeom>
          <a:noFill/>
          <a:ln/>
        </p:spPr>
        <p:txBody>
          <a:bodyPr wrap="square" lIns="0" tIns="0" rIns="0" bIns="0" rtlCol="0" anchor="ctr"/>
          <a:lstStyle/>
          <a:p>
            <a:pPr indent="0" marL="0">
              <a:lnSpc>
                <a:spcPts val="1400"/>
              </a:lnSpc>
              <a:buNone/>
            </a:pPr>
            <a:r>
              <a:rPr lang="en-US" sz="1050" dirty="0">
                <a:solidFill>
                  <a:srgbClr val="AFC0C9"/>
                </a:solidFill>
                <a:latin typeface="Calibri" pitchFamily="34" charset="0"/>
                <a:ea typeface="Calibri" pitchFamily="34" charset="-122"/>
                <a:cs typeface="Calibri" pitchFamily="34" charset="-120"/>
              </a:rPr>
              <a:t>fabricated recall: the honest weak point</a:t>
            </a:r>
            <a:endParaRPr lang="en-US" sz="1050" dirty="0"/>
          </a:p>
        </p:txBody>
      </p:sp>
      <p:sp>
        <p:nvSpPr>
          <p:cNvPr id="18" name="Text 16"/>
          <p:cNvSpPr txBox="1"/>
          <p:nvPr/>
        </p:nvSpPr>
        <p:spPr>
          <a:xfrm>
            <a:off x="566928" y="658368"/>
            <a:ext cx="11055096" cy="292608"/>
          </a:xfrm>
          <a:prstGeom prst="rect">
            <a:avLst/>
          </a:prstGeom>
          <a:noFill/>
          <a:ln/>
        </p:spPr>
        <p:txBody>
          <a:bodyPr wrap="square" lIns="0" tIns="0" rIns="0" bIns="0" rtlCol="0" anchor="ctr"/>
          <a:lstStyle/>
          <a:p>
            <a:pPr indent="0" marL="0">
              <a:buNone/>
            </a:pPr>
            <a:r>
              <a:rPr lang="en-US" sz="1200" b="1" dirty="0">
                <a:solidFill>
                  <a:srgbClr val="6FA9A2"/>
                </a:solidFill>
                <a:latin typeface="Calibri" pitchFamily="34" charset="0"/>
                <a:ea typeface="Calibri" pitchFamily="34" charset="-122"/>
                <a:cs typeface="Calibri" pitchFamily="34" charset="-120"/>
              </a:rPr>
              <a:t>paradata.samuelkaoma.dev   ·   github.com/Samuelkaoma-eng/SKACE-TIME-DATA</a:t>
            </a:r>
            <a:endParaRPr lang="en-US" sz="12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SYSTEM DEMONSTRATION  ·  HOW TO RUN IT</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Where and how to run the system</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21</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sp>
        <p:nvSpPr>
          <p:cNvPr id="6" name="Oval 5"/>
          <p:cNvSpPr/>
          <p:nvPr/>
        </p:nvSpPr>
        <p:spPr>
          <a:xfrm>
            <a:off x="566928" y="1353312"/>
            <a:ext cx="292608" cy="29260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353312"/>
            <a:ext cx="292608" cy="292608"/>
          </a:xfrm>
          <a:prstGeom prst="rect">
            <a:avLst/>
          </a:prstGeom>
          <a:noFill/>
        </p:spPr>
        <p:txBody>
          <a:bodyPr wrap="square" lIns="0" rIns="0" tIns="0" bIns="0" anchor="ctr">
            <a:spAutoFit/>
          </a:bodyPr>
          <a:lstStyle/>
          <a:p>
            <a:pPr algn="ctr"/>
            <a:r>
              <a:rPr sz="1200" b="1">
                <a:solidFill>
                  <a:srgbClr val="FFFFFF"/>
                </a:solidFill>
                <a:latin typeface="Calibri"/>
              </a:rPr>
              <a:t>1</a:t>
            </a:r>
          </a:p>
        </p:txBody>
      </p:sp>
      <p:sp>
        <p:nvSpPr>
          <p:cNvPr id="8" name="TextBox 7"/>
          <p:cNvSpPr txBox="1"/>
          <p:nvPr/>
        </p:nvSpPr>
        <p:spPr>
          <a:xfrm>
            <a:off x="978408" y="1371600"/>
            <a:ext cx="6309360" cy="274320"/>
          </a:xfrm>
          <a:prstGeom prst="rect">
            <a:avLst/>
          </a:prstGeom>
          <a:noFill/>
        </p:spPr>
        <p:txBody>
          <a:bodyPr wrap="square" lIns="0" rIns="0" tIns="0" bIns="0" anchor="ctr">
            <a:spAutoFit/>
          </a:bodyPr>
          <a:lstStyle/>
          <a:p>
            <a:pPr algn="l"/>
            <a:r>
              <a:rPr sz="1250" b="1">
                <a:solidFill>
                  <a:srgbClr val="1F2933"/>
                </a:solidFill>
                <a:latin typeface="Calibri"/>
              </a:rPr>
              <a:t>Open a terminal in the project folder (VS Code terminal or PowerShell)</a:t>
            </a:r>
          </a:p>
        </p:txBody>
      </p:sp>
      <p:sp>
        <p:nvSpPr>
          <p:cNvPr id="9" name="Rounded Rectangle 8"/>
          <p:cNvSpPr/>
          <p:nvPr/>
        </p:nvSpPr>
        <p:spPr>
          <a:xfrm>
            <a:off x="978408" y="1700784"/>
            <a:ext cx="6355080" cy="384048"/>
          </a:xfrm>
          <a:prstGeom prst="roundRect">
            <a:avLst>
              <a:gd name="adj" fmla="val 8000"/>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700784"/>
            <a:ext cx="6035040" cy="384048"/>
          </a:xfrm>
          <a:prstGeom prst="rect">
            <a:avLst/>
          </a:prstGeom>
          <a:noFill/>
        </p:spPr>
        <p:txBody>
          <a:bodyPr wrap="square" lIns="0" rIns="0" tIns="0" bIns="0" anchor="ctr">
            <a:spAutoFit/>
          </a:bodyPr>
          <a:lstStyle/>
          <a:p>
            <a:pPr algn="l"/>
            <a:r>
              <a:rPr sz="1100" b="0">
                <a:solidFill>
                  <a:srgbClr val="C9D1D9"/>
                </a:solidFill>
                <a:latin typeface="Consolas"/>
              </a:rPr>
              <a:t>cd "SKACE-Time-Data"</a:t>
            </a:r>
          </a:p>
        </p:txBody>
      </p:sp>
      <p:sp>
        <p:nvSpPr>
          <p:cNvPr id="11" name="Oval 10"/>
          <p:cNvSpPr/>
          <p:nvPr/>
        </p:nvSpPr>
        <p:spPr>
          <a:xfrm>
            <a:off x="566928" y="2286000"/>
            <a:ext cx="292608" cy="29260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286000"/>
            <a:ext cx="292608" cy="292608"/>
          </a:xfrm>
          <a:prstGeom prst="rect">
            <a:avLst/>
          </a:prstGeom>
          <a:noFill/>
        </p:spPr>
        <p:txBody>
          <a:bodyPr wrap="square" lIns="0" rIns="0" tIns="0" bIns="0" anchor="ctr">
            <a:spAutoFit/>
          </a:bodyPr>
          <a:lstStyle/>
          <a:p>
            <a:pPr algn="ctr"/>
            <a:r>
              <a:rPr sz="1200" b="1">
                <a:solidFill>
                  <a:srgbClr val="FFFFFF"/>
                </a:solidFill>
                <a:latin typeface="Calibri"/>
              </a:rPr>
              <a:t>2</a:t>
            </a:r>
          </a:p>
        </p:txBody>
      </p:sp>
      <p:sp>
        <p:nvSpPr>
          <p:cNvPr id="13" name="TextBox 12"/>
          <p:cNvSpPr txBox="1"/>
          <p:nvPr/>
        </p:nvSpPr>
        <p:spPr>
          <a:xfrm>
            <a:off x="978408" y="2304288"/>
            <a:ext cx="6309360" cy="274320"/>
          </a:xfrm>
          <a:prstGeom prst="rect">
            <a:avLst/>
          </a:prstGeom>
          <a:noFill/>
        </p:spPr>
        <p:txBody>
          <a:bodyPr wrap="square" lIns="0" rIns="0" tIns="0" bIns="0" anchor="ctr">
            <a:spAutoFit/>
          </a:bodyPr>
          <a:lstStyle/>
          <a:p>
            <a:pPr algn="l"/>
            <a:r>
              <a:rPr sz="1250" b="1">
                <a:solidFill>
                  <a:srgbClr val="1F2933"/>
                </a:solidFill>
                <a:latin typeface="Calibri"/>
              </a:rPr>
              <a:t>Install the pinned environment, once</a:t>
            </a:r>
          </a:p>
        </p:txBody>
      </p:sp>
      <p:sp>
        <p:nvSpPr>
          <p:cNvPr id="14" name="Rounded Rectangle 13"/>
          <p:cNvSpPr/>
          <p:nvPr/>
        </p:nvSpPr>
        <p:spPr>
          <a:xfrm>
            <a:off x="978408" y="2633472"/>
            <a:ext cx="6355080" cy="384048"/>
          </a:xfrm>
          <a:prstGeom prst="roundRect">
            <a:avLst>
              <a:gd name="adj" fmla="val 8000"/>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2633472"/>
            <a:ext cx="6035040" cy="384048"/>
          </a:xfrm>
          <a:prstGeom prst="rect">
            <a:avLst/>
          </a:prstGeom>
          <a:noFill/>
        </p:spPr>
        <p:txBody>
          <a:bodyPr wrap="square" lIns="0" rIns="0" tIns="0" bIns="0" anchor="ctr">
            <a:spAutoFit/>
          </a:bodyPr>
          <a:lstStyle/>
          <a:p>
            <a:pPr algn="l"/>
            <a:r>
              <a:rPr sz="1100" b="0">
                <a:solidFill>
                  <a:srgbClr val="C9D1D9"/>
                </a:solidFill>
                <a:latin typeface="Consolas"/>
              </a:rPr>
              <a:t>pip install -r requirements-validated.txt</a:t>
            </a:r>
          </a:p>
        </p:txBody>
      </p:sp>
      <p:sp>
        <p:nvSpPr>
          <p:cNvPr id="16" name="Oval 15"/>
          <p:cNvSpPr/>
          <p:nvPr/>
        </p:nvSpPr>
        <p:spPr>
          <a:xfrm>
            <a:off x="566928" y="3218688"/>
            <a:ext cx="292608" cy="29260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218688"/>
            <a:ext cx="292608" cy="292608"/>
          </a:xfrm>
          <a:prstGeom prst="rect">
            <a:avLst/>
          </a:prstGeom>
          <a:noFill/>
        </p:spPr>
        <p:txBody>
          <a:bodyPr wrap="square" lIns="0" rIns="0" tIns="0" bIns="0" anchor="ctr">
            <a:spAutoFit/>
          </a:bodyPr>
          <a:lstStyle/>
          <a:p>
            <a:pPr algn="ctr"/>
            <a:r>
              <a:rPr sz="1200" b="1">
                <a:solidFill>
                  <a:srgbClr val="FFFFFF"/>
                </a:solidFill>
                <a:latin typeface="Calibri"/>
              </a:rPr>
              <a:t>3</a:t>
            </a:r>
          </a:p>
        </p:txBody>
      </p:sp>
      <p:sp>
        <p:nvSpPr>
          <p:cNvPr id="18" name="TextBox 17"/>
          <p:cNvSpPr txBox="1"/>
          <p:nvPr/>
        </p:nvSpPr>
        <p:spPr>
          <a:xfrm>
            <a:off x="978408" y="3236976"/>
            <a:ext cx="6309360" cy="274320"/>
          </a:xfrm>
          <a:prstGeom prst="rect">
            <a:avLst/>
          </a:prstGeom>
          <a:noFill/>
        </p:spPr>
        <p:txBody>
          <a:bodyPr wrap="square" lIns="0" rIns="0" tIns="0" bIns="0" anchor="ctr">
            <a:spAutoFit/>
          </a:bodyPr>
          <a:lstStyle/>
          <a:p>
            <a:pPr algn="l"/>
            <a:r>
              <a:rPr sz="1250" b="1">
                <a:solidFill>
                  <a:srgbClr val="1F2933"/>
                </a:solidFill>
                <a:latin typeface="Calibri"/>
              </a:rPr>
              <a:t>Run the pipeline on the two sample exports, with the labels for evaluation</a:t>
            </a:r>
          </a:p>
        </p:txBody>
      </p:sp>
      <p:sp>
        <p:nvSpPr>
          <p:cNvPr id="19" name="Rounded Rectangle 18"/>
          <p:cNvSpPr/>
          <p:nvPr/>
        </p:nvSpPr>
        <p:spPr>
          <a:xfrm>
            <a:off x="978408" y="3566160"/>
            <a:ext cx="6355080" cy="676656"/>
          </a:xfrm>
          <a:prstGeom prst="roundRect">
            <a:avLst>
              <a:gd name="adj" fmla="val 8000"/>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43000" y="3566160"/>
            <a:ext cx="6035040" cy="676656"/>
          </a:xfrm>
          <a:prstGeom prst="rect">
            <a:avLst/>
          </a:prstGeom>
          <a:noFill/>
        </p:spPr>
        <p:txBody>
          <a:bodyPr wrap="square" lIns="0" rIns="0" tIns="0" bIns="0" anchor="ctr">
            <a:spAutoFit/>
          </a:bodyPr>
          <a:lstStyle/>
          <a:p>
            <a:pPr algn="l"/>
            <a:r>
              <a:rPr sz="1100" b="0">
                <a:solidFill>
                  <a:srgbClr val="C9D1D9"/>
                </a:solidFill>
                <a:latin typeface="Consolas"/>
              </a:rPr>
              <a:t>python run_pipeline.py --inputs data/odk.csv data/surveycto.csv `</a:t>
            </a:r>
          </a:p>
          <a:p>
            <a:pPr algn="l"/>
            <a:r>
              <a:rPr sz="1100" b="0">
                <a:solidFill>
                  <a:srgbClr val="C9D1D9"/>
                </a:solidFill>
                <a:latin typeface="Consolas"/>
              </a:rPr>
              <a:t>    --parser auto --output-dir output --label demo `</a:t>
            </a:r>
          </a:p>
          <a:p>
            <a:pPr algn="l"/>
            <a:r>
              <a:rPr sz="1100" b="0">
                <a:solidFill>
                  <a:srgbClr val="C9D1D9"/>
                </a:solidFill>
                <a:latin typeface="Consolas"/>
              </a:rPr>
              <a:t>    --ground-truth data/ground_truth_labels.csv</a:t>
            </a:r>
          </a:p>
        </p:txBody>
      </p:sp>
      <p:sp>
        <p:nvSpPr>
          <p:cNvPr id="21" name="Oval 20"/>
          <p:cNvSpPr/>
          <p:nvPr/>
        </p:nvSpPr>
        <p:spPr>
          <a:xfrm>
            <a:off x="566928" y="4443984"/>
            <a:ext cx="292608" cy="292608"/>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443984"/>
            <a:ext cx="292608" cy="292608"/>
          </a:xfrm>
          <a:prstGeom prst="rect">
            <a:avLst/>
          </a:prstGeom>
          <a:noFill/>
        </p:spPr>
        <p:txBody>
          <a:bodyPr wrap="square" lIns="0" rIns="0" tIns="0" bIns="0" anchor="ctr">
            <a:spAutoFit/>
          </a:bodyPr>
          <a:lstStyle/>
          <a:p>
            <a:pPr algn="ctr"/>
            <a:r>
              <a:rPr sz="1200" b="1">
                <a:solidFill>
                  <a:srgbClr val="FFFFFF"/>
                </a:solidFill>
                <a:latin typeface="Calibri"/>
              </a:rPr>
              <a:t>4</a:t>
            </a:r>
          </a:p>
        </p:txBody>
      </p:sp>
      <p:sp>
        <p:nvSpPr>
          <p:cNvPr id="23" name="TextBox 22"/>
          <p:cNvSpPr txBox="1"/>
          <p:nvPr/>
        </p:nvSpPr>
        <p:spPr>
          <a:xfrm>
            <a:off x="978408" y="4462272"/>
            <a:ext cx="6309360" cy="274320"/>
          </a:xfrm>
          <a:prstGeom prst="rect">
            <a:avLst/>
          </a:prstGeom>
          <a:noFill/>
        </p:spPr>
        <p:txBody>
          <a:bodyPr wrap="square" lIns="0" rIns="0" tIns="0" bIns="0" anchor="ctr">
            <a:spAutoFit/>
          </a:bodyPr>
          <a:lstStyle/>
          <a:p>
            <a:pPr algn="l"/>
            <a:r>
              <a:rPr sz="1250" b="1">
                <a:solidFill>
                  <a:srgbClr val="1F2933"/>
                </a:solidFill>
                <a:latin typeface="Calibri"/>
              </a:rPr>
              <a:t>Run the automated tests</a:t>
            </a:r>
          </a:p>
        </p:txBody>
      </p:sp>
      <p:sp>
        <p:nvSpPr>
          <p:cNvPr id="24" name="Rounded Rectangle 23"/>
          <p:cNvSpPr/>
          <p:nvPr/>
        </p:nvSpPr>
        <p:spPr>
          <a:xfrm>
            <a:off x="978408" y="4791456"/>
            <a:ext cx="6355080" cy="384048"/>
          </a:xfrm>
          <a:prstGeom prst="roundRect">
            <a:avLst>
              <a:gd name="adj" fmla="val 8000"/>
            </a:avLst>
          </a:prstGeom>
          <a:solidFill>
            <a:srgbClr val="162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43000" y="4791456"/>
            <a:ext cx="6035040" cy="384048"/>
          </a:xfrm>
          <a:prstGeom prst="rect">
            <a:avLst/>
          </a:prstGeom>
          <a:noFill/>
        </p:spPr>
        <p:txBody>
          <a:bodyPr wrap="square" lIns="0" rIns="0" tIns="0" bIns="0" anchor="ctr">
            <a:spAutoFit/>
          </a:bodyPr>
          <a:lstStyle/>
          <a:p>
            <a:pPr algn="l"/>
            <a:r>
              <a:rPr sz="1100" b="0">
                <a:solidFill>
                  <a:srgbClr val="C9D1D9"/>
                </a:solidFill>
                <a:latin typeface="Consolas"/>
              </a:rPr>
              <a:t>python -m pytest</a:t>
            </a:r>
          </a:p>
        </p:txBody>
      </p:sp>
      <p:sp>
        <p:nvSpPr>
          <p:cNvPr id="26" name="Rounded Rectangle 25"/>
          <p:cNvSpPr/>
          <p:nvPr/>
        </p:nvSpPr>
        <p:spPr>
          <a:xfrm>
            <a:off x="7726679" y="1371600"/>
            <a:ext cx="3895344" cy="3840480"/>
          </a:xfrm>
          <a:prstGeom prst="roundRect">
            <a:avLst>
              <a:gd name="adj" fmla="val 3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1481328"/>
            <a:ext cx="3474720" cy="365760"/>
          </a:xfrm>
          <a:prstGeom prst="rect">
            <a:avLst/>
          </a:prstGeom>
          <a:noFill/>
        </p:spPr>
        <p:txBody>
          <a:bodyPr wrap="square" lIns="0" rIns="0" tIns="0" bIns="0" anchor="ctr">
            <a:spAutoFit/>
          </a:bodyPr>
          <a:lstStyle/>
          <a:p>
            <a:pPr algn="l"/>
            <a:r>
              <a:rPr sz="1450" b="1">
                <a:solidFill>
                  <a:srgbClr val="1F2933"/>
                </a:solidFill>
                <a:latin typeface="Cambria"/>
              </a:rPr>
              <a:t>Live demo, with fallbacks</a:t>
            </a:r>
          </a:p>
        </p:txBody>
      </p:sp>
      <p:sp>
        <p:nvSpPr>
          <p:cNvPr id="28" name="TextBox 27"/>
          <p:cNvSpPr txBox="1"/>
          <p:nvPr/>
        </p:nvSpPr>
        <p:spPr>
          <a:xfrm>
            <a:off x="7955279" y="3931920"/>
            <a:ext cx="1554480" cy="457200"/>
          </a:xfrm>
          <a:prstGeom prst="rect">
            <a:avLst/>
          </a:prstGeom>
          <a:noFill/>
        </p:spPr>
        <p:txBody>
          <a:bodyPr wrap="square" lIns="0" rIns="0" tIns="0" bIns="0" anchor="ctr">
            <a:spAutoFit/>
          </a:bodyPr>
          <a:lstStyle/>
          <a:p>
            <a:pPr algn="l"/>
            <a:r>
              <a:rPr sz="2400" b="1">
                <a:solidFill>
                  <a:srgbClr val="0F766E"/>
                </a:solidFill>
                <a:latin typeface="Cambria"/>
              </a:rPr>
              <a:t>7.5 s</a:t>
            </a:r>
          </a:p>
        </p:txBody>
      </p:sp>
      <p:sp>
        <p:nvSpPr>
          <p:cNvPr id="29" name="TextBox 28"/>
          <p:cNvSpPr txBox="1"/>
          <p:nvPr/>
        </p:nvSpPr>
        <p:spPr>
          <a:xfrm>
            <a:off x="7955279" y="4389120"/>
            <a:ext cx="1600200" cy="731520"/>
          </a:xfrm>
          <a:prstGeom prst="rect">
            <a:avLst/>
          </a:prstGeom>
          <a:noFill/>
        </p:spPr>
        <p:txBody>
          <a:bodyPr wrap="square" lIns="0" rIns="0" tIns="0" bIns="0" anchor="t">
            <a:spAutoFit/>
          </a:bodyPr>
          <a:lstStyle/>
          <a:p>
            <a:pPr algn="l"/>
            <a:r>
              <a:rPr sz="1050" b="0">
                <a:solidFill>
                  <a:srgbClr val="3E4C55"/>
                </a:solidFill>
                <a:latin typeface="Calibri"/>
              </a:rPr>
              <a:t>for the sample run, so it can be run live</a:t>
            </a:r>
          </a:p>
        </p:txBody>
      </p:sp>
      <p:sp>
        <p:nvSpPr>
          <p:cNvPr id="30" name="TextBox 29"/>
          <p:cNvSpPr txBox="1"/>
          <p:nvPr/>
        </p:nvSpPr>
        <p:spPr>
          <a:xfrm>
            <a:off x="9692640" y="3931920"/>
            <a:ext cx="1828800" cy="457200"/>
          </a:xfrm>
          <a:prstGeom prst="rect">
            <a:avLst/>
          </a:prstGeom>
          <a:noFill/>
        </p:spPr>
        <p:txBody>
          <a:bodyPr wrap="square" lIns="0" rIns="0" tIns="0" bIns="0" anchor="ctr">
            <a:spAutoFit/>
          </a:bodyPr>
          <a:lstStyle/>
          <a:p>
            <a:pPr algn="l"/>
            <a:r>
              <a:rPr sz="2400" b="1">
                <a:solidFill>
                  <a:srgbClr val="B45309"/>
                </a:solidFill>
                <a:latin typeface="Cambria"/>
              </a:rPr>
              <a:t>~30 min</a:t>
            </a:r>
          </a:p>
        </p:txBody>
      </p:sp>
      <p:sp>
        <p:nvSpPr>
          <p:cNvPr id="31" name="TextBox 30"/>
          <p:cNvSpPr txBox="1"/>
          <p:nvPr/>
        </p:nvSpPr>
        <p:spPr>
          <a:xfrm>
            <a:off x="9692640" y="4389120"/>
            <a:ext cx="1783080" cy="731520"/>
          </a:xfrm>
          <a:prstGeom prst="rect">
            <a:avLst/>
          </a:prstGeom>
          <a:noFill/>
        </p:spPr>
        <p:txBody>
          <a:bodyPr wrap="square" lIns="0" rIns="0" tIns="0" bIns="0" anchor="t">
            <a:spAutoFit/>
          </a:bodyPr>
          <a:lstStyle/>
          <a:p>
            <a:pPr algn="l"/>
            <a:r>
              <a:rPr sz="1050" b="0">
                <a:solidFill>
                  <a:srgbClr val="3E4C55"/>
                </a:solidFill>
                <a:latin typeface="Calibri"/>
              </a:rPr>
              <a:t>for the full synthetic evaluation, shown as results</a:t>
            </a:r>
          </a:p>
        </p:txBody>
      </p:sp>
      <p:sp>
        <p:nvSpPr>
          <p:cNvPr id="32" name="Rounded Rectangle 31"/>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Every run, its output files and the executed audit notebook are also live at paradata.samuelkaoma.dev, rebuilt from the repository on every push.</a:t>
            </a:r>
          </a:p>
        </p:txBody>
      </p:sp>
      <p:sp>
        <p:nvSpPr>
          <p:cNvPr id="35" name="Rounded Rectangle 34"/>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37" name="Rounded Rectangle 36"/>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39" name="Rounded Rectangle 38"/>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41" name="Rounded Rectangle 40"/>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43" name="Rounded Rectangle 42"/>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45" name="Rounded Rectangle 44"/>
          <p:cNvSpPr/>
          <p:nvPr/>
        </p:nvSpPr>
        <p:spPr>
          <a:xfrm>
            <a:off x="10817351" y="365760"/>
            <a:ext cx="804672"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817351" y="365760"/>
            <a:ext cx="804672" cy="246888"/>
          </a:xfrm>
          <a:prstGeom prst="rect">
            <a:avLst/>
          </a:prstGeom>
          <a:noFill/>
        </p:spPr>
        <p:txBody>
          <a:bodyPr wrap="square" lIns="0" rIns="0" tIns="0" bIns="0" anchor="ctr">
            <a:spAutoFit/>
          </a:bodyPr>
          <a:lstStyle/>
          <a:p>
            <a:pPr algn="ctr"/>
            <a:r>
              <a:rPr sz="850" b="1">
                <a:solidFill>
                  <a:srgbClr val="FFFFFF"/>
                </a:solidFill>
                <a:latin typeface="Calibri"/>
              </a:rPr>
              <a:t>Deployment</a:t>
            </a:r>
          </a:p>
        </p:txBody>
      </p:sp>
      <p:sp>
        <p:nvSpPr>
          <p:cNvPr id="47" name="TextBox 46"/>
          <p:cNvSpPr txBox="1"/>
          <p:nvPr/>
        </p:nvSpPr>
        <p:spPr>
          <a:xfrm>
            <a:off x="7955279" y="1901952"/>
            <a:ext cx="3474720" cy="1920240"/>
          </a:xfrm>
          <a:prstGeom prst="rect">
            <a:avLst/>
          </a:prstGeom>
          <a:noFill/>
        </p:spPr>
        <p:txBody>
          <a:bodyPr wrap="square" lIns="0" rIns="0" tIns="0" bIns="0" anchor="t">
            <a:spAutoFit/>
          </a:bodyPr>
          <a:lstStyle/>
          <a:p>
            <a:pPr algn="l">
              <a:spcAft>
                <a:spcPts val="400"/>
              </a:spcAft>
            </a:pPr>
            <a:r>
              <a:rPr sz="1200" b="1">
                <a:solidFill>
                  <a:srgbClr val="0F766E"/>
                </a:solidFill>
                <a:latin typeface="Calibri"/>
              </a:rPr>
              <a:t>1.  Run step 3 live.  </a:t>
            </a:r>
            <a:r>
              <a:rPr sz="1200" b="1">
                <a:solidFill>
                  <a:srgbClr val="0F766E"/>
                </a:solidFill>
                <a:latin typeface="Calibri"/>
              </a:rPr>
              <a:t>Fallback: slide 20</a:t>
            </a:r>
          </a:p>
          <a:p>
            <a:pPr algn="l">
              <a:spcAft>
                <a:spcPts val="400"/>
              </a:spcAft>
            </a:pPr>
            <a:r>
              <a:rPr sz="1200" b="1">
                <a:solidFill>
                  <a:srgbClr val="0F766E"/>
                </a:solidFill>
                <a:latin typeface="Calibri"/>
              </a:rPr>
              <a:t>2.  Show raw files and the report.  </a:t>
            </a:r>
            <a:r>
              <a:rPr sz="1200" b="1">
                <a:solidFill>
                  <a:srgbClr val="0F766E"/>
                </a:solidFill>
                <a:latin typeface="Calibri"/>
              </a:rPr>
              <a:t>Fallback: slide 21</a:t>
            </a:r>
          </a:p>
          <a:p>
            <a:pPr algn="l">
              <a:spcAft>
                <a:spcPts val="400"/>
              </a:spcAft>
            </a:pPr>
            <a:r>
              <a:rPr sz="1200" b="1">
                <a:solidFill>
                  <a:srgbClr val="0F766E"/>
                </a:solidFill>
                <a:latin typeface="Calibri"/>
              </a:rPr>
              <a:t>3.  Explain why ODK401 was flagged.  </a:t>
            </a:r>
            <a:r>
              <a:rPr sz="1200" b="1">
                <a:solidFill>
                  <a:srgbClr val="0F766E"/>
                </a:solidFill>
                <a:latin typeface="Calibri"/>
              </a:rPr>
              <a:t>Slide 22</a:t>
            </a:r>
          </a:p>
          <a:p>
            <a:pPr algn="l">
              <a:spcAft>
                <a:spcPts val="400"/>
              </a:spcAft>
            </a:pPr>
            <a:r>
              <a:rPr sz="1200" b="1">
                <a:solidFill>
                  <a:srgbClr val="0F766E"/>
                </a:solidFill>
                <a:latin typeface="Calibri"/>
              </a:rPr>
              <a:t>4.  Run the tests, step 4.  </a:t>
            </a:r>
            <a:r>
              <a:rPr sz="1200" b="1">
                <a:solidFill>
                  <a:srgbClr val="0F766E"/>
                </a:solidFill>
                <a:latin typeface="Calibri"/>
              </a:rPr>
              <a:t>Fallback: slide 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SYSTEM DEMONSTRATION  ·  FALLBACK: STEP 3</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The run, captured</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22</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pic>
        <p:nvPicPr>
          <p:cNvPr id="6" name="Picture 5" descr="run_live.png"/>
          <p:cNvPicPr>
            <a:picLocks noChangeAspect="1"/>
          </p:cNvPicPr>
          <p:nvPr/>
        </p:nvPicPr>
        <p:blipFill>
          <a:blip r:embed="rId2"/>
          <a:stretch>
            <a:fillRect/>
          </a:stretch>
        </p:blipFill>
        <p:spPr>
          <a:xfrm>
            <a:off x="566928" y="1325880"/>
            <a:ext cx="10424160" cy="4684708"/>
          </a:xfrm>
          <a:prstGeom prst="rect">
            <a:avLst/>
          </a:prstGeom>
        </p:spPr>
      </p:pic>
      <p:sp>
        <p:nvSpPr>
          <p:cNvPr id="7" name="TextBox 6"/>
          <p:cNvSpPr txBox="1"/>
          <p:nvPr/>
        </p:nvSpPr>
        <p:spPr>
          <a:xfrm>
            <a:off x="566928" y="6144768"/>
            <a:ext cx="10140696" cy="274320"/>
          </a:xfrm>
          <a:prstGeom prst="rect">
            <a:avLst/>
          </a:prstGeom>
          <a:noFill/>
        </p:spPr>
        <p:txBody>
          <a:bodyPr wrap="square" lIns="0" rIns="0" tIns="0" bIns="0" anchor="ctr">
            <a:spAutoFit/>
          </a:bodyPr>
          <a:lstStyle/>
          <a:p>
            <a:pPr algn="l"/>
            <a:r>
              <a:rPr sz="1050" b="0">
                <a:solidFill>
                  <a:srgbClr val="6B7785"/>
                </a:solidFill>
                <a:latin typeface="Calibri"/>
              </a:rPr>
              <a:t>Captured on 15 October 2026 from the command in step 3. A live run prints the same lines; paths are absolute because the pipeline prints them so.</a:t>
            </a:r>
          </a:p>
        </p:txBody>
      </p:sp>
      <p:sp>
        <p:nvSpPr>
          <p:cNvPr id="8" name="Rounded Rectangle 7"/>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0" name="Rounded Rectangle 9"/>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2" name="Rounded Rectangle 11"/>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14" name="Rounded Rectangle 13"/>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16" name="Rounded Rectangle 15"/>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18" name="Rounded Rectangle 17"/>
          <p:cNvSpPr/>
          <p:nvPr/>
        </p:nvSpPr>
        <p:spPr>
          <a:xfrm>
            <a:off x="10817351" y="365760"/>
            <a:ext cx="804672"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17351" y="365760"/>
            <a:ext cx="804672" cy="246888"/>
          </a:xfrm>
          <a:prstGeom prst="rect">
            <a:avLst/>
          </a:prstGeom>
          <a:noFill/>
        </p:spPr>
        <p:txBody>
          <a:bodyPr wrap="square" lIns="0" rIns="0" tIns="0" bIns="0" anchor="ctr">
            <a:spAutoFit/>
          </a:bodyPr>
          <a:lstStyle/>
          <a:p>
            <a:pPr algn="ctr"/>
            <a:r>
              <a:rPr sz="850" b="1">
                <a:solidFill>
                  <a:srgbClr val="FFFFFF"/>
                </a:solidFill>
                <a:latin typeface="Calibri"/>
              </a:rPr>
              <a:t>Deployment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84048"/>
            <a:ext cx="11055096" cy="237744"/>
          </a:xfrm>
          <a:prstGeom prst="rect">
            <a:avLst/>
          </a:prstGeom>
          <a:noFill/>
        </p:spPr>
        <p:txBody>
          <a:bodyPr wrap="square" lIns="0" rIns="0" tIns="0" bIns="0" anchor="ctr">
            <a:spAutoFit/>
          </a:bodyPr>
          <a:lstStyle/>
          <a:p>
            <a:pPr algn="l"/>
            <a:r>
              <a:rPr sz="1100" b="1" spc="140">
                <a:solidFill>
                  <a:srgbClr val="0F766E"/>
                </a:solidFill>
                <a:latin typeface="Calibri"/>
              </a:rPr>
              <a:t>SYSTEM DEMONSTRATION  ·  INPUT AND OUTPUT</a:t>
            </a:r>
          </a:p>
        </p:txBody>
      </p:sp>
      <p:sp>
        <p:nvSpPr>
          <p:cNvPr id="3" name="TextBox 2"/>
          <p:cNvSpPr txBox="1"/>
          <p:nvPr/>
        </p:nvSpPr>
        <p:spPr>
          <a:xfrm>
            <a:off x="566928" y="658368"/>
            <a:ext cx="11055096" cy="566928"/>
          </a:xfrm>
          <a:prstGeom prst="rect">
            <a:avLst/>
          </a:prstGeom>
          <a:noFill/>
        </p:spPr>
        <p:txBody>
          <a:bodyPr wrap="square" lIns="0" rIns="0" tIns="0" bIns="0" anchor="ctr">
            <a:spAutoFit/>
          </a:bodyPr>
          <a:lstStyle/>
          <a:p>
            <a:pPr algn="l"/>
            <a:r>
              <a:rPr sz="3000" b="1">
                <a:solidFill>
                  <a:srgbClr val="1F2933"/>
                </a:solidFill>
                <a:latin typeface="Cambria"/>
              </a:rPr>
              <a:t>From raw audit log to scored interview</a:t>
            </a:r>
          </a:p>
        </p:txBody>
      </p:sp>
      <p:sp>
        <p:nvSpPr>
          <p:cNvPr id="4"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6B7785"/>
                </a:solidFill>
                <a:latin typeface="Calibri"/>
              </a:rPr>
              <a:t>23</a:t>
            </a:fld>
          </a:p>
        </p:txBody>
      </p:sp>
      <p:sp>
        <p:nvSpPr>
          <p:cNvPr id="5" name="TextBox 4"/>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6B7785"/>
                </a:solidFill>
                <a:latin typeface="Calibri"/>
              </a:rPr>
              <a:t>Final Year Project • Academic Year 2026</a:t>
            </a:r>
          </a:p>
        </p:txBody>
      </p:sp>
      <p:pic>
        <p:nvPicPr>
          <p:cNvPr id="6" name="Picture 5" descr="raw_odk.png"/>
          <p:cNvPicPr>
            <a:picLocks noChangeAspect="1"/>
          </p:cNvPicPr>
          <p:nvPr/>
        </p:nvPicPr>
        <p:blipFill>
          <a:blip r:embed="rId2"/>
          <a:stretch>
            <a:fillRect/>
          </a:stretch>
        </p:blipFill>
        <p:spPr>
          <a:xfrm>
            <a:off x="566928" y="1371600"/>
            <a:ext cx="6400800" cy="1637003"/>
          </a:xfrm>
          <a:prstGeom prst="rect">
            <a:avLst/>
          </a:prstGeom>
        </p:spPr>
      </p:pic>
      <p:pic>
        <p:nvPicPr>
          <p:cNvPr id="7" name="Picture 6" descr="raw_surveycto.png"/>
          <p:cNvPicPr>
            <a:picLocks noChangeAspect="1"/>
          </p:cNvPicPr>
          <p:nvPr/>
        </p:nvPicPr>
        <p:blipFill>
          <a:blip r:embed="rId3"/>
          <a:stretch>
            <a:fillRect/>
          </a:stretch>
        </p:blipFill>
        <p:spPr>
          <a:xfrm>
            <a:off x="566928" y="3127248"/>
            <a:ext cx="4718304" cy="1637564"/>
          </a:xfrm>
          <a:prstGeom prst="rect">
            <a:avLst/>
          </a:prstGeom>
        </p:spPr>
      </p:pic>
      <p:sp>
        <p:nvSpPr>
          <p:cNvPr id="8" name="TextBox 7"/>
          <p:cNvSpPr txBox="1"/>
          <p:nvPr/>
        </p:nvSpPr>
        <p:spPr>
          <a:xfrm>
            <a:off x="5440680" y="3200400"/>
            <a:ext cx="1554480" cy="1554480"/>
          </a:xfrm>
          <a:prstGeom prst="rect">
            <a:avLst/>
          </a:prstGeom>
          <a:noFill/>
        </p:spPr>
        <p:txBody>
          <a:bodyPr wrap="square" lIns="0" rIns="0" tIns="0" bIns="0" anchor="t">
            <a:spAutoFit/>
          </a:bodyPr>
          <a:lstStyle/>
          <a:p>
            <a:pPr algn="l">
              <a:spcAft>
                <a:spcPts val="600"/>
              </a:spcAft>
            </a:pPr>
            <a:r>
              <a:rPr sz="1050" b="1">
                <a:solidFill>
                  <a:srgbClr val="3E4C55"/>
                </a:solidFill>
                <a:latin typeface="Calibri"/>
              </a:rPr>
              <a:t>ODK: </a:t>
            </a:r>
            <a:r>
              <a:rPr sz="1050" b="0">
                <a:solidFill>
                  <a:srgbClr val="3E4C55"/>
                </a:solidFill>
                <a:latin typeface="Calibri"/>
              </a:rPr>
              <a:t>ISO 8601 times, instance and name columns.</a:t>
            </a:r>
          </a:p>
          <a:p>
            <a:pPr algn="l">
              <a:spcAft>
                <a:spcPts val="600"/>
              </a:spcAft>
            </a:pPr>
            <a:r>
              <a:rPr sz="1050" b="1">
                <a:solidFill>
                  <a:srgbClr val="3E4C55"/>
                </a:solidFill>
                <a:latin typeface="Calibri"/>
              </a:rPr>
              <a:t>SurveyCTO: </a:t>
            </a:r>
            <a:r>
              <a:rPr sz="1050" b="0">
                <a:solidFill>
                  <a:srgbClr val="3E4C55"/>
                </a:solidFill>
                <a:latin typeface="Calibri"/>
              </a:rPr>
              <a:t>epoch milliseconds, node and duration columns.</a:t>
            </a:r>
          </a:p>
        </p:txBody>
      </p:sp>
      <p:pic>
        <p:nvPicPr>
          <p:cNvPr id="9" name="Picture 8" descr="output_report.png"/>
          <p:cNvPicPr>
            <a:picLocks noChangeAspect="1"/>
          </p:cNvPicPr>
          <p:nvPr/>
        </p:nvPicPr>
        <p:blipFill>
          <a:blip r:embed="rId4"/>
          <a:stretch>
            <a:fillRect/>
          </a:stretch>
        </p:blipFill>
        <p:spPr>
          <a:xfrm>
            <a:off x="7178040" y="1371600"/>
            <a:ext cx="4443984" cy="2603438"/>
          </a:xfrm>
          <a:prstGeom prst="rect">
            <a:avLst/>
          </a:prstGeom>
        </p:spPr>
      </p:pic>
      <p:sp>
        <p:nvSpPr>
          <p:cNvPr id="10" name="TextBox 9"/>
          <p:cNvSpPr txBox="1"/>
          <p:nvPr/>
        </p:nvSpPr>
        <p:spPr>
          <a:xfrm>
            <a:off x="7178040" y="4069080"/>
            <a:ext cx="4443984" cy="822960"/>
          </a:xfrm>
          <a:prstGeom prst="rect">
            <a:avLst/>
          </a:prstGeom>
          <a:noFill/>
        </p:spPr>
        <p:txBody>
          <a:bodyPr wrap="square" lIns="0" rIns="0" tIns="0" bIns="0" anchor="t">
            <a:spAutoFit/>
          </a:bodyPr>
          <a:lstStyle/>
          <a:p>
            <a:pPr algn="l"/>
            <a:r>
              <a:rPr sz="1050" b="1">
                <a:solidFill>
                  <a:srgbClr val="15803D"/>
                </a:solidFill>
                <a:latin typeface="Calibri"/>
              </a:rPr>
              <a:t>Score 0 to 1: </a:t>
            </a:r>
            <a:r>
              <a:rPr sz="1050" b="0">
                <a:solidFill>
                  <a:srgbClr val="3E4C55"/>
                </a:solidFill>
                <a:latin typeface="Calibri"/>
              </a:rPr>
              <a:t>CLEAN.  </a:t>
            </a:r>
            <a:r>
              <a:rPr sz="1050" b="1">
                <a:solidFill>
                  <a:srgbClr val="B45309"/>
                </a:solidFill>
                <a:latin typeface="Calibri"/>
              </a:rPr>
              <a:t>2 to 4: </a:t>
            </a:r>
            <a:r>
              <a:rPr sz="1050" b="0">
                <a:solidFill>
                  <a:srgbClr val="3E4C55"/>
                </a:solidFill>
                <a:latin typeface="Calibri"/>
              </a:rPr>
              <a:t>REVIEW.  </a:t>
            </a:r>
            <a:r>
              <a:rPr sz="1050" b="1">
                <a:solidFill>
                  <a:srgbClr val="B91C1C"/>
                </a:solidFill>
                <a:latin typeface="Calibri"/>
              </a:rPr>
              <a:t>5 or more: </a:t>
            </a:r>
            <a:r>
              <a:rPr sz="1050" b="0">
                <a:solidFill>
                  <a:srgbClr val="3E4C55"/>
                </a:solidFill>
                <a:latin typeface="Calibri"/>
              </a:rPr>
              <a:t>FLAGGED. </a:t>
            </a:r>
            <a:r>
              <a:rPr sz="1050" b="0">
                <a:solidFill>
                  <a:srgbClr val="3E4C55"/>
                </a:solidFill>
                <a:latin typeface="Calibri"/>
              </a:rPr>
              <a:t>dq_issue marks a data-quality problem rather than behaviour.</a:t>
            </a:r>
          </a:p>
        </p:txBody>
      </p:sp>
      <p:sp>
        <p:nvSpPr>
          <p:cNvPr id="11" name="Rounded Rectangle 10"/>
          <p:cNvSpPr/>
          <p:nvPr/>
        </p:nvSpPr>
        <p:spPr>
          <a:xfrm>
            <a:off x="566928" y="5440680"/>
            <a:ext cx="11055096" cy="566928"/>
          </a:xfrm>
          <a:prstGeom prst="roundRect">
            <a:avLst>
              <a:gd name="adj" fmla="val 1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4944" y="5568696"/>
            <a:ext cx="91440" cy="310896"/>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5486400"/>
            <a:ext cx="10506456" cy="475488"/>
          </a:xfrm>
          <a:prstGeom prst="rect">
            <a:avLst/>
          </a:prstGeom>
          <a:noFill/>
        </p:spPr>
        <p:txBody>
          <a:bodyPr wrap="square" lIns="0" rIns="0" tIns="0" bIns="0" anchor="ctr">
            <a:spAutoFit/>
          </a:bodyPr>
          <a:lstStyle/>
          <a:p>
            <a:pPr algn="l"/>
            <a:r>
              <a:rPr sz="1350" b="1">
                <a:solidFill>
                  <a:srgbClr val="1F2933"/>
                </a:solidFill>
                <a:latin typeface="Calibri"/>
              </a:rPr>
              <a:t>451 raw event rows become 24 scored interviews: 6 clean, 8 for review and 10 flagged, of which 6 are data-quality faults rather than behaviour.</a:t>
            </a:r>
          </a:p>
        </p:txBody>
      </p:sp>
      <p:sp>
        <p:nvSpPr>
          <p:cNvPr id="14" name="TextBox 13"/>
          <p:cNvSpPr txBox="1"/>
          <p:nvPr/>
        </p:nvSpPr>
        <p:spPr>
          <a:xfrm>
            <a:off x="566928" y="6144768"/>
            <a:ext cx="10140696" cy="274320"/>
          </a:xfrm>
          <a:prstGeom prst="rect">
            <a:avLst/>
          </a:prstGeom>
          <a:noFill/>
        </p:spPr>
        <p:txBody>
          <a:bodyPr wrap="square" lIns="0" rIns="0" tIns="0" bIns="0" anchor="ctr">
            <a:spAutoFit/>
          </a:bodyPr>
          <a:lstStyle/>
          <a:p>
            <a:pPr algn="l"/>
            <a:r>
              <a:rPr sz="1050" b="0">
                <a:solidFill>
                  <a:srgbClr val="6B7785"/>
                </a:solidFill>
                <a:latin typeface="Calibri"/>
              </a:rPr>
              <a:t>Fallback screenshots, captured in PowerShell from the project folder after the run command (step 3).</a:t>
            </a:r>
          </a:p>
        </p:txBody>
      </p:sp>
      <p:sp>
        <p:nvSpPr>
          <p:cNvPr id="15" name="Rounded Rectangle 14"/>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7" name="Rounded Rectangle 16"/>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9" name="Rounded Rectangle 18"/>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21" name="Rounded Rectangle 20"/>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3" name="Rounded Rectangle 22"/>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25" name="Rounded Rectangle 24"/>
          <p:cNvSpPr/>
          <p:nvPr/>
        </p:nvSpPr>
        <p:spPr>
          <a:xfrm>
            <a:off x="10817351" y="365760"/>
            <a:ext cx="804672"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817351" y="365760"/>
            <a:ext cx="804672" cy="246888"/>
          </a:xfrm>
          <a:prstGeom prst="rect">
            <a:avLst/>
          </a:prstGeom>
          <a:noFill/>
        </p:spPr>
        <p:txBody>
          <a:bodyPr wrap="square" lIns="0" rIns="0" tIns="0" bIns="0" anchor="ctr">
            <a:spAutoFit/>
          </a:bodyPr>
          <a:lstStyle/>
          <a:p>
            <a:pPr algn="ctr"/>
            <a:r>
              <a:rPr sz="850" b="1">
                <a:solidFill>
                  <a:srgbClr val="FFFFFF"/>
                </a:solidFill>
                <a:latin typeface="Calibri"/>
              </a:rPr>
              <a:t>Deployment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SYSTEM DEMONSTRATION  ·  EXPLAINING A FLAG</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Why was this interview flagged?</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24</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pic>
        <p:nvPicPr>
          <p:cNvPr id="6" name="Image 0" descr="C:\Users\Samuel\Desktop\4th year\Final year project\SKACE-Time-Data\report\figures\demo4_explained.png">    </p:cNvPr>
          <p:cNvPicPr>
            <a:picLocks noChangeAspect="1"/>
          </p:cNvPicPr>
          <p:nvPr/>
        </p:nvPicPr>
        <p:blipFill>
          <a:blip r:embed="rId1"/>
          <a:stretch>
            <a:fillRect/>
          </a:stretch>
        </p:blipFill>
        <p:spPr>
          <a:xfrm>
            <a:off x="566928" y="1508760"/>
            <a:ext cx="7086600" cy="2916936"/>
          </a:xfrm>
          <a:prstGeom prst="rect">
            <a:avLst/>
          </a:prstGeom>
        </p:spPr>
      </p:pic>
      <p:sp>
        <p:nvSpPr>
          <p:cNvPr id="7" name="Text 4"/>
          <p:cNvSpPr txBox="1"/>
          <p:nvPr/>
        </p:nvSpPr>
        <p:spPr>
          <a:xfrm>
            <a:off x="7818120" y="1508760"/>
            <a:ext cx="3813048" cy="3017520"/>
          </a:xfrm>
          <a:prstGeom prst="rect">
            <a:avLst/>
          </a:prstGeom>
          <a:noFill/>
          <a:ln/>
        </p:spPr>
        <p:txBody>
          <a:bodyPr wrap="square" lIns="0" tIns="0" rIns="0" bIns="0" rtlCol="0" anchor="ctr"/>
          <a:lstStyle/>
          <a:p>
            <a:pPr indent="0" marL="0">
              <a:lnSpc>
                <a:spcPts val="1650"/>
              </a:lnSpc>
              <a:buNone/>
            </a:pPr>
            <a:r>
              <a:rPr lang="en-US" sz="1200" b="1" dirty="0">
                <a:solidFill>
                  <a:srgbClr val="1F2933"/>
                </a:solidFill>
                <a:latin typeface="Calibri" pitchFamily="34" charset="0"/>
                <a:ea typeface="Calibri" pitchFamily="34" charset="-122"/>
                <a:cs typeface="Calibri" pitchFamily="34" charset="-120"/>
              </a:rPr>
              <a:t>ODK401 scored 6 and was categorised anomalous.</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Six flags fired: low mean response time, zero back navigation, low entropy, uniform timing, compressed response time IQR, and low within-section variance.</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dirty="0">
                <a:solidFill>
                  <a:srgbClr val="1F2933"/>
                </a:solidFill>
                <a:latin typeface="Calibri" pitchFamily="34" charset="0"/>
                <a:ea typeface="Calibri" pitchFamily="34" charset="-122"/>
                <a:cs typeface="Calibri" pitchFamily="34" charset="-120"/>
              </a:rPr>
              <a:t>Entropy of exactly 0.000 means every response time fell in a single one-second bin. A human answering twenty questions of varying difficulty does not produce that.</a:t>
            </a:r>
            <a:endParaRPr lang="en-US" sz="1200" dirty="0"/>
          </a:p>
          <a:p>
            <a:pPr indent="0" marL="0">
              <a:lnSpc>
                <a:spcPts val="1650"/>
              </a:lnSpc>
              <a:buNone/>
            </a:pPr>
            <a:r>
              <a:rPr lang="en-US" sz="600" dirty="0">
                <a:solidFill>
                  <a:srgbClr val="1F2933"/>
                </a:solidFill>
                <a:latin typeface="Calibri" pitchFamily="34" charset="0"/>
                <a:ea typeface="Calibri" pitchFamily="34" charset="-122"/>
                <a:cs typeface="Calibri" pitchFamily="34" charset="-120"/>
              </a:rPr>
              <a:t> </a:t>
            </a:r>
            <a:endParaRPr lang="en-US" sz="1200" dirty="0"/>
          </a:p>
          <a:p>
            <a:pPr indent="0" marL="0">
              <a:lnSpc>
                <a:spcPts val="1650"/>
              </a:lnSpc>
              <a:buNone/>
            </a:pPr>
            <a:r>
              <a:rPr lang="en-US" sz="1200" b="1" dirty="0">
                <a:solidFill>
                  <a:srgbClr val="B45309"/>
                </a:solidFill>
                <a:latin typeface="Calibri" pitchFamily="34" charset="0"/>
                <a:ea typeface="Calibri" pitchFamily="34" charset="-122"/>
                <a:cs typeface="Calibri" pitchFamily="34" charset="-120"/>
              </a:rPr>
              <a:t>Ground truth confirms it: fabricated.</a:t>
            </a:r>
            <a:endParaRPr lang="en-US" sz="1200" dirty="0"/>
          </a:p>
        </p:txBody>
      </p:sp>
      <p:sp>
        <p:nvSpPr>
          <p:cNvPr id="8" name="Shape 5"/>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6"/>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7"/>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This is the sentence a field supervisor can take to an enumerator. An opaque model score is not.</a:t>
            </a:r>
            <a:endParaRPr lang="en-US" sz="1350" dirty="0"/>
          </a:p>
        </p:txBody>
      </p:sp>
      <p:sp>
        <p:nvSpPr>
          <p:cNvPr id="11" name="Text 8"/>
          <p:cNvSpPr txBox="1"/>
          <p:nvPr/>
        </p:nvSpPr>
        <p:spPr>
          <a:xfrm>
            <a:off x="566928" y="6144768"/>
            <a:ext cx="10140696" cy="27432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output/feature_dataset_demo.csv and output/anomaly_report_demo.csv, same run.</a:t>
            </a:r>
            <a:endParaRPr lang="en-US" sz="1050" dirty="0"/>
          </a:p>
        </p:txBody>
      </p:sp>
      <p:sp>
        <p:nvSpPr>
          <p:cNvPr id="12" name="Rounded Rectangle 11"/>
          <p:cNvSpPr/>
          <p:nvPr/>
        </p:nvSpPr>
        <p:spPr>
          <a:xfrm>
            <a:off x="5641848" y="365760"/>
            <a:ext cx="129844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41848" y="365760"/>
            <a:ext cx="1298448" cy="246888"/>
          </a:xfrm>
          <a:prstGeom prst="rect">
            <a:avLst/>
          </a:prstGeom>
          <a:noFill/>
        </p:spPr>
        <p:txBody>
          <a:bodyPr wrap="square" lIns="0" rIns="0" tIns="0" bIns="0" anchor="ctr">
            <a:spAutoFit/>
          </a:bodyPr>
          <a:lstStyle/>
          <a:p>
            <a:pPr algn="ctr"/>
            <a:r>
              <a:rPr sz="850" b="0">
                <a:solidFill>
                  <a:srgbClr val="6B7785"/>
                </a:solidFill>
                <a:latin typeface="Calibri"/>
              </a:rPr>
              <a:t>Business understanding</a:t>
            </a:r>
          </a:p>
        </p:txBody>
      </p:sp>
      <p:sp>
        <p:nvSpPr>
          <p:cNvPr id="14" name="Rounded Rectangle 13"/>
          <p:cNvSpPr/>
          <p:nvPr/>
        </p:nvSpPr>
        <p:spPr>
          <a:xfrm>
            <a:off x="6995160" y="365760"/>
            <a:ext cx="111556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365760"/>
            <a:ext cx="1115568" cy="246888"/>
          </a:xfrm>
          <a:prstGeom prst="rect">
            <a:avLst/>
          </a:prstGeom>
          <a:noFill/>
        </p:spPr>
        <p:txBody>
          <a:bodyPr wrap="square" lIns="0" rIns="0" tIns="0" bIns="0" anchor="ctr">
            <a:spAutoFit/>
          </a:bodyPr>
          <a:lstStyle/>
          <a:p>
            <a:pPr algn="ctr"/>
            <a:r>
              <a:rPr sz="850" b="0">
                <a:solidFill>
                  <a:srgbClr val="6B7785"/>
                </a:solidFill>
                <a:latin typeface="Calibri"/>
              </a:rPr>
              <a:t>Data understanding</a:t>
            </a:r>
          </a:p>
        </p:txBody>
      </p:sp>
      <p:sp>
        <p:nvSpPr>
          <p:cNvPr id="16" name="Rounded Rectangle 15"/>
          <p:cNvSpPr/>
          <p:nvPr/>
        </p:nvSpPr>
        <p:spPr>
          <a:xfrm>
            <a:off x="8165592" y="365760"/>
            <a:ext cx="100584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365760"/>
            <a:ext cx="1005840" cy="246888"/>
          </a:xfrm>
          <a:prstGeom prst="rect">
            <a:avLst/>
          </a:prstGeom>
          <a:noFill/>
        </p:spPr>
        <p:txBody>
          <a:bodyPr wrap="square" lIns="0" rIns="0" tIns="0" bIns="0" anchor="ctr">
            <a:spAutoFit/>
          </a:bodyPr>
          <a:lstStyle/>
          <a:p>
            <a:pPr algn="ctr"/>
            <a:r>
              <a:rPr sz="850" b="0">
                <a:solidFill>
                  <a:srgbClr val="6B7785"/>
                </a:solidFill>
                <a:latin typeface="Calibri"/>
              </a:rPr>
              <a:t>Data preparation</a:t>
            </a:r>
          </a:p>
        </p:txBody>
      </p:sp>
      <p:sp>
        <p:nvSpPr>
          <p:cNvPr id="18" name="Rounded Rectangle 17"/>
          <p:cNvSpPr/>
          <p:nvPr/>
        </p:nvSpPr>
        <p:spPr>
          <a:xfrm>
            <a:off x="9226296" y="365760"/>
            <a:ext cx="731520"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26296" y="365760"/>
            <a:ext cx="731520" cy="246888"/>
          </a:xfrm>
          <a:prstGeom prst="rect">
            <a:avLst/>
          </a:prstGeom>
          <a:noFill/>
        </p:spPr>
        <p:txBody>
          <a:bodyPr wrap="square" lIns="0" rIns="0" tIns="0" bIns="0" anchor="ctr">
            <a:spAutoFit/>
          </a:bodyPr>
          <a:lstStyle/>
          <a:p>
            <a:pPr algn="ctr"/>
            <a:r>
              <a:rPr sz="850" b="0">
                <a:solidFill>
                  <a:srgbClr val="6B7785"/>
                </a:solidFill>
                <a:latin typeface="Calibri"/>
              </a:rPr>
              <a:t>Modelling</a:t>
            </a:r>
          </a:p>
        </p:txBody>
      </p:sp>
      <p:sp>
        <p:nvSpPr>
          <p:cNvPr id="20" name="Rounded Rectangle 19"/>
          <p:cNvSpPr/>
          <p:nvPr/>
        </p:nvSpPr>
        <p:spPr>
          <a:xfrm>
            <a:off x="10012680" y="365760"/>
            <a:ext cx="749808" cy="246888"/>
          </a:xfrm>
          <a:prstGeom prst="roundRect">
            <a:avLst>
              <a:gd name="adj" fmla="val 50000"/>
            </a:avLst>
          </a:prstGeom>
          <a:solidFill>
            <a:srgbClr val="EEF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365760"/>
            <a:ext cx="749808" cy="246888"/>
          </a:xfrm>
          <a:prstGeom prst="rect">
            <a:avLst/>
          </a:prstGeom>
          <a:noFill/>
        </p:spPr>
        <p:txBody>
          <a:bodyPr wrap="square" lIns="0" rIns="0" tIns="0" bIns="0" anchor="ctr">
            <a:spAutoFit/>
          </a:bodyPr>
          <a:lstStyle/>
          <a:p>
            <a:pPr algn="ctr"/>
            <a:r>
              <a:rPr sz="850" b="0">
                <a:solidFill>
                  <a:srgbClr val="6B7785"/>
                </a:solidFill>
                <a:latin typeface="Calibri"/>
              </a:rPr>
              <a:t>Evaluation</a:t>
            </a:r>
          </a:p>
        </p:txBody>
      </p:sp>
      <p:sp>
        <p:nvSpPr>
          <p:cNvPr id="22" name="Rounded Rectangle 21"/>
          <p:cNvSpPr/>
          <p:nvPr/>
        </p:nvSpPr>
        <p:spPr>
          <a:xfrm>
            <a:off x="10817351" y="365760"/>
            <a:ext cx="804672" cy="246888"/>
          </a:xfrm>
          <a:prstGeom prst="roundRect">
            <a:avLst>
              <a:gd name="adj" fmla="val 50000"/>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17351" y="365760"/>
            <a:ext cx="804672" cy="246888"/>
          </a:xfrm>
          <a:prstGeom prst="rect">
            <a:avLst/>
          </a:prstGeom>
          <a:noFill/>
        </p:spPr>
        <p:txBody>
          <a:bodyPr wrap="square" lIns="0" rIns="0" tIns="0" bIns="0" anchor="ctr">
            <a:spAutoFit/>
          </a:bodyPr>
          <a:lstStyle/>
          <a:p>
            <a:pPr algn="ctr"/>
            <a:r>
              <a:rPr sz="850" b="1">
                <a:solidFill>
                  <a:srgbClr val="FFFFFF"/>
                </a:solidFill>
                <a:latin typeface="Calibri"/>
              </a:rPr>
              <a:t>Deployment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5096" cy="237744"/>
          </a:xfrm>
          <a:prstGeom prst="rect">
            <a:avLst/>
          </a:prstGeom>
          <a:noFill/>
          <a:ln/>
        </p:spPr>
        <p:txBody>
          <a:bodyPr wrap="square" lIns="0" tIns="0" rIns="0" bIns="0" rtlCol="0" anchor="ctr"/>
          <a:lstStyle/>
          <a:p>
            <a:pPr indent="0" marL="0">
              <a:buNone/>
            </a:pPr>
            <a:r>
              <a:rPr lang="en-US" sz="1100" b="1" spc="140" kern="0" dirty="0">
                <a:solidFill>
                  <a:srgbClr val="0F766E"/>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000" b="1" dirty="0">
                <a:solidFill>
                  <a:srgbClr val="1F2933"/>
                </a:solidFill>
                <a:latin typeface="Cambria" pitchFamily="34" charset="0"/>
                <a:ea typeface="Cambria" pitchFamily="34" charset="-122"/>
                <a:cs typeface="Cambria" pitchFamily="34" charset="-120"/>
              </a:rPr>
              <a:t>Key references</a:t>
            </a:r>
            <a:endParaRPr lang="en-US" sz="3000" dirty="0"/>
          </a:p>
        </p:txBody>
      </p:sp>
      <p:sp>
        <p:nvSpPr>
          <p:cNvPr id="4" name="Text 2"/>
          <p:cNvSpPr txBox="1"/>
          <p:nvPr/>
        </p:nvSpPr>
        <p:spPr>
          <a:xfrm>
            <a:off x="11073384" y="6437376"/>
            <a:ext cx="548640" cy="274320"/>
          </a:xfrm>
          <a:prstGeom prst="rect">
            <a:avLst/>
          </a:prstGeom>
          <a:noFill/>
          <a:ln/>
        </p:spPr>
        <p:txBody>
          <a:bodyPr wrap="square" lIns="0" tIns="0" rIns="0" bIns="0" rtlCol="0" anchor="ctr"/>
          <a:lstStyle/>
          <a:p>
            <a:pPr algn="r" indent="0" marL="0">
              <a:buNone/>
            </a:pPr>
            <a:fld id="{B6F15528-21DE-4FAA-801E-634DDDAF4B2B}" type="slidenum">
              <a:rPr lang="en-US" sz="1000" dirty="0">
                <a:solidFill>
                  <a:srgbClr val="6B7785"/>
                </a:solidFill>
                <a:latin typeface="Calibri" pitchFamily="34" charset="0"/>
                <a:ea typeface="Calibri" pitchFamily="34" charset="-122"/>
                <a:cs typeface="Calibri" pitchFamily="34" charset="-120"/>
              </a:rPr>
              <a:t>25</a:t>
            </a:fld>
            <a:endParaRPr lang="en-US" sz="1000" dirty="0"/>
          </a:p>
        </p:txBody>
      </p:sp>
      <p:sp>
        <p:nvSpPr>
          <p:cNvPr id="5" name="Text 3"/>
          <p:cNvSpPr txBox="1"/>
          <p:nvPr/>
        </p:nvSpPr>
        <p:spPr>
          <a:xfrm>
            <a:off x="566928" y="6437376"/>
            <a:ext cx="5486400" cy="274320"/>
          </a:xfrm>
          <a:prstGeom prst="rect">
            <a:avLst/>
          </a:prstGeom>
          <a:noFill/>
          <a:ln/>
        </p:spPr>
        <p:txBody>
          <a:bodyPr wrap="square" lIns="0" tIns="0" rIns="0" bIns="0" rtlCol="0" anchor="ctr"/>
          <a:lstStyle/>
          <a:p>
            <a:pPr indent="0" marL="0">
              <a:buNone/>
            </a:pPr>
            <a:r>
              <a:rPr lang="en-US" sz="1000" dirty="0">
                <a:solidFill>
                  <a:srgbClr val="6B7785"/>
                </a:solidFill>
                <a:latin typeface="Calibri" pitchFamily="34" charset="0"/>
                <a:ea typeface="Calibri" pitchFamily="34" charset="-122"/>
                <a:cs typeface="Calibri" pitchFamily="34" charset="-120"/>
              </a:rPr>
              <a:t>Final Year Project • Academic Year 2026</a:t>
            </a:r>
            <a:endParaRPr lang="en-US" sz="1000" dirty="0"/>
          </a:p>
        </p:txBody>
      </p:sp>
      <p:sp>
        <p:nvSpPr>
          <p:cNvPr id="6" name="Text 4"/>
          <p:cNvSpPr txBox="1"/>
          <p:nvPr/>
        </p:nvSpPr>
        <p:spPr>
          <a:xfrm>
            <a:off x="566928" y="1371600"/>
            <a:ext cx="5349240" cy="356616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Birnbaum, B., Borriello, G., Flaxman, A.D., DeRenzi, B. and Karlin, A.R. (2013) 'Using behavioral data to identify interviewer fabrication in surveys', CHI '13, pp. 2911-2920.</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Bushery, J.M., Reichert, J.W., Albright, K.A. and Rossiter, J.C. (1999) 'Using date and time stamps to detect interviewer falsification', Proceedings of the Survey Research Methods Section, ASA, pp. 316-320.</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Chandola, V., Banerjee, A. and Kumar, V. (2009) 'Anomaly detection: a survey', ACM Computing Surveys, 41(3), pp. 1-58.</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Chapman, P., Clinton, J., Kerber, R., Khabaza, T., Reinartz, T., Shearer, C. and Wirth, R. (2000) CRISP-DM 1.0: Step-by-step data mining guide. SPSS.</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Finn, A. and Ranchhod, V. (2017) 'Genuine fakes: the prevalence and implications of data fabrication in a large South African survey', The World Bank Economic Review, 31(1), pp. 129-157.</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Goel, D., Abraham, R. and Lahoti, R. (2022) Improving Survey Quality Using Paradata. IZA Discussion Paper No. 15041.</a:t>
            </a:r>
          </a:p>
        </p:txBody>
      </p:sp>
      <p:sp>
        <p:nvSpPr>
          <p:cNvPr id="7" name="Text 5"/>
          <p:cNvSpPr txBox="1"/>
          <p:nvPr/>
        </p:nvSpPr>
        <p:spPr>
          <a:xfrm>
            <a:off x="6281928" y="1371600"/>
            <a:ext cx="5349240" cy="3566160"/>
          </a:xfrm>
          <a:prstGeom prst="rect">
            <a:avLst/>
          </a:prstGeom>
          <a:noFill/>
          <a:ln/>
        </p:spPr>
        <p:txBody>
          <a:bodyPr wrap="square" lIns="0" tIns="0" rIns="0" bIns="0" rtlCol="0" anchor="t"/>
          <a:lstStyle/>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Hoogeveen, J. and Pape, U. (eds.) (2020) Data Collection in Fragile States: Innovations from Africa and Beyond. Cham: Palgrave Macmillan.</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Hubert, M. and Vandervieren, E. (2008) 'An adjusted boxplot for skewed distributions', Computational Statistics &amp; Data Analysis, 52, pp. 5186-5201.</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Kreuter, F. (ed.) (2013) Improving Surveys with Paradata. Hoboken, NJ: Wiley.</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Schwanhäuser, S., Sakshaug, J.W. and Kosyakova, Y. (2022) 'How to catch a falsifier', Public Opinion Quarterly, 86(1), pp. 51-81.</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Wirth, R. and Hipp, J. (2000) 'CRISP-DM: towards a standard process model for data mining', Proceedings of the 4th International Conference on the Practical Applications of Knowledge Discovery and Data Mining, Manchester, pp. 29-39.</a:t>
            </a:r>
          </a:p>
          <a:p>
            <a:pPr marL="342900" indent="-342900">
              <a:lnSpc>
                <a:spcPts val="1550"/>
              </a:lnSpc>
              <a:spcAft>
                <a:spcPts val="900"/>
              </a:spcAft>
              <a:buSzPct val="100000"/>
              <a:buChar char="•"/>
            </a:pPr>
            <a:r>
              <a:rPr lang="en-US" sz="1100" dirty="0">
                <a:solidFill>
                  <a:srgbClr val="1F2933"/>
                </a:solidFill>
                <a:latin typeface="Calibri" pitchFamily="34" charset="0"/>
                <a:ea typeface="Calibri" pitchFamily="34" charset="-122"/>
                <a:cs typeface="Calibri" pitchFamily="34" charset="-120"/>
              </a:rPr>
              <a:t>Yan, T. and Tourangeau, R. (2008) 'Fast times and easy questions', Applied Cognitive Psychology, 22(1), pp. 51-68.</a:t>
            </a:r>
          </a:p>
        </p:txBody>
      </p:sp>
      <p:sp>
        <p:nvSpPr>
          <p:cNvPr id="8" name="Shape 6"/>
          <p:cNvSpPr/>
          <p:nvPr/>
        </p:nvSpPr>
        <p:spPr>
          <a:xfrm>
            <a:off x="566928" y="5440680"/>
            <a:ext cx="11055096" cy="566928"/>
          </a:xfrm>
          <a:prstGeom prst="roundRect">
            <a:avLst>
              <a:gd name="adj" fmla="val 9677"/>
            </a:avLst>
          </a:prstGeom>
          <a:solidFill>
            <a:srgbClr val="EEF2F6"/>
          </a:solidFill>
          <a:ln w="12700">
            <a:solidFill>
              <a:srgbClr val="EEF2F6"/>
            </a:solidFill>
            <a:prstDash val="solid"/>
          </a:ln>
        </p:spPr>
        <p:txBody>
          <a:bodyPr/>
          <a:p/>
        </p:txBody>
      </p:sp>
      <p:sp>
        <p:nvSpPr>
          <p:cNvPr id="9" name="Shape 7"/>
          <p:cNvSpPr/>
          <p:nvPr/>
        </p:nvSpPr>
        <p:spPr>
          <a:xfrm>
            <a:off x="694944" y="5568696"/>
            <a:ext cx="91440" cy="310896"/>
          </a:xfrm>
          <a:prstGeom prst="roundRect">
            <a:avLst>
              <a:gd name="adj" fmla="val 40000"/>
            </a:avLst>
          </a:prstGeom>
          <a:solidFill>
            <a:srgbClr val="0F766E"/>
          </a:solidFill>
          <a:ln w="12700">
            <a:solidFill>
              <a:srgbClr val="0F766E"/>
            </a:solidFill>
            <a:prstDash val="solid"/>
          </a:ln>
        </p:spPr>
        <p:txBody>
          <a:bodyPr/>
          <a:p/>
        </p:txBody>
      </p:sp>
      <p:sp>
        <p:nvSpPr>
          <p:cNvPr id="10" name="Text 8"/>
          <p:cNvSpPr txBox="1"/>
          <p:nvPr/>
        </p:nvSpPr>
        <p:spPr>
          <a:xfrm>
            <a:off x="932688" y="5486400"/>
            <a:ext cx="10506456" cy="475488"/>
          </a:xfrm>
          <a:prstGeom prst="rect">
            <a:avLst/>
          </a:prstGeom>
          <a:noFill/>
          <a:ln/>
        </p:spPr>
        <p:txBody>
          <a:bodyPr wrap="square" lIns="0" tIns="0" rIns="0" bIns="0" rtlCol="0" anchor="ctr"/>
          <a:lstStyle/>
          <a:p>
            <a:pPr indent="0" marL="0">
              <a:buNone/>
            </a:pPr>
            <a:r>
              <a:rPr lang="en-US" sz="1350" b="1" dirty="0">
                <a:solidFill>
                  <a:srgbClr val="1F2933"/>
                </a:solidFill>
                <a:latin typeface="Calibri" pitchFamily="34" charset="0"/>
                <a:ea typeface="Calibri" pitchFamily="34" charset="-122"/>
                <a:cs typeface="Calibri" pitchFamily="34" charset="-120"/>
              </a:rPr>
              <a:t>All 30 references in the report are confirmed to exist in Appendix E; nine are verified only at abstract or record level.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6232B"/>
        </a:solidFill>
        <a:effectLst/>
      </p:bgPr>
    </p:bg>
    <p:spTree>
      <p:nvGrpSpPr>
        <p:cNvPr id="1" name=""/>
        <p:cNvGrpSpPr/>
        <p:nvPr/>
      </p:nvGrpSpPr>
      <p:grpSpPr/>
      <p:sp>
        <p:nvSpPr>
          <p:cNvPr id="2" name="PageNo"/>
          <p:cNvSpPr txBox="1"/>
          <p:nvPr/>
        </p:nvSpPr>
        <p:spPr>
          <a:xfrm>
            <a:off x="11073384" y="6437376"/>
            <a:ext cx="548640" cy="274320"/>
          </a:xfrm>
          <a:prstGeom prst="rect">
            <a:avLst/>
          </a:prstGeom>
          <a:noFill/>
        </p:spPr>
        <p:txBody>
          <a:bodyPr wrap="square" lIns="0" rIns="0" tIns="0" bIns="0" anchor="ctr">
            <a:spAutoFit/>
          </a:bodyPr>
          <a:lstStyle/>
          <a:p>
            <a:pPr algn="r"/>
            <a:fld id="{B6F15528-21DE-4FAA-801E-634DDDAF4B2B}" type="slidenum">
              <a:rPr sz="1000" b="0">
                <a:solidFill>
                  <a:srgbClr val="7C8B95"/>
                </a:solidFill>
                <a:latin typeface="Calibri"/>
              </a:rPr>
              <a:t>26</a:t>
            </a:fld>
          </a:p>
        </p:txBody>
      </p:sp>
      <p:sp>
        <p:nvSpPr>
          <p:cNvPr id="3" name="TextBox 2"/>
          <p:cNvSpPr txBox="1"/>
          <p:nvPr/>
        </p:nvSpPr>
        <p:spPr>
          <a:xfrm>
            <a:off x="566928" y="6437376"/>
            <a:ext cx="5486400" cy="274320"/>
          </a:xfrm>
          <a:prstGeom prst="rect">
            <a:avLst/>
          </a:prstGeom>
          <a:noFill/>
        </p:spPr>
        <p:txBody>
          <a:bodyPr wrap="square" lIns="0" rIns="0" tIns="0" bIns="0" anchor="ctr">
            <a:spAutoFit/>
          </a:bodyPr>
          <a:lstStyle/>
          <a:p>
            <a:pPr algn="l"/>
            <a:r>
              <a:rPr sz="1000" b="0">
                <a:solidFill>
                  <a:srgbClr val="7C8B95"/>
                </a:solidFill>
                <a:latin typeface="Calibri"/>
              </a:rPr>
              <a:t>Final Year Project • Academic Year 2026</a:t>
            </a:r>
          </a:p>
        </p:txBody>
      </p:sp>
      <p:sp>
        <p:nvSpPr>
          <p:cNvPr id="4" name="TextBox 3"/>
          <p:cNvSpPr txBox="1"/>
          <p:nvPr/>
        </p:nvSpPr>
        <p:spPr>
          <a:xfrm>
            <a:off x="566928" y="658368"/>
            <a:ext cx="11055096" cy="292608"/>
          </a:xfrm>
          <a:prstGeom prst="rect">
            <a:avLst/>
          </a:prstGeom>
          <a:noFill/>
        </p:spPr>
        <p:txBody>
          <a:bodyPr wrap="square" lIns="0" rIns="0" tIns="0" bIns="0" anchor="ctr">
            <a:spAutoFit/>
          </a:bodyPr>
          <a:lstStyle/>
          <a:p>
            <a:pPr algn="l"/>
            <a:r>
              <a:rPr sz="1200" b="1">
                <a:solidFill>
                  <a:srgbClr val="6FA9A2"/>
                </a:solidFill>
                <a:latin typeface="Calibri"/>
              </a:rPr>
              <a:t>paradata.samuelkaoma.dev   ·   github.com/Samuelkaoma-eng/SKACE-TIME-DATA</a:t>
            </a:r>
          </a:p>
        </p:txBody>
      </p:sp>
      <p:sp>
        <p:nvSpPr>
          <p:cNvPr id="5" name="TextBox 4"/>
          <p:cNvSpPr txBox="1"/>
          <p:nvPr/>
        </p:nvSpPr>
        <p:spPr>
          <a:xfrm>
            <a:off x="566928" y="2286000"/>
            <a:ext cx="9774936" cy="1280160"/>
          </a:xfrm>
          <a:prstGeom prst="rect">
            <a:avLst/>
          </a:prstGeom>
          <a:noFill/>
        </p:spPr>
        <p:txBody>
          <a:bodyPr wrap="square" lIns="0" rIns="0" tIns="0" bIns="0" anchor="ctr">
            <a:spAutoFit/>
          </a:bodyPr>
          <a:lstStyle/>
          <a:p>
            <a:pPr algn="l"/>
            <a:r>
              <a:rPr sz="4000" b="1">
                <a:solidFill>
                  <a:srgbClr val="FFFFFF"/>
                </a:solidFill>
                <a:latin typeface="Cambria"/>
              </a:rPr>
              <a:t>Thank you. Questions?</a:t>
            </a:r>
          </a:p>
        </p:txBody>
      </p:sp>
      <p:sp>
        <p:nvSpPr>
          <p:cNvPr id="6" name="TextBox 5"/>
          <p:cNvSpPr txBox="1"/>
          <p:nvPr/>
        </p:nvSpPr>
        <p:spPr>
          <a:xfrm>
            <a:off x="566928" y="3657600"/>
            <a:ext cx="9043416" cy="914400"/>
          </a:xfrm>
          <a:prstGeom prst="rect">
            <a:avLst/>
          </a:prstGeom>
          <a:noFill/>
        </p:spPr>
        <p:txBody>
          <a:bodyPr wrap="square" lIns="0" rIns="0" tIns="0" bIns="0" anchor="t">
            <a:spAutoFit/>
          </a:bodyPr>
          <a:lstStyle/>
          <a:p>
            <a:pPr algn="l"/>
            <a:r>
              <a:rPr sz="1500" b="0">
                <a:solidFill>
                  <a:srgbClr val="AFC0C9"/>
                </a:solidFill>
                <a:latin typeface="Calibri"/>
              </a:rPr>
              <a:t>Every result is live at paradata.samuelkaoma.dev; the code, data, tests and report are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The University of Zambia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Extraction and Analysis of Timing-Based Paradata Features</dc:title>
  <dc:subject>PptxGenJS Presentation</dc:subject>
  <dc:creator>Samuel Kaoma</dc:creator>
  <cp:lastModifiedBy>Samuel Kaoma</cp:lastModifiedBy>
  <cp:revision>1</cp:revision>
  <dcterms:created xsi:type="dcterms:W3CDTF">2026-09-05T18:13:36Z</dcterms:created>
  <dcterms:modified xsi:type="dcterms:W3CDTF">2026-09-05T18:13:36Z</dcterms:modified>
</cp:coreProperties>
</file>