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project takes the audit logs that SurveyCTO and ODK already write for every interview, and turns them into an automated check on survey data quality. Everything I report today is reproducible from the repository, and each figure names the file it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starting point is that the data already exists. What is missing is tooling. And the check people do run, total duration, misses a third of the anomalies in my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six objectives as written in the proposal, unchanged. I will come back at the end to how each is evidenced.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chapter my supervisor rated strongest. Each row ends in a design decision, which is how the review is written. The last three are new: they carry the deployment argument for field and low-resource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supervisor asked me to make the contribution claim explicit. These are the four, and the fourth is the one I would defend hardest: the evaluation was built to expose weakness, not to flatter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Figure 1 in the report. The key claim is the contract at layer 2. I test that claim by running both formats through and comparing.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taxonomy was fixed at proposal stage and did not move. The coverage table is generated from the code, so it cannot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constraint that mattered most was explainability. A flag is an accusation about a person's work, so a supervisor must be able to see exactly which rules fired and check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the thing working rather than describe it. This is one command against two raw exports, one from each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two parsers being selected automatically. The operator does not have to know or declare which platform a file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stress this because the feature library stands on its own. A survey team that disagrees with my thresholds can still use these forty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separation of data quality issues from behavioural anomalies matters in the field: a broken tablet should not put an enumerator under suspicion.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one slide from the demonstration, this is it. Explainability was a design constraint, not a nice-to-have, and this is what it buys.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explicit that this canonical run is easy by design. It is a contract test. The stress results later are where the real claim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I would most want to be judged on. Perfect early scores were a signal the evaluation was wrong, and rebuilding it produced lower numbers that are actually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Bonferroni is the adjustment, which my supervisor asked me to state. Entropy is the standout, and the fact that it separates completely is what makes the later diagnosis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project's central claim, and it is measured rather than asserted, because all three methods run inside the same audited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asked me for this breakdown. I think it is the most important slide in the deck, because it reports that the component my own proposal emphasised contributes least. If I will say that about my own method, the rest of my numbers are worth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capacity is the scarce resource in the settings this is aimed at, so I treat the low-prevalence precision as an operational result rather than a metric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Seeds 7 and 99 were generated after the detector was frozen. The stress generator deliberately blurs the line between genuine and fabricated.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report the weakest class prominently rather than burying it, because locating where a method fails is more useful than an aggregate that hides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on this slide is the one I most want to get across. The univariate limit is real and I state it as a limitation. But this particular shortfall is not an instance of it, because a single feature separates the missed cases perfectly.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that I did not decline to fix this because it was hard. I fixed it, measured it, and the measurement said the fix costs more than it earns in the condition that matters. So it stays on a branch and I report both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supervisor caught that two different runs give 19.05 and 18.04. Rather than pick one silently I name the source run, print its raw times, and disclose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that none of the figures I have shown require you to trust me. Each names a file, and each file regenerates from a documented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supervisor's standard is that the AI usage disclosure is a report appendix, not a file in a repository. It is now Appendix A, expanded with prompt summaries, data categories and explicit accept, modify or reject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against real field paradata with independently verified outcomes remains the most important extension, and I say so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here maps to a tag and a set of commits in the evidence index, so any claim on this slide can be opened and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Outcome iv is the one I address only in part, and I say so rather than stretching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there is one thing to take from this, it is that I would rather report where the method is weak than show you only the aggregate that hides it.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32B"/>
        </a:solidFill>
      </p:bgPr>
    </p:bg>
    <p:spTree>
      <p:nvGrpSpPr>
        <p:cNvPr id="1" name=""/>
        <p:cNvGrpSpPr/>
        <p:nvPr/>
      </p:nvGrpSpPr>
      <p:grpSpPr>
        <a:xfrm>
          <a:off x="0" y="0"/>
          <a:ext cx="0" cy="0"/>
          <a:chOff x="0" y="0"/>
          <a:chExt cx="0" cy="0"/>
        </a:xfrm>
      </p:grpSpPr>
      <p:sp>
        <p:nvSpPr>
          <p:cNvPr id="2" name="Text 0"/>
          <p:cNvSpPr txBox="1"/>
          <p:nvPr/>
        </p:nvSpPr>
        <p:spPr>
          <a:xfrm>
            <a:off x="566928" y="640080"/>
            <a:ext cx="11055096" cy="274320"/>
          </a:xfrm>
          <a:prstGeom prst="rect">
            <a:avLst/>
          </a:prstGeom>
          <a:noFill/>
          <a:ln/>
        </p:spPr>
        <p:txBody>
          <a:bodyPr wrap="square" lIns="0" tIns="0" rIns="0" bIns="0" rtlCol="0" anchor="ctr"/>
          <a:lstStyle/>
          <a:p>
            <a:pPr indent="0" marL="0">
              <a:buNone/>
            </a:pPr>
            <a:r>
              <a:rPr lang="en-US" sz="1100" b="1" spc="110" kern="0" dirty="0">
                <a:solidFill>
                  <a:srgbClr val="6FA9A2"/>
                </a:solidFill>
                <a:latin typeface="Calibri" pitchFamily="34" charset="0"/>
                <a:ea typeface="Calibri" pitchFamily="34" charset="-122"/>
                <a:cs typeface="Calibri" pitchFamily="34" charset="-120"/>
              </a:rPr>
              <a:t>THE UNIVERSITY OF ZAMBIA  |  SCHOOL OF NATURAL AND APPLIED SCIENCES  |  DEPARTMENT OF COMPUTING AND INFORMATICS</a:t>
            </a:r>
            <a:endParaRPr lang="en-US" sz="1100" dirty="0"/>
          </a:p>
        </p:txBody>
      </p:sp>
      <p:sp>
        <p:nvSpPr>
          <p:cNvPr id="3" name="Text 1"/>
          <p:cNvSpPr txBox="1"/>
          <p:nvPr/>
        </p:nvSpPr>
        <p:spPr>
          <a:xfrm>
            <a:off x="566928" y="1554480"/>
            <a:ext cx="9957816" cy="1920240"/>
          </a:xfrm>
          <a:prstGeom prst="rect">
            <a:avLst/>
          </a:prstGeom>
          <a:noFill/>
          <a:ln/>
        </p:spPr>
        <p:txBody>
          <a:bodyPr wrap="square" lIns="0" tIns="0" rIns="0" bIns="0" rtlCol="0" anchor="ctr"/>
          <a:lstStyle/>
          <a:p>
            <a:pPr indent="0" marL="0">
              <a:lnSpc>
                <a:spcPts val="4600"/>
              </a:lnSpc>
              <a:buNone/>
            </a:pPr>
            <a:r>
              <a:rPr lang="en-US" sz="3800" b="1" dirty="0">
                <a:solidFill>
                  <a:srgbClr val="FFFFFF"/>
                </a:solidFill>
                <a:latin typeface="Cambria" pitchFamily="34" charset="0"/>
                <a:ea typeface="Cambria" pitchFamily="34" charset="-122"/>
                <a:cs typeface="Cambria" pitchFamily="34" charset="-120"/>
              </a:rPr>
              <a:t>Automated Extraction and Analysis of Timing-Based Paradata Features for Survey Quality Assurance</a:t>
            </a:r>
            <a:endParaRPr lang="en-US" sz="3800" dirty="0"/>
          </a:p>
        </p:txBody>
      </p:sp>
      <p:sp>
        <p:nvSpPr>
          <p:cNvPr id="4" name="Text 2"/>
          <p:cNvSpPr txBox="1"/>
          <p:nvPr/>
        </p:nvSpPr>
        <p:spPr>
          <a:xfrm>
            <a:off x="566928" y="3611880"/>
            <a:ext cx="8860536" cy="731520"/>
          </a:xfrm>
          <a:prstGeom prst="rect">
            <a:avLst/>
          </a:prstGeom>
          <a:noFill/>
          <a:ln/>
        </p:spPr>
        <p:txBody>
          <a:bodyPr wrap="square" lIns="0" tIns="0" rIns="0" bIns="0" rtlCol="0" anchor="ctr"/>
          <a:lstStyle/>
          <a:p>
            <a:pPr indent="0" marL="0">
              <a:lnSpc>
                <a:spcPts val="2300"/>
              </a:lnSpc>
              <a:buNone/>
            </a:pPr>
            <a:r>
              <a:rPr lang="en-US" sz="1500" dirty="0">
                <a:solidFill>
                  <a:srgbClr val="AFC0C9"/>
                </a:solidFill>
                <a:latin typeface="Calibri" pitchFamily="34" charset="0"/>
                <a:ea typeface="Calibri" pitchFamily="34" charset="-122"/>
                <a:cs typeface="Calibri" pitchFamily="34" charset="-120"/>
              </a:rPr>
              <a:t>Detecting fabricated, rushed and disengaged interviews from the audit logs SurveyCTO and ODK already produce</a:t>
            </a:r>
            <a:endParaRPr lang="en-US" sz="1500" dirty="0"/>
          </a:p>
        </p:txBody>
      </p:sp>
      <p:sp>
        <p:nvSpPr>
          <p:cNvPr id="5" name="Shape 3"/>
          <p:cNvSpPr/>
          <p:nvPr/>
        </p:nvSpPr>
        <p:spPr>
          <a:xfrm>
            <a:off x="566928" y="4617720"/>
            <a:ext cx="91440" cy="1143000"/>
          </a:xfrm>
          <a:prstGeom prst="roundRect">
            <a:avLst>
              <a:gd name="adj" fmla="val 40000"/>
            </a:avLst>
          </a:prstGeom>
          <a:solidFill>
            <a:srgbClr val="0F766E"/>
          </a:solidFill>
          <a:ln w="12700">
            <a:solidFill>
              <a:srgbClr val="0F766E"/>
            </a:solidFill>
            <a:prstDash val="solid"/>
          </a:ln>
        </p:spPr>
        <p:txBody>
          <a:bodyPr/>
          <a:p/>
        </p:txBody>
      </p:sp>
      <p:sp>
        <p:nvSpPr>
          <p:cNvPr id="6" name="Text 4"/>
          <p:cNvSpPr txBox="1"/>
          <p:nvPr/>
        </p:nvSpPr>
        <p:spPr>
          <a:xfrm>
            <a:off x="822960" y="4590288"/>
            <a:ext cx="5943600" cy="1234440"/>
          </a:xfrm>
          <a:prstGeom prst="rect">
            <a:avLst/>
          </a:prstGeom>
          <a:noFill/>
          <a:ln/>
        </p:spPr>
        <p:txBody>
          <a:bodyPr wrap="square" lIns="0" tIns="0" rIns="0" bIns="0" rtlCol="0" anchor="ctr"/>
          <a:lstStyle/>
          <a:p>
            <a:pPr indent="0" marL="0">
              <a:lnSpc>
                <a:spcPts val="2000"/>
              </a:lnSpc>
              <a:buNone/>
            </a:pPr>
            <a:r>
              <a:rPr lang="en-US" sz="1600" b="1" dirty="0">
                <a:solidFill>
                  <a:srgbClr val="FFFFFF"/>
                </a:solidFill>
                <a:latin typeface="Calibri" pitchFamily="34" charset="0"/>
                <a:ea typeface="Calibri" pitchFamily="34" charset="-122"/>
                <a:cs typeface="Calibri" pitchFamily="34" charset="-120"/>
              </a:rPr>
              <a:t>Samuel Kaoma</a:t>
            </a:r>
            <a:endParaRPr lang="en-US" sz="1600" dirty="0"/>
          </a:p>
          <a:p>
            <a:pPr indent="0" marL="0">
              <a:lnSpc>
                <a:spcPts val="2000"/>
              </a:lnSpc>
              <a:buNone/>
            </a:pPr>
            <a:r>
              <a:rPr lang="en-US" sz="1300" dirty="0">
                <a:solidFill>
                  <a:srgbClr val="AFC0C9"/>
                </a:solidFill>
                <a:latin typeface="Calibri" pitchFamily="34" charset="0"/>
                <a:ea typeface="Calibri" pitchFamily="34" charset="-122"/>
                <a:cs typeface="Calibri" pitchFamily="34" charset="-120"/>
              </a:rPr>
              <a:t>Computer number 2022016530  |  CSC 4004</a:t>
            </a:r>
            <a:endParaRPr lang="en-US" sz="1600" dirty="0"/>
          </a:p>
          <a:p>
            <a:pPr indent="0" marL="0">
              <a:lnSpc>
                <a:spcPts val="2000"/>
              </a:lnSpc>
              <a:buNone/>
            </a:pPr>
            <a:r>
              <a:rPr lang="en-US" sz="1300" dirty="0">
                <a:solidFill>
                  <a:srgbClr val="AFC0C9"/>
                </a:solidFill>
                <a:latin typeface="Calibri" pitchFamily="34" charset="0"/>
                <a:ea typeface="Calibri" pitchFamily="34" charset="-122"/>
                <a:cs typeface="Calibri" pitchFamily="34" charset="-120"/>
              </a:rPr>
              <a:t>Supervisor: Mr. Mofya Phiri</a:t>
            </a:r>
            <a:endParaRPr lang="en-US" sz="1600" dirty="0"/>
          </a:p>
          <a:p>
            <a:pPr indent="0" marL="0">
              <a:lnSpc>
                <a:spcPts val="2000"/>
              </a:lnSpc>
              <a:buNone/>
            </a:pPr>
            <a:r>
              <a:rPr lang="en-US" sz="1300" dirty="0">
                <a:solidFill>
                  <a:srgbClr val="AFC0C9"/>
                </a:solidFill>
                <a:latin typeface="Calibri" pitchFamily="34" charset="0"/>
                <a:ea typeface="Calibri" pitchFamily="34" charset="-122"/>
                <a:cs typeface="Calibri" pitchFamily="34" charset="-120"/>
              </a:rPr>
              <a:t>September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Rich timing data, almost entirely unused</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Samuel Kaoma  |  2022016530  |  CSC 4004</a:t>
            </a:r>
            <a:endParaRPr lang="en-US" sz="1000" dirty="0"/>
          </a:p>
        </p:txBody>
      </p:sp>
      <p:sp>
        <p:nvSpPr>
          <p:cNvPr id="6" name="Text 4"/>
          <p:cNvSpPr txBox="1"/>
          <p:nvPr/>
        </p:nvSpPr>
        <p:spPr>
          <a:xfrm>
            <a:off x="566928" y="1371600"/>
            <a:ext cx="6309360" cy="2377440"/>
          </a:xfrm>
          <a:prstGeom prst="rect">
            <a:avLst/>
          </a:prstGeom>
          <a:noFill/>
          <a:ln/>
        </p:spPr>
        <p:txBody>
          <a:bodyPr wrap="square" lIns="0" tIns="0" rIns="0" bIns="0" rtlCol="0" anchor="ctr"/>
          <a:lstStyle/>
          <a:p>
            <a:pPr indent="0" marL="0">
              <a:lnSpc>
                <a:spcPts val="2200"/>
              </a:lnSpc>
              <a:buNone/>
            </a:pPr>
            <a:r>
              <a:rPr lang="en-US" sz="1450" dirty="0">
                <a:solidFill>
                  <a:srgbClr val="1F2933"/>
                </a:solidFill>
                <a:latin typeface="Calibri" pitchFamily="34" charset="0"/>
                <a:ea typeface="Calibri" pitchFamily="34" charset="-122"/>
                <a:cs typeface="Calibri" pitchFamily="34" charset="-120"/>
              </a:rPr>
              <a:t>Every interview on SurveyCTO or ODK writes a timestamped event log: when each question opened, how long it took, when the enumerator navigated back. This is paradata, and survey methodology has shown for decades that fabrication, speeding and disengagement leave clear signatures in it.</a:t>
            </a:r>
            <a:endParaRPr lang="en-US" sz="1450" dirty="0"/>
          </a:p>
          <a:p>
            <a:pPr indent="0" marL="0">
              <a:lnSpc>
                <a:spcPts val="2200"/>
              </a:lnSpc>
              <a:buNone/>
            </a:pPr>
            <a:r>
              <a:rPr lang="en-US" sz="600" dirty="0">
                <a:solidFill>
                  <a:srgbClr val="1F2933"/>
                </a:solidFill>
                <a:latin typeface="Calibri" pitchFamily="34" charset="0"/>
                <a:ea typeface="Calibri" pitchFamily="34" charset="-122"/>
                <a:cs typeface="Calibri" pitchFamily="34" charset="-120"/>
              </a:rPr>
              <a:t> </a:t>
            </a:r>
            <a:endParaRPr lang="en-US" sz="1450" dirty="0"/>
          </a:p>
          <a:p>
            <a:pPr indent="0" marL="0">
              <a:lnSpc>
                <a:spcPts val="2200"/>
              </a:lnSpc>
              <a:buNone/>
            </a:pPr>
            <a:r>
              <a:rPr lang="en-US" sz="1450" dirty="0">
                <a:solidFill>
                  <a:srgbClr val="1F2933"/>
                </a:solidFill>
                <a:latin typeface="Calibri" pitchFamily="34" charset="0"/>
                <a:ea typeface="Calibri" pitchFamily="34" charset="-122"/>
                <a:cs typeface="Calibri" pitchFamily="34" charset="-120"/>
              </a:rPr>
              <a:t>It goes unused because the two platforms log differently, and because converting millions of raw event rows into defensible indicators is beyond most survey teams. Current practice falls back on total interview duration and manual back-checking.</a:t>
            </a:r>
            <a:endParaRPr lang="en-US" sz="1450" dirty="0"/>
          </a:p>
        </p:txBody>
      </p:sp>
      <p:sp>
        <p:nvSpPr>
          <p:cNvPr id="7" name="Shape 5"/>
          <p:cNvSpPr/>
          <p:nvPr/>
        </p:nvSpPr>
        <p:spPr>
          <a:xfrm>
            <a:off x="7178040" y="1371600"/>
            <a:ext cx="2286000" cy="1572768"/>
          </a:xfrm>
          <a:prstGeom prst="roundRect">
            <a:avLst>
              <a:gd name="adj" fmla="val 2907"/>
            </a:avLst>
          </a:prstGeom>
          <a:solidFill>
            <a:srgbClr val="EEF2F6"/>
          </a:solidFill>
          <a:ln w="12700">
            <a:solidFill>
              <a:srgbClr val="EEF2F6"/>
            </a:solidFill>
            <a:prstDash val="solid"/>
          </a:ln>
        </p:spPr>
        <p:txBody>
          <a:bodyPr/>
          <a:p/>
        </p:txBody>
      </p:sp>
      <p:sp>
        <p:nvSpPr>
          <p:cNvPr id="8" name="Text 6"/>
          <p:cNvSpPr txBox="1"/>
          <p:nvPr/>
        </p:nvSpPr>
        <p:spPr>
          <a:xfrm>
            <a:off x="7324344" y="1517904"/>
            <a:ext cx="1993392" cy="749808"/>
          </a:xfrm>
          <a:prstGeom prst="rect">
            <a:avLst/>
          </a:prstGeom>
          <a:noFill/>
          <a:ln/>
        </p:spPr>
        <p:txBody>
          <a:bodyPr wrap="square" lIns="0" tIns="0" rIns="0" bIns="0" rtlCol="0" anchor="ctr"/>
          <a:lstStyle/>
          <a:p>
            <a:pPr algn="ctr" indent="0" marL="0">
              <a:buNone/>
            </a:pPr>
            <a:r>
              <a:rPr lang="en-US" sz="3400" b="1" dirty="0">
                <a:solidFill>
                  <a:srgbClr val="B45309"/>
                </a:solidFill>
                <a:latin typeface="Cambria" pitchFamily="34" charset="0"/>
                <a:ea typeface="Cambria" pitchFamily="34" charset="-122"/>
                <a:cs typeface="Cambria" pitchFamily="34" charset="-120"/>
              </a:rPr>
              <a:t>0.66</a:t>
            </a:r>
            <a:endParaRPr lang="en-US" sz="3400" dirty="0"/>
          </a:p>
        </p:txBody>
      </p:sp>
      <p:sp>
        <p:nvSpPr>
          <p:cNvPr id="9" name="Text 7"/>
          <p:cNvSpPr txBox="1"/>
          <p:nvPr/>
        </p:nvSpPr>
        <p:spPr>
          <a:xfrm>
            <a:off x="7324344" y="2286000"/>
            <a:ext cx="1993392" cy="548640"/>
          </a:xfrm>
          <a:prstGeom prst="rect">
            <a:avLst/>
          </a:prstGeom>
          <a:noFill/>
          <a:ln/>
        </p:spPr>
        <p:txBody>
          <a:bodyPr wrap="square" lIns="0" tIns="0" rIns="0" bIns="0" rtlCol="0" anchor="ctr"/>
          <a:lstStyle/>
          <a:p>
            <a:pPr algn="ctr" indent="0" marL="0">
              <a:lnSpc>
                <a:spcPts val="1500"/>
              </a:lnSpc>
              <a:buNone/>
            </a:pPr>
            <a:r>
              <a:rPr lang="en-US" sz="1150" dirty="0">
                <a:solidFill>
                  <a:srgbClr val="1F2933"/>
                </a:solidFill>
                <a:latin typeface="Calibri" pitchFamily="34" charset="0"/>
                <a:ea typeface="Calibri" pitchFamily="34" charset="-122"/>
                <a:cs typeface="Calibri" pitchFamily="34" charset="-120"/>
              </a:rPr>
              <a:t>recall of a duration-only</a:t>
            </a:r>
            <a:endParaRPr lang="en-US" sz="1150" dirty="0"/>
          </a:p>
          <a:p>
            <a:pPr algn="ctr" indent="0" marL="0">
              <a:lnSpc>
                <a:spcPts val="1500"/>
              </a:lnSpc>
              <a:buNone/>
            </a:pPr>
            <a:r>
              <a:rPr lang="en-US" sz="1150" dirty="0">
                <a:solidFill>
                  <a:srgbClr val="1F2933"/>
                </a:solidFill>
                <a:latin typeface="Calibri" pitchFamily="34" charset="0"/>
                <a:ea typeface="Calibri" pitchFamily="34" charset="-122"/>
                <a:cs typeface="Calibri" pitchFamily="34" charset="-120"/>
              </a:rPr>
              <a:t>check on my benchmark</a:t>
            </a:r>
            <a:endParaRPr lang="en-US" sz="1150" dirty="0"/>
          </a:p>
        </p:txBody>
      </p:sp>
      <p:sp>
        <p:nvSpPr>
          <p:cNvPr id="10" name="Shape 8"/>
          <p:cNvSpPr/>
          <p:nvPr/>
        </p:nvSpPr>
        <p:spPr>
          <a:xfrm>
            <a:off x="9646920" y="1371600"/>
            <a:ext cx="1975104" cy="1572768"/>
          </a:xfrm>
          <a:prstGeom prst="roundRect">
            <a:avLst>
              <a:gd name="adj" fmla="val 2907"/>
            </a:avLst>
          </a:prstGeom>
          <a:solidFill>
            <a:srgbClr val="EEF2F6"/>
          </a:solidFill>
          <a:ln w="12700">
            <a:solidFill>
              <a:srgbClr val="EEF2F6"/>
            </a:solidFill>
            <a:prstDash val="solid"/>
          </a:ln>
        </p:spPr>
        <p:txBody>
          <a:bodyPr/>
          <a:p/>
        </p:txBody>
      </p:sp>
      <p:sp>
        <p:nvSpPr>
          <p:cNvPr id="11" name="Text 9"/>
          <p:cNvSpPr txBox="1"/>
          <p:nvPr/>
        </p:nvSpPr>
        <p:spPr>
          <a:xfrm>
            <a:off x="9793224" y="1517904"/>
            <a:ext cx="1682496" cy="749808"/>
          </a:xfrm>
          <a:prstGeom prst="rect">
            <a:avLst/>
          </a:prstGeom>
          <a:noFill/>
          <a:ln/>
        </p:spPr>
        <p:txBody>
          <a:bodyPr wrap="square" lIns="0" tIns="0" rIns="0" bIns="0" rtlCol="0" anchor="ctr"/>
          <a:lstStyle/>
          <a:p>
            <a:pPr algn="ctr" indent="0" marL="0">
              <a:buNone/>
            </a:pPr>
            <a:r>
              <a:rPr lang="en-US" sz="3400" b="1" dirty="0">
                <a:solidFill>
                  <a:srgbClr val="B45309"/>
                </a:solidFill>
                <a:latin typeface="Cambria" pitchFamily="34" charset="0"/>
                <a:ea typeface="Cambria" pitchFamily="34" charset="-122"/>
                <a:cs typeface="Cambria" pitchFamily="34" charset="-120"/>
              </a:rPr>
              <a:t>34</a:t>
            </a:r>
            <a:endParaRPr lang="en-US" sz="3400" dirty="0"/>
          </a:p>
        </p:txBody>
      </p:sp>
      <p:sp>
        <p:nvSpPr>
          <p:cNvPr id="12" name="Text 10"/>
          <p:cNvSpPr txBox="1"/>
          <p:nvPr/>
        </p:nvSpPr>
        <p:spPr>
          <a:xfrm>
            <a:off x="9793224" y="2286000"/>
            <a:ext cx="1682496" cy="548640"/>
          </a:xfrm>
          <a:prstGeom prst="rect">
            <a:avLst/>
          </a:prstGeom>
          <a:noFill/>
          <a:ln/>
        </p:spPr>
        <p:txBody>
          <a:bodyPr wrap="square" lIns="0" tIns="0" rIns="0" bIns="0" rtlCol="0" anchor="ctr"/>
          <a:lstStyle/>
          <a:p>
            <a:pPr algn="ctr" indent="0" marL="0">
              <a:lnSpc>
                <a:spcPts val="1500"/>
              </a:lnSpc>
              <a:buNone/>
            </a:pPr>
            <a:r>
              <a:rPr lang="en-US" sz="1150" dirty="0">
                <a:solidFill>
                  <a:srgbClr val="1F2933"/>
                </a:solidFill>
                <a:latin typeface="Calibri" pitchFamily="34" charset="0"/>
                <a:ea typeface="Calibri" pitchFamily="34" charset="-122"/>
                <a:cs typeface="Calibri" pitchFamily="34" charset="-120"/>
              </a:rPr>
              <a:t>of 100 anomalies it</a:t>
            </a:r>
            <a:endParaRPr lang="en-US" sz="1150" dirty="0"/>
          </a:p>
          <a:p>
            <a:pPr algn="ctr" indent="0" marL="0">
              <a:lnSpc>
                <a:spcPts val="1500"/>
              </a:lnSpc>
              <a:buNone/>
            </a:pPr>
            <a:r>
              <a:rPr lang="en-US" sz="1150" dirty="0">
                <a:solidFill>
                  <a:srgbClr val="1F2933"/>
                </a:solidFill>
                <a:latin typeface="Calibri" pitchFamily="34" charset="0"/>
                <a:ea typeface="Calibri" pitchFamily="34" charset="-122"/>
                <a:cs typeface="Calibri" pitchFamily="34" charset="-120"/>
              </a:rPr>
              <a:t>misses entirely</a:t>
            </a:r>
            <a:endParaRPr lang="en-US" sz="1150" dirty="0"/>
          </a:p>
        </p:txBody>
      </p:sp>
      <p:sp>
        <p:nvSpPr>
          <p:cNvPr id="13" name="Text 11"/>
          <p:cNvSpPr txBox="1"/>
          <p:nvPr/>
        </p:nvSpPr>
        <p:spPr>
          <a:xfrm>
            <a:off x="7178040" y="3154680"/>
            <a:ext cx="4443984" cy="822960"/>
          </a:xfrm>
          <a:prstGeom prst="rect">
            <a:avLst/>
          </a:prstGeom>
          <a:noFill/>
          <a:ln/>
        </p:spPr>
        <p:txBody>
          <a:bodyPr wrap="square" lIns="0" tIns="0" rIns="0" bIns="0" rtlCol="0" anchor="ctr"/>
          <a:lstStyle/>
          <a:p>
            <a:pPr indent="0" marL="0">
              <a:lnSpc>
                <a:spcPts val="1800"/>
              </a:lnSpc>
              <a:buNone/>
            </a:pPr>
            <a:r>
              <a:rPr lang="en-US" sz="1250" dirty="0">
                <a:solidFill>
                  <a:srgbClr val="6B7785"/>
                </a:solidFill>
                <a:latin typeface="Calibri" pitchFamily="34" charset="0"/>
                <a:ea typeface="Calibri" pitchFamily="34" charset="-122"/>
                <a:cs typeface="Calibri" pitchFamily="34" charset="-120"/>
              </a:rPr>
              <a:t>Every one of those 34 has a total duration sitting inside the Tukey fences. Aggregate duration cannot see them.</a:t>
            </a:r>
            <a:endParaRPr lang="en-US" sz="1250" dirty="0"/>
          </a:p>
        </p:txBody>
      </p:sp>
      <p:sp>
        <p:nvSpPr>
          <p:cNvPr id="14" name="Shape 12"/>
          <p:cNvSpPr/>
          <p:nvPr/>
        </p:nvSpPr>
        <p:spPr>
          <a:xfrm>
            <a:off x="566928" y="4526280"/>
            <a:ext cx="11055096" cy="566928"/>
          </a:xfrm>
          <a:prstGeom prst="roundRect">
            <a:avLst>
              <a:gd name="adj" fmla="val 9677"/>
            </a:avLst>
          </a:prstGeom>
          <a:solidFill>
            <a:srgbClr val="EEF2F6"/>
          </a:solidFill>
          <a:ln w="12700">
            <a:solidFill>
              <a:srgbClr val="EEF2F6"/>
            </a:solidFill>
            <a:prstDash val="solid"/>
          </a:ln>
        </p:spPr>
        <p:txBody>
          <a:bodyPr/>
          <a:p/>
        </p:txBody>
      </p:sp>
      <p:sp>
        <p:nvSpPr>
          <p:cNvPr id="15" name="Shape 13"/>
          <p:cNvSpPr/>
          <p:nvPr/>
        </p:nvSpPr>
        <p:spPr>
          <a:xfrm>
            <a:off x="694944" y="4654296"/>
            <a:ext cx="91440" cy="310896"/>
          </a:xfrm>
          <a:prstGeom prst="roundRect">
            <a:avLst>
              <a:gd name="adj" fmla="val 40000"/>
            </a:avLst>
          </a:prstGeom>
          <a:solidFill>
            <a:srgbClr val="B45309"/>
          </a:solidFill>
          <a:ln w="12700">
            <a:solidFill>
              <a:srgbClr val="B45309"/>
            </a:solidFill>
            <a:prstDash val="solid"/>
          </a:ln>
        </p:spPr>
        <p:txBody>
          <a:bodyPr/>
          <a:p/>
        </p:txBody>
      </p:sp>
      <p:sp>
        <p:nvSpPr>
          <p:cNvPr id="16" name="Text 14"/>
          <p:cNvSpPr txBox="1"/>
          <p:nvPr/>
        </p:nvSpPr>
        <p:spPr>
          <a:xfrm>
            <a:off x="932688" y="4572000"/>
            <a:ext cx="10506456" cy="475488"/>
          </a:xfrm>
          <a:prstGeom prst="rect">
            <a:avLst/>
          </a:prstGeom>
          <a:noFill/>
          <a:ln/>
        </p:spPr>
        <p:txBody>
          <a:bodyPr wrap="square" lIns="0" tIns="0" rIns="0" bIns="0" rtlCol="0" anchor="ctr"/>
          <a:lstStyle/>
          <a:p>
            <a:pPr indent="0" marL="0">
              <a:buNone/>
            </a:pPr>
            <a:r>
              <a:rPr lang="en-US" sz="1350" b="1" dirty="0">
                <a:solidFill>
                  <a:srgbClr val="1F2933"/>
                </a:solidFill>
                <a:latin typeface="Calibri" pitchFamily="34" charset="0"/>
                <a:ea typeface="Calibri" pitchFamily="34" charset="-122"/>
                <a:cs typeface="Calibri" pitchFamily="34" charset="-120"/>
              </a:rPr>
              <a:t>A third of bad interviews pass the check that field practice actually runs.</a:t>
            </a:r>
            <a:endParaRPr lang="en-US" sz="1350" dirty="0"/>
          </a:p>
        </p:txBody>
      </p:sp>
      <p:sp>
        <p:nvSpPr>
          <p:cNvPr id="17" name="Text 15"/>
          <p:cNvSpPr txBox="1"/>
          <p:nvPr/>
        </p:nvSpPr>
        <p:spPr>
          <a:xfrm>
            <a:off x="566928" y="6144768"/>
            <a:ext cx="10140696" cy="274320"/>
          </a:xfrm>
          <a:prstGeom prst="rect">
            <a:avLst/>
          </a:prstGeom>
          <a:noFill/>
          <a:ln/>
        </p:spPr>
        <p:txBody>
          <a:bodyPr wrap="square" lIns="0" tIns="0" rIns="0" bIns="0" rtlCol="0" anchor="ctr"/>
          <a:lstStyle/>
          <a:p>
            <a:pPr indent="0" marL="0">
              <a:buNone/>
            </a:pPr>
            <a:r>
              <a:rPr lang="en-US" sz="1050" i="1" dirty="0">
                <a:solidFill>
                  <a:srgbClr val="6B7785"/>
                </a:solidFill>
                <a:latin typeface="Calibri" pitchFamily="34" charset="0"/>
                <a:ea typeface="Calibri" pitchFamily="34" charset="-122"/>
                <a:cs typeface="Calibri" pitchFamily="34" charset="-120"/>
              </a:rPr>
              <a:t>Source: output/examiner_audit/strict_examiner_audit_report.md, n500 SurveyCTO benchmark, 100 anomalies in 500 interviews.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SCOPE</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Aim and six objectives</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3</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Samuel Kaoma  |  2022016530  |  CSC 4004</a:t>
            </a:r>
            <a:endParaRPr lang="en-US" sz="1000" dirty="0"/>
          </a:p>
        </p:txBody>
      </p:sp>
      <p:sp>
        <p:nvSpPr>
          <p:cNvPr id="6" name="Shape 4"/>
          <p:cNvSpPr/>
          <p:nvPr/>
        </p:nvSpPr>
        <p:spPr>
          <a:xfrm>
            <a:off x="566928" y="1371600"/>
            <a:ext cx="11055096" cy="786384"/>
          </a:xfrm>
          <a:prstGeom prst="roundRect">
            <a:avLst>
              <a:gd name="adj" fmla="val 5814"/>
            </a:avLst>
          </a:prstGeom>
          <a:solidFill>
            <a:srgbClr val="EEF2F6"/>
          </a:solidFill>
          <a:ln w="12700">
            <a:solidFill>
              <a:srgbClr val="EEF2F6"/>
            </a:solidFill>
            <a:prstDash val="solid"/>
          </a:ln>
        </p:spPr>
        <p:txBody>
          <a:bodyPr/>
          <a:p/>
        </p:txBody>
      </p:sp>
      <p:sp>
        <p:nvSpPr>
          <p:cNvPr id="7" name="Text 5"/>
          <p:cNvSpPr txBox="1"/>
          <p:nvPr/>
        </p:nvSpPr>
        <p:spPr>
          <a:xfrm>
            <a:off x="841248" y="1444752"/>
            <a:ext cx="10506456" cy="640080"/>
          </a:xfrm>
          <a:prstGeom prst="rect">
            <a:avLst/>
          </a:prstGeom>
          <a:noFill/>
          <a:ln/>
        </p:spPr>
        <p:txBody>
          <a:bodyPr wrap="square" lIns="0" tIns="0" rIns="0" bIns="0" rtlCol="0" anchor="ctr"/>
          <a:lstStyle/>
          <a:p>
            <a:pPr indent="0" marL="0">
              <a:lnSpc>
                <a:spcPts val="1900"/>
              </a:lnSpc>
              <a:buNone/>
            </a:pPr>
            <a:r>
              <a:rPr lang="en-US" sz="1350" b="1" dirty="0">
                <a:solidFill>
                  <a:srgbClr val="0F766E"/>
                </a:solidFill>
                <a:latin typeface="Calibri" pitchFamily="34" charset="0"/>
                <a:ea typeface="Calibri" pitchFamily="34" charset="-122"/>
                <a:cs typeface="Calibri" pitchFamily="34" charset="-120"/>
              </a:rPr>
              <a:t>Aim.  </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Design and implement an automated pipeline that extracts, catalogues and analyses timing-based paradata features from SurveyCTO and ODK audit logs, to support scalable survey data quality assessment.</a:t>
            </a:r>
            <a:endParaRPr lang="en-US" sz="1350" dirty="0"/>
          </a:p>
        </p:txBody>
      </p:sp>
      <p:sp>
        <p:nvSpPr>
          <p:cNvPr id="8" name="Shape 6"/>
          <p:cNvSpPr/>
          <p:nvPr/>
        </p:nvSpPr>
        <p:spPr>
          <a:xfrm>
            <a:off x="566928" y="2459736"/>
            <a:ext cx="329184" cy="329184"/>
          </a:xfrm>
          <a:prstGeom prst="ellipse">
            <a:avLst/>
          </a:prstGeom>
          <a:solidFill>
            <a:srgbClr val="0F766E"/>
          </a:solidFill>
          <a:ln w="12700">
            <a:solidFill>
              <a:srgbClr val="0F766E"/>
            </a:solidFill>
            <a:prstDash val="solid"/>
          </a:ln>
        </p:spPr>
        <p:txBody>
          <a:bodyPr/>
          <a:p/>
        </p:txBody>
      </p:sp>
      <p:sp>
        <p:nvSpPr>
          <p:cNvPr id="9" name="Text 7"/>
          <p:cNvSpPr txBox="1"/>
          <p:nvPr/>
        </p:nvSpPr>
        <p:spPr>
          <a:xfrm>
            <a:off x="566928" y="2459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042416" y="2423160"/>
            <a:ext cx="4919472" cy="658368"/>
          </a:xfrm>
          <a:prstGeom prst="rect">
            <a:avLst/>
          </a:prstGeom>
          <a:noFill/>
          <a:ln/>
        </p:spPr>
        <p:txBody>
          <a:bodyPr wrap="square" lIns="0" tIns="0" rIns="0" bIns="0" rtlCol="0" anchor="t"/>
          <a:lstStyle/>
          <a:p>
            <a:pPr indent="0" marL="0">
              <a:lnSpc>
                <a:spcPts val="1700"/>
              </a:lnSpc>
              <a:buNone/>
            </a:pPr>
            <a:r>
              <a:rPr lang="en-US" sz="1300" dirty="0">
                <a:solidFill>
                  <a:srgbClr val="1F2933"/>
                </a:solidFill>
                <a:latin typeface="Calibri" pitchFamily="34" charset="0"/>
                <a:ea typeface="Calibri" pitchFamily="34" charset="-122"/>
                <a:cs typeface="Calibri" pitchFamily="34" charset="-120"/>
              </a:rPr>
              <a:t>Catalogue timing-based quality indicators from the survey methodology literature</a:t>
            </a:r>
            <a:endParaRPr lang="en-US" sz="1300" dirty="0"/>
          </a:p>
        </p:txBody>
      </p:sp>
      <p:sp>
        <p:nvSpPr>
          <p:cNvPr id="11" name="Shape 9"/>
          <p:cNvSpPr/>
          <p:nvPr/>
        </p:nvSpPr>
        <p:spPr>
          <a:xfrm>
            <a:off x="566928" y="3172968"/>
            <a:ext cx="329184" cy="329184"/>
          </a:xfrm>
          <a:prstGeom prst="ellipse">
            <a:avLst/>
          </a:prstGeom>
          <a:solidFill>
            <a:srgbClr val="0F766E"/>
          </a:solidFill>
          <a:ln w="12700">
            <a:solidFill>
              <a:srgbClr val="0F766E"/>
            </a:solidFill>
            <a:prstDash val="solid"/>
          </a:ln>
        </p:spPr>
        <p:txBody>
          <a:bodyPr/>
          <a:p/>
        </p:txBody>
      </p:sp>
      <p:sp>
        <p:nvSpPr>
          <p:cNvPr id="12" name="Text 10"/>
          <p:cNvSpPr txBox="1"/>
          <p:nvPr/>
        </p:nvSpPr>
        <p:spPr>
          <a:xfrm>
            <a:off x="566928" y="31729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042416" y="3136392"/>
            <a:ext cx="4919472" cy="658368"/>
          </a:xfrm>
          <a:prstGeom prst="rect">
            <a:avLst/>
          </a:prstGeom>
          <a:noFill/>
          <a:ln/>
        </p:spPr>
        <p:txBody>
          <a:bodyPr wrap="square" lIns="0" tIns="0" rIns="0" bIns="0" rtlCol="0" anchor="t"/>
          <a:lstStyle/>
          <a:p>
            <a:pPr indent="0" marL="0">
              <a:lnSpc>
                <a:spcPts val="1700"/>
              </a:lnSpc>
              <a:buNone/>
            </a:pPr>
            <a:r>
              <a:rPr lang="en-US" sz="1300" dirty="0">
                <a:solidFill>
                  <a:srgbClr val="1F2933"/>
                </a:solidFill>
                <a:latin typeface="Calibri" pitchFamily="34" charset="0"/>
                <a:ea typeface="Calibri" pitchFamily="34" charset="-122"/>
                <a:cs typeface="Calibri" pitchFamily="34" charset="-120"/>
              </a:rPr>
              <a:t>Build format-aware parsers producing a common intermediate representation</a:t>
            </a:r>
            <a:endParaRPr lang="en-US" sz="1300" dirty="0"/>
          </a:p>
        </p:txBody>
      </p:sp>
      <p:sp>
        <p:nvSpPr>
          <p:cNvPr id="14" name="Shape 12"/>
          <p:cNvSpPr/>
          <p:nvPr/>
        </p:nvSpPr>
        <p:spPr>
          <a:xfrm>
            <a:off x="566928" y="3886200"/>
            <a:ext cx="329184" cy="329184"/>
          </a:xfrm>
          <a:prstGeom prst="ellipse">
            <a:avLst/>
          </a:prstGeom>
          <a:solidFill>
            <a:srgbClr val="0F766E"/>
          </a:solidFill>
          <a:ln w="12700">
            <a:solidFill>
              <a:srgbClr val="0F766E"/>
            </a:solidFill>
            <a:prstDash val="solid"/>
          </a:ln>
        </p:spPr>
        <p:txBody>
          <a:bodyPr/>
          <a:p/>
        </p:txBody>
      </p:sp>
      <p:sp>
        <p:nvSpPr>
          <p:cNvPr id="15" name="Text 13"/>
          <p:cNvSpPr txBox="1"/>
          <p:nvPr/>
        </p:nvSpPr>
        <p:spPr>
          <a:xfrm>
            <a:off x="566928" y="38862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txBox="1"/>
          <p:nvPr/>
        </p:nvSpPr>
        <p:spPr>
          <a:xfrm>
            <a:off x="1042416" y="3849624"/>
            <a:ext cx="4919472" cy="658368"/>
          </a:xfrm>
          <a:prstGeom prst="rect">
            <a:avLst/>
          </a:prstGeom>
          <a:noFill/>
          <a:ln/>
        </p:spPr>
        <p:txBody>
          <a:bodyPr wrap="square" lIns="0" tIns="0" rIns="0" bIns="0" rtlCol="0" anchor="t"/>
          <a:lstStyle/>
          <a:p>
            <a:pPr indent="0" marL="0">
              <a:lnSpc>
                <a:spcPts val="1700"/>
              </a:lnSpc>
              <a:buNone/>
            </a:pPr>
            <a:r>
              <a:rPr lang="en-US" sz="1300" dirty="0">
                <a:solidFill>
                  <a:srgbClr val="1F2933"/>
                </a:solidFill>
                <a:latin typeface="Calibri" pitchFamily="34" charset="0"/>
                <a:ea typeface="Calibri" pitchFamily="34" charset="-122"/>
                <a:cs typeface="Calibri" pitchFamily="34" charset="-120"/>
              </a:rPr>
              <a:t>Implement 30 to 50 timing features across question, section and survey levels</a:t>
            </a:r>
            <a:endParaRPr lang="en-US" sz="1300" dirty="0"/>
          </a:p>
        </p:txBody>
      </p:sp>
      <p:sp>
        <p:nvSpPr>
          <p:cNvPr id="17" name="Shape 15"/>
          <p:cNvSpPr/>
          <p:nvPr/>
        </p:nvSpPr>
        <p:spPr>
          <a:xfrm>
            <a:off x="6419088" y="2459736"/>
            <a:ext cx="329184" cy="329184"/>
          </a:xfrm>
          <a:prstGeom prst="ellipse">
            <a:avLst/>
          </a:prstGeom>
          <a:solidFill>
            <a:srgbClr val="0F766E"/>
          </a:solidFill>
          <a:ln w="12700">
            <a:solidFill>
              <a:srgbClr val="0F766E"/>
            </a:solidFill>
            <a:prstDash val="solid"/>
          </a:ln>
        </p:spPr>
        <p:txBody>
          <a:bodyPr/>
          <a:p/>
        </p:txBody>
      </p:sp>
      <p:sp>
        <p:nvSpPr>
          <p:cNvPr id="18" name="Text 16"/>
          <p:cNvSpPr txBox="1"/>
          <p:nvPr/>
        </p:nvSpPr>
        <p:spPr>
          <a:xfrm>
            <a:off x="6419088" y="2459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txBox="1"/>
          <p:nvPr/>
        </p:nvSpPr>
        <p:spPr>
          <a:xfrm>
            <a:off x="6894576" y="2423160"/>
            <a:ext cx="4937760" cy="658368"/>
          </a:xfrm>
          <a:prstGeom prst="rect">
            <a:avLst/>
          </a:prstGeom>
          <a:noFill/>
          <a:ln/>
        </p:spPr>
        <p:txBody>
          <a:bodyPr wrap="square" lIns="0" tIns="0" rIns="0" bIns="0" rtlCol="0" anchor="ctr"/>
          <a:lstStyle/>
          <a:p>
            <a:pPr indent="0" marL="0">
              <a:lnSpc>
                <a:spcPts val="1700"/>
              </a:lnSpc>
              <a:buNone/>
            </a:pPr>
            <a:r>
              <a:rPr lang="en-US" sz="1300" dirty="0">
                <a:solidFill>
                  <a:srgbClr val="1F2933"/>
                </a:solidFill>
                <a:latin typeface="Calibri" pitchFamily="34" charset="0"/>
                <a:ea typeface="Calibri" pitchFamily="34" charset="-122"/>
                <a:cs typeface="Calibri" pitchFamily="34" charset="-120"/>
              </a:rPr>
              <a:t>Compute statistical measures: variance, entropy, skewness, kurtosis</a:t>
            </a:r>
            <a:endParaRPr lang="en-US" sz="1300" dirty="0"/>
          </a:p>
        </p:txBody>
      </p:sp>
      <p:sp>
        <p:nvSpPr>
          <p:cNvPr id="20" name="Shape 18"/>
          <p:cNvSpPr/>
          <p:nvPr/>
        </p:nvSpPr>
        <p:spPr>
          <a:xfrm>
            <a:off x="6419088" y="3172968"/>
            <a:ext cx="329184" cy="329184"/>
          </a:xfrm>
          <a:prstGeom prst="ellipse">
            <a:avLst/>
          </a:prstGeom>
          <a:solidFill>
            <a:srgbClr val="0F766E"/>
          </a:solidFill>
          <a:ln w="12700">
            <a:solidFill>
              <a:srgbClr val="0F766E"/>
            </a:solidFill>
            <a:prstDash val="solid"/>
          </a:ln>
        </p:spPr>
        <p:txBody>
          <a:bodyPr/>
          <a:p/>
        </p:txBody>
      </p:sp>
      <p:sp>
        <p:nvSpPr>
          <p:cNvPr id="21" name="Text 19"/>
          <p:cNvSpPr txBox="1"/>
          <p:nvPr/>
        </p:nvSpPr>
        <p:spPr>
          <a:xfrm>
            <a:off x="6419088" y="31729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txBox="1"/>
          <p:nvPr/>
        </p:nvSpPr>
        <p:spPr>
          <a:xfrm>
            <a:off x="6894576" y="3136392"/>
            <a:ext cx="4937760" cy="658368"/>
          </a:xfrm>
          <a:prstGeom prst="rect">
            <a:avLst/>
          </a:prstGeom>
          <a:noFill/>
          <a:ln/>
        </p:spPr>
        <p:txBody>
          <a:bodyPr wrap="square" lIns="0" tIns="0" rIns="0" bIns="0" rtlCol="0" anchor="ctr"/>
          <a:lstStyle/>
          <a:p>
            <a:pPr indent="0" marL="0">
              <a:lnSpc>
                <a:spcPts val="1700"/>
              </a:lnSpc>
              <a:buNone/>
            </a:pPr>
            <a:r>
              <a:rPr lang="en-US" sz="1300" dirty="0">
                <a:solidFill>
                  <a:srgbClr val="1F2933"/>
                </a:solidFill>
                <a:latin typeface="Calibri" pitchFamily="34" charset="0"/>
                <a:ea typeface="Calibri" pitchFamily="34" charset="-122"/>
                <a:cs typeface="Calibri" pitchFamily="34" charset="-120"/>
              </a:rPr>
              <a:t>Detect anomalies with IQR fences plus rules, validated on precision and recall</a:t>
            </a:r>
            <a:endParaRPr lang="en-US" sz="1300" dirty="0"/>
          </a:p>
        </p:txBody>
      </p:sp>
      <p:sp>
        <p:nvSpPr>
          <p:cNvPr id="23" name="Shape 21"/>
          <p:cNvSpPr/>
          <p:nvPr/>
        </p:nvSpPr>
        <p:spPr>
          <a:xfrm>
            <a:off x="6419088" y="3886200"/>
            <a:ext cx="329184" cy="329184"/>
          </a:xfrm>
          <a:prstGeom prst="ellipse">
            <a:avLst/>
          </a:prstGeom>
          <a:solidFill>
            <a:srgbClr val="0F766E"/>
          </a:solidFill>
          <a:ln w="12700">
            <a:solidFill>
              <a:srgbClr val="0F766E"/>
            </a:solidFill>
            <a:prstDash val="solid"/>
          </a:ln>
        </p:spPr>
        <p:txBody>
          <a:bodyPr/>
          <a:p/>
        </p:txBody>
      </p:sp>
      <p:sp>
        <p:nvSpPr>
          <p:cNvPr id="24" name="Text 22"/>
          <p:cNvSpPr txBox="1"/>
          <p:nvPr/>
        </p:nvSpPr>
        <p:spPr>
          <a:xfrm>
            <a:off x="6419088" y="38862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5" name="Text 23"/>
          <p:cNvSpPr txBox="1"/>
          <p:nvPr/>
        </p:nvSpPr>
        <p:spPr>
          <a:xfrm>
            <a:off x="6894576" y="3849624"/>
            <a:ext cx="4937760" cy="658368"/>
          </a:xfrm>
          <a:prstGeom prst="rect">
            <a:avLst/>
          </a:prstGeom>
          <a:noFill/>
          <a:ln/>
        </p:spPr>
        <p:txBody>
          <a:bodyPr wrap="square" lIns="0" tIns="0" rIns="0" bIns="0" rtlCol="0" anchor="ctr"/>
          <a:lstStyle/>
          <a:p>
            <a:pPr indent="0" marL="0">
              <a:lnSpc>
                <a:spcPts val="1700"/>
              </a:lnSpc>
              <a:buNone/>
            </a:pPr>
            <a:r>
              <a:rPr lang="en-US" sz="1300" dirty="0">
                <a:solidFill>
                  <a:srgbClr val="1F2933"/>
                </a:solidFill>
                <a:latin typeface="Calibri" pitchFamily="34" charset="0"/>
                <a:ea typeface="Calibri" pitchFamily="34" charset="-122"/>
                <a:cs typeface="Calibri" pitchFamily="34" charset="-120"/>
              </a:rPr>
              <a:t>Deliver structured outputs, feature documentation and a paradata format guide</a:t>
            </a:r>
            <a:endParaRPr lang="en-US" sz="1300" dirty="0"/>
          </a:p>
        </p:txBody>
      </p:sp>
      <p:sp>
        <p:nvSpPr>
          <p:cNvPr id="26" name="Shape 24"/>
          <p:cNvSpPr/>
          <p:nvPr/>
        </p:nvSpPr>
        <p:spPr>
          <a:xfrm>
            <a:off x="566928" y="5440680"/>
            <a:ext cx="11055096" cy="566928"/>
          </a:xfrm>
          <a:prstGeom prst="roundRect">
            <a:avLst>
              <a:gd name="adj" fmla="val 9677"/>
            </a:avLst>
          </a:prstGeom>
          <a:solidFill>
            <a:srgbClr val="EEF2F6"/>
          </a:solidFill>
          <a:ln w="12700">
            <a:solidFill>
              <a:srgbClr val="EEF2F6"/>
            </a:solidFill>
            <a:prstDash val="solid"/>
          </a:ln>
        </p:spPr>
        <p:txBody>
          <a:bodyPr/>
          <a:p/>
        </p:txBody>
      </p:sp>
      <p:sp>
        <p:nvSpPr>
          <p:cNvPr id="27" name="Shape 25"/>
          <p:cNvSpPr/>
          <p:nvPr/>
        </p:nvSpPr>
        <p:spPr>
          <a:xfrm>
            <a:off x="694944" y="5568696"/>
            <a:ext cx="91440" cy="310896"/>
          </a:xfrm>
          <a:prstGeom prst="roundRect">
            <a:avLst>
              <a:gd name="adj" fmla="val 40000"/>
            </a:avLst>
          </a:prstGeom>
          <a:solidFill>
            <a:srgbClr val="0F766E"/>
          </a:solidFill>
          <a:ln w="12700">
            <a:solidFill>
              <a:srgbClr val="0F766E"/>
            </a:solidFill>
            <a:prstDash val="solid"/>
          </a:ln>
        </p:spPr>
        <p:txBody>
          <a:bodyPr/>
          <a:p/>
        </p:txBody>
      </p:sp>
      <p:sp>
        <p:nvSpPr>
          <p:cNvPr id="28" name="Text 26"/>
          <p:cNvSpPr txBox="1"/>
          <p:nvPr/>
        </p:nvSpPr>
        <p:spPr>
          <a:xfrm>
            <a:off x="932688" y="5486400"/>
            <a:ext cx="10506456" cy="475488"/>
          </a:xfrm>
          <a:prstGeom prst="rect">
            <a:avLst/>
          </a:prstGeom>
          <a:noFill/>
          <a:ln/>
        </p:spPr>
        <p:txBody>
          <a:bodyPr wrap="square" lIns="0" tIns="0" rIns="0" bIns="0" rtlCol="0" anchor="ctr"/>
          <a:lstStyle/>
          <a:p>
            <a:pPr indent="0" marL="0">
              <a:buNone/>
            </a:pPr>
            <a:r>
              <a:rPr lang="en-US" sz="1350" b="1" dirty="0">
                <a:solidFill>
                  <a:srgbClr val="1F2933"/>
                </a:solidFill>
                <a:latin typeface="Calibri" pitchFamily="34" charset="0"/>
                <a:ea typeface="Calibri" pitchFamily="34" charset="-122"/>
                <a:cs typeface="Calibri" pitchFamily="34" charset="-120"/>
              </a:rPr>
              <a:t>All six objectives are met, and each is evidenced in the milestone tracker.</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CHAPTER 2</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The literature sets the design, not intuition</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Samuel Kaoma  |  2022016530  |  CSC 4004</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55096" cy="914400"/>
        </p:xfrm>
        <a:graphic>
          <a:graphicData uri="http://schemas.openxmlformats.org/drawingml/2006/table">
            <a:tbl>
              <a:tblPr/>
              <a:tblGrid>
                <a:gridCol w="2514600"/>
                <a:gridCol w="4160520"/>
                <a:gridCol w="4379976"/>
              </a:tblGrid>
              <a:tr h="402336">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Finding</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decided in this system</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r>
              <a:tr h="402336">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Groves et al. (2009)</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Total Survey Error: quality is the product of error at every stage</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Paradata as an interview-stage error signal</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402336">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Wenz, Kreuter &amp; Janke (2019)</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Fabrication compresses response-time spread and suppresses back-navigation</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The statistical features and the IQR fences</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402336">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Yan &amp; Tourangeau (2008)</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Answers fast relative to question complexity signal low engagement</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Question latency and complexity-relative pace</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402336">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Conrad, Tourangeau &amp; Couper (2013)</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Pauses and repeated back-navigation reveal difficulty</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Section pause and navigation features</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402336">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Iglewicz &amp; Hoaglin (1993)</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Response times are right-skewed; z-scores are unsafe</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Tukey fences over z-score thresholding</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402336">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Bushery et al. (1999)</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Date and time stamps alone can identify suspect interviewers</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The premise the whole pipeline rests on</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402336">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Finn &amp; Ranchhod (2017)</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Fabrication in a large field survey; effects uneven across estimators</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Why detection beats case-by-case reasoning</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402336">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Hoogeveen &amp; Pape (2020)</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Thin supervisory capacity in fragile and low-resource settings</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Explainable flags, median-relative thresholds</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bl>
          </a:graphicData>
        </a:graphic>
      </p:graphicFrame>
      <p:sp>
        <p:nvSpPr>
          <p:cNvPr id="7" name="Shape 4"/>
          <p:cNvSpPr/>
          <p:nvPr/>
        </p:nvSpPr>
        <p:spPr>
          <a:xfrm>
            <a:off x="566928" y="5504688"/>
            <a:ext cx="11055096" cy="566928"/>
          </a:xfrm>
          <a:prstGeom prst="roundRect">
            <a:avLst>
              <a:gd name="adj" fmla="val 9677"/>
            </a:avLst>
          </a:prstGeom>
          <a:solidFill>
            <a:srgbClr val="EEF2F6"/>
          </a:solidFill>
          <a:ln w="12700">
            <a:solidFill>
              <a:srgbClr val="EEF2F6"/>
            </a:solidFill>
            <a:prstDash val="solid"/>
          </a:ln>
        </p:spPr>
        <p:txBody>
          <a:bodyPr/>
          <a:p/>
        </p:txBody>
      </p:sp>
      <p:sp>
        <p:nvSpPr>
          <p:cNvPr id="8" name="Shape 5"/>
          <p:cNvSpPr/>
          <p:nvPr/>
        </p:nvSpPr>
        <p:spPr>
          <a:xfrm>
            <a:off x="694944" y="5632704"/>
            <a:ext cx="91440" cy="310896"/>
          </a:xfrm>
          <a:prstGeom prst="roundRect">
            <a:avLst>
              <a:gd name="adj" fmla="val 40000"/>
            </a:avLst>
          </a:prstGeom>
          <a:solidFill>
            <a:srgbClr val="0F766E"/>
          </a:solidFill>
          <a:ln w="12700">
            <a:solidFill>
              <a:srgbClr val="0F766E"/>
            </a:solidFill>
            <a:prstDash val="solid"/>
          </a:ln>
        </p:spPr>
        <p:txBody>
          <a:bodyPr/>
          <a:p/>
        </p:txBody>
      </p:sp>
      <p:sp>
        <p:nvSpPr>
          <p:cNvPr id="9" name="Text 6"/>
          <p:cNvSpPr txBox="1"/>
          <p:nvPr/>
        </p:nvSpPr>
        <p:spPr>
          <a:xfrm>
            <a:off x="932688" y="5550408"/>
            <a:ext cx="10506456" cy="475488"/>
          </a:xfrm>
          <a:prstGeom prst="rect">
            <a:avLst/>
          </a:prstGeom>
          <a:noFill/>
          <a:ln/>
        </p:spPr>
        <p:txBody>
          <a:bodyPr wrap="square" lIns="0" tIns="0" rIns="0" bIns="0" rtlCol="0" anchor="ctr"/>
          <a:lstStyle/>
          <a:p>
            <a:pPr indent="0" marL="0">
              <a:buNone/>
            </a:pPr>
            <a:r>
              <a:rPr lang="en-US" sz="1350" b="1" dirty="0">
                <a:solidFill>
                  <a:srgbClr val="1F2933"/>
                </a:solidFill>
                <a:latin typeface="Calibri" pitchFamily="34" charset="0"/>
                <a:ea typeface="Calibri" pitchFamily="34" charset="-122"/>
                <a:cs typeface="Calibri" pitchFamily="34" charset="-120"/>
              </a:rPr>
              <a:t>17 references. Every feature and the detection method trace to a cited finding.</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CHAPTER 1</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What this project contributes</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Samuel Kaoma  |  2022016530  |  CSC 4004</a:t>
            </a:r>
            <a:endParaRPr lang="en-US" sz="1000" dirty="0"/>
          </a:p>
        </p:txBody>
      </p:sp>
      <p:sp>
        <p:nvSpPr>
          <p:cNvPr id="6" name="Shape 4"/>
          <p:cNvSpPr/>
          <p:nvPr/>
        </p:nvSpPr>
        <p:spPr>
          <a:xfrm>
            <a:off x="566928" y="1371600"/>
            <a:ext cx="5349240" cy="1664208"/>
          </a:xfrm>
          <a:prstGeom prst="roundRect">
            <a:avLst>
              <a:gd name="adj" fmla="val 2747"/>
            </a:avLst>
          </a:prstGeom>
          <a:solidFill>
            <a:srgbClr val="EEF2F6"/>
          </a:solidFill>
          <a:ln w="12700">
            <a:solidFill>
              <a:srgbClr val="EEF2F6"/>
            </a:solidFill>
            <a:prstDash val="solid"/>
          </a:ln>
        </p:spPr>
        <p:txBody>
          <a:bodyPr/>
          <a:p/>
        </p:txBody>
      </p:sp>
      <p:sp>
        <p:nvSpPr>
          <p:cNvPr id="7" name="Shape 5"/>
          <p:cNvSpPr/>
          <p:nvPr/>
        </p:nvSpPr>
        <p:spPr>
          <a:xfrm>
            <a:off x="804672" y="1609344"/>
            <a:ext cx="310896" cy="310896"/>
          </a:xfrm>
          <a:prstGeom prst="ellipse">
            <a:avLst/>
          </a:prstGeom>
          <a:solidFill>
            <a:srgbClr val="0F766E"/>
          </a:solidFill>
          <a:ln w="12700">
            <a:solidFill>
              <a:srgbClr val="0F766E"/>
            </a:solidFill>
            <a:prstDash val="solid"/>
          </a:ln>
        </p:spPr>
        <p:txBody>
          <a:bodyPr/>
          <a:p/>
        </p:txBody>
      </p:sp>
      <p:sp>
        <p:nvSpPr>
          <p:cNvPr id="8" name="Text 6"/>
          <p:cNvSpPr txBox="1"/>
          <p:nvPr/>
        </p:nvSpPr>
        <p:spPr>
          <a:xfrm>
            <a:off x="804672" y="160934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225296" y="1572768"/>
            <a:ext cx="4480560" cy="384048"/>
          </a:xfrm>
          <a:prstGeom prst="rect">
            <a:avLst/>
          </a:prstGeom>
          <a:noFill/>
          <a:ln/>
        </p:spPr>
        <p:txBody>
          <a:bodyPr wrap="square" lIns="0" tIns="0" rIns="0" bIns="0" rtlCol="0" anchor="ctr"/>
          <a:lstStyle/>
          <a:p>
            <a:pPr indent="0" marL="0">
              <a:buNone/>
            </a:pPr>
            <a:r>
              <a:rPr lang="en-US" sz="1450" b="1" dirty="0">
                <a:solidFill>
                  <a:srgbClr val="1F2933"/>
                </a:solidFill>
                <a:latin typeface="Cambria" pitchFamily="34" charset="0"/>
                <a:ea typeface="Cambria" pitchFamily="34" charset="-122"/>
                <a:cs typeface="Cambria" pitchFamily="34" charset="-120"/>
              </a:rPr>
              <a:t>A format-agnostic intermediate representation</a:t>
            </a:r>
            <a:endParaRPr lang="en-US" sz="1450" dirty="0"/>
          </a:p>
        </p:txBody>
      </p:sp>
      <p:sp>
        <p:nvSpPr>
          <p:cNvPr id="10" name="Text 8"/>
          <p:cNvSpPr txBox="1"/>
          <p:nvPr/>
        </p:nvSpPr>
        <p:spPr>
          <a:xfrm>
            <a:off x="1225296" y="1993392"/>
            <a:ext cx="4480560" cy="914400"/>
          </a:xfrm>
          <a:prstGeom prst="rect">
            <a:avLst/>
          </a:prstGeom>
          <a:noFill/>
          <a:ln/>
        </p:spPr>
        <p:txBody>
          <a:bodyPr wrap="square" lIns="0" tIns="0" rIns="0" bIns="0" rtlCol="0" anchor="ctr"/>
          <a:lstStyle/>
          <a:p>
            <a:pPr indent="0" marL="0">
              <a:lnSpc>
                <a:spcPts val="1650"/>
              </a:lnSpc>
              <a:buNone/>
            </a:pPr>
            <a:r>
              <a:rPr lang="en-US" sz="1200" dirty="0">
                <a:solidFill>
                  <a:srgbClr val="3E4C55"/>
                </a:solidFill>
                <a:latin typeface="Calibri" pitchFamily="34" charset="0"/>
                <a:ea typeface="Calibri" pitchFamily="34" charset="-122"/>
                <a:cs typeface="Calibri" pitchFamily="34" charset="-120"/>
              </a:rPr>
              <a:t>Six columns that reduce SurveyCTO and ODK logs to one shape. Supporting a new platform means writing one parser and changing nothing downstream.</a:t>
            </a:r>
            <a:endParaRPr lang="en-US" sz="1200" dirty="0"/>
          </a:p>
        </p:txBody>
      </p:sp>
      <p:sp>
        <p:nvSpPr>
          <p:cNvPr id="11" name="Shape 9"/>
          <p:cNvSpPr/>
          <p:nvPr/>
        </p:nvSpPr>
        <p:spPr>
          <a:xfrm>
            <a:off x="6281928" y="1371600"/>
            <a:ext cx="5349240" cy="1664208"/>
          </a:xfrm>
          <a:prstGeom prst="roundRect">
            <a:avLst>
              <a:gd name="adj" fmla="val 2747"/>
            </a:avLst>
          </a:prstGeom>
          <a:solidFill>
            <a:srgbClr val="EEF2F6"/>
          </a:solidFill>
          <a:ln w="12700">
            <a:solidFill>
              <a:srgbClr val="EEF2F6"/>
            </a:solidFill>
            <a:prstDash val="solid"/>
          </a:ln>
        </p:spPr>
        <p:txBody>
          <a:bodyPr/>
          <a:p/>
        </p:txBody>
      </p:sp>
      <p:sp>
        <p:nvSpPr>
          <p:cNvPr id="12" name="Shape 10"/>
          <p:cNvSpPr/>
          <p:nvPr/>
        </p:nvSpPr>
        <p:spPr>
          <a:xfrm>
            <a:off x="6519672" y="1609344"/>
            <a:ext cx="310896" cy="310896"/>
          </a:xfrm>
          <a:prstGeom prst="ellipse">
            <a:avLst/>
          </a:prstGeom>
          <a:solidFill>
            <a:srgbClr val="0F766E"/>
          </a:solidFill>
          <a:ln w="12700">
            <a:solidFill>
              <a:srgbClr val="0F766E"/>
            </a:solidFill>
            <a:prstDash val="solid"/>
          </a:ln>
        </p:spPr>
        <p:txBody>
          <a:bodyPr/>
          <a:p/>
        </p:txBody>
      </p:sp>
      <p:sp>
        <p:nvSpPr>
          <p:cNvPr id="13" name="Text 11"/>
          <p:cNvSpPr txBox="1"/>
          <p:nvPr/>
        </p:nvSpPr>
        <p:spPr>
          <a:xfrm>
            <a:off x="6519672" y="160934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6940296" y="1572768"/>
            <a:ext cx="4480560" cy="384048"/>
          </a:xfrm>
          <a:prstGeom prst="rect">
            <a:avLst/>
          </a:prstGeom>
          <a:noFill/>
          <a:ln/>
        </p:spPr>
        <p:txBody>
          <a:bodyPr wrap="square" lIns="0" tIns="0" rIns="0" bIns="0" rtlCol="0" anchor="ctr"/>
          <a:lstStyle/>
          <a:p>
            <a:pPr indent="0" marL="0">
              <a:buNone/>
            </a:pPr>
            <a:r>
              <a:rPr lang="en-US" sz="1450" b="1" dirty="0">
                <a:solidFill>
                  <a:srgbClr val="1F2933"/>
                </a:solidFill>
                <a:latin typeface="Cambria" pitchFamily="34" charset="0"/>
                <a:ea typeface="Cambria" pitchFamily="34" charset="-122"/>
                <a:cs typeface="Cambria" pitchFamily="34" charset="-120"/>
              </a:rPr>
              <a:t>A documented, tested feature library</a:t>
            </a:r>
            <a:endParaRPr lang="en-US" sz="1450" dirty="0"/>
          </a:p>
        </p:txBody>
      </p:sp>
      <p:sp>
        <p:nvSpPr>
          <p:cNvPr id="15" name="Text 13"/>
          <p:cNvSpPr txBox="1"/>
          <p:nvPr/>
        </p:nvSpPr>
        <p:spPr>
          <a:xfrm>
            <a:off x="6940296" y="1993392"/>
            <a:ext cx="4480560" cy="914400"/>
          </a:xfrm>
          <a:prstGeom prst="rect">
            <a:avLst/>
          </a:prstGeom>
          <a:noFill/>
          <a:ln/>
        </p:spPr>
        <p:txBody>
          <a:bodyPr wrap="square" lIns="0" tIns="0" rIns="0" bIns="0" rtlCol="0" anchor="ctr"/>
          <a:lstStyle/>
          <a:p>
            <a:pPr indent="0" marL="0">
              <a:lnSpc>
                <a:spcPts val="1650"/>
              </a:lnSpc>
              <a:buNone/>
            </a:pPr>
            <a:r>
              <a:rPr lang="en-US" sz="1200" dirty="0">
                <a:solidFill>
                  <a:srgbClr val="3E4C55"/>
                </a:solidFill>
                <a:latin typeface="Calibri" pitchFamily="34" charset="0"/>
                <a:ea typeface="Calibri" pitchFamily="34" charset="-122"/>
                <a:cs typeface="Calibri" pitchFamily="34" charset="-120"/>
              </a:rPr>
              <a:t>40 timing features with stable identifiers across question, section, survey and statistical families, shipped with a coverage table generated from the code.</a:t>
            </a:r>
            <a:endParaRPr lang="en-US" sz="1200" dirty="0"/>
          </a:p>
        </p:txBody>
      </p:sp>
      <p:sp>
        <p:nvSpPr>
          <p:cNvPr id="16" name="Shape 14"/>
          <p:cNvSpPr/>
          <p:nvPr/>
        </p:nvSpPr>
        <p:spPr>
          <a:xfrm>
            <a:off x="566928" y="3246120"/>
            <a:ext cx="5349240" cy="1664208"/>
          </a:xfrm>
          <a:prstGeom prst="roundRect">
            <a:avLst>
              <a:gd name="adj" fmla="val 2747"/>
            </a:avLst>
          </a:prstGeom>
          <a:solidFill>
            <a:srgbClr val="EEF2F6"/>
          </a:solidFill>
          <a:ln w="12700">
            <a:solidFill>
              <a:srgbClr val="EEF2F6"/>
            </a:solidFill>
            <a:prstDash val="solid"/>
          </a:ln>
        </p:spPr>
        <p:txBody>
          <a:bodyPr/>
          <a:p/>
        </p:txBody>
      </p:sp>
      <p:sp>
        <p:nvSpPr>
          <p:cNvPr id="17" name="Shape 15"/>
          <p:cNvSpPr/>
          <p:nvPr/>
        </p:nvSpPr>
        <p:spPr>
          <a:xfrm>
            <a:off x="804672" y="3483864"/>
            <a:ext cx="310896" cy="310896"/>
          </a:xfrm>
          <a:prstGeom prst="ellipse">
            <a:avLst/>
          </a:prstGeom>
          <a:solidFill>
            <a:srgbClr val="0F766E"/>
          </a:solidFill>
          <a:ln w="12700">
            <a:solidFill>
              <a:srgbClr val="0F766E"/>
            </a:solidFill>
            <a:prstDash val="solid"/>
          </a:ln>
        </p:spPr>
        <p:txBody>
          <a:bodyPr/>
          <a:p/>
        </p:txBody>
      </p:sp>
      <p:sp>
        <p:nvSpPr>
          <p:cNvPr id="18" name="Text 16"/>
          <p:cNvSpPr txBox="1"/>
          <p:nvPr/>
        </p:nvSpPr>
        <p:spPr>
          <a:xfrm>
            <a:off x="804672" y="348386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225296" y="3447288"/>
            <a:ext cx="4480560" cy="384048"/>
          </a:xfrm>
          <a:prstGeom prst="rect">
            <a:avLst/>
          </a:prstGeom>
          <a:noFill/>
          <a:ln/>
        </p:spPr>
        <p:txBody>
          <a:bodyPr wrap="square" lIns="0" tIns="0" rIns="0" bIns="0" rtlCol="0" anchor="ctr"/>
          <a:lstStyle/>
          <a:p>
            <a:pPr indent="0" marL="0">
              <a:buNone/>
            </a:pPr>
            <a:r>
              <a:rPr lang="en-US" sz="1450" b="1" dirty="0">
                <a:solidFill>
                  <a:srgbClr val="1F2933"/>
                </a:solidFill>
                <a:latin typeface="Cambria" pitchFamily="34" charset="0"/>
                <a:ea typeface="Cambria" pitchFamily="34" charset="-122"/>
                <a:cs typeface="Cambria" pitchFamily="34" charset="-120"/>
              </a:rPr>
              <a:t>A like-for-like baseline comparison</a:t>
            </a:r>
            <a:endParaRPr lang="en-US" sz="1450" dirty="0"/>
          </a:p>
        </p:txBody>
      </p:sp>
      <p:sp>
        <p:nvSpPr>
          <p:cNvPr id="20" name="Text 18"/>
          <p:cNvSpPr txBox="1"/>
          <p:nvPr/>
        </p:nvSpPr>
        <p:spPr>
          <a:xfrm>
            <a:off x="1225296" y="3867912"/>
            <a:ext cx="4480560" cy="914400"/>
          </a:xfrm>
          <a:prstGeom prst="rect">
            <a:avLst/>
          </a:prstGeom>
          <a:noFill/>
          <a:ln/>
        </p:spPr>
        <p:txBody>
          <a:bodyPr wrap="square" lIns="0" tIns="0" rIns="0" bIns="0" rtlCol="0" anchor="ctr"/>
          <a:lstStyle/>
          <a:p>
            <a:pPr indent="0" marL="0">
              <a:lnSpc>
                <a:spcPts val="1650"/>
              </a:lnSpc>
              <a:buNone/>
            </a:pPr>
            <a:r>
              <a:rPr lang="en-US" sz="1200" dirty="0">
                <a:solidFill>
                  <a:srgbClr val="3E4C55"/>
                </a:solidFill>
                <a:latin typeface="Calibri" pitchFamily="34" charset="0"/>
                <a:ea typeface="Calibri" pitchFamily="34" charset="-122"/>
                <a:cs typeface="Calibri" pitchFamily="34" charset="-120"/>
              </a:rPr>
              <a:t>The full detector and two current-practice methods computed from the same files, features and labels inside one audited script.</a:t>
            </a:r>
            <a:endParaRPr lang="en-US" sz="1200" dirty="0"/>
          </a:p>
        </p:txBody>
      </p:sp>
      <p:sp>
        <p:nvSpPr>
          <p:cNvPr id="21" name="Shape 19"/>
          <p:cNvSpPr/>
          <p:nvPr/>
        </p:nvSpPr>
        <p:spPr>
          <a:xfrm>
            <a:off x="6281928" y="3246120"/>
            <a:ext cx="5349240" cy="1664208"/>
          </a:xfrm>
          <a:prstGeom prst="roundRect">
            <a:avLst>
              <a:gd name="adj" fmla="val 2747"/>
            </a:avLst>
          </a:prstGeom>
          <a:solidFill>
            <a:srgbClr val="EEF2F6"/>
          </a:solidFill>
          <a:ln w="12700">
            <a:solidFill>
              <a:srgbClr val="EEF2F6"/>
            </a:solidFill>
            <a:prstDash val="solid"/>
          </a:ln>
        </p:spPr>
        <p:txBody>
          <a:bodyPr/>
          <a:p/>
        </p:txBody>
      </p:sp>
      <p:sp>
        <p:nvSpPr>
          <p:cNvPr id="22" name="Shape 20"/>
          <p:cNvSpPr/>
          <p:nvPr/>
        </p:nvSpPr>
        <p:spPr>
          <a:xfrm>
            <a:off x="6519672" y="3483864"/>
            <a:ext cx="310896" cy="310896"/>
          </a:xfrm>
          <a:prstGeom prst="ellipse">
            <a:avLst/>
          </a:prstGeom>
          <a:solidFill>
            <a:srgbClr val="0F766E"/>
          </a:solidFill>
          <a:ln w="12700">
            <a:solidFill>
              <a:srgbClr val="0F766E"/>
            </a:solidFill>
            <a:prstDash val="solid"/>
          </a:ln>
        </p:spPr>
        <p:txBody>
          <a:bodyPr/>
          <a:p/>
        </p:txBody>
      </p:sp>
      <p:sp>
        <p:nvSpPr>
          <p:cNvPr id="23" name="Text 21"/>
          <p:cNvSpPr txBox="1"/>
          <p:nvPr/>
        </p:nvSpPr>
        <p:spPr>
          <a:xfrm>
            <a:off x="6519672" y="348386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4" name="Text 22"/>
          <p:cNvSpPr txBox="1"/>
          <p:nvPr/>
        </p:nvSpPr>
        <p:spPr>
          <a:xfrm>
            <a:off x="6940296" y="3447288"/>
            <a:ext cx="4480560" cy="384048"/>
          </a:xfrm>
          <a:prstGeom prst="rect">
            <a:avLst/>
          </a:prstGeom>
          <a:noFill/>
          <a:ln/>
        </p:spPr>
        <p:txBody>
          <a:bodyPr wrap="square" lIns="0" tIns="0" rIns="0" bIns="0" rtlCol="0" anchor="ctr"/>
          <a:lstStyle/>
          <a:p>
            <a:pPr indent="0" marL="0">
              <a:buNone/>
            </a:pPr>
            <a:r>
              <a:rPr lang="en-US" sz="1450" b="1" dirty="0">
                <a:solidFill>
                  <a:srgbClr val="1F2933"/>
                </a:solidFill>
                <a:latin typeface="Cambria" pitchFamily="34" charset="0"/>
                <a:ea typeface="Cambria" pitchFamily="34" charset="-122"/>
                <a:cs typeface="Cambria" pitchFamily="34" charset="-120"/>
              </a:rPr>
              <a:t>An evaluation designed to fail</a:t>
            </a:r>
            <a:endParaRPr lang="en-US" sz="1450" dirty="0"/>
          </a:p>
        </p:txBody>
      </p:sp>
      <p:sp>
        <p:nvSpPr>
          <p:cNvPr id="25" name="Text 23"/>
          <p:cNvSpPr txBox="1"/>
          <p:nvPr/>
        </p:nvSpPr>
        <p:spPr>
          <a:xfrm>
            <a:off x="6940296" y="3867912"/>
            <a:ext cx="4480560" cy="914400"/>
          </a:xfrm>
          <a:prstGeom prst="rect">
            <a:avLst/>
          </a:prstGeom>
          <a:noFill/>
          <a:ln/>
        </p:spPr>
        <p:txBody>
          <a:bodyPr wrap="square" lIns="0" tIns="0" rIns="0" bIns="0" rtlCol="0" anchor="ctr"/>
          <a:lstStyle/>
          <a:p>
            <a:pPr indent="0" marL="0">
              <a:lnSpc>
                <a:spcPts val="1650"/>
              </a:lnSpc>
              <a:buNone/>
            </a:pPr>
            <a:r>
              <a:rPr lang="en-US" sz="1200" dirty="0">
                <a:solidFill>
                  <a:srgbClr val="3E4C55"/>
                </a:solidFill>
                <a:latin typeface="Calibri" pitchFamily="34" charset="0"/>
                <a:ea typeface="Calibri" pitchFamily="34" charset="-122"/>
                <a:cs typeface="Calibri" pitchFamily="34" charset="-120"/>
              </a:rPr>
              <a:t>Held-out seeds, overlapping profiles, a prevalence sweep, and a breakdown that isolates and reports the weaker half of my own detector.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CHAPTERS 3 AND 4</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Five layers, one contract between them</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6</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Samuel Kaoma  |  2022016530  |  CSC 4004</a:t>
            </a:r>
            <a:endParaRPr lang="en-US" sz="1000" dirty="0"/>
          </a:p>
        </p:txBody>
      </p:sp>
      <p:pic>
        <p:nvPicPr>
          <p:cNvPr id="6" name="Image 0" descr="C:\Users\Samuel\Desktop\4th year\Final year project\SKACE-Time-Data\report\figures\figure1_architecture.png">    </p:cNvPr>
          <p:cNvPicPr>
            <a:picLocks noChangeAspect="1"/>
          </p:cNvPicPr>
          <p:nvPr/>
        </p:nvPicPr>
        <p:blipFill>
          <a:blip r:embed="rId1"/>
          <a:stretch>
            <a:fillRect/>
          </a:stretch>
        </p:blipFill>
        <p:spPr>
          <a:xfrm>
            <a:off x="3877056" y="1170432"/>
            <a:ext cx="4590288" cy="3657600"/>
          </a:xfrm>
          <a:prstGeom prst="rect">
            <a:avLst/>
          </a:prstGeom>
        </p:spPr>
      </p:pic>
      <p:sp>
        <p:nvSpPr>
          <p:cNvPr id="7" name="Text 4"/>
          <p:cNvSpPr txBox="1"/>
          <p:nvPr/>
        </p:nvSpPr>
        <p:spPr>
          <a:xfrm>
            <a:off x="566928" y="1371600"/>
            <a:ext cx="3154680" cy="3566160"/>
          </a:xfrm>
          <a:prstGeom prst="rect">
            <a:avLst/>
          </a:prstGeom>
          <a:noFill/>
          <a:ln/>
        </p:spPr>
        <p:txBody>
          <a:bodyPr wrap="square" lIns="0" tIns="0" rIns="0" bIns="0" rtlCol="0" anchor="ctr"/>
          <a:lstStyle/>
          <a:p>
            <a:pPr indent="0" marL="0">
              <a:lnSpc>
                <a:spcPts val="1750"/>
              </a:lnSpc>
              <a:buNone/>
            </a:pPr>
            <a:r>
              <a:rPr lang="en-US" sz="1250" b="1" dirty="0">
                <a:solidFill>
                  <a:srgbClr val="1F2933"/>
                </a:solidFill>
                <a:latin typeface="Calibri" pitchFamily="34" charset="0"/>
                <a:ea typeface="Calibri" pitchFamily="34" charset="-122"/>
                <a:cs typeface="Calibri" pitchFamily="34" charset="-120"/>
              </a:rPr>
              <a:t>The intermediate representation is the only contract between parsing and everything above it.</a:t>
            </a:r>
            <a:endParaRPr lang="en-US" sz="1250" dirty="0"/>
          </a:p>
          <a:p>
            <a:pPr indent="0" marL="0">
              <a:lnSpc>
                <a:spcPts val="1750"/>
              </a:lnSpc>
              <a:buNone/>
            </a:pPr>
            <a:r>
              <a:rPr lang="en-US" sz="600" dirty="0">
                <a:solidFill>
                  <a:srgbClr val="1F2933"/>
                </a:solidFill>
                <a:latin typeface="Calibri" pitchFamily="34" charset="0"/>
                <a:ea typeface="Calibri" pitchFamily="34" charset="-122"/>
                <a:cs typeface="Calibri" pitchFamily="34" charset="-120"/>
              </a:rPr>
              <a:t> </a:t>
            </a:r>
            <a:endParaRPr lang="en-US" sz="1250" dirty="0"/>
          </a:p>
          <a:p>
            <a:pPr indent="0" marL="0">
              <a:lnSpc>
                <a:spcPts val="1750"/>
              </a:lnSpc>
              <a:buNone/>
            </a:pPr>
            <a:r>
              <a:rPr lang="en-US" sz="1250" dirty="0">
                <a:solidFill>
                  <a:srgbClr val="1F2933"/>
                </a:solidFill>
                <a:latin typeface="Calibri" pitchFamily="34" charset="0"/>
                <a:ea typeface="Calibri" pitchFamily="34" charset="-122"/>
                <a:cs typeface="Calibri" pitchFamily="34" charset="-120"/>
              </a:rPr>
              <a:t>SurveyCTO exports epoch milliseconds against XPath node ids. ODK exports ISO 8601 strings against instance and name columns. Both reduce to the same six columns: interview id, field name, event type, start, end and duration in milliseconds.</a:t>
            </a:r>
            <a:endParaRPr lang="en-US" sz="1250" dirty="0"/>
          </a:p>
          <a:p>
            <a:pPr indent="0" marL="0">
              <a:lnSpc>
                <a:spcPts val="1750"/>
              </a:lnSpc>
              <a:buNone/>
            </a:pPr>
            <a:r>
              <a:rPr lang="en-US" sz="600" dirty="0">
                <a:solidFill>
                  <a:srgbClr val="1F2933"/>
                </a:solidFill>
                <a:latin typeface="Calibri" pitchFamily="34" charset="0"/>
                <a:ea typeface="Calibri" pitchFamily="34" charset="-122"/>
                <a:cs typeface="Calibri" pitchFamily="34" charset="-120"/>
              </a:rPr>
              <a:t> </a:t>
            </a:r>
            <a:endParaRPr lang="en-US" sz="1250" dirty="0"/>
          </a:p>
          <a:p>
            <a:pPr indent="0" marL="0">
              <a:lnSpc>
                <a:spcPts val="1750"/>
              </a:lnSpc>
              <a:buNone/>
            </a:pPr>
            <a:r>
              <a:rPr lang="en-US" sz="1250" dirty="0">
                <a:solidFill>
                  <a:srgbClr val="1F2933"/>
                </a:solidFill>
                <a:latin typeface="Calibri" pitchFamily="34" charset="0"/>
                <a:ea typeface="Calibri" pitchFamily="34" charset="-122"/>
                <a:cs typeface="Calibri" pitchFamily="34" charset="-120"/>
              </a:rPr>
              <a:t>Because nothing above layer 2 knows which platform produced a row, the same detector runs unmodified on both, and adding a platform is a parser and no more.</a:t>
            </a:r>
            <a:endParaRPr lang="en-US" sz="1250" dirty="0"/>
          </a:p>
        </p:txBody>
      </p:sp>
      <p:sp>
        <p:nvSpPr>
          <p:cNvPr id="8" name="Text 5"/>
          <p:cNvSpPr txBox="1"/>
          <p:nvPr/>
        </p:nvSpPr>
        <p:spPr>
          <a:xfrm>
            <a:off x="8686800" y="1371600"/>
            <a:ext cx="2935224" cy="2377440"/>
          </a:xfrm>
          <a:prstGeom prst="rect">
            <a:avLst/>
          </a:prstGeom>
          <a:noFill/>
          <a:ln/>
        </p:spPr>
        <p:txBody>
          <a:bodyPr wrap="square" lIns="0" tIns="0" rIns="0" bIns="0" rtlCol="0" anchor="ctr"/>
          <a:lstStyle/>
          <a:p>
            <a:pPr indent="0" marL="0">
              <a:lnSpc>
                <a:spcPts val="1700"/>
              </a:lnSpc>
              <a:buNone/>
            </a:pPr>
            <a:r>
              <a:rPr lang="en-US" sz="1200" b="1" dirty="0">
                <a:solidFill>
                  <a:srgbClr val="0F766E"/>
                </a:solidFill>
                <a:latin typeface="Calibri" pitchFamily="34" charset="0"/>
                <a:ea typeface="Calibri" pitchFamily="34" charset="-122"/>
                <a:cs typeface="Calibri" pitchFamily="34" charset="-120"/>
              </a:rPr>
              <a:t>Parsers mark rather than repair.  </a:t>
            </a:r>
            <a:pPr indent="0" marL="0">
              <a:lnSpc>
                <a:spcPts val="1700"/>
              </a:lnSpc>
              <a:buNone/>
            </a:pPr>
            <a:r>
              <a:rPr lang="en-US" sz="1200" dirty="0">
                <a:solidFill>
                  <a:srgbClr val="1F2933"/>
                </a:solidFill>
                <a:latin typeface="Calibri" pitchFamily="34" charset="0"/>
                <a:ea typeface="Calibri" pitchFamily="34" charset="-122"/>
                <a:cs typeface="Calibri" pitchFamily="34" charset="-120"/>
              </a:rPr>
              <a:t>Missing field names, unparseable timestamps and negative durations are flagged into a separate data-quality path, so device faults never read as behavioural anomalies.</a:t>
            </a:r>
            <a:endParaRPr lang="en-US" sz="1200" dirty="0"/>
          </a:p>
        </p:txBody>
      </p:sp>
      <p:sp>
        <p:nvSpPr>
          <p:cNvPr id="9" name="Shape 6"/>
          <p:cNvSpPr/>
          <p:nvPr/>
        </p:nvSpPr>
        <p:spPr>
          <a:xfrm>
            <a:off x="566928" y="5138928"/>
            <a:ext cx="11055096" cy="566928"/>
          </a:xfrm>
          <a:prstGeom prst="roundRect">
            <a:avLst>
              <a:gd name="adj" fmla="val 9677"/>
            </a:avLst>
          </a:prstGeom>
          <a:solidFill>
            <a:srgbClr val="EEF2F6"/>
          </a:solidFill>
          <a:ln w="12700">
            <a:solidFill>
              <a:srgbClr val="EEF2F6"/>
            </a:solidFill>
            <a:prstDash val="solid"/>
          </a:ln>
        </p:spPr>
        <p:txBody>
          <a:bodyPr/>
          <a:p/>
        </p:txBody>
      </p:sp>
      <p:sp>
        <p:nvSpPr>
          <p:cNvPr id="10" name="Shape 7"/>
          <p:cNvSpPr/>
          <p:nvPr/>
        </p:nvSpPr>
        <p:spPr>
          <a:xfrm>
            <a:off x="694944" y="5266944"/>
            <a:ext cx="91440" cy="310896"/>
          </a:xfrm>
          <a:prstGeom prst="roundRect">
            <a:avLst>
              <a:gd name="adj" fmla="val 40000"/>
            </a:avLst>
          </a:prstGeom>
          <a:solidFill>
            <a:srgbClr val="0F766E"/>
          </a:solidFill>
          <a:ln w="12700">
            <a:solidFill>
              <a:srgbClr val="0F766E"/>
            </a:solidFill>
            <a:prstDash val="solid"/>
          </a:ln>
        </p:spPr>
        <p:txBody>
          <a:bodyPr/>
          <a:p/>
        </p:txBody>
      </p:sp>
      <p:sp>
        <p:nvSpPr>
          <p:cNvPr id="11" name="Text 8"/>
          <p:cNvSpPr txBox="1"/>
          <p:nvPr/>
        </p:nvSpPr>
        <p:spPr>
          <a:xfrm>
            <a:off x="932688" y="5184648"/>
            <a:ext cx="10506456" cy="475488"/>
          </a:xfrm>
          <a:prstGeom prst="rect">
            <a:avLst/>
          </a:prstGeom>
          <a:noFill/>
          <a:ln/>
        </p:spPr>
        <p:txBody>
          <a:bodyPr wrap="square" lIns="0" tIns="0" rIns="0" bIns="0" rtlCol="0" anchor="ctr"/>
          <a:lstStyle/>
          <a:p>
            <a:pPr indent="0" marL="0">
              <a:buNone/>
            </a:pPr>
            <a:r>
              <a:rPr lang="en-US" sz="1350" b="1" dirty="0">
                <a:solidFill>
                  <a:srgbClr val="1F2933"/>
                </a:solidFill>
                <a:latin typeface="Calibri" pitchFamily="34" charset="0"/>
                <a:ea typeface="Calibri" pitchFamily="34" charset="-122"/>
                <a:cs typeface="Calibri" pitchFamily="34" charset="-120"/>
              </a:rPr>
              <a:t>Cross-format parity is a result, not an assumption: the same detector scores 1.0000 / 1.0000 on both formats at n500.</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CHAPTER 3</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Forty features in four families</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7</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Samuel Kaoma  |  2022016530  |  CSC 4004</a:t>
            </a:r>
            <a:endParaRPr lang="en-US" sz="1000" dirty="0"/>
          </a:p>
        </p:txBody>
      </p:sp>
      <p:sp>
        <p:nvSpPr>
          <p:cNvPr id="6" name="Shape 4"/>
          <p:cNvSpPr/>
          <p:nvPr/>
        </p:nvSpPr>
        <p:spPr>
          <a:xfrm>
            <a:off x="566928" y="1371600"/>
            <a:ext cx="2670048" cy="2788920"/>
          </a:xfrm>
          <a:prstGeom prst="roundRect">
            <a:avLst>
              <a:gd name="adj" fmla="val 1712"/>
            </a:avLst>
          </a:prstGeom>
          <a:solidFill>
            <a:srgbClr val="EEF2F6"/>
          </a:solidFill>
          <a:ln w="12700">
            <a:solidFill>
              <a:srgbClr val="EEF2F6"/>
            </a:solidFill>
            <a:prstDash val="solid"/>
          </a:ln>
        </p:spPr>
        <p:txBody>
          <a:bodyPr/>
          <a:p/>
        </p:txBody>
      </p:sp>
      <p:sp>
        <p:nvSpPr>
          <p:cNvPr id="7" name="Text 5"/>
          <p:cNvSpPr txBox="1"/>
          <p:nvPr/>
        </p:nvSpPr>
        <p:spPr>
          <a:xfrm>
            <a:off x="768096" y="1554480"/>
            <a:ext cx="2286000" cy="310896"/>
          </a:xfrm>
          <a:prstGeom prst="rect">
            <a:avLst/>
          </a:prstGeom>
          <a:noFill/>
          <a:ln/>
        </p:spPr>
        <p:txBody>
          <a:bodyPr wrap="square" lIns="0" tIns="0" rIns="0" bIns="0" rtlCol="0" anchor="ctr"/>
          <a:lstStyle/>
          <a:p>
            <a:pPr indent="0" marL="0">
              <a:buNone/>
            </a:pPr>
            <a:r>
              <a:rPr lang="en-US" sz="1500" b="1" dirty="0">
                <a:solidFill>
                  <a:srgbClr val="0F766E"/>
                </a:solidFill>
                <a:latin typeface="Cambria" pitchFamily="34" charset="0"/>
                <a:ea typeface="Cambria" pitchFamily="34" charset="-122"/>
                <a:cs typeface="Cambria" pitchFamily="34" charset="-120"/>
              </a:rPr>
              <a:t>Q-01 to Q-10</a:t>
            </a:r>
            <a:endParaRPr lang="en-US" sz="1500" dirty="0"/>
          </a:p>
        </p:txBody>
      </p:sp>
      <p:sp>
        <p:nvSpPr>
          <p:cNvPr id="8" name="Text 6"/>
          <p:cNvSpPr txBox="1"/>
          <p:nvPr/>
        </p:nvSpPr>
        <p:spPr>
          <a:xfrm>
            <a:off x="768096" y="1883664"/>
            <a:ext cx="2286000" cy="274320"/>
          </a:xfrm>
          <a:prstGeom prst="rect">
            <a:avLst/>
          </a:prstGeom>
          <a:noFill/>
          <a:ln/>
        </p:spPr>
        <p:txBody>
          <a:bodyPr wrap="square" lIns="0" tIns="0" rIns="0" bIns="0" rtlCol="0" anchor="ctr"/>
          <a:lstStyle/>
          <a:p>
            <a:pPr indent="0" marL="0">
              <a:buNone/>
            </a:pPr>
            <a:r>
              <a:rPr lang="en-US" sz="1200" b="1" dirty="0">
                <a:solidFill>
                  <a:srgbClr val="1F2933"/>
                </a:solidFill>
                <a:latin typeface="Calibri" pitchFamily="34" charset="0"/>
                <a:ea typeface="Calibri" pitchFamily="34" charset="-122"/>
                <a:cs typeface="Calibri" pitchFamily="34" charset="-120"/>
              </a:rPr>
              <a:t>Question level</a:t>
            </a:r>
            <a:endParaRPr lang="en-US" sz="1200" dirty="0"/>
          </a:p>
        </p:txBody>
      </p:sp>
      <p:sp>
        <p:nvSpPr>
          <p:cNvPr id="9" name="Text 7"/>
          <p:cNvSpPr txBox="1"/>
          <p:nvPr/>
        </p:nvSpPr>
        <p:spPr>
          <a:xfrm>
            <a:off x="768096" y="2212848"/>
            <a:ext cx="2286000" cy="1783080"/>
          </a:xfrm>
          <a:prstGeom prst="rect">
            <a:avLst/>
          </a:prstGeom>
          <a:noFill/>
          <a:ln/>
        </p:spPr>
        <p:txBody>
          <a:bodyPr wrap="square" lIns="0" tIns="0" rIns="0" bIns="0" rtlCol="0" anchor="ctr"/>
          <a:lstStyle/>
          <a:p>
            <a:pPr indent="0" marL="0">
              <a:lnSpc>
                <a:spcPts val="1600"/>
              </a:lnSpc>
              <a:buNone/>
            </a:pPr>
            <a:r>
              <a:rPr lang="en-US" sz="1150" dirty="0">
                <a:solidFill>
                  <a:srgbClr val="3E4C55"/>
                </a:solidFill>
                <a:latin typeface="Calibri" pitchFamily="34" charset="0"/>
                <a:ea typeface="Calibri" pitchFamily="34" charset="-122"/>
                <a:cs typeface="Calibri" pitchFamily="34" charset="-120"/>
              </a:rPr>
              <a:t>Response time, time to first interaction, edit count, revisits, completion ratio, idle time, event count, constraint triggers</a:t>
            </a:r>
            <a:endParaRPr lang="en-US" sz="1150" dirty="0"/>
          </a:p>
        </p:txBody>
      </p:sp>
      <p:sp>
        <p:nvSpPr>
          <p:cNvPr id="10" name="Shape 8"/>
          <p:cNvSpPr/>
          <p:nvPr/>
        </p:nvSpPr>
        <p:spPr>
          <a:xfrm>
            <a:off x="3410712" y="1371600"/>
            <a:ext cx="2670048" cy="2788920"/>
          </a:xfrm>
          <a:prstGeom prst="roundRect">
            <a:avLst>
              <a:gd name="adj" fmla="val 1712"/>
            </a:avLst>
          </a:prstGeom>
          <a:solidFill>
            <a:srgbClr val="EEF2F6"/>
          </a:solidFill>
          <a:ln w="12700">
            <a:solidFill>
              <a:srgbClr val="EEF2F6"/>
            </a:solidFill>
            <a:prstDash val="solid"/>
          </a:ln>
        </p:spPr>
        <p:txBody>
          <a:bodyPr/>
          <a:p/>
        </p:txBody>
      </p:sp>
      <p:sp>
        <p:nvSpPr>
          <p:cNvPr id="11" name="Text 9"/>
          <p:cNvSpPr txBox="1"/>
          <p:nvPr/>
        </p:nvSpPr>
        <p:spPr>
          <a:xfrm>
            <a:off x="3611880" y="1554480"/>
            <a:ext cx="2286000" cy="310896"/>
          </a:xfrm>
          <a:prstGeom prst="rect">
            <a:avLst/>
          </a:prstGeom>
          <a:noFill/>
          <a:ln/>
        </p:spPr>
        <p:txBody>
          <a:bodyPr wrap="square" lIns="0" tIns="0" rIns="0" bIns="0" rtlCol="0" anchor="ctr"/>
          <a:lstStyle/>
          <a:p>
            <a:pPr indent="0" marL="0">
              <a:buNone/>
            </a:pPr>
            <a:r>
              <a:rPr lang="en-US" sz="1500" b="1" dirty="0">
                <a:solidFill>
                  <a:srgbClr val="7C3AED"/>
                </a:solidFill>
                <a:latin typeface="Cambria" pitchFamily="34" charset="0"/>
                <a:ea typeface="Cambria" pitchFamily="34" charset="-122"/>
                <a:cs typeface="Cambria" pitchFamily="34" charset="-120"/>
              </a:rPr>
              <a:t>S-01 to S-10</a:t>
            </a:r>
            <a:endParaRPr lang="en-US" sz="1500" dirty="0"/>
          </a:p>
        </p:txBody>
      </p:sp>
      <p:sp>
        <p:nvSpPr>
          <p:cNvPr id="12" name="Text 10"/>
          <p:cNvSpPr txBox="1"/>
          <p:nvPr/>
        </p:nvSpPr>
        <p:spPr>
          <a:xfrm>
            <a:off x="3611880" y="1883664"/>
            <a:ext cx="2286000" cy="274320"/>
          </a:xfrm>
          <a:prstGeom prst="rect">
            <a:avLst/>
          </a:prstGeom>
          <a:noFill/>
          <a:ln/>
        </p:spPr>
        <p:txBody>
          <a:bodyPr wrap="square" lIns="0" tIns="0" rIns="0" bIns="0" rtlCol="0" anchor="ctr"/>
          <a:lstStyle/>
          <a:p>
            <a:pPr indent="0" marL="0">
              <a:buNone/>
            </a:pPr>
            <a:r>
              <a:rPr lang="en-US" sz="1200" b="1" dirty="0">
                <a:solidFill>
                  <a:srgbClr val="1F2933"/>
                </a:solidFill>
                <a:latin typeface="Calibri" pitchFamily="34" charset="0"/>
                <a:ea typeface="Calibri" pitchFamily="34" charset="-122"/>
                <a:cs typeface="Calibri" pitchFamily="34" charset="-120"/>
              </a:rPr>
              <a:t>Section level</a:t>
            </a:r>
            <a:endParaRPr lang="en-US" sz="1200" dirty="0"/>
          </a:p>
        </p:txBody>
      </p:sp>
      <p:sp>
        <p:nvSpPr>
          <p:cNvPr id="13" name="Text 11"/>
          <p:cNvSpPr txBox="1"/>
          <p:nvPr/>
        </p:nvSpPr>
        <p:spPr>
          <a:xfrm>
            <a:off x="3611880" y="2212848"/>
            <a:ext cx="2286000" cy="1783080"/>
          </a:xfrm>
          <a:prstGeom prst="rect">
            <a:avLst/>
          </a:prstGeom>
          <a:noFill/>
          <a:ln/>
        </p:spPr>
        <p:txBody>
          <a:bodyPr wrap="square" lIns="0" tIns="0" rIns="0" bIns="0" rtlCol="0" anchor="ctr"/>
          <a:lstStyle/>
          <a:p>
            <a:pPr indent="0" marL="0">
              <a:lnSpc>
                <a:spcPts val="1600"/>
              </a:lnSpc>
              <a:buNone/>
            </a:pPr>
            <a:r>
              <a:rPr lang="en-US" sz="1150" dirty="0">
                <a:solidFill>
                  <a:srgbClr val="3E4C55"/>
                </a:solidFill>
                <a:latin typeface="Calibri" pitchFamily="34" charset="0"/>
                <a:ea typeface="Calibri" pitchFamily="34" charset="-122"/>
                <a:cs typeface="Calibri" pitchFamily="34" charset="-120"/>
              </a:rPr>
              <a:t>Mean section pace, section duration, within-section variance, pace ratio, pause counts and durations, back-navigation</a:t>
            </a:r>
            <a:endParaRPr lang="en-US" sz="1150" dirty="0"/>
          </a:p>
        </p:txBody>
      </p:sp>
      <p:sp>
        <p:nvSpPr>
          <p:cNvPr id="14" name="Shape 12"/>
          <p:cNvSpPr/>
          <p:nvPr/>
        </p:nvSpPr>
        <p:spPr>
          <a:xfrm>
            <a:off x="6254496" y="1371600"/>
            <a:ext cx="2670048" cy="2788920"/>
          </a:xfrm>
          <a:prstGeom prst="roundRect">
            <a:avLst>
              <a:gd name="adj" fmla="val 1712"/>
            </a:avLst>
          </a:prstGeom>
          <a:solidFill>
            <a:srgbClr val="EEF2F6"/>
          </a:solidFill>
          <a:ln w="12700">
            <a:solidFill>
              <a:srgbClr val="EEF2F6"/>
            </a:solidFill>
            <a:prstDash val="solid"/>
          </a:ln>
        </p:spPr>
        <p:txBody>
          <a:bodyPr/>
          <a:p/>
        </p:txBody>
      </p:sp>
      <p:sp>
        <p:nvSpPr>
          <p:cNvPr id="15" name="Text 13"/>
          <p:cNvSpPr txBox="1"/>
          <p:nvPr/>
        </p:nvSpPr>
        <p:spPr>
          <a:xfrm>
            <a:off x="6455664" y="1554480"/>
            <a:ext cx="2286000" cy="310896"/>
          </a:xfrm>
          <a:prstGeom prst="rect">
            <a:avLst/>
          </a:prstGeom>
          <a:noFill/>
          <a:ln/>
        </p:spPr>
        <p:txBody>
          <a:bodyPr wrap="square" lIns="0" tIns="0" rIns="0" bIns="0" rtlCol="0" anchor="ctr"/>
          <a:lstStyle/>
          <a:p>
            <a:pPr indent="0" marL="0">
              <a:buNone/>
            </a:pPr>
            <a:r>
              <a:rPr lang="en-US" sz="1500" b="1" dirty="0">
                <a:solidFill>
                  <a:srgbClr val="B45309"/>
                </a:solidFill>
                <a:latin typeface="Cambria" pitchFamily="34" charset="0"/>
                <a:ea typeface="Cambria" pitchFamily="34" charset="-122"/>
                <a:cs typeface="Cambria" pitchFamily="34" charset="-120"/>
              </a:rPr>
              <a:t>V-01 to V-10</a:t>
            </a:r>
            <a:endParaRPr lang="en-US" sz="1500" dirty="0"/>
          </a:p>
        </p:txBody>
      </p:sp>
      <p:sp>
        <p:nvSpPr>
          <p:cNvPr id="16" name="Text 14"/>
          <p:cNvSpPr txBox="1"/>
          <p:nvPr/>
        </p:nvSpPr>
        <p:spPr>
          <a:xfrm>
            <a:off x="6455664" y="1883664"/>
            <a:ext cx="2286000" cy="274320"/>
          </a:xfrm>
          <a:prstGeom prst="rect">
            <a:avLst/>
          </a:prstGeom>
          <a:noFill/>
          <a:ln/>
        </p:spPr>
        <p:txBody>
          <a:bodyPr wrap="square" lIns="0" tIns="0" rIns="0" bIns="0" rtlCol="0" anchor="ctr"/>
          <a:lstStyle/>
          <a:p>
            <a:pPr indent="0" marL="0">
              <a:buNone/>
            </a:pPr>
            <a:r>
              <a:rPr lang="en-US" sz="1200" b="1" dirty="0">
                <a:solidFill>
                  <a:srgbClr val="1F2933"/>
                </a:solidFill>
                <a:latin typeface="Calibri" pitchFamily="34" charset="0"/>
                <a:ea typeface="Calibri" pitchFamily="34" charset="-122"/>
                <a:cs typeface="Calibri" pitchFamily="34" charset="-120"/>
              </a:rPr>
              <a:t>Survey level</a:t>
            </a:r>
            <a:endParaRPr lang="en-US" sz="1200" dirty="0"/>
          </a:p>
        </p:txBody>
      </p:sp>
      <p:sp>
        <p:nvSpPr>
          <p:cNvPr id="17" name="Text 15"/>
          <p:cNvSpPr txBox="1"/>
          <p:nvPr/>
        </p:nvSpPr>
        <p:spPr>
          <a:xfrm>
            <a:off x="6455664" y="2212848"/>
            <a:ext cx="2286000" cy="1783080"/>
          </a:xfrm>
          <a:prstGeom prst="rect">
            <a:avLst/>
          </a:prstGeom>
          <a:noFill/>
          <a:ln/>
        </p:spPr>
        <p:txBody>
          <a:bodyPr wrap="square" lIns="0" tIns="0" rIns="0" bIns="0" rtlCol="0" anchor="ctr"/>
          <a:lstStyle/>
          <a:p>
            <a:pPr indent="0" marL="0">
              <a:lnSpc>
                <a:spcPts val="1600"/>
              </a:lnSpc>
              <a:buNone/>
            </a:pPr>
            <a:r>
              <a:rPr lang="en-US" sz="1150" dirty="0">
                <a:solidFill>
                  <a:srgbClr val="3E4C55"/>
                </a:solidFill>
                <a:latin typeface="Calibri" pitchFamily="34" charset="0"/>
                <a:ea typeface="Calibri" pitchFamily="34" charset="-122"/>
                <a:cs typeface="Calibri" pitchFamily="34" charset="-120"/>
              </a:rPr>
              <a:t>Total duration, early and late pace, trajectory ratio, back-navigation rate, start hour, day of week, duration vs median</a:t>
            </a:r>
            <a:endParaRPr lang="en-US" sz="1150" dirty="0"/>
          </a:p>
        </p:txBody>
      </p:sp>
      <p:sp>
        <p:nvSpPr>
          <p:cNvPr id="18" name="Shape 16"/>
          <p:cNvSpPr/>
          <p:nvPr/>
        </p:nvSpPr>
        <p:spPr>
          <a:xfrm>
            <a:off x="9098280" y="1371600"/>
            <a:ext cx="2670048" cy="2788920"/>
          </a:xfrm>
          <a:prstGeom prst="roundRect">
            <a:avLst>
              <a:gd name="adj" fmla="val 1712"/>
            </a:avLst>
          </a:prstGeom>
          <a:solidFill>
            <a:srgbClr val="EEF2F6"/>
          </a:solidFill>
          <a:ln w="12700">
            <a:solidFill>
              <a:srgbClr val="EEF2F6"/>
            </a:solidFill>
            <a:prstDash val="solid"/>
          </a:ln>
        </p:spPr>
        <p:txBody>
          <a:bodyPr/>
          <a:p/>
        </p:txBody>
      </p:sp>
      <p:sp>
        <p:nvSpPr>
          <p:cNvPr id="19" name="Text 17"/>
          <p:cNvSpPr txBox="1"/>
          <p:nvPr/>
        </p:nvSpPr>
        <p:spPr>
          <a:xfrm>
            <a:off x="9299448" y="1554480"/>
            <a:ext cx="2286000" cy="310896"/>
          </a:xfrm>
          <a:prstGeom prst="rect">
            <a:avLst/>
          </a:prstGeom>
          <a:noFill/>
          <a:ln/>
        </p:spPr>
        <p:txBody>
          <a:bodyPr wrap="square" lIns="0" tIns="0" rIns="0" bIns="0" rtlCol="0" anchor="ctr"/>
          <a:lstStyle/>
          <a:p>
            <a:pPr indent="0" marL="0">
              <a:buNone/>
            </a:pPr>
            <a:r>
              <a:rPr lang="en-US" sz="1500" b="1" dirty="0">
                <a:solidFill>
                  <a:srgbClr val="0E7490"/>
                </a:solidFill>
                <a:latin typeface="Cambria" pitchFamily="34" charset="0"/>
                <a:ea typeface="Cambria" pitchFamily="34" charset="-122"/>
                <a:cs typeface="Cambria" pitchFamily="34" charset="-120"/>
              </a:rPr>
              <a:t>T-01 to T-10</a:t>
            </a:r>
            <a:endParaRPr lang="en-US" sz="1500" dirty="0"/>
          </a:p>
        </p:txBody>
      </p:sp>
      <p:sp>
        <p:nvSpPr>
          <p:cNvPr id="20" name="Text 18"/>
          <p:cNvSpPr txBox="1"/>
          <p:nvPr/>
        </p:nvSpPr>
        <p:spPr>
          <a:xfrm>
            <a:off x="9299448" y="1883664"/>
            <a:ext cx="2286000" cy="274320"/>
          </a:xfrm>
          <a:prstGeom prst="rect">
            <a:avLst/>
          </a:prstGeom>
          <a:noFill/>
          <a:ln/>
        </p:spPr>
        <p:txBody>
          <a:bodyPr wrap="square" lIns="0" tIns="0" rIns="0" bIns="0" rtlCol="0" anchor="ctr"/>
          <a:lstStyle/>
          <a:p>
            <a:pPr indent="0" marL="0">
              <a:buNone/>
            </a:pPr>
            <a:r>
              <a:rPr lang="en-US" sz="1200" b="1" dirty="0">
                <a:solidFill>
                  <a:srgbClr val="1F2933"/>
                </a:solidFill>
                <a:latin typeface="Calibri" pitchFamily="34" charset="0"/>
                <a:ea typeface="Calibri" pitchFamily="34" charset="-122"/>
                <a:cs typeface="Calibri" pitchFamily="34" charset="-120"/>
              </a:rPr>
              <a:t>Statistical</a:t>
            </a:r>
            <a:endParaRPr lang="en-US" sz="1200" dirty="0"/>
          </a:p>
        </p:txBody>
      </p:sp>
      <p:sp>
        <p:nvSpPr>
          <p:cNvPr id="21" name="Text 19"/>
          <p:cNvSpPr txBox="1"/>
          <p:nvPr/>
        </p:nvSpPr>
        <p:spPr>
          <a:xfrm>
            <a:off x="9299448" y="2212848"/>
            <a:ext cx="2286000" cy="1783080"/>
          </a:xfrm>
          <a:prstGeom prst="rect">
            <a:avLst/>
          </a:prstGeom>
          <a:noFill/>
          <a:ln/>
        </p:spPr>
        <p:txBody>
          <a:bodyPr wrap="square" lIns="0" tIns="0" rIns="0" bIns="0" rtlCol="0" anchor="ctr"/>
          <a:lstStyle/>
          <a:p>
            <a:pPr indent="0" marL="0">
              <a:lnSpc>
                <a:spcPts val="1600"/>
              </a:lnSpc>
              <a:buNone/>
            </a:pPr>
            <a:r>
              <a:rPr lang="en-US" sz="1150" dirty="0">
                <a:solidFill>
                  <a:srgbClr val="3E4C55"/>
                </a:solidFill>
                <a:latin typeface="Calibri" pitchFamily="34" charset="0"/>
                <a:ea typeface="Calibri" pitchFamily="34" charset="-122"/>
                <a:cs typeface="Calibri" pitchFamily="34" charset="-120"/>
              </a:rPr>
              <a:t>Variance, interquartile range, Shannon entropy, skewness, excess kurtosis, mean, median, coefficient of variation, min, max</a:t>
            </a:r>
            <a:endParaRPr lang="en-US" sz="1150" dirty="0"/>
          </a:p>
        </p:txBody>
      </p:sp>
      <p:sp>
        <p:nvSpPr>
          <p:cNvPr id="22" name="Text 20"/>
          <p:cNvSpPr txBox="1"/>
          <p:nvPr/>
        </p:nvSpPr>
        <p:spPr>
          <a:xfrm>
            <a:off x="566928" y="4389120"/>
            <a:ext cx="11055096" cy="658368"/>
          </a:xfrm>
          <a:prstGeom prst="rect">
            <a:avLst/>
          </a:prstGeom>
          <a:noFill/>
          <a:ln/>
        </p:spPr>
        <p:txBody>
          <a:bodyPr wrap="square" lIns="0" tIns="0" rIns="0" bIns="0" rtlCol="0" anchor="ctr"/>
          <a:lstStyle/>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Two features are proxies forced by the source data: event count stands in for keystroke count, and field completion ratio is derived from measurable time on field, because neither platform logs keystrokes or answer content. Both are documented as proxies so they are not over-read.</a:t>
            </a:r>
            <a:endParaRPr lang="en-US" sz="1200" dirty="0"/>
          </a:p>
        </p:txBody>
      </p:sp>
      <p:sp>
        <p:nvSpPr>
          <p:cNvPr id="23" name="Shape 21"/>
          <p:cNvSpPr/>
          <p:nvPr/>
        </p:nvSpPr>
        <p:spPr>
          <a:xfrm>
            <a:off x="566928" y="5440680"/>
            <a:ext cx="11055096" cy="566928"/>
          </a:xfrm>
          <a:prstGeom prst="roundRect">
            <a:avLst>
              <a:gd name="adj" fmla="val 9677"/>
            </a:avLst>
          </a:prstGeom>
          <a:solidFill>
            <a:srgbClr val="EEF2F6"/>
          </a:solidFill>
          <a:ln w="12700">
            <a:solidFill>
              <a:srgbClr val="EEF2F6"/>
            </a:solidFill>
            <a:prstDash val="solid"/>
          </a:ln>
        </p:spPr>
        <p:txBody>
          <a:bodyPr/>
          <a:p/>
        </p:txBody>
      </p:sp>
      <p:sp>
        <p:nvSpPr>
          <p:cNvPr id="24" name="Shape 22"/>
          <p:cNvSpPr/>
          <p:nvPr/>
        </p:nvSpPr>
        <p:spPr>
          <a:xfrm>
            <a:off x="694944" y="5568696"/>
            <a:ext cx="91440" cy="310896"/>
          </a:xfrm>
          <a:prstGeom prst="roundRect">
            <a:avLst>
              <a:gd name="adj" fmla="val 40000"/>
            </a:avLst>
          </a:prstGeom>
          <a:solidFill>
            <a:srgbClr val="0F766E"/>
          </a:solidFill>
          <a:ln w="12700">
            <a:solidFill>
              <a:srgbClr val="0F766E"/>
            </a:solidFill>
            <a:prstDash val="solid"/>
          </a:ln>
        </p:spPr>
        <p:txBody>
          <a:bodyPr/>
          <a:p/>
        </p:txBody>
      </p:sp>
      <p:sp>
        <p:nvSpPr>
          <p:cNvPr id="25" name="Text 23"/>
          <p:cNvSpPr txBox="1"/>
          <p:nvPr/>
        </p:nvSpPr>
        <p:spPr>
          <a:xfrm>
            <a:off x="932688" y="5486400"/>
            <a:ext cx="10506456" cy="475488"/>
          </a:xfrm>
          <a:prstGeom prst="rect">
            <a:avLst/>
          </a:prstGeom>
          <a:noFill/>
          <a:ln/>
        </p:spPr>
        <p:txBody>
          <a:bodyPr wrap="square" lIns="0" tIns="0" rIns="0" bIns="0" rtlCol="0" anchor="ctr"/>
          <a:lstStyle/>
          <a:p>
            <a:pPr indent="0" marL="0">
              <a:buNone/>
            </a:pPr>
            <a:r>
              <a:rPr lang="en-US" sz="1350" b="1" dirty="0">
                <a:solidFill>
                  <a:srgbClr val="1F2933"/>
                </a:solidFill>
                <a:latin typeface="Calibri" pitchFamily="34" charset="0"/>
                <a:ea typeface="Calibri" pitchFamily="34" charset="-122"/>
                <a:cs typeface="Calibri" pitchFamily="34" charset="-120"/>
              </a:rPr>
              <a:t>40 catalogued, 40 implemented, 40 exported, 40 exercised end to end. 34 have a direct naming test.</a:t>
            </a:r>
            <a:endParaRPr lang="en-US" sz="1350" dirty="0"/>
          </a:p>
        </p:txBody>
      </p:sp>
      <p:sp>
        <p:nvSpPr>
          <p:cNvPr id="26" name="Text 24"/>
          <p:cNvSpPr txBox="1"/>
          <p:nvPr/>
        </p:nvSpPr>
        <p:spPr>
          <a:xfrm>
            <a:off x="566928" y="6144768"/>
            <a:ext cx="10140696" cy="274320"/>
          </a:xfrm>
          <a:prstGeom prst="rect">
            <a:avLst/>
          </a:prstGeom>
          <a:noFill/>
          <a:ln/>
        </p:spPr>
        <p:txBody>
          <a:bodyPr wrap="square" lIns="0" tIns="0" rIns="0" bIns="0" rtlCol="0" anchor="ctr"/>
          <a:lstStyle/>
          <a:p>
            <a:pPr indent="0" marL="0">
              <a:buNone/>
            </a:pPr>
            <a:r>
              <a:rPr lang="en-US" sz="1050" i="1" dirty="0">
                <a:solidFill>
                  <a:srgbClr val="6B7785"/>
                </a:solidFill>
                <a:latin typeface="Calibri" pitchFamily="34" charset="0"/>
                <a:ea typeface="Calibri" pitchFamily="34" charset="-122"/>
                <a:cs typeface="Calibri" pitchFamily="34" charset="-120"/>
              </a:rPr>
              <a:t>Source: docs/feature_coverage.md, regenerated by scripts/build_feature_coverage.py rather than maintained by hand.</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CHAPTER 3</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Detection that a supervisor can argue with</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Samuel Kaoma  |  2022016530  |  CSC 4004</a:t>
            </a:r>
            <a:endParaRPr lang="en-US" sz="1000" dirty="0"/>
          </a:p>
        </p:txBody>
      </p:sp>
      <p:sp>
        <p:nvSpPr>
          <p:cNvPr id="6" name="Shape 4"/>
          <p:cNvSpPr/>
          <p:nvPr/>
        </p:nvSpPr>
        <p:spPr>
          <a:xfrm>
            <a:off x="566928" y="1371600"/>
            <a:ext cx="3566160" cy="2743200"/>
          </a:xfrm>
          <a:prstGeom prst="roundRect">
            <a:avLst>
              <a:gd name="adj" fmla="val 1667"/>
            </a:avLst>
          </a:prstGeom>
          <a:solidFill>
            <a:srgbClr val="FFFFFF"/>
          </a:solidFill>
          <a:ln w="12700">
            <a:solidFill>
              <a:srgbClr val="D6DEE5"/>
            </a:solidFill>
            <a:prstDash val="solid"/>
          </a:ln>
        </p:spPr>
        <p:txBody>
          <a:bodyPr/>
          <a:p/>
        </p:txBody>
      </p:sp>
      <p:sp>
        <p:nvSpPr>
          <p:cNvPr id="7" name="Shape 5"/>
          <p:cNvSpPr/>
          <p:nvPr/>
        </p:nvSpPr>
        <p:spPr>
          <a:xfrm>
            <a:off x="786384" y="1591056"/>
            <a:ext cx="365760" cy="365760"/>
          </a:xfrm>
          <a:prstGeom prst="ellipse">
            <a:avLst/>
          </a:prstGeom>
          <a:solidFill>
            <a:srgbClr val="0F766E"/>
          </a:solidFill>
          <a:ln w="12700">
            <a:solidFill>
              <a:srgbClr val="0F766E"/>
            </a:solidFill>
            <a:prstDash val="solid"/>
          </a:ln>
        </p:spPr>
        <p:txBody>
          <a:bodyPr/>
          <a:p/>
        </p:txBody>
      </p:sp>
      <p:sp>
        <p:nvSpPr>
          <p:cNvPr id="8" name="Text 6"/>
          <p:cNvSpPr txBox="1"/>
          <p:nvPr/>
        </p:nvSpPr>
        <p:spPr>
          <a:xfrm>
            <a:off x="786384" y="15910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261872" y="1591056"/>
            <a:ext cx="2651760" cy="384048"/>
          </a:xfrm>
          <a:prstGeom prst="rect">
            <a:avLst/>
          </a:prstGeom>
          <a:noFill/>
          <a:ln/>
        </p:spPr>
        <p:txBody>
          <a:bodyPr wrap="square" lIns="0" tIns="0" rIns="0" bIns="0" rtlCol="0" anchor="ctr"/>
          <a:lstStyle/>
          <a:p>
            <a:pPr indent="0" marL="0">
              <a:buNone/>
            </a:pPr>
            <a:r>
              <a:rPr lang="en-US" sz="1450" b="1" dirty="0">
                <a:solidFill>
                  <a:srgbClr val="1F2933"/>
                </a:solidFill>
                <a:latin typeface="Cambria" pitchFamily="34" charset="0"/>
                <a:ea typeface="Cambria" pitchFamily="34" charset="-122"/>
                <a:cs typeface="Cambria" pitchFamily="34" charset="-120"/>
              </a:rPr>
              <a:t>Statistical fences</a:t>
            </a:r>
            <a:endParaRPr lang="en-US" sz="1450" dirty="0"/>
          </a:p>
        </p:txBody>
      </p:sp>
      <p:sp>
        <p:nvSpPr>
          <p:cNvPr id="10" name="Text 8"/>
          <p:cNvSpPr txBox="1"/>
          <p:nvPr/>
        </p:nvSpPr>
        <p:spPr>
          <a:xfrm>
            <a:off x="786384" y="2148840"/>
            <a:ext cx="3127248" cy="1828800"/>
          </a:xfrm>
          <a:prstGeom prst="rect">
            <a:avLst/>
          </a:prstGeom>
          <a:noFill/>
          <a:ln/>
        </p:spPr>
        <p:txBody>
          <a:bodyPr wrap="square" lIns="0" tIns="0" rIns="0" bIns="0" rtlCol="0" anchor="ctr"/>
          <a:lstStyle/>
          <a:p>
            <a:pPr indent="0" marL="0">
              <a:lnSpc>
                <a:spcPts val="1600"/>
              </a:lnSpc>
              <a:buNone/>
            </a:pPr>
            <a:r>
              <a:rPr lang="en-US" sz="1150" dirty="0">
                <a:solidFill>
                  <a:srgbClr val="3E4C55"/>
                </a:solidFill>
                <a:latin typeface="Calibri" pitchFamily="34" charset="0"/>
                <a:ea typeface="Calibri" pitchFamily="34" charset="-122"/>
                <a:cs typeface="Calibri" pitchFamily="34" charset="-120"/>
              </a:rPr>
              <a:t>Tukey fences on total duration, mean response time, entropy and variance. No distributional assumption, and resistant to the outliers they are meant to find. Capped at one point jointly, so correlated timing outliers cannot stack.</a:t>
            </a:r>
            <a:endParaRPr lang="en-US" sz="1150" dirty="0"/>
          </a:p>
        </p:txBody>
      </p:sp>
      <p:sp>
        <p:nvSpPr>
          <p:cNvPr id="11" name="Shape 9"/>
          <p:cNvSpPr/>
          <p:nvPr/>
        </p:nvSpPr>
        <p:spPr>
          <a:xfrm>
            <a:off x="4306824" y="1371600"/>
            <a:ext cx="3566160" cy="2743200"/>
          </a:xfrm>
          <a:prstGeom prst="roundRect">
            <a:avLst>
              <a:gd name="adj" fmla="val 1667"/>
            </a:avLst>
          </a:prstGeom>
          <a:solidFill>
            <a:srgbClr val="FFFFFF"/>
          </a:solidFill>
          <a:ln w="12700">
            <a:solidFill>
              <a:srgbClr val="D6DEE5"/>
            </a:solidFill>
            <a:prstDash val="solid"/>
          </a:ln>
        </p:spPr>
        <p:txBody>
          <a:bodyPr/>
          <a:p/>
        </p:txBody>
      </p:sp>
      <p:sp>
        <p:nvSpPr>
          <p:cNvPr id="12" name="Shape 10"/>
          <p:cNvSpPr/>
          <p:nvPr/>
        </p:nvSpPr>
        <p:spPr>
          <a:xfrm>
            <a:off x="4526280" y="1591056"/>
            <a:ext cx="365760" cy="365760"/>
          </a:xfrm>
          <a:prstGeom prst="ellipse">
            <a:avLst/>
          </a:prstGeom>
          <a:solidFill>
            <a:srgbClr val="7C3AED"/>
          </a:solidFill>
          <a:ln w="12700">
            <a:solidFill>
              <a:srgbClr val="7C3AED"/>
            </a:solidFill>
            <a:prstDash val="solid"/>
          </a:ln>
        </p:spPr>
        <p:txBody>
          <a:bodyPr/>
          <a:p/>
        </p:txBody>
      </p:sp>
      <p:sp>
        <p:nvSpPr>
          <p:cNvPr id="13" name="Text 11"/>
          <p:cNvSpPr txBox="1"/>
          <p:nvPr/>
        </p:nvSpPr>
        <p:spPr>
          <a:xfrm>
            <a:off x="4526280" y="15910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5001768" y="1591056"/>
            <a:ext cx="2651760" cy="384048"/>
          </a:xfrm>
          <a:prstGeom prst="rect">
            <a:avLst/>
          </a:prstGeom>
          <a:noFill/>
          <a:ln/>
        </p:spPr>
        <p:txBody>
          <a:bodyPr wrap="square" lIns="0" tIns="0" rIns="0" bIns="0" rtlCol="0" anchor="ctr"/>
          <a:lstStyle/>
          <a:p>
            <a:pPr indent="0" marL="0">
              <a:buNone/>
            </a:pPr>
            <a:r>
              <a:rPr lang="en-US" sz="1450" b="1" dirty="0">
                <a:solidFill>
                  <a:srgbClr val="1F2933"/>
                </a:solidFill>
                <a:latin typeface="Cambria" pitchFamily="34" charset="0"/>
                <a:ea typeface="Cambria" pitchFamily="34" charset="-122"/>
                <a:cs typeface="Cambria" pitchFamily="34" charset="-120"/>
              </a:rPr>
              <a:t>Rule flags</a:t>
            </a:r>
            <a:endParaRPr lang="en-US" sz="1450" dirty="0"/>
          </a:p>
        </p:txBody>
      </p:sp>
      <p:sp>
        <p:nvSpPr>
          <p:cNvPr id="15" name="Text 13"/>
          <p:cNvSpPr txBox="1"/>
          <p:nvPr/>
        </p:nvSpPr>
        <p:spPr>
          <a:xfrm>
            <a:off x="4526280" y="2148840"/>
            <a:ext cx="3127248" cy="1828800"/>
          </a:xfrm>
          <a:prstGeom prst="rect">
            <a:avLst/>
          </a:prstGeom>
          <a:noFill/>
          <a:ln/>
        </p:spPr>
        <p:txBody>
          <a:bodyPr wrap="square" lIns="0" tIns="0" rIns="0" bIns="0" rtlCol="0" anchor="ctr"/>
          <a:lstStyle/>
          <a:p>
            <a:pPr indent="0" marL="0">
              <a:lnSpc>
                <a:spcPts val="1600"/>
              </a:lnSpc>
              <a:buNone/>
            </a:pPr>
            <a:r>
              <a:rPr lang="en-US" sz="1150" dirty="0">
                <a:solidFill>
                  <a:srgbClr val="3E4C55"/>
                </a:solidFill>
                <a:latin typeface="Calibri" pitchFamily="34" charset="0"/>
                <a:ea typeface="Calibri" pitchFamily="34" charset="-122"/>
                <a:cs typeface="Calibri" pitchFamily="34" charset="-120"/>
              </a:rPr>
              <a:t>Implausible session length, low mean response time against the sample median, low entropy, uniform pacing by coefficient of variation, compressed spread, absent or excessive back-navigation, elevated pauses. Median-relative and configurable.</a:t>
            </a:r>
            <a:endParaRPr lang="en-US" sz="1150" dirty="0"/>
          </a:p>
        </p:txBody>
      </p:sp>
      <p:sp>
        <p:nvSpPr>
          <p:cNvPr id="16" name="Shape 14"/>
          <p:cNvSpPr/>
          <p:nvPr/>
        </p:nvSpPr>
        <p:spPr>
          <a:xfrm>
            <a:off x="8046720" y="1371600"/>
            <a:ext cx="3566160" cy="2743200"/>
          </a:xfrm>
          <a:prstGeom prst="roundRect">
            <a:avLst>
              <a:gd name="adj" fmla="val 1667"/>
            </a:avLst>
          </a:prstGeom>
          <a:solidFill>
            <a:srgbClr val="FFFFFF"/>
          </a:solidFill>
          <a:ln w="12700">
            <a:solidFill>
              <a:srgbClr val="D6DEE5"/>
            </a:solidFill>
            <a:prstDash val="solid"/>
          </a:ln>
        </p:spPr>
        <p:txBody>
          <a:bodyPr/>
          <a:p/>
        </p:txBody>
      </p:sp>
      <p:sp>
        <p:nvSpPr>
          <p:cNvPr id="17" name="Shape 15"/>
          <p:cNvSpPr/>
          <p:nvPr/>
        </p:nvSpPr>
        <p:spPr>
          <a:xfrm>
            <a:off x="8266176" y="1591056"/>
            <a:ext cx="365760" cy="365760"/>
          </a:xfrm>
          <a:prstGeom prst="ellipse">
            <a:avLst/>
          </a:prstGeom>
          <a:solidFill>
            <a:srgbClr val="B45309"/>
          </a:solidFill>
          <a:ln w="12700">
            <a:solidFill>
              <a:srgbClr val="B45309"/>
            </a:solidFill>
            <a:prstDash val="solid"/>
          </a:ln>
        </p:spPr>
        <p:txBody>
          <a:bodyPr/>
          <a:p/>
        </p:txBody>
      </p:sp>
      <p:sp>
        <p:nvSpPr>
          <p:cNvPr id="18" name="Text 16"/>
          <p:cNvSpPr txBox="1"/>
          <p:nvPr/>
        </p:nvSpPr>
        <p:spPr>
          <a:xfrm>
            <a:off x="8266176" y="15910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8741664" y="1591056"/>
            <a:ext cx="2651760" cy="384048"/>
          </a:xfrm>
          <a:prstGeom prst="rect">
            <a:avLst/>
          </a:prstGeom>
          <a:noFill/>
          <a:ln/>
        </p:spPr>
        <p:txBody>
          <a:bodyPr wrap="square" lIns="0" tIns="0" rIns="0" bIns="0" rtlCol="0" anchor="ctr"/>
          <a:lstStyle/>
          <a:p>
            <a:pPr indent="0" marL="0">
              <a:buNone/>
            </a:pPr>
            <a:r>
              <a:rPr lang="en-US" sz="1450" b="1" dirty="0">
                <a:solidFill>
                  <a:srgbClr val="1F2933"/>
                </a:solidFill>
                <a:latin typeface="Cambria" pitchFamily="34" charset="0"/>
                <a:ea typeface="Cambria" pitchFamily="34" charset="-122"/>
                <a:cs typeface="Cambria" pitchFamily="34" charset="-120"/>
              </a:rPr>
              <a:t>Score = count of flags</a:t>
            </a:r>
            <a:endParaRPr lang="en-US" sz="1450" dirty="0"/>
          </a:p>
        </p:txBody>
      </p:sp>
      <p:sp>
        <p:nvSpPr>
          <p:cNvPr id="20" name="Text 18"/>
          <p:cNvSpPr txBox="1"/>
          <p:nvPr/>
        </p:nvSpPr>
        <p:spPr>
          <a:xfrm>
            <a:off x="8266176" y="2148840"/>
            <a:ext cx="3127248" cy="1828800"/>
          </a:xfrm>
          <a:prstGeom prst="rect">
            <a:avLst/>
          </a:prstGeom>
          <a:noFill/>
          <a:ln/>
        </p:spPr>
        <p:txBody>
          <a:bodyPr wrap="square" lIns="0" tIns="0" rIns="0" bIns="0" rtlCol="0" anchor="ctr"/>
          <a:lstStyle/>
          <a:p>
            <a:pPr indent="0" marL="0">
              <a:lnSpc>
                <a:spcPts val="1600"/>
              </a:lnSpc>
              <a:buNone/>
            </a:pPr>
            <a:r>
              <a:rPr lang="en-US" sz="1150" dirty="0">
                <a:solidFill>
                  <a:srgbClr val="3E4C55"/>
                </a:solidFill>
                <a:latin typeface="Calibri" pitchFamily="34" charset="0"/>
                <a:ea typeface="Calibri" pitchFamily="34" charset="-122"/>
                <a:cs typeface="Calibri" pitchFamily="34" charset="-120"/>
              </a:rPr>
              <a:t>Suspicious at 2, anomalous at 5. Data-quality faults route to their own category. Every flagged interview lists exactly which named flags fired.</a:t>
            </a:r>
            <a:endParaRPr lang="en-US" sz="1150" dirty="0"/>
          </a:p>
        </p:txBody>
      </p:sp>
      <p:sp>
        <p:nvSpPr>
          <p:cNvPr id="21" name="Shape 19"/>
          <p:cNvSpPr/>
          <p:nvPr/>
        </p:nvSpPr>
        <p:spPr>
          <a:xfrm>
            <a:off x="566928" y="5440680"/>
            <a:ext cx="11055096" cy="566928"/>
          </a:xfrm>
          <a:prstGeom prst="roundRect">
            <a:avLst>
              <a:gd name="adj" fmla="val 9677"/>
            </a:avLst>
          </a:prstGeom>
          <a:solidFill>
            <a:srgbClr val="EEF2F6"/>
          </a:solidFill>
          <a:ln w="12700">
            <a:solidFill>
              <a:srgbClr val="EEF2F6"/>
            </a:solidFill>
            <a:prstDash val="solid"/>
          </a:ln>
        </p:spPr>
        <p:txBody>
          <a:bodyPr/>
          <a:p/>
        </p:txBody>
      </p:sp>
      <p:sp>
        <p:nvSpPr>
          <p:cNvPr id="22" name="Shape 20"/>
          <p:cNvSpPr/>
          <p:nvPr/>
        </p:nvSpPr>
        <p:spPr>
          <a:xfrm>
            <a:off x="694944" y="5568696"/>
            <a:ext cx="91440" cy="310896"/>
          </a:xfrm>
          <a:prstGeom prst="roundRect">
            <a:avLst>
              <a:gd name="adj" fmla="val 40000"/>
            </a:avLst>
          </a:prstGeom>
          <a:solidFill>
            <a:srgbClr val="0F766E"/>
          </a:solidFill>
          <a:ln w="12700">
            <a:solidFill>
              <a:srgbClr val="0F766E"/>
            </a:solidFill>
            <a:prstDash val="solid"/>
          </a:ln>
        </p:spPr>
        <p:txBody>
          <a:bodyPr/>
          <a:p/>
        </p:txBody>
      </p:sp>
      <p:sp>
        <p:nvSpPr>
          <p:cNvPr id="23" name="Text 21"/>
          <p:cNvSpPr txBox="1"/>
          <p:nvPr/>
        </p:nvSpPr>
        <p:spPr>
          <a:xfrm>
            <a:off x="932688" y="5486400"/>
            <a:ext cx="10506456" cy="475488"/>
          </a:xfrm>
          <a:prstGeom prst="rect">
            <a:avLst/>
          </a:prstGeom>
          <a:noFill/>
          <a:ln/>
        </p:spPr>
        <p:txBody>
          <a:bodyPr wrap="square" lIns="0" tIns="0" rIns="0" bIns="0" rtlCol="0" anchor="ctr"/>
          <a:lstStyle/>
          <a:p>
            <a:pPr indent="0" marL="0">
              <a:buNone/>
            </a:pPr>
            <a:r>
              <a:rPr lang="en-US" sz="1350" b="1" dirty="0">
                <a:solidFill>
                  <a:srgbClr val="1F2933"/>
                </a:solidFill>
                <a:latin typeface="Calibri" pitchFamily="34" charset="0"/>
                <a:ea typeface="Calibri" pitchFamily="34" charset="-122"/>
                <a:cs typeface="Calibri" pitchFamily="34" charset="-120"/>
              </a:rPr>
              <a:t>A flag leads to a conversation with a named enumerator, so it has to be explainable. That is why the score is a count, not a model output.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232B"/>
        </a:solidFill>
      </p:bgPr>
    </p:bg>
    <p:spTree>
      <p:nvGrpSpPr>
        <p:cNvPr id="1" name=""/>
        <p:cNvGrpSpPr/>
        <p:nvPr/>
      </p:nvGrpSpPr>
      <p:grpSpPr>
        <a:xfrm>
          <a:off x="0" y="0"/>
          <a:ext cx="0" cy="0"/>
          <a:chOff x="0" y="0"/>
          <a:chExt cx="0" cy="0"/>
        </a:xfrm>
      </p:grpSpPr>
      <p:sp>
        <p:nvSpPr>
          <p:cNvPr id="2" name="Text 0"/>
          <p:cNvSpPr txBox="1"/>
          <p:nvPr/>
        </p:nvSpPr>
        <p:spPr>
          <a:xfrm>
            <a:off x="566928" y="2286000"/>
            <a:ext cx="9774936"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The system, running.</a:t>
            </a:r>
            <a:endParaRPr lang="en-US" sz="4000" dirty="0"/>
          </a:p>
        </p:txBody>
      </p:sp>
      <p:sp>
        <p:nvSpPr>
          <p:cNvPr id="3" name="Text 1"/>
          <p:cNvSpPr txBox="1"/>
          <p:nvPr/>
        </p:nvSpPr>
        <p:spPr>
          <a:xfrm>
            <a:off x="566928" y="3657600"/>
            <a:ext cx="9043416" cy="914400"/>
          </a:xfrm>
          <a:prstGeom prst="rect">
            <a:avLst/>
          </a:prstGeom>
          <a:noFill/>
          <a:ln/>
        </p:spPr>
        <p:txBody>
          <a:bodyPr wrap="square" lIns="0" tIns="0" rIns="0" bIns="0" rtlCol="0" anchor="ctr"/>
          <a:lstStyle/>
          <a:p>
            <a:pPr indent="0" marL="0">
              <a:lnSpc>
                <a:spcPts val="2400"/>
              </a:lnSpc>
              <a:buNone/>
            </a:pPr>
            <a:r>
              <a:rPr lang="en-US" sz="1500" dirty="0">
                <a:solidFill>
                  <a:srgbClr val="AFC0C9"/>
                </a:solidFill>
                <a:latin typeface="Calibri" pitchFamily="34" charset="0"/>
                <a:ea typeface="Calibri" pitchFamily="34" charset="-122"/>
                <a:cs typeface="Calibri" pitchFamily="34" charset="-120"/>
              </a:rPr>
              <a:t>Everything on the next five slides is a live run of the pipeline on the sample data in the repository, using the command as documented. No figure here is a stored capture.</a:t>
            </a:r>
            <a:endParaRPr lang="en-US" sz="15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7C8B95"/>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7C8B95"/>
                </a:solidFill>
                <a:latin typeface="Calibri" pitchFamily="34" charset="0"/>
                <a:ea typeface="Calibri" pitchFamily="34" charset="-122"/>
                <a:cs typeface="Calibri" pitchFamily="34" charset="-120"/>
              </a:rPr>
              <a:t>Samuel Kaoma  |  2022016530  |  CSC 4004</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DEMONSTRATION 1</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One command, two platforms, five outputs</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10</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Samuel Kaoma  |  2022016530  |  CSC 4004</a:t>
            </a:r>
            <a:endParaRPr lang="en-US" sz="1000" dirty="0"/>
          </a:p>
        </p:txBody>
      </p:sp>
      <p:pic>
        <p:nvPicPr>
          <p:cNvPr id="6" name="Image 0" descr="C:\Users\Samuel\Desktop\4th year\Final year project\SKACE-Time-Data\report\figures\demo1_run.png">    </p:cNvPr>
          <p:cNvPicPr>
            <a:picLocks noChangeAspect="1"/>
          </p:cNvPicPr>
          <p:nvPr/>
        </p:nvPicPr>
        <p:blipFill>
          <a:blip r:embed="rId1"/>
          <a:stretch>
            <a:fillRect/>
          </a:stretch>
        </p:blipFill>
        <p:spPr>
          <a:xfrm>
            <a:off x="566928" y="1325880"/>
            <a:ext cx="8549640" cy="2907792"/>
          </a:xfrm>
          <a:prstGeom prst="rect">
            <a:avLst/>
          </a:prstGeom>
        </p:spPr>
      </p:pic>
      <p:sp>
        <p:nvSpPr>
          <p:cNvPr id="7" name="Text 4"/>
          <p:cNvSpPr txBox="1"/>
          <p:nvPr/>
        </p:nvSpPr>
        <p:spPr>
          <a:xfrm>
            <a:off x="9281160" y="1371600"/>
            <a:ext cx="2350008" cy="3108960"/>
          </a:xfrm>
          <a:prstGeom prst="rect">
            <a:avLst/>
          </a:prstGeom>
          <a:noFill/>
          <a:ln/>
        </p:spPr>
        <p:txBody>
          <a:bodyPr wrap="square" lIns="0" tIns="0" rIns="0" bIns="0" rtlCol="0" anchor="ctr"/>
          <a:lstStyle/>
          <a:p>
            <a:pPr indent="0" marL="0">
              <a:lnSpc>
                <a:spcPts val="1650"/>
              </a:lnSpc>
              <a:buNone/>
            </a:pPr>
            <a:r>
              <a:rPr lang="en-US" sz="1200" b="1" dirty="0">
                <a:solidFill>
                  <a:srgbClr val="1F2933"/>
                </a:solidFill>
                <a:latin typeface="Calibri" pitchFamily="34" charset="0"/>
                <a:ea typeface="Calibri" pitchFamily="34" charset="-122"/>
                <a:cs typeface="Calibri" pitchFamily="34" charset="-120"/>
              </a:rPr>
              <a:t>The analyst points the pipeline at the raw exports and nothing else.</a:t>
            </a:r>
            <a:endParaRPr lang="en-US" sz="1200" dirty="0"/>
          </a:p>
          <a:p>
            <a:pPr indent="0" marL="0">
              <a:lnSpc>
                <a:spcPts val="1650"/>
              </a:lnSpc>
              <a:buNone/>
            </a:pPr>
            <a:r>
              <a:rPr lang="en-US" sz="600" dirty="0">
                <a:solidFill>
                  <a:srgbClr val="1F2933"/>
                </a:solidFill>
                <a:latin typeface="Calibri" pitchFamily="34" charset="0"/>
                <a:ea typeface="Calibri" pitchFamily="34" charset="-122"/>
                <a:cs typeface="Calibri" pitchFamily="34" charset="-120"/>
              </a:rPr>
              <a:t> </a:t>
            </a:r>
            <a:endParaRPr lang="en-US" sz="1200" dirty="0"/>
          </a:p>
          <a:p>
            <a:pPr indent="0" marL="0">
              <a:lnSpc>
                <a:spcPts val="1650"/>
              </a:lnSpc>
              <a:buNone/>
            </a:pPr>
            <a:r>
              <a:rPr lang="en-US" sz="1200" dirty="0">
                <a:solidFill>
                  <a:srgbClr val="1F2933"/>
                </a:solidFill>
                <a:latin typeface="Calibri" pitchFamily="34" charset="0"/>
                <a:ea typeface="Calibri" pitchFamily="34" charset="-122"/>
                <a:cs typeface="Calibri" pitchFamily="34" charset="-120"/>
              </a:rPr>
              <a:t>Format detection is automatic: it recognises the ODK file by its ISO 8601 timestamps and instance columns, and the SurveyCTO file by its epoch milliseconds and XPath node ids, then routes each to its own parser.</a:t>
            </a:r>
            <a:endParaRPr lang="en-US" sz="1200" dirty="0"/>
          </a:p>
          <a:p>
            <a:pPr indent="0" marL="0">
              <a:lnSpc>
                <a:spcPts val="1650"/>
              </a:lnSpc>
              <a:buNone/>
            </a:pPr>
            <a:r>
              <a:rPr lang="en-US" sz="600" dirty="0">
                <a:solidFill>
                  <a:srgbClr val="1F2933"/>
                </a:solidFill>
                <a:latin typeface="Calibri" pitchFamily="34" charset="0"/>
                <a:ea typeface="Calibri" pitchFamily="34" charset="-122"/>
                <a:cs typeface="Calibri" pitchFamily="34" charset="-120"/>
              </a:rPr>
              <a:t> </a:t>
            </a:r>
            <a:endParaRPr lang="en-US" sz="1200" dirty="0"/>
          </a:p>
          <a:p>
            <a:pPr indent="0" marL="0">
              <a:lnSpc>
                <a:spcPts val="1650"/>
              </a:lnSpc>
              <a:buNone/>
            </a:pPr>
            <a:r>
              <a:rPr lang="en-US" sz="1200" dirty="0">
                <a:solidFill>
                  <a:srgbClr val="1F2933"/>
                </a:solidFill>
                <a:latin typeface="Calibri" pitchFamily="34" charset="0"/>
                <a:ea typeface="Calibri" pitchFamily="34" charset="-122"/>
                <a:cs typeface="Calibri" pitchFamily="34" charset="-120"/>
              </a:rPr>
              <a:t>Both land in the same intermediate representation, so from that point on the twenty-four interviews are processed identically regardless of which platform produced them.</a:t>
            </a:r>
            <a:endParaRPr lang="en-US" sz="1200" dirty="0"/>
          </a:p>
        </p:txBody>
      </p:sp>
      <p:sp>
        <p:nvSpPr>
          <p:cNvPr id="8" name="Shape 5"/>
          <p:cNvSpPr/>
          <p:nvPr/>
        </p:nvSpPr>
        <p:spPr>
          <a:xfrm>
            <a:off x="566928" y="5440680"/>
            <a:ext cx="11055096" cy="566928"/>
          </a:xfrm>
          <a:prstGeom prst="roundRect">
            <a:avLst>
              <a:gd name="adj" fmla="val 9677"/>
            </a:avLst>
          </a:prstGeom>
          <a:solidFill>
            <a:srgbClr val="EEF2F6"/>
          </a:solidFill>
          <a:ln w="12700">
            <a:solidFill>
              <a:srgbClr val="EEF2F6"/>
            </a:solidFill>
            <a:prstDash val="solid"/>
          </a:ln>
        </p:spPr>
        <p:txBody>
          <a:bodyPr/>
          <a:p/>
        </p:txBody>
      </p:sp>
      <p:sp>
        <p:nvSpPr>
          <p:cNvPr id="9" name="Shape 6"/>
          <p:cNvSpPr/>
          <p:nvPr/>
        </p:nvSpPr>
        <p:spPr>
          <a:xfrm>
            <a:off x="694944" y="5568696"/>
            <a:ext cx="91440" cy="310896"/>
          </a:xfrm>
          <a:prstGeom prst="roundRect">
            <a:avLst>
              <a:gd name="adj" fmla="val 40000"/>
            </a:avLst>
          </a:prstGeom>
          <a:solidFill>
            <a:srgbClr val="0F766E"/>
          </a:solidFill>
          <a:ln w="12700">
            <a:solidFill>
              <a:srgbClr val="0F766E"/>
            </a:solidFill>
            <a:prstDash val="solid"/>
          </a:ln>
        </p:spPr>
        <p:txBody>
          <a:bodyPr/>
          <a:p/>
        </p:txBody>
      </p:sp>
      <p:sp>
        <p:nvSpPr>
          <p:cNvPr id="10" name="Text 7"/>
          <p:cNvSpPr txBox="1"/>
          <p:nvPr/>
        </p:nvSpPr>
        <p:spPr>
          <a:xfrm>
            <a:off x="932688" y="5486400"/>
            <a:ext cx="10506456" cy="475488"/>
          </a:xfrm>
          <a:prstGeom prst="rect">
            <a:avLst/>
          </a:prstGeom>
          <a:noFill/>
          <a:ln/>
        </p:spPr>
        <p:txBody>
          <a:bodyPr wrap="square" lIns="0" tIns="0" rIns="0" bIns="0" rtlCol="0" anchor="ctr"/>
          <a:lstStyle/>
          <a:p>
            <a:pPr indent="0" marL="0">
              <a:buNone/>
            </a:pPr>
            <a:r>
              <a:rPr lang="en-US" sz="1350" b="1" dirty="0">
                <a:solidFill>
                  <a:srgbClr val="1F2933"/>
                </a:solidFill>
                <a:latin typeface="Calibri" pitchFamily="34" charset="0"/>
                <a:ea typeface="Calibri" pitchFamily="34" charset="-122"/>
                <a:cs typeface="Calibri" pitchFamily="34" charset="-120"/>
              </a:rPr>
              <a:t>Granular question-level and section-level exports come out of the same run, not a separate step.</a:t>
            </a:r>
            <a:endParaRPr lang="en-US" sz="1350" dirty="0"/>
          </a:p>
        </p:txBody>
      </p:sp>
      <p:sp>
        <p:nvSpPr>
          <p:cNvPr id="11" name="Text 8"/>
          <p:cNvSpPr txBox="1"/>
          <p:nvPr/>
        </p:nvSpPr>
        <p:spPr>
          <a:xfrm>
            <a:off x="566928" y="6144768"/>
            <a:ext cx="10140696" cy="274320"/>
          </a:xfrm>
          <a:prstGeom prst="rect">
            <a:avLst/>
          </a:prstGeom>
          <a:noFill/>
          <a:ln/>
        </p:spPr>
        <p:txBody>
          <a:bodyPr wrap="square" lIns="0" tIns="0" rIns="0" bIns="0" rtlCol="0" anchor="ctr"/>
          <a:lstStyle/>
          <a:p>
            <a:pPr indent="0" marL="0">
              <a:buNone/>
            </a:pPr>
            <a:r>
              <a:rPr lang="en-US" sz="1050" i="1" dirty="0">
                <a:solidFill>
                  <a:srgbClr val="6B7785"/>
                </a:solidFill>
                <a:latin typeface="Calibri" pitchFamily="34" charset="0"/>
                <a:ea typeface="Calibri" pitchFamily="34" charset="-122"/>
                <a:cs typeface="Calibri" pitchFamily="34" charset="-120"/>
              </a:rPr>
              <a:t>Live run: python run_pipeline.py --inputs data/odk.csv data/surveycto.csv --parser auto --output-dir output --label demo</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DEMONSTRATION 2</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The feature dataset: one row per interview</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11</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Samuel Kaoma  |  2022016530  |  CSC 4004</a:t>
            </a:r>
            <a:endParaRPr lang="en-US" sz="1000" dirty="0"/>
          </a:p>
        </p:txBody>
      </p:sp>
      <p:pic>
        <p:nvPicPr>
          <p:cNvPr id="6" name="Image 0" descr="C:\Users\Samuel\Desktop\4th year\Final year project\SKACE-Time-Data\report\figures\demo2_features.png">    </p:cNvPr>
          <p:cNvPicPr>
            <a:picLocks noChangeAspect="1"/>
          </p:cNvPicPr>
          <p:nvPr/>
        </p:nvPicPr>
        <p:blipFill>
          <a:blip r:embed="rId1"/>
          <a:stretch>
            <a:fillRect/>
          </a:stretch>
        </p:blipFill>
        <p:spPr>
          <a:xfrm>
            <a:off x="566928" y="1737360"/>
            <a:ext cx="8458200" cy="1975104"/>
          </a:xfrm>
          <a:prstGeom prst="rect">
            <a:avLst/>
          </a:prstGeom>
        </p:spPr>
      </p:pic>
      <p:sp>
        <p:nvSpPr>
          <p:cNvPr id="7" name="Text 4"/>
          <p:cNvSpPr txBox="1"/>
          <p:nvPr/>
        </p:nvSpPr>
        <p:spPr>
          <a:xfrm>
            <a:off x="9189720" y="1554480"/>
            <a:ext cx="2441448" cy="3017520"/>
          </a:xfrm>
          <a:prstGeom prst="rect">
            <a:avLst/>
          </a:prstGeom>
          <a:noFill/>
          <a:ln/>
        </p:spPr>
        <p:txBody>
          <a:bodyPr wrap="square" lIns="0" tIns="0" rIns="0" bIns="0" rtlCol="0" anchor="ctr"/>
          <a:lstStyle/>
          <a:p>
            <a:pPr indent="0" marL="0">
              <a:lnSpc>
                <a:spcPts val="1600"/>
              </a:lnSpc>
              <a:buNone/>
            </a:pPr>
            <a:r>
              <a:rPr lang="en-US" sz="1150" b="1" dirty="0">
                <a:solidFill>
                  <a:srgbClr val="1F2933"/>
                </a:solidFill>
                <a:latin typeface="Calibri" pitchFamily="34" charset="0"/>
                <a:ea typeface="Calibri" pitchFamily="34" charset="-122"/>
                <a:cs typeface="Calibri" pitchFamily="34" charset="-120"/>
              </a:rPr>
              <a:t>Forty columns, six shown.</a:t>
            </a:r>
            <a:endParaRPr lang="en-US" sz="1150" dirty="0"/>
          </a:p>
          <a:p>
            <a:pPr indent="0" marL="0">
              <a:lnSpc>
                <a:spcPts val="1600"/>
              </a:lnSpc>
              <a:buNone/>
            </a:pPr>
            <a:r>
              <a:rPr lang="en-US" sz="600" dirty="0">
                <a:solidFill>
                  <a:srgbClr val="1F2933"/>
                </a:solidFill>
                <a:latin typeface="Calibri" pitchFamily="34" charset="0"/>
                <a:ea typeface="Calibri" pitchFamily="34" charset="-122"/>
                <a:cs typeface="Calibri" pitchFamily="34" charset="-120"/>
              </a:rPr>
              <a:t> </a:t>
            </a:r>
            <a:endParaRPr lang="en-US" sz="1150" dirty="0"/>
          </a:p>
          <a:p>
            <a:pPr indent="0" marL="0">
              <a:lnSpc>
                <a:spcPts val="1600"/>
              </a:lnSpc>
              <a:buNone/>
            </a:pPr>
            <a:r>
              <a:rPr lang="en-US" sz="1150" dirty="0">
                <a:solidFill>
                  <a:srgbClr val="1F2933"/>
                </a:solidFill>
                <a:latin typeface="Calibri" pitchFamily="34" charset="0"/>
                <a:ea typeface="Calibri" pitchFamily="34" charset="-122"/>
                <a:cs typeface="Calibri" pitchFamily="34" charset="-120"/>
              </a:rPr>
              <a:t>Every column carries its catalogue identifier, so a number in this file traces back to a definition in the feature documentation and to a citation in the literature review.</a:t>
            </a:r>
            <a:endParaRPr lang="en-US" sz="1150" dirty="0"/>
          </a:p>
          <a:p>
            <a:pPr indent="0" marL="0">
              <a:lnSpc>
                <a:spcPts val="1600"/>
              </a:lnSpc>
              <a:buNone/>
            </a:pPr>
            <a:r>
              <a:rPr lang="en-US" sz="600" dirty="0">
                <a:solidFill>
                  <a:srgbClr val="1F2933"/>
                </a:solidFill>
                <a:latin typeface="Calibri" pitchFamily="34" charset="0"/>
                <a:ea typeface="Calibri" pitchFamily="34" charset="-122"/>
                <a:cs typeface="Calibri" pitchFamily="34" charset="-120"/>
              </a:rPr>
              <a:t> </a:t>
            </a:r>
            <a:endParaRPr lang="en-US" sz="1150" dirty="0"/>
          </a:p>
          <a:p>
            <a:pPr indent="0" marL="0">
              <a:lnSpc>
                <a:spcPts val="1600"/>
              </a:lnSpc>
              <a:buNone/>
            </a:pPr>
            <a:r>
              <a:rPr lang="en-US" sz="1150" dirty="0">
                <a:solidFill>
                  <a:srgbClr val="1F2933"/>
                </a:solidFill>
                <a:latin typeface="Calibri" pitchFamily="34" charset="0"/>
                <a:ea typeface="Calibri" pitchFamily="34" charset="-122"/>
                <a:cs typeface="Calibri" pitchFamily="34" charset="-120"/>
              </a:rPr>
              <a:t>ODK401 is already visible as unusual: entropy of exactly zero and a response time IQR under 100 ms against a genuine interview at 7,316 ms.</a:t>
            </a:r>
            <a:endParaRPr lang="en-US" sz="1150" dirty="0"/>
          </a:p>
        </p:txBody>
      </p:sp>
      <p:sp>
        <p:nvSpPr>
          <p:cNvPr id="8" name="Shape 5"/>
          <p:cNvSpPr/>
          <p:nvPr/>
        </p:nvSpPr>
        <p:spPr>
          <a:xfrm>
            <a:off x="566928" y="5440680"/>
            <a:ext cx="11055096" cy="566928"/>
          </a:xfrm>
          <a:prstGeom prst="roundRect">
            <a:avLst>
              <a:gd name="adj" fmla="val 9677"/>
            </a:avLst>
          </a:prstGeom>
          <a:solidFill>
            <a:srgbClr val="EEF2F6"/>
          </a:solidFill>
          <a:ln w="12700">
            <a:solidFill>
              <a:srgbClr val="EEF2F6"/>
            </a:solidFill>
            <a:prstDash val="solid"/>
          </a:ln>
        </p:spPr>
        <p:txBody>
          <a:bodyPr/>
          <a:p/>
        </p:txBody>
      </p:sp>
      <p:sp>
        <p:nvSpPr>
          <p:cNvPr id="9" name="Shape 6"/>
          <p:cNvSpPr/>
          <p:nvPr/>
        </p:nvSpPr>
        <p:spPr>
          <a:xfrm>
            <a:off x="694944" y="5568696"/>
            <a:ext cx="91440" cy="310896"/>
          </a:xfrm>
          <a:prstGeom prst="roundRect">
            <a:avLst>
              <a:gd name="adj" fmla="val 40000"/>
            </a:avLst>
          </a:prstGeom>
          <a:solidFill>
            <a:srgbClr val="0F766E"/>
          </a:solidFill>
          <a:ln w="12700">
            <a:solidFill>
              <a:srgbClr val="0F766E"/>
            </a:solidFill>
            <a:prstDash val="solid"/>
          </a:ln>
        </p:spPr>
        <p:txBody>
          <a:bodyPr/>
          <a:p/>
        </p:txBody>
      </p:sp>
      <p:sp>
        <p:nvSpPr>
          <p:cNvPr id="10" name="Text 7"/>
          <p:cNvSpPr txBox="1"/>
          <p:nvPr/>
        </p:nvSpPr>
        <p:spPr>
          <a:xfrm>
            <a:off x="932688" y="5486400"/>
            <a:ext cx="10506456" cy="475488"/>
          </a:xfrm>
          <a:prstGeom prst="rect">
            <a:avLst/>
          </a:prstGeom>
          <a:noFill/>
          <a:ln/>
        </p:spPr>
        <p:txBody>
          <a:bodyPr wrap="square" lIns="0" tIns="0" rIns="0" bIns="0" rtlCol="0" anchor="ctr"/>
          <a:lstStyle/>
          <a:p>
            <a:pPr indent="0" marL="0">
              <a:buNone/>
            </a:pPr>
            <a:r>
              <a:rPr lang="en-US" sz="1350" b="1" dirty="0">
                <a:solidFill>
                  <a:srgbClr val="1F2933"/>
                </a:solidFill>
                <a:latin typeface="Calibri" pitchFamily="34" charset="0"/>
                <a:ea typeface="Calibri" pitchFamily="34" charset="-122"/>
                <a:cs typeface="Calibri" pitchFamily="34" charset="-120"/>
              </a:rPr>
              <a:t>This file is the analyst's deliverable whether or not they ever use the detector.</a:t>
            </a:r>
            <a:endParaRPr lang="en-US" sz="1350" dirty="0"/>
          </a:p>
        </p:txBody>
      </p:sp>
      <p:sp>
        <p:nvSpPr>
          <p:cNvPr id="11" name="Text 8"/>
          <p:cNvSpPr txBox="1"/>
          <p:nvPr/>
        </p:nvSpPr>
        <p:spPr>
          <a:xfrm>
            <a:off x="566928" y="6144768"/>
            <a:ext cx="10140696" cy="274320"/>
          </a:xfrm>
          <a:prstGeom prst="rect">
            <a:avLst/>
          </a:prstGeom>
          <a:noFill/>
          <a:ln/>
        </p:spPr>
        <p:txBody>
          <a:bodyPr wrap="square" lIns="0" tIns="0" rIns="0" bIns="0" rtlCol="0" anchor="ctr"/>
          <a:lstStyle/>
          <a:p>
            <a:pPr indent="0" marL="0">
              <a:buNone/>
            </a:pPr>
            <a:r>
              <a:rPr lang="en-US" sz="1050" i="1" dirty="0">
                <a:solidFill>
                  <a:srgbClr val="6B7785"/>
                </a:solidFill>
                <a:latin typeface="Calibri" pitchFamily="34" charset="0"/>
                <a:ea typeface="Calibri" pitchFamily="34" charset="-122"/>
                <a:cs typeface="Calibri" pitchFamily="34" charset="-120"/>
              </a:rPr>
              <a:t>output/feature_dataset_demo.csv, written by the run on the previous slide.</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DEMONSTRATION 3</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The anomaly report: a score you can argue with</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Samuel Kaoma  |  2022016530  |  CSC 4004</a:t>
            </a:r>
            <a:endParaRPr lang="en-US" sz="1000" dirty="0"/>
          </a:p>
        </p:txBody>
      </p:sp>
      <p:pic>
        <p:nvPicPr>
          <p:cNvPr id="6" name="Image 0" descr="C:\Users\Samuel\Desktop\4th year\Final year project\SKACE-Time-Data\report\figures\demo3_report.png">    </p:cNvPr>
          <p:cNvPicPr>
            <a:picLocks noChangeAspect="1"/>
          </p:cNvPicPr>
          <p:nvPr/>
        </p:nvPicPr>
        <p:blipFill>
          <a:blip r:embed="rId1"/>
          <a:stretch>
            <a:fillRect/>
          </a:stretch>
        </p:blipFill>
        <p:spPr>
          <a:xfrm>
            <a:off x="566928" y="1691640"/>
            <a:ext cx="9464040" cy="2112264"/>
          </a:xfrm>
          <a:prstGeom prst="rect">
            <a:avLst/>
          </a:prstGeom>
        </p:spPr>
      </p:pic>
      <p:sp>
        <p:nvSpPr>
          <p:cNvPr id="7" name="Text 4"/>
          <p:cNvSpPr txBox="1"/>
          <p:nvPr/>
        </p:nvSpPr>
        <p:spPr>
          <a:xfrm>
            <a:off x="10195560" y="1691640"/>
            <a:ext cx="1435608" cy="2743200"/>
          </a:xfrm>
          <a:prstGeom prst="rect">
            <a:avLst/>
          </a:prstGeom>
          <a:noFill/>
          <a:ln/>
        </p:spPr>
        <p:txBody>
          <a:bodyPr wrap="square" lIns="0" tIns="0" rIns="0" bIns="0" rtlCol="0" anchor="ctr"/>
          <a:lstStyle/>
          <a:p>
            <a:pPr indent="0" marL="0">
              <a:lnSpc>
                <a:spcPts val="1550"/>
              </a:lnSpc>
              <a:buNone/>
            </a:pPr>
            <a:r>
              <a:rPr lang="en-US" sz="1100" b="1" dirty="0">
                <a:solidFill>
                  <a:srgbClr val="1F2933"/>
                </a:solidFill>
                <a:latin typeface="Calibri" pitchFamily="34" charset="0"/>
                <a:ea typeface="Calibri" pitchFamily="34" charset="-122"/>
                <a:cs typeface="Calibri" pitchFamily="34" charset="-120"/>
              </a:rPr>
              <a:t>Both formats, one report.</a:t>
            </a:r>
            <a:endParaRPr lang="en-US" sz="1100" dirty="0"/>
          </a:p>
          <a:p>
            <a:pPr indent="0" marL="0">
              <a:lnSpc>
                <a:spcPts val="1550"/>
              </a:lnSpc>
              <a:buNone/>
            </a:pPr>
            <a:r>
              <a:rPr lang="en-US" sz="600" dirty="0">
                <a:solidFill>
                  <a:srgbClr val="1F2933"/>
                </a:solidFill>
                <a:latin typeface="Calibri" pitchFamily="34" charset="0"/>
                <a:ea typeface="Calibri" pitchFamily="34" charset="-122"/>
                <a:cs typeface="Calibri" pitchFamily="34" charset="-120"/>
              </a:rPr>
              <a:t> </a:t>
            </a:r>
            <a:endParaRPr lang="en-US" sz="1100" dirty="0"/>
          </a:p>
          <a:p>
            <a:pPr indent="0" marL="0">
              <a:lnSpc>
                <a:spcPts val="1550"/>
              </a:lnSpc>
              <a:buNone/>
            </a:pPr>
            <a:r>
              <a:rPr lang="en-US" sz="1100" dirty="0">
                <a:solidFill>
                  <a:srgbClr val="1F2933"/>
                </a:solidFill>
                <a:latin typeface="Calibri" pitchFamily="34" charset="0"/>
                <a:ea typeface="Calibri" pitchFamily="34" charset="-122"/>
                <a:cs typeface="Calibri" pitchFamily="34" charset="-120"/>
              </a:rPr>
              <a:t>Each interview carries a score, a category, a status and the named flags that fired.</a:t>
            </a:r>
            <a:endParaRPr lang="en-US" sz="1100" dirty="0"/>
          </a:p>
          <a:p>
            <a:pPr indent="0" marL="0">
              <a:lnSpc>
                <a:spcPts val="1550"/>
              </a:lnSpc>
              <a:buNone/>
            </a:pPr>
            <a:r>
              <a:rPr lang="en-US" sz="600" dirty="0">
                <a:solidFill>
                  <a:srgbClr val="1F2933"/>
                </a:solidFill>
                <a:latin typeface="Calibri" pitchFamily="34" charset="0"/>
                <a:ea typeface="Calibri" pitchFamily="34" charset="-122"/>
                <a:cs typeface="Calibri" pitchFamily="34" charset="-120"/>
              </a:rPr>
              <a:t> </a:t>
            </a:r>
            <a:endParaRPr lang="en-US" sz="1100" dirty="0"/>
          </a:p>
          <a:p>
            <a:pPr indent="0" marL="0">
              <a:lnSpc>
                <a:spcPts val="1550"/>
              </a:lnSpc>
              <a:buNone/>
            </a:pPr>
            <a:r>
              <a:rPr lang="en-US" sz="1100" dirty="0">
                <a:solidFill>
                  <a:srgbClr val="1F2933"/>
                </a:solidFill>
                <a:latin typeface="Calibri" pitchFamily="34" charset="0"/>
                <a:ea typeface="Calibri" pitchFamily="34" charset="-122"/>
                <a:cs typeface="Calibri" pitchFamily="34" charset="-120"/>
              </a:rPr>
              <a:t>ODK402 is routed to dq_issue rather than scored behaviourally: it is a corrupt record, not a suspicious enumerator.</a:t>
            </a:r>
            <a:endParaRPr lang="en-US" sz="1100" dirty="0"/>
          </a:p>
        </p:txBody>
      </p:sp>
      <p:sp>
        <p:nvSpPr>
          <p:cNvPr id="8" name="Shape 5"/>
          <p:cNvSpPr/>
          <p:nvPr/>
        </p:nvSpPr>
        <p:spPr>
          <a:xfrm>
            <a:off x="566928" y="5440680"/>
            <a:ext cx="11055096" cy="566928"/>
          </a:xfrm>
          <a:prstGeom prst="roundRect">
            <a:avLst>
              <a:gd name="adj" fmla="val 9677"/>
            </a:avLst>
          </a:prstGeom>
          <a:solidFill>
            <a:srgbClr val="EEF2F6"/>
          </a:solidFill>
          <a:ln w="12700">
            <a:solidFill>
              <a:srgbClr val="EEF2F6"/>
            </a:solidFill>
            <a:prstDash val="solid"/>
          </a:ln>
        </p:spPr>
        <p:txBody>
          <a:bodyPr/>
          <a:p/>
        </p:txBody>
      </p:sp>
      <p:sp>
        <p:nvSpPr>
          <p:cNvPr id="9" name="Shape 6"/>
          <p:cNvSpPr/>
          <p:nvPr/>
        </p:nvSpPr>
        <p:spPr>
          <a:xfrm>
            <a:off x="694944" y="5568696"/>
            <a:ext cx="91440" cy="310896"/>
          </a:xfrm>
          <a:prstGeom prst="roundRect">
            <a:avLst>
              <a:gd name="adj" fmla="val 40000"/>
            </a:avLst>
          </a:prstGeom>
          <a:solidFill>
            <a:srgbClr val="0F766E"/>
          </a:solidFill>
          <a:ln w="12700">
            <a:solidFill>
              <a:srgbClr val="0F766E"/>
            </a:solidFill>
            <a:prstDash val="solid"/>
          </a:ln>
        </p:spPr>
        <p:txBody>
          <a:bodyPr/>
          <a:p/>
        </p:txBody>
      </p:sp>
      <p:sp>
        <p:nvSpPr>
          <p:cNvPr id="10" name="Text 7"/>
          <p:cNvSpPr txBox="1"/>
          <p:nvPr/>
        </p:nvSpPr>
        <p:spPr>
          <a:xfrm>
            <a:off x="932688" y="5486400"/>
            <a:ext cx="10506456" cy="475488"/>
          </a:xfrm>
          <a:prstGeom prst="rect">
            <a:avLst/>
          </a:prstGeom>
          <a:noFill/>
          <a:ln/>
        </p:spPr>
        <p:txBody>
          <a:bodyPr wrap="square" lIns="0" tIns="0" rIns="0" bIns="0" rtlCol="0" anchor="ctr"/>
          <a:lstStyle/>
          <a:p>
            <a:pPr indent="0" marL="0">
              <a:buNone/>
            </a:pPr>
            <a:r>
              <a:rPr lang="en-US" sz="1350" b="1" dirty="0">
                <a:solidFill>
                  <a:srgbClr val="1F2933"/>
                </a:solidFill>
                <a:latin typeface="Calibri" pitchFamily="34" charset="0"/>
                <a:ea typeface="Calibri" pitchFamily="34" charset="-122"/>
                <a:cs typeface="Calibri" pitchFamily="34" charset="-120"/>
              </a:rPr>
              <a:t>Device faults never read as behavioural anomalies, because they have their own category.</a:t>
            </a:r>
            <a:endParaRPr lang="en-US" sz="1350" dirty="0"/>
          </a:p>
        </p:txBody>
      </p:sp>
      <p:sp>
        <p:nvSpPr>
          <p:cNvPr id="11" name="Text 8"/>
          <p:cNvSpPr txBox="1"/>
          <p:nvPr/>
        </p:nvSpPr>
        <p:spPr>
          <a:xfrm>
            <a:off x="566928" y="6144768"/>
            <a:ext cx="10140696" cy="274320"/>
          </a:xfrm>
          <a:prstGeom prst="rect">
            <a:avLst/>
          </a:prstGeom>
          <a:noFill/>
          <a:ln/>
        </p:spPr>
        <p:txBody>
          <a:bodyPr wrap="square" lIns="0" tIns="0" rIns="0" bIns="0" rtlCol="0" anchor="ctr"/>
          <a:lstStyle/>
          <a:p>
            <a:pPr indent="0" marL="0">
              <a:buNone/>
            </a:pPr>
            <a:r>
              <a:rPr lang="en-US" sz="1050" i="1" dirty="0">
                <a:solidFill>
                  <a:srgbClr val="6B7785"/>
                </a:solidFill>
                <a:latin typeface="Calibri" pitchFamily="34" charset="0"/>
                <a:ea typeface="Calibri" pitchFamily="34" charset="-122"/>
                <a:cs typeface="Calibri" pitchFamily="34" charset="-120"/>
              </a:rPr>
              <a:t>output/anomaly_report_demo.csv, from the same run.</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DEMONSTRATION 4</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Why was this interview flagged?</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13</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Samuel Kaoma  |  2022016530  |  CSC 4004</a:t>
            </a:r>
            <a:endParaRPr lang="en-US" sz="1000" dirty="0"/>
          </a:p>
        </p:txBody>
      </p:sp>
      <p:pic>
        <p:nvPicPr>
          <p:cNvPr id="6" name="Image 0" descr="C:\Users\Samuel\Desktop\4th year\Final year project\SKACE-Time-Data\report\figures\demo4_explained.png">    </p:cNvPr>
          <p:cNvPicPr>
            <a:picLocks noChangeAspect="1"/>
          </p:cNvPicPr>
          <p:nvPr/>
        </p:nvPicPr>
        <p:blipFill>
          <a:blip r:embed="rId1"/>
          <a:stretch>
            <a:fillRect/>
          </a:stretch>
        </p:blipFill>
        <p:spPr>
          <a:xfrm>
            <a:off x="566928" y="1508760"/>
            <a:ext cx="7086600" cy="2916936"/>
          </a:xfrm>
          <a:prstGeom prst="rect">
            <a:avLst/>
          </a:prstGeom>
        </p:spPr>
      </p:pic>
      <p:sp>
        <p:nvSpPr>
          <p:cNvPr id="7" name="Text 4"/>
          <p:cNvSpPr txBox="1"/>
          <p:nvPr/>
        </p:nvSpPr>
        <p:spPr>
          <a:xfrm>
            <a:off x="7818120" y="1508760"/>
            <a:ext cx="3813048" cy="3017520"/>
          </a:xfrm>
          <a:prstGeom prst="rect">
            <a:avLst/>
          </a:prstGeom>
          <a:noFill/>
          <a:ln/>
        </p:spPr>
        <p:txBody>
          <a:bodyPr wrap="square" lIns="0" tIns="0" rIns="0" bIns="0" rtlCol="0" anchor="ctr"/>
          <a:lstStyle/>
          <a:p>
            <a:pPr indent="0" marL="0">
              <a:lnSpc>
                <a:spcPts val="1650"/>
              </a:lnSpc>
              <a:buNone/>
            </a:pPr>
            <a:r>
              <a:rPr lang="en-US" sz="1200" b="1" dirty="0">
                <a:solidFill>
                  <a:srgbClr val="1F2933"/>
                </a:solidFill>
                <a:latin typeface="Calibri" pitchFamily="34" charset="0"/>
                <a:ea typeface="Calibri" pitchFamily="34" charset="-122"/>
                <a:cs typeface="Calibri" pitchFamily="34" charset="-120"/>
              </a:rPr>
              <a:t>ODK401 scored 6 and was categorised anomalous.</a:t>
            </a:r>
            <a:endParaRPr lang="en-US" sz="1200" dirty="0"/>
          </a:p>
          <a:p>
            <a:pPr indent="0" marL="0">
              <a:lnSpc>
                <a:spcPts val="1650"/>
              </a:lnSpc>
              <a:buNone/>
            </a:pPr>
            <a:r>
              <a:rPr lang="en-US" sz="600" dirty="0">
                <a:solidFill>
                  <a:srgbClr val="1F2933"/>
                </a:solidFill>
                <a:latin typeface="Calibri" pitchFamily="34" charset="0"/>
                <a:ea typeface="Calibri" pitchFamily="34" charset="-122"/>
                <a:cs typeface="Calibri" pitchFamily="34" charset="-120"/>
              </a:rPr>
              <a:t> </a:t>
            </a:r>
            <a:endParaRPr lang="en-US" sz="1200" dirty="0"/>
          </a:p>
          <a:p>
            <a:pPr indent="0" marL="0">
              <a:lnSpc>
                <a:spcPts val="1650"/>
              </a:lnSpc>
              <a:buNone/>
            </a:pPr>
            <a:r>
              <a:rPr lang="en-US" sz="1200" dirty="0">
                <a:solidFill>
                  <a:srgbClr val="1F2933"/>
                </a:solidFill>
                <a:latin typeface="Calibri" pitchFamily="34" charset="0"/>
                <a:ea typeface="Calibri" pitchFamily="34" charset="-122"/>
                <a:cs typeface="Calibri" pitchFamily="34" charset="-120"/>
              </a:rPr>
              <a:t>Six flags fired: low mean response time, zero back navigation, low entropy, uniform timing, compressed response time IQR, and low within-section variance.</a:t>
            </a:r>
            <a:endParaRPr lang="en-US" sz="1200" dirty="0"/>
          </a:p>
          <a:p>
            <a:pPr indent="0" marL="0">
              <a:lnSpc>
                <a:spcPts val="1650"/>
              </a:lnSpc>
              <a:buNone/>
            </a:pPr>
            <a:r>
              <a:rPr lang="en-US" sz="600" dirty="0">
                <a:solidFill>
                  <a:srgbClr val="1F2933"/>
                </a:solidFill>
                <a:latin typeface="Calibri" pitchFamily="34" charset="0"/>
                <a:ea typeface="Calibri" pitchFamily="34" charset="-122"/>
                <a:cs typeface="Calibri" pitchFamily="34" charset="-120"/>
              </a:rPr>
              <a:t> </a:t>
            </a:r>
            <a:endParaRPr lang="en-US" sz="1200" dirty="0"/>
          </a:p>
          <a:p>
            <a:pPr indent="0" marL="0">
              <a:lnSpc>
                <a:spcPts val="1650"/>
              </a:lnSpc>
              <a:buNone/>
            </a:pPr>
            <a:r>
              <a:rPr lang="en-US" sz="1200" dirty="0">
                <a:solidFill>
                  <a:srgbClr val="1F2933"/>
                </a:solidFill>
                <a:latin typeface="Calibri" pitchFamily="34" charset="0"/>
                <a:ea typeface="Calibri" pitchFamily="34" charset="-122"/>
                <a:cs typeface="Calibri" pitchFamily="34" charset="-120"/>
              </a:rPr>
              <a:t>Entropy of exactly 0.000 means every response time fell in a single one-second bin. A human answering twenty questions of varying difficulty does not produce that.</a:t>
            </a:r>
            <a:endParaRPr lang="en-US" sz="1200" dirty="0"/>
          </a:p>
          <a:p>
            <a:pPr indent="0" marL="0">
              <a:lnSpc>
                <a:spcPts val="1650"/>
              </a:lnSpc>
              <a:buNone/>
            </a:pPr>
            <a:r>
              <a:rPr lang="en-US" sz="600" dirty="0">
                <a:solidFill>
                  <a:srgbClr val="1F2933"/>
                </a:solidFill>
                <a:latin typeface="Calibri" pitchFamily="34" charset="0"/>
                <a:ea typeface="Calibri" pitchFamily="34" charset="-122"/>
                <a:cs typeface="Calibri" pitchFamily="34" charset="-120"/>
              </a:rPr>
              <a:t> </a:t>
            </a:r>
            <a:endParaRPr lang="en-US" sz="1200" dirty="0"/>
          </a:p>
          <a:p>
            <a:pPr indent="0" marL="0">
              <a:lnSpc>
                <a:spcPts val="1650"/>
              </a:lnSpc>
              <a:buNone/>
            </a:pPr>
            <a:r>
              <a:rPr lang="en-US" sz="1200" b="1" dirty="0">
                <a:solidFill>
                  <a:srgbClr val="B45309"/>
                </a:solidFill>
                <a:latin typeface="Calibri" pitchFamily="34" charset="0"/>
                <a:ea typeface="Calibri" pitchFamily="34" charset="-122"/>
                <a:cs typeface="Calibri" pitchFamily="34" charset="-120"/>
              </a:rPr>
              <a:t>Ground truth confirms it: fabricated.</a:t>
            </a:r>
            <a:endParaRPr lang="en-US" sz="1200" dirty="0"/>
          </a:p>
        </p:txBody>
      </p:sp>
      <p:sp>
        <p:nvSpPr>
          <p:cNvPr id="8" name="Shape 5"/>
          <p:cNvSpPr/>
          <p:nvPr/>
        </p:nvSpPr>
        <p:spPr>
          <a:xfrm>
            <a:off x="566928" y="5440680"/>
            <a:ext cx="11055096" cy="566928"/>
          </a:xfrm>
          <a:prstGeom prst="roundRect">
            <a:avLst>
              <a:gd name="adj" fmla="val 9677"/>
            </a:avLst>
          </a:prstGeom>
          <a:solidFill>
            <a:srgbClr val="EEF2F6"/>
          </a:solidFill>
          <a:ln w="12700">
            <a:solidFill>
              <a:srgbClr val="EEF2F6"/>
            </a:solidFill>
            <a:prstDash val="solid"/>
          </a:ln>
        </p:spPr>
        <p:txBody>
          <a:bodyPr/>
          <a:p/>
        </p:txBody>
      </p:sp>
      <p:sp>
        <p:nvSpPr>
          <p:cNvPr id="9" name="Shape 6"/>
          <p:cNvSpPr/>
          <p:nvPr/>
        </p:nvSpPr>
        <p:spPr>
          <a:xfrm>
            <a:off x="694944" y="5568696"/>
            <a:ext cx="91440" cy="310896"/>
          </a:xfrm>
          <a:prstGeom prst="roundRect">
            <a:avLst>
              <a:gd name="adj" fmla="val 40000"/>
            </a:avLst>
          </a:prstGeom>
          <a:solidFill>
            <a:srgbClr val="0F766E"/>
          </a:solidFill>
          <a:ln w="12700">
            <a:solidFill>
              <a:srgbClr val="0F766E"/>
            </a:solidFill>
            <a:prstDash val="solid"/>
          </a:ln>
        </p:spPr>
        <p:txBody>
          <a:bodyPr/>
          <a:p/>
        </p:txBody>
      </p:sp>
      <p:sp>
        <p:nvSpPr>
          <p:cNvPr id="10" name="Text 7"/>
          <p:cNvSpPr txBox="1"/>
          <p:nvPr/>
        </p:nvSpPr>
        <p:spPr>
          <a:xfrm>
            <a:off x="932688" y="5486400"/>
            <a:ext cx="10506456" cy="475488"/>
          </a:xfrm>
          <a:prstGeom prst="rect">
            <a:avLst/>
          </a:prstGeom>
          <a:noFill/>
          <a:ln/>
        </p:spPr>
        <p:txBody>
          <a:bodyPr wrap="square" lIns="0" tIns="0" rIns="0" bIns="0" rtlCol="0" anchor="ctr"/>
          <a:lstStyle/>
          <a:p>
            <a:pPr indent="0" marL="0">
              <a:buNone/>
            </a:pPr>
            <a:r>
              <a:rPr lang="en-US" sz="1350" b="1" dirty="0">
                <a:solidFill>
                  <a:srgbClr val="1F2933"/>
                </a:solidFill>
                <a:latin typeface="Calibri" pitchFamily="34" charset="0"/>
                <a:ea typeface="Calibri" pitchFamily="34" charset="-122"/>
                <a:cs typeface="Calibri" pitchFamily="34" charset="-120"/>
              </a:rPr>
              <a:t>This is the sentence a field supervisor can take to an enumerator. An opaque model score is not.</a:t>
            </a:r>
            <a:endParaRPr lang="en-US" sz="1350" dirty="0"/>
          </a:p>
        </p:txBody>
      </p:sp>
      <p:sp>
        <p:nvSpPr>
          <p:cNvPr id="11" name="Text 8"/>
          <p:cNvSpPr txBox="1"/>
          <p:nvPr/>
        </p:nvSpPr>
        <p:spPr>
          <a:xfrm>
            <a:off x="566928" y="6144768"/>
            <a:ext cx="10140696" cy="274320"/>
          </a:xfrm>
          <a:prstGeom prst="rect">
            <a:avLst/>
          </a:prstGeom>
          <a:noFill/>
          <a:ln/>
        </p:spPr>
        <p:txBody>
          <a:bodyPr wrap="square" lIns="0" tIns="0" rIns="0" bIns="0" rtlCol="0" anchor="ctr"/>
          <a:lstStyle/>
          <a:p>
            <a:pPr indent="0" marL="0">
              <a:buNone/>
            </a:pPr>
            <a:r>
              <a:rPr lang="en-US" sz="1050" i="1" dirty="0">
                <a:solidFill>
                  <a:srgbClr val="6B7785"/>
                </a:solidFill>
                <a:latin typeface="Calibri" pitchFamily="34" charset="0"/>
                <a:ea typeface="Calibri" pitchFamily="34" charset="-122"/>
                <a:cs typeface="Calibri" pitchFamily="34" charset="-120"/>
              </a:rPr>
              <a:t>output/feature_dataset_demo.csv and output/anomaly_report_demo.csv, same run.</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DEMONSTRATION 5</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Evaluation happens in the same run</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Samuel Kaoma  |  2022016530  |  CSC 4004</a:t>
            </a:r>
            <a:endParaRPr lang="en-US" sz="1000" dirty="0"/>
          </a:p>
        </p:txBody>
      </p:sp>
      <p:pic>
        <p:nvPicPr>
          <p:cNvPr id="6" name="Image 0" descr="C:\Users\Samuel\Desktop\4th year\Final year project\SKACE-Time-Data\report\figures\demo5_evaluation.png">    </p:cNvPr>
          <p:cNvPicPr>
            <a:picLocks noChangeAspect="1"/>
          </p:cNvPicPr>
          <p:nvPr/>
        </p:nvPicPr>
        <p:blipFill>
          <a:blip r:embed="rId1"/>
          <a:stretch>
            <a:fillRect/>
          </a:stretch>
        </p:blipFill>
        <p:spPr>
          <a:xfrm>
            <a:off x="566928" y="1463040"/>
            <a:ext cx="8001000" cy="2441448"/>
          </a:xfrm>
          <a:prstGeom prst="rect">
            <a:avLst/>
          </a:prstGeom>
        </p:spPr>
      </p:pic>
      <p:sp>
        <p:nvSpPr>
          <p:cNvPr id="7" name="Text 4"/>
          <p:cNvSpPr txBox="1"/>
          <p:nvPr/>
        </p:nvSpPr>
        <p:spPr>
          <a:xfrm>
            <a:off x="8732520" y="1463040"/>
            <a:ext cx="2898648" cy="3017520"/>
          </a:xfrm>
          <a:prstGeom prst="rect">
            <a:avLst/>
          </a:prstGeom>
          <a:noFill/>
          <a:ln/>
        </p:spPr>
        <p:txBody>
          <a:bodyPr wrap="square" lIns="0" tIns="0" rIns="0" bIns="0" rtlCol="0" anchor="ctr"/>
          <a:lstStyle/>
          <a:p>
            <a:pPr indent="0" marL="0">
              <a:lnSpc>
                <a:spcPts val="1650"/>
              </a:lnSpc>
              <a:buNone/>
            </a:pPr>
            <a:r>
              <a:rPr lang="en-US" sz="1200" dirty="0">
                <a:solidFill>
                  <a:srgbClr val="1F2933"/>
                </a:solidFill>
                <a:latin typeface="Calibri" pitchFamily="34" charset="0"/>
                <a:ea typeface="Calibri" pitchFamily="34" charset="-122"/>
                <a:cs typeface="Calibri" pitchFamily="34" charset="-120"/>
              </a:rPr>
              <a:t>Supply a ground truth file and the same command emits precision, recall, F1 and the acceptance checks.</a:t>
            </a:r>
            <a:endParaRPr lang="en-US" sz="1200" dirty="0"/>
          </a:p>
          <a:p>
            <a:pPr indent="0" marL="0">
              <a:lnSpc>
                <a:spcPts val="1650"/>
              </a:lnSpc>
              <a:buNone/>
            </a:pPr>
            <a:r>
              <a:rPr lang="en-US" sz="600" dirty="0">
                <a:solidFill>
                  <a:srgbClr val="1F2933"/>
                </a:solidFill>
                <a:latin typeface="Calibri" pitchFamily="34" charset="0"/>
                <a:ea typeface="Calibri" pitchFamily="34" charset="-122"/>
                <a:cs typeface="Calibri" pitchFamily="34" charset="-120"/>
              </a:rPr>
              <a:t> </a:t>
            </a:r>
            <a:endParaRPr lang="en-US" sz="1200" dirty="0"/>
          </a:p>
          <a:p>
            <a:pPr indent="0" marL="0">
              <a:lnSpc>
                <a:spcPts val="1650"/>
              </a:lnSpc>
              <a:buNone/>
            </a:pPr>
            <a:r>
              <a:rPr lang="en-US" sz="1200" dirty="0">
                <a:solidFill>
                  <a:srgbClr val="1F2933"/>
                </a:solidFill>
                <a:latin typeface="Calibri" pitchFamily="34" charset="0"/>
                <a:ea typeface="Calibri" pitchFamily="34" charset="-122"/>
                <a:cs typeface="Calibri" pitchFamily="34" charset="-120"/>
              </a:rPr>
              <a:t>The detector never sees the labels. Predictions are made first, then joined to ground truth one to one, and the join fails loudly on any duplicate or missing interview id.</a:t>
            </a:r>
            <a:endParaRPr lang="en-US" sz="1200" dirty="0"/>
          </a:p>
          <a:p>
            <a:pPr indent="0" marL="0">
              <a:lnSpc>
                <a:spcPts val="1650"/>
              </a:lnSpc>
              <a:buNone/>
            </a:pPr>
            <a:r>
              <a:rPr lang="en-US" sz="600" dirty="0">
                <a:solidFill>
                  <a:srgbClr val="1F2933"/>
                </a:solidFill>
                <a:latin typeface="Calibri" pitchFamily="34" charset="0"/>
                <a:ea typeface="Calibri" pitchFamily="34" charset="-122"/>
                <a:cs typeface="Calibri" pitchFamily="34" charset="-120"/>
              </a:rPr>
              <a:t> </a:t>
            </a:r>
            <a:endParaRPr lang="en-US" sz="1200" dirty="0"/>
          </a:p>
          <a:p>
            <a:pPr indent="0" marL="0">
              <a:lnSpc>
                <a:spcPts val="1650"/>
              </a:lnSpc>
              <a:buNone/>
            </a:pPr>
            <a:r>
              <a:rPr lang="en-US" sz="1200" b="1" dirty="0">
                <a:solidFill>
                  <a:srgbClr val="0F766E"/>
                </a:solidFill>
                <a:latin typeface="Calibri" pitchFamily="34" charset="0"/>
                <a:ea typeface="Calibri" pitchFamily="34" charset="-122"/>
                <a:cs typeface="Calibri" pitchFamily="34" charset="-120"/>
              </a:rPr>
              <a:t>That separation is what makes every number in the rest of this presentation trustworthy.</a:t>
            </a:r>
            <a:endParaRPr lang="en-US" sz="1200" dirty="0"/>
          </a:p>
        </p:txBody>
      </p:sp>
      <p:sp>
        <p:nvSpPr>
          <p:cNvPr id="8" name="Shape 5"/>
          <p:cNvSpPr/>
          <p:nvPr/>
        </p:nvSpPr>
        <p:spPr>
          <a:xfrm>
            <a:off x="566928" y="5440680"/>
            <a:ext cx="11055096" cy="566928"/>
          </a:xfrm>
          <a:prstGeom prst="roundRect">
            <a:avLst>
              <a:gd name="adj" fmla="val 9677"/>
            </a:avLst>
          </a:prstGeom>
          <a:solidFill>
            <a:srgbClr val="EEF2F6"/>
          </a:solidFill>
          <a:ln w="12700">
            <a:solidFill>
              <a:srgbClr val="EEF2F6"/>
            </a:solidFill>
            <a:prstDash val="solid"/>
          </a:ln>
        </p:spPr>
        <p:txBody>
          <a:bodyPr/>
          <a:p/>
        </p:txBody>
      </p:sp>
      <p:sp>
        <p:nvSpPr>
          <p:cNvPr id="9" name="Shape 6"/>
          <p:cNvSpPr/>
          <p:nvPr/>
        </p:nvSpPr>
        <p:spPr>
          <a:xfrm>
            <a:off x="694944" y="5568696"/>
            <a:ext cx="91440" cy="310896"/>
          </a:xfrm>
          <a:prstGeom prst="roundRect">
            <a:avLst>
              <a:gd name="adj" fmla="val 40000"/>
            </a:avLst>
          </a:prstGeom>
          <a:solidFill>
            <a:srgbClr val="0F766E"/>
          </a:solidFill>
          <a:ln w="12700">
            <a:solidFill>
              <a:srgbClr val="0F766E"/>
            </a:solidFill>
            <a:prstDash val="solid"/>
          </a:ln>
        </p:spPr>
        <p:txBody>
          <a:bodyPr/>
          <a:p/>
        </p:txBody>
      </p:sp>
      <p:sp>
        <p:nvSpPr>
          <p:cNvPr id="10" name="Text 7"/>
          <p:cNvSpPr txBox="1"/>
          <p:nvPr/>
        </p:nvSpPr>
        <p:spPr>
          <a:xfrm>
            <a:off x="932688" y="5486400"/>
            <a:ext cx="10506456" cy="475488"/>
          </a:xfrm>
          <a:prstGeom prst="rect">
            <a:avLst/>
          </a:prstGeom>
          <a:noFill/>
          <a:ln/>
        </p:spPr>
        <p:txBody>
          <a:bodyPr wrap="square" lIns="0" tIns="0" rIns="0" bIns="0" rtlCol="0" anchor="ctr"/>
          <a:lstStyle/>
          <a:p>
            <a:pPr indent="0" marL="0">
              <a:buNone/>
            </a:pPr>
            <a:r>
              <a:rPr lang="en-US" sz="1350" b="1" dirty="0">
                <a:solidFill>
                  <a:srgbClr val="1F2933"/>
                </a:solidFill>
                <a:latin typeface="Calibri" pitchFamily="34" charset="0"/>
                <a:ea typeface="Calibri" pitchFamily="34" charset="-122"/>
                <a:cs typeface="Calibri" pitchFamily="34" charset="-120"/>
              </a:rPr>
              <a:t>This is the canonical suite: deliberately easy, so it verifies the intended mapping rather than proving field performance.</a:t>
            </a:r>
            <a:endParaRPr lang="en-US" sz="1350" dirty="0"/>
          </a:p>
        </p:txBody>
      </p:sp>
      <p:sp>
        <p:nvSpPr>
          <p:cNvPr id="11" name="Text 8"/>
          <p:cNvSpPr txBox="1"/>
          <p:nvPr/>
        </p:nvSpPr>
        <p:spPr>
          <a:xfrm>
            <a:off x="566928" y="6144768"/>
            <a:ext cx="10140696" cy="274320"/>
          </a:xfrm>
          <a:prstGeom prst="rect">
            <a:avLst/>
          </a:prstGeom>
          <a:noFill/>
          <a:ln/>
        </p:spPr>
        <p:txBody>
          <a:bodyPr wrap="square" lIns="0" tIns="0" rIns="0" bIns="0" rtlCol="0" anchor="ctr"/>
          <a:lstStyle/>
          <a:p>
            <a:pPr indent="0" marL="0">
              <a:buNone/>
            </a:pPr>
            <a:r>
              <a:rPr lang="en-US" sz="1050" i="1" dirty="0">
                <a:solidFill>
                  <a:srgbClr val="6B7785"/>
                </a:solidFill>
                <a:latin typeface="Calibri" pitchFamily="34" charset="0"/>
                <a:ea typeface="Calibri" pitchFamily="34" charset="-122"/>
                <a:cs typeface="Calibri" pitchFamily="34" charset="-120"/>
              </a:rPr>
              <a:t>output/metrics_demo.md and output/predictions_demo.csv, same run. The harder conditions start on the next slide.</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CHAPTER 5</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An evaluation built to fail</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15</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Samuel Kaoma  |  2022016530  |  CSC 4004</a:t>
            </a:r>
            <a:endParaRPr lang="en-US" sz="1000" dirty="0"/>
          </a:p>
        </p:txBody>
      </p:sp>
      <p:sp>
        <p:nvSpPr>
          <p:cNvPr id="6" name="Text 4"/>
          <p:cNvSpPr txBox="1"/>
          <p:nvPr/>
        </p:nvSpPr>
        <p:spPr>
          <a:xfrm>
            <a:off x="566928" y="1371600"/>
            <a:ext cx="11055096" cy="384048"/>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Early runs scored 1.00 everywhere. I read that as a warning that the test was too easy, not as a result. Three changes followed.</a:t>
            </a:r>
            <a:endParaRPr lang="en-US" sz="1400" dirty="0"/>
          </a:p>
        </p:txBody>
      </p:sp>
      <p:sp>
        <p:nvSpPr>
          <p:cNvPr id="7" name="Shape 5"/>
          <p:cNvSpPr/>
          <p:nvPr/>
        </p:nvSpPr>
        <p:spPr>
          <a:xfrm>
            <a:off x="566928" y="1975104"/>
            <a:ext cx="329184" cy="329184"/>
          </a:xfrm>
          <a:prstGeom prst="ellipse">
            <a:avLst/>
          </a:prstGeom>
          <a:solidFill>
            <a:srgbClr val="0F766E"/>
          </a:solidFill>
          <a:ln w="12700">
            <a:solidFill>
              <a:srgbClr val="0F766E"/>
            </a:solidFill>
            <a:prstDash val="solid"/>
          </a:ln>
        </p:spPr>
        <p:txBody>
          <a:bodyPr/>
          <a:p/>
        </p:txBody>
      </p:sp>
      <p:sp>
        <p:nvSpPr>
          <p:cNvPr id="8" name="Text 6"/>
          <p:cNvSpPr txBox="1"/>
          <p:nvPr/>
        </p:nvSpPr>
        <p:spPr>
          <a:xfrm>
            <a:off x="566928" y="197510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042416" y="1938528"/>
            <a:ext cx="10305288" cy="749808"/>
          </a:xfrm>
          <a:prstGeom prst="rect">
            <a:avLst/>
          </a:prstGeom>
          <a:noFill/>
          <a:ln/>
        </p:spPr>
        <p:txBody>
          <a:bodyPr wrap="square" lIns="0" tIns="0" rIns="0" bIns="0" rtlCol="0" anchor="t"/>
          <a:lstStyle/>
          <a:p>
            <a:pPr indent="0" marL="0">
              <a:lnSpc>
                <a:spcPts val="1700"/>
              </a:lnSpc>
              <a:buNone/>
            </a:pPr>
            <a:r>
              <a:rPr lang="en-US" sz="1300" dirty="0">
                <a:solidFill>
                  <a:srgbClr val="1F2933"/>
                </a:solidFill>
                <a:latin typeface="Calibri" pitchFamily="34" charset="0"/>
                <a:ea typeface="Calibri" pitchFamily="34" charset="-122"/>
                <a:cs typeface="Calibri" pitchFamily="34" charset="-120"/>
              </a:rPr>
              <a:t>Detector settings that mirrored the generator were removed or generalised. A coupling between two flags was deleted, fixed pause constants became configuration, and the disengagement rule was made median-relative.</a:t>
            </a:r>
            <a:endParaRPr lang="en-US" sz="1300" dirty="0"/>
          </a:p>
        </p:txBody>
      </p:sp>
      <p:sp>
        <p:nvSpPr>
          <p:cNvPr id="10" name="Shape 8"/>
          <p:cNvSpPr/>
          <p:nvPr/>
        </p:nvSpPr>
        <p:spPr>
          <a:xfrm>
            <a:off x="566928" y="2779776"/>
            <a:ext cx="329184" cy="329184"/>
          </a:xfrm>
          <a:prstGeom prst="ellipse">
            <a:avLst/>
          </a:prstGeom>
          <a:solidFill>
            <a:srgbClr val="0F766E"/>
          </a:solidFill>
          <a:ln w="12700">
            <a:solidFill>
              <a:srgbClr val="0F766E"/>
            </a:solidFill>
            <a:prstDash val="solid"/>
          </a:ln>
        </p:spPr>
        <p:txBody>
          <a:bodyPr/>
          <a:p/>
        </p:txBody>
      </p:sp>
      <p:sp>
        <p:nvSpPr>
          <p:cNvPr id="11" name="Text 9"/>
          <p:cNvSpPr txBox="1"/>
          <p:nvPr/>
        </p:nvSpPr>
        <p:spPr>
          <a:xfrm>
            <a:off x="566928" y="277977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1042416" y="2743200"/>
            <a:ext cx="10305288" cy="749808"/>
          </a:xfrm>
          <a:prstGeom prst="rect">
            <a:avLst/>
          </a:prstGeom>
          <a:noFill/>
          <a:ln/>
        </p:spPr>
        <p:txBody>
          <a:bodyPr wrap="square" lIns="0" tIns="0" rIns="0" bIns="0" rtlCol="0" anchor="t"/>
          <a:lstStyle/>
          <a:p>
            <a:pPr indent="0" marL="0">
              <a:lnSpc>
                <a:spcPts val="1700"/>
              </a:lnSpc>
              <a:buNone/>
            </a:pPr>
            <a:r>
              <a:rPr lang="en-US" sz="1300" dirty="0">
                <a:solidFill>
                  <a:srgbClr val="1F2933"/>
                </a:solidFill>
                <a:latin typeface="Calibri" pitchFamily="34" charset="0"/>
                <a:ea typeface="Calibri" pitchFamily="34" charset="-122"/>
                <a:cs typeface="Calibri" pitchFamily="34" charset="-120"/>
              </a:rPr>
              <a:t>Every reported run uses random seeds never touched during development or calibration: seeds 7 and 99.</a:t>
            </a:r>
            <a:endParaRPr lang="en-US" sz="1300" dirty="0"/>
          </a:p>
        </p:txBody>
      </p:sp>
      <p:sp>
        <p:nvSpPr>
          <p:cNvPr id="13" name="Shape 11"/>
          <p:cNvSpPr/>
          <p:nvPr/>
        </p:nvSpPr>
        <p:spPr>
          <a:xfrm>
            <a:off x="566928" y="3584448"/>
            <a:ext cx="329184" cy="329184"/>
          </a:xfrm>
          <a:prstGeom prst="ellipse">
            <a:avLst/>
          </a:prstGeom>
          <a:solidFill>
            <a:srgbClr val="0F766E"/>
          </a:solidFill>
          <a:ln w="12700">
            <a:solidFill>
              <a:srgbClr val="0F766E"/>
            </a:solidFill>
            <a:prstDash val="solid"/>
          </a:ln>
        </p:spPr>
        <p:txBody>
          <a:bodyPr/>
          <a:p/>
        </p:txBody>
      </p:sp>
      <p:sp>
        <p:nvSpPr>
          <p:cNvPr id="14" name="Text 12"/>
          <p:cNvSpPr txBox="1"/>
          <p:nvPr/>
        </p:nvSpPr>
        <p:spPr>
          <a:xfrm>
            <a:off x="566928" y="35844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txBox="1"/>
          <p:nvPr/>
        </p:nvSpPr>
        <p:spPr>
          <a:xfrm>
            <a:off x="1042416" y="3547872"/>
            <a:ext cx="10305288" cy="749808"/>
          </a:xfrm>
          <a:prstGeom prst="rect">
            <a:avLst/>
          </a:prstGeom>
          <a:noFill/>
          <a:ln/>
        </p:spPr>
        <p:txBody>
          <a:bodyPr wrap="square" lIns="0" tIns="0" rIns="0" bIns="0" rtlCol="0" anchor="t"/>
          <a:lstStyle/>
          <a:p>
            <a:pPr indent="0" marL="0">
              <a:lnSpc>
                <a:spcPts val="1700"/>
              </a:lnSpc>
              <a:buNone/>
            </a:pPr>
            <a:r>
              <a:rPr lang="en-US" sz="1300" dirty="0">
                <a:solidFill>
                  <a:srgbClr val="1F2933"/>
                </a:solidFill>
                <a:latin typeface="Calibri" pitchFamily="34" charset="0"/>
                <a:ea typeface="Calibri" pitchFamily="34" charset="-122"/>
                <a:cs typeface="Calibri" pitchFamily="34" charset="-120"/>
              </a:rPr>
              <a:t>A stress difficulty was added where genuine respondents can be fast with little navigation and fabricated interviews can be only mildly compressed, so the profiles overlap by construction.</a:t>
            </a:r>
            <a:endParaRPr lang="en-US" sz="1300" dirty="0"/>
          </a:p>
        </p:txBody>
      </p:sp>
      <p:sp>
        <p:nvSpPr>
          <p:cNvPr id="16" name="Shape 14"/>
          <p:cNvSpPr/>
          <p:nvPr/>
        </p:nvSpPr>
        <p:spPr>
          <a:xfrm>
            <a:off x="566928" y="4389120"/>
            <a:ext cx="329184" cy="329184"/>
          </a:xfrm>
          <a:prstGeom prst="ellipse">
            <a:avLst/>
          </a:prstGeom>
          <a:solidFill>
            <a:srgbClr val="0F766E"/>
          </a:solidFill>
          <a:ln w="12700">
            <a:solidFill>
              <a:srgbClr val="0F766E"/>
            </a:solidFill>
            <a:prstDash val="solid"/>
          </a:ln>
        </p:spPr>
        <p:txBody>
          <a:bodyPr/>
          <a:p/>
        </p:txBody>
      </p:sp>
      <p:sp>
        <p:nvSpPr>
          <p:cNvPr id="17" name="Text 15"/>
          <p:cNvSpPr txBox="1"/>
          <p:nvPr/>
        </p:nvSpPr>
        <p:spPr>
          <a:xfrm>
            <a:off x="566928" y="43891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txBox="1"/>
          <p:nvPr/>
        </p:nvSpPr>
        <p:spPr>
          <a:xfrm>
            <a:off x="1042416" y="4352544"/>
            <a:ext cx="10305288" cy="749808"/>
          </a:xfrm>
          <a:prstGeom prst="rect">
            <a:avLst/>
          </a:prstGeom>
          <a:noFill/>
          <a:ln/>
        </p:spPr>
        <p:txBody>
          <a:bodyPr wrap="square" lIns="0" tIns="0" rIns="0" bIns="0" rtlCol="0" anchor="t"/>
          <a:lstStyle/>
          <a:p>
            <a:pPr indent="0" marL="0">
              <a:lnSpc>
                <a:spcPts val="1700"/>
              </a:lnSpc>
              <a:buNone/>
            </a:pPr>
            <a:r>
              <a:rPr lang="en-US" sz="1300" dirty="0">
                <a:solidFill>
                  <a:srgbClr val="1F2933"/>
                </a:solidFill>
                <a:latin typeface="Calibri" pitchFamily="34" charset="0"/>
                <a:ea typeface="Calibri" pitchFamily="34" charset="-122"/>
                <a:cs typeface="Calibri" pitchFamily="34" charset="-120"/>
              </a:rPr>
              <a:t>A class prevalence sweep from 5 to 30 percent, because metrics computed at one fixed anomaly rate misrepresent operational performance.</a:t>
            </a:r>
            <a:endParaRPr lang="en-US" sz="1300" dirty="0"/>
          </a:p>
        </p:txBody>
      </p:sp>
      <p:sp>
        <p:nvSpPr>
          <p:cNvPr id="19" name="Shape 17"/>
          <p:cNvSpPr/>
          <p:nvPr/>
        </p:nvSpPr>
        <p:spPr>
          <a:xfrm>
            <a:off x="566928" y="5440680"/>
            <a:ext cx="11055096" cy="566928"/>
          </a:xfrm>
          <a:prstGeom prst="roundRect">
            <a:avLst>
              <a:gd name="adj" fmla="val 9677"/>
            </a:avLst>
          </a:prstGeom>
          <a:solidFill>
            <a:srgbClr val="EEF2F6"/>
          </a:solidFill>
          <a:ln w="12700">
            <a:solidFill>
              <a:srgbClr val="EEF2F6"/>
            </a:solidFill>
            <a:prstDash val="solid"/>
          </a:ln>
        </p:spPr>
        <p:txBody>
          <a:bodyPr/>
          <a:p/>
        </p:txBody>
      </p:sp>
      <p:sp>
        <p:nvSpPr>
          <p:cNvPr id="20" name="Shape 18"/>
          <p:cNvSpPr/>
          <p:nvPr/>
        </p:nvSpPr>
        <p:spPr>
          <a:xfrm>
            <a:off x="694944" y="5568696"/>
            <a:ext cx="91440" cy="310896"/>
          </a:xfrm>
          <a:prstGeom prst="roundRect">
            <a:avLst>
              <a:gd name="adj" fmla="val 40000"/>
            </a:avLst>
          </a:prstGeom>
          <a:solidFill>
            <a:srgbClr val="0F766E"/>
          </a:solidFill>
          <a:ln w="12700">
            <a:solidFill>
              <a:srgbClr val="0F766E"/>
            </a:solidFill>
            <a:prstDash val="solid"/>
          </a:ln>
        </p:spPr>
        <p:txBody>
          <a:bodyPr/>
          <a:p/>
        </p:txBody>
      </p:sp>
      <p:sp>
        <p:nvSpPr>
          <p:cNvPr id="21" name="Text 19"/>
          <p:cNvSpPr txBox="1"/>
          <p:nvPr/>
        </p:nvSpPr>
        <p:spPr>
          <a:xfrm>
            <a:off x="932688" y="5486400"/>
            <a:ext cx="10506456" cy="475488"/>
          </a:xfrm>
          <a:prstGeom prst="rect">
            <a:avLst/>
          </a:prstGeom>
          <a:noFill/>
          <a:ln/>
        </p:spPr>
        <p:txBody>
          <a:bodyPr wrap="square" lIns="0" tIns="0" rIns="0" bIns="0" rtlCol="0" anchor="ctr"/>
          <a:lstStyle/>
          <a:p>
            <a:pPr indent="0" marL="0">
              <a:buNone/>
            </a:pPr>
            <a:r>
              <a:rPr lang="en-US" sz="1350" b="1" dirty="0">
                <a:solidFill>
                  <a:srgbClr val="1F2933"/>
                </a:solidFill>
                <a:latin typeface="Calibri" pitchFamily="34" charset="0"/>
                <a:ea typeface="Calibri" pitchFamily="34" charset="-122"/>
                <a:cs typeface="Calibri" pitchFamily="34" charset="-120"/>
              </a:rPr>
              <a:t>The detector never sees ground truth. A strict one-to-one join computes metrics only after prediction, and fails loudly on any duplicate or missing id.</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RESULTS 6.2</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Which features actually separate the classes</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16</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Samuel Kaoma  |  2022016530  |  CSC 4004</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6949440" cy="914400"/>
        </p:xfrm>
        <a:graphic>
          <a:graphicData uri="http://schemas.openxmlformats.org/drawingml/2006/table">
            <a:tbl>
              <a:tblPr/>
              <a:tblGrid>
                <a:gridCol w="3108960"/>
                <a:gridCol w="1280160"/>
                <a:gridCol w="1371600"/>
                <a:gridCol w="1188720"/>
              </a:tblGrid>
              <a:tr h="34747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Feature</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Cohen's d</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Rank-biserial</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Adjusted p</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r>
              <a:tr h="347472">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T-03 response time entropy</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-10.57</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1.0000</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1.6e-52</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347472">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Q-10 first to last interaction duration</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-4.14</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0.9983</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3.0e-52</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347472">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T-06 response time mean</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-4.14</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0.9983</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3.0e-52</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347472">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S-01 mean section pace</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-4.14</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0.9983</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3.0e-52</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347472">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V-01 total interview duration</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-3.79</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0.9930</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1.1e-51</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347472">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T-02 response time interquartile range</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-3.51</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1.0000</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00" dirty="0">
                          <a:solidFill>
                            <a:srgbClr val="1F2933"/>
                          </a:solidFill>
                          <a:latin typeface="Calibri" pitchFamily="34" charset="0"/>
                          <a:ea typeface="Calibri" pitchFamily="34" charset="-122"/>
                          <a:cs typeface="Calibri" pitchFamily="34" charset="-120"/>
                        </a:rPr>
                        <a:t>2.0e-52</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bl>
          </a:graphicData>
        </a:graphic>
      </p:graphicFrame>
      <p:sp>
        <p:nvSpPr>
          <p:cNvPr id="7" name="Shape 4"/>
          <p:cNvSpPr/>
          <p:nvPr/>
        </p:nvSpPr>
        <p:spPr>
          <a:xfrm>
            <a:off x="7772400" y="1371600"/>
            <a:ext cx="3858768" cy="2432304"/>
          </a:xfrm>
          <a:prstGeom prst="roundRect">
            <a:avLst>
              <a:gd name="adj" fmla="val 1880"/>
            </a:avLst>
          </a:prstGeom>
          <a:solidFill>
            <a:srgbClr val="EEF2F6"/>
          </a:solidFill>
          <a:ln w="12700">
            <a:solidFill>
              <a:srgbClr val="EEF2F6"/>
            </a:solidFill>
            <a:prstDash val="solid"/>
          </a:ln>
        </p:spPr>
        <p:txBody>
          <a:bodyPr/>
          <a:p/>
        </p:txBody>
      </p:sp>
      <p:sp>
        <p:nvSpPr>
          <p:cNvPr id="8" name="Text 5"/>
          <p:cNvSpPr txBox="1"/>
          <p:nvPr/>
        </p:nvSpPr>
        <p:spPr>
          <a:xfrm>
            <a:off x="7991856" y="1554480"/>
            <a:ext cx="3419856" cy="2103120"/>
          </a:xfrm>
          <a:prstGeom prst="rect">
            <a:avLst/>
          </a:prstGeom>
          <a:noFill/>
          <a:ln/>
        </p:spPr>
        <p:txBody>
          <a:bodyPr wrap="square" lIns="0" tIns="0" rIns="0" bIns="0" rtlCol="0" anchor="ctr"/>
          <a:lstStyle/>
          <a:p>
            <a:pPr indent="0" marL="0">
              <a:lnSpc>
                <a:spcPts val="1600"/>
              </a:lnSpc>
              <a:buNone/>
            </a:pPr>
            <a:r>
              <a:rPr lang="en-US" sz="1600" b="1" dirty="0">
                <a:solidFill>
                  <a:srgbClr val="0F766E"/>
                </a:solidFill>
                <a:latin typeface="Cambria" pitchFamily="34" charset="0"/>
                <a:ea typeface="Cambria" pitchFamily="34" charset="-122"/>
                <a:cs typeface="Cambria" pitchFamily="34" charset="-120"/>
              </a:rPr>
              <a:t>30 of 40 significant</a:t>
            </a:r>
            <a:endParaRPr lang="en-US" sz="1150" dirty="0"/>
          </a:p>
          <a:p>
            <a:pPr indent="0" marL="0">
              <a:lnSpc>
                <a:spcPts val="1600"/>
              </a:lnSpc>
              <a:buNone/>
            </a:pPr>
            <a:r>
              <a:rPr lang="en-US" sz="500" dirty="0">
                <a:solidFill>
                  <a:srgbClr val="1F2933"/>
                </a:solidFill>
                <a:latin typeface="Calibri" pitchFamily="34" charset="0"/>
                <a:ea typeface="Calibri" pitchFamily="34" charset="-122"/>
                <a:cs typeface="Calibri" pitchFamily="34" charset="-120"/>
              </a:rPr>
              <a:t> </a:t>
            </a:r>
            <a:endParaRPr lang="en-US" sz="1150" dirty="0"/>
          </a:p>
          <a:p>
            <a:pPr indent="0" marL="0">
              <a:lnSpc>
                <a:spcPts val="1600"/>
              </a:lnSpc>
              <a:buNone/>
            </a:pPr>
            <a:r>
              <a:rPr lang="en-US" sz="1150" dirty="0">
                <a:solidFill>
                  <a:srgbClr val="1F2933"/>
                </a:solidFill>
                <a:latin typeface="Calibri" pitchFamily="34" charset="0"/>
                <a:ea typeface="Calibri" pitchFamily="34" charset="-122"/>
                <a:cs typeface="Calibri" pitchFamily="34" charset="-120"/>
              </a:rPr>
              <a:t>Mann-Whitney U, because response times are right-skewed. p-values Bonferroni-adjusted at a family-wise alpha of 0.05 across all forty tests.</a:t>
            </a:r>
            <a:endParaRPr lang="en-US" sz="1150" dirty="0"/>
          </a:p>
          <a:p>
            <a:pPr indent="0" marL="0">
              <a:lnSpc>
                <a:spcPts val="1600"/>
              </a:lnSpc>
              <a:buNone/>
            </a:pPr>
            <a:r>
              <a:rPr lang="en-US" sz="500" dirty="0">
                <a:solidFill>
                  <a:srgbClr val="1F2933"/>
                </a:solidFill>
                <a:latin typeface="Calibri" pitchFamily="34" charset="0"/>
                <a:ea typeface="Calibri" pitchFamily="34" charset="-122"/>
                <a:cs typeface="Calibri" pitchFamily="34" charset="-120"/>
              </a:rPr>
              <a:t> </a:t>
            </a:r>
            <a:endParaRPr lang="en-US" sz="1150" dirty="0"/>
          </a:p>
          <a:p>
            <a:pPr indent="0" marL="0">
              <a:lnSpc>
                <a:spcPts val="1600"/>
              </a:lnSpc>
              <a:buNone/>
            </a:pPr>
            <a:r>
              <a:rPr lang="en-US" sz="1150" dirty="0">
                <a:solidFill>
                  <a:srgbClr val="1F2933"/>
                </a:solidFill>
                <a:latin typeface="Calibri" pitchFamily="34" charset="0"/>
                <a:ea typeface="Calibri" pitchFamily="34" charset="-122"/>
                <a:cs typeface="Calibri" pitchFamily="34" charset="-120"/>
              </a:rPr>
              <a:t>Ten do not discriminate. Two are contextual, start hour and day of week. Eight are constant across the synthetic corpus, so the evaluation is silent on them rather than negative.</a:t>
            </a:r>
            <a:endParaRPr lang="en-US" sz="1150" dirty="0"/>
          </a:p>
        </p:txBody>
      </p:sp>
      <p:sp>
        <p:nvSpPr>
          <p:cNvPr id="9" name="Shape 6"/>
          <p:cNvSpPr/>
          <p:nvPr/>
        </p:nvSpPr>
        <p:spPr>
          <a:xfrm>
            <a:off x="566928" y="4892040"/>
            <a:ext cx="11055096" cy="566928"/>
          </a:xfrm>
          <a:prstGeom prst="roundRect">
            <a:avLst>
              <a:gd name="adj" fmla="val 9677"/>
            </a:avLst>
          </a:prstGeom>
          <a:solidFill>
            <a:srgbClr val="EEF2F6"/>
          </a:solidFill>
          <a:ln w="12700">
            <a:solidFill>
              <a:srgbClr val="EEF2F6"/>
            </a:solidFill>
            <a:prstDash val="solid"/>
          </a:ln>
        </p:spPr>
        <p:txBody>
          <a:bodyPr/>
          <a:p/>
        </p:txBody>
      </p:sp>
      <p:sp>
        <p:nvSpPr>
          <p:cNvPr id="10" name="Shape 7"/>
          <p:cNvSpPr/>
          <p:nvPr/>
        </p:nvSpPr>
        <p:spPr>
          <a:xfrm>
            <a:off x="694944" y="5020056"/>
            <a:ext cx="91440" cy="310896"/>
          </a:xfrm>
          <a:prstGeom prst="roundRect">
            <a:avLst>
              <a:gd name="adj" fmla="val 40000"/>
            </a:avLst>
          </a:prstGeom>
          <a:solidFill>
            <a:srgbClr val="0F766E"/>
          </a:solidFill>
          <a:ln w="12700">
            <a:solidFill>
              <a:srgbClr val="0F766E"/>
            </a:solidFill>
            <a:prstDash val="solid"/>
          </a:ln>
        </p:spPr>
        <p:txBody>
          <a:bodyPr/>
          <a:p/>
        </p:txBody>
      </p:sp>
      <p:sp>
        <p:nvSpPr>
          <p:cNvPr id="11" name="Text 8"/>
          <p:cNvSpPr txBox="1"/>
          <p:nvPr/>
        </p:nvSpPr>
        <p:spPr>
          <a:xfrm>
            <a:off x="932688" y="4937760"/>
            <a:ext cx="10506456" cy="475488"/>
          </a:xfrm>
          <a:prstGeom prst="rect">
            <a:avLst/>
          </a:prstGeom>
          <a:noFill/>
          <a:ln/>
        </p:spPr>
        <p:txBody>
          <a:bodyPr wrap="square" lIns="0" tIns="0" rIns="0" bIns="0" rtlCol="0" anchor="ctr"/>
          <a:lstStyle/>
          <a:p>
            <a:pPr indent="0" marL="0">
              <a:buNone/>
            </a:pPr>
            <a:r>
              <a:rPr lang="en-US" sz="1350" b="1" dirty="0">
                <a:solidFill>
                  <a:srgbClr val="1F2933"/>
                </a:solidFill>
                <a:latin typeface="Calibri" pitchFamily="34" charset="0"/>
                <a:ea typeface="Calibri" pitchFamily="34" charset="-122"/>
                <a:cs typeface="Calibri" pitchFamily="34" charset="-120"/>
              </a:rPr>
              <a:t>Entropy has a rank-biserial of exactly 1.0000: on this dataset the two groups do not overlap at all. Remember that, it matters on slide 16.</a:t>
            </a:r>
            <a:endParaRPr lang="en-US" sz="1350" dirty="0"/>
          </a:p>
        </p:txBody>
      </p:sp>
      <p:sp>
        <p:nvSpPr>
          <p:cNvPr id="12" name="Text 9"/>
          <p:cNvSpPr txBox="1"/>
          <p:nvPr/>
        </p:nvSpPr>
        <p:spPr>
          <a:xfrm>
            <a:off x="566928" y="6144768"/>
            <a:ext cx="10140696" cy="274320"/>
          </a:xfrm>
          <a:prstGeom prst="rect">
            <a:avLst/>
          </a:prstGeom>
          <a:noFill/>
          <a:ln/>
        </p:spPr>
        <p:txBody>
          <a:bodyPr wrap="square" lIns="0" tIns="0" rIns="0" bIns="0" rtlCol="0" anchor="ctr"/>
          <a:lstStyle/>
          <a:p>
            <a:pPr indent="0" marL="0">
              <a:buNone/>
            </a:pPr>
            <a:r>
              <a:rPr lang="en-US" sz="1050" i="1" dirty="0">
                <a:solidFill>
                  <a:srgbClr val="6B7785"/>
                </a:solidFill>
                <a:latin typeface="Calibri" pitchFamily="34" charset="0"/>
                <a:ea typeface="Calibri" pitchFamily="34" charset="-122"/>
                <a:cs typeface="Calibri" pitchFamily="34" charset="-120"/>
              </a:rPr>
              <a:t>Source: output/feature_validation_results.csv. Full forty-feature table is Appendix C of the report.</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RESULTS 6.3</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Against the methods field practice actually uses</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17</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Samuel Kaoma  |  2022016530  |  CSC 4004</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7406640" cy="914400"/>
        </p:xfrm>
        <a:graphic>
          <a:graphicData uri="http://schemas.openxmlformats.org/drawingml/2006/table">
            <a:tbl>
              <a:tblPr/>
              <a:tblGrid>
                <a:gridCol w="3291840"/>
                <a:gridCol w="1371600"/>
                <a:gridCol w="1371600"/>
                <a:gridCol w="137160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Method</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Precision</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Recall</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F1</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r>
              <a:tr h="384048">
                <a:tc>
                  <a:txBody>
                    <a:bodyPr/>
                    <a:lstStyle/>
                    <a:p>
                      <a:pPr algn="l" indent="0" marL="0">
                        <a:buNone/>
                      </a:pPr>
                      <a:r>
                        <a:rPr lang="en-US" sz="1300" b="1" dirty="0">
                          <a:solidFill>
                            <a:srgbClr val="1F2933"/>
                          </a:solidFill>
                          <a:latin typeface="Calibri" pitchFamily="34" charset="0"/>
                          <a:ea typeface="Calibri" pitchFamily="34" charset="-122"/>
                          <a:cs typeface="Calibri" pitchFamily="34" charset="-120"/>
                        </a:rPr>
                        <a:t>Full detector</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b="1" dirty="0">
                          <a:solidFill>
                            <a:srgbClr val="0F766E"/>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b="1" dirty="0">
                          <a:solidFill>
                            <a:srgbClr val="0F766E"/>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b="1" dirty="0">
                          <a:solidFill>
                            <a:srgbClr val="0F766E"/>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384048">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Duration-only IQR baseline</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0.9565</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B45309"/>
                          </a:solidFill>
                          <a:latin typeface="Calibri" pitchFamily="34" charset="0"/>
                          <a:ea typeface="Calibri" pitchFamily="34" charset="-122"/>
                          <a:cs typeface="Calibri" pitchFamily="34" charset="-120"/>
                        </a:rPr>
                        <a:t>0.6600</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0.7811</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384048">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Zero back navigation baseline</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B45309"/>
                          </a:solidFill>
                          <a:latin typeface="Calibri" pitchFamily="34" charset="0"/>
                          <a:ea typeface="Calibri" pitchFamily="34" charset="-122"/>
                          <a:cs typeface="Calibri" pitchFamily="34" charset="-120"/>
                        </a:rPr>
                        <a:t>0.4648</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B45309"/>
                          </a:solidFill>
                          <a:latin typeface="Calibri" pitchFamily="34" charset="0"/>
                          <a:ea typeface="Calibri" pitchFamily="34" charset="-122"/>
                          <a:cs typeface="Calibri" pitchFamily="34" charset="-120"/>
                        </a:rPr>
                        <a:t>0.6600</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0.5455</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bl>
          </a:graphicData>
        </a:graphic>
      </p:graphicFrame>
      <p:sp>
        <p:nvSpPr>
          <p:cNvPr id="7" name="Text 4"/>
          <p:cNvSpPr txBox="1"/>
          <p:nvPr/>
        </p:nvSpPr>
        <p:spPr>
          <a:xfrm>
            <a:off x="566928" y="3246120"/>
            <a:ext cx="7406640" cy="1097280"/>
          </a:xfrm>
          <a:prstGeom prst="rect">
            <a:avLst/>
          </a:prstGeom>
          <a:noFill/>
          <a:ln/>
        </p:spPr>
        <p:txBody>
          <a:bodyPr wrap="square" lIns="0" tIns="0" rIns="0" bIns="0" rtlCol="0" anchor="ctr"/>
          <a:lstStyle/>
          <a:p>
            <a:pPr indent="0" marL="0">
              <a:lnSpc>
                <a:spcPts val="1750"/>
              </a:lnSpc>
              <a:buNone/>
            </a:pPr>
            <a:r>
              <a:rPr lang="en-US" sz="1250" dirty="0">
                <a:solidFill>
                  <a:srgbClr val="1F2933"/>
                </a:solidFill>
                <a:latin typeface="Calibri" pitchFamily="34" charset="0"/>
                <a:ea typeface="Calibri" pitchFamily="34" charset="-122"/>
                <a:cs typeface="Calibri" pitchFamily="34" charset="-120"/>
              </a:rPr>
              <a:t>The duration-only baseline misses 34 of the 100 anomalies, every one with a total duration inside the fences.</a:t>
            </a:r>
            <a:endParaRPr lang="en-US" sz="1250" dirty="0"/>
          </a:p>
          <a:p>
            <a:pPr indent="0" marL="0">
              <a:lnSpc>
                <a:spcPts val="1750"/>
              </a:lnSpc>
              <a:buNone/>
            </a:pPr>
            <a:r>
              <a:rPr lang="en-US" sz="600" dirty="0">
                <a:solidFill>
                  <a:srgbClr val="1F2933"/>
                </a:solidFill>
                <a:latin typeface="Calibri" pitchFamily="34" charset="0"/>
                <a:ea typeface="Calibri" pitchFamily="34" charset="-122"/>
                <a:cs typeface="Calibri" pitchFamily="34" charset="-120"/>
              </a:rPr>
              <a:t> </a:t>
            </a:r>
            <a:endParaRPr lang="en-US" sz="1250" dirty="0"/>
          </a:p>
          <a:p>
            <a:pPr indent="0" marL="0">
              <a:lnSpc>
                <a:spcPts val="1750"/>
              </a:lnSpc>
              <a:buNone/>
            </a:pPr>
            <a:r>
              <a:rPr lang="en-US" sz="1250" dirty="0">
                <a:solidFill>
                  <a:srgbClr val="1F2933"/>
                </a:solidFill>
                <a:latin typeface="Calibri" pitchFamily="34" charset="0"/>
                <a:ea typeface="Calibri" pitchFamily="34" charset="-122"/>
                <a:cs typeface="Calibri" pitchFamily="34" charset="-120"/>
              </a:rPr>
              <a:t>The zero back-navigation baseline flags 142 interviews to find the same 66, giving 76 false positives. Neither meets the 0.75 recall threshold.</a:t>
            </a:r>
            <a:endParaRPr lang="en-US" sz="1250" dirty="0"/>
          </a:p>
        </p:txBody>
      </p:sp>
      <p:sp>
        <p:nvSpPr>
          <p:cNvPr id="8" name="Shape 5"/>
          <p:cNvSpPr/>
          <p:nvPr/>
        </p:nvSpPr>
        <p:spPr>
          <a:xfrm>
            <a:off x="8229600" y="1371600"/>
            <a:ext cx="3401568" cy="1572768"/>
          </a:xfrm>
          <a:prstGeom prst="roundRect">
            <a:avLst>
              <a:gd name="adj" fmla="val 2907"/>
            </a:avLst>
          </a:prstGeom>
          <a:solidFill>
            <a:srgbClr val="EEF2F6"/>
          </a:solidFill>
          <a:ln w="12700">
            <a:solidFill>
              <a:srgbClr val="EEF2F6"/>
            </a:solidFill>
            <a:prstDash val="solid"/>
          </a:ln>
        </p:spPr>
        <p:txBody>
          <a:bodyPr/>
          <a:p/>
        </p:txBody>
      </p:sp>
      <p:sp>
        <p:nvSpPr>
          <p:cNvPr id="9" name="Text 6"/>
          <p:cNvSpPr txBox="1"/>
          <p:nvPr/>
        </p:nvSpPr>
        <p:spPr>
          <a:xfrm>
            <a:off x="8375904" y="1517904"/>
            <a:ext cx="3108960" cy="749808"/>
          </a:xfrm>
          <a:prstGeom prst="rect">
            <a:avLst/>
          </a:prstGeom>
          <a:noFill/>
          <a:ln/>
        </p:spPr>
        <p:txBody>
          <a:bodyPr wrap="square" lIns="0" tIns="0" rIns="0" bIns="0" rtlCol="0" anchor="ctr"/>
          <a:lstStyle/>
          <a:p>
            <a:pPr algn="ctr" indent="0" marL="0">
              <a:buNone/>
            </a:pPr>
            <a:r>
              <a:rPr lang="en-US" sz="3400" b="1" dirty="0">
                <a:solidFill>
                  <a:srgbClr val="0F766E"/>
                </a:solidFill>
                <a:latin typeface="Cambria" pitchFamily="34" charset="0"/>
                <a:ea typeface="Cambria" pitchFamily="34" charset="-122"/>
                <a:cs typeface="Cambria" pitchFamily="34" charset="-120"/>
              </a:rPr>
              <a:t>+34%</a:t>
            </a:r>
            <a:endParaRPr lang="en-US" sz="3400" dirty="0"/>
          </a:p>
        </p:txBody>
      </p:sp>
      <p:sp>
        <p:nvSpPr>
          <p:cNvPr id="10" name="Text 7"/>
          <p:cNvSpPr txBox="1"/>
          <p:nvPr/>
        </p:nvSpPr>
        <p:spPr>
          <a:xfrm>
            <a:off x="8375904" y="2286000"/>
            <a:ext cx="3108960" cy="548640"/>
          </a:xfrm>
          <a:prstGeom prst="rect">
            <a:avLst/>
          </a:prstGeom>
          <a:noFill/>
          <a:ln/>
        </p:spPr>
        <p:txBody>
          <a:bodyPr wrap="square" lIns="0" tIns="0" rIns="0" bIns="0" rtlCol="0" anchor="ctr"/>
          <a:lstStyle/>
          <a:p>
            <a:pPr algn="ctr" indent="0" marL="0">
              <a:lnSpc>
                <a:spcPts val="1500"/>
              </a:lnSpc>
              <a:buNone/>
            </a:pPr>
            <a:r>
              <a:rPr lang="en-US" sz="1150" dirty="0">
                <a:solidFill>
                  <a:srgbClr val="1F2933"/>
                </a:solidFill>
                <a:latin typeface="Calibri" pitchFamily="34" charset="0"/>
                <a:ea typeface="Calibri" pitchFamily="34" charset="-122"/>
                <a:cs typeface="Calibri" pitchFamily="34" charset="-120"/>
              </a:rPr>
              <a:t>recall over the check</a:t>
            </a:r>
            <a:endParaRPr lang="en-US" sz="1150" dirty="0"/>
          </a:p>
          <a:p>
            <a:pPr algn="ctr" indent="0" marL="0">
              <a:lnSpc>
                <a:spcPts val="1500"/>
              </a:lnSpc>
              <a:buNone/>
            </a:pPr>
            <a:r>
              <a:rPr lang="en-US" sz="1150" dirty="0">
                <a:solidFill>
                  <a:srgbClr val="1F2933"/>
                </a:solidFill>
                <a:latin typeface="Calibri" pitchFamily="34" charset="0"/>
                <a:ea typeface="Calibri" pitchFamily="34" charset="-122"/>
                <a:cs typeface="Calibri" pitchFamily="34" charset="-120"/>
              </a:rPr>
              <a:t>field teams actually run</a:t>
            </a:r>
            <a:endParaRPr lang="en-US" sz="1150" dirty="0"/>
          </a:p>
        </p:txBody>
      </p:sp>
      <p:sp>
        <p:nvSpPr>
          <p:cNvPr id="11" name="Text 8"/>
          <p:cNvSpPr txBox="1"/>
          <p:nvPr/>
        </p:nvSpPr>
        <p:spPr>
          <a:xfrm>
            <a:off x="8229600" y="3154680"/>
            <a:ext cx="3401568" cy="1097280"/>
          </a:xfrm>
          <a:prstGeom prst="rect">
            <a:avLst/>
          </a:prstGeom>
          <a:noFill/>
          <a:ln/>
        </p:spPr>
        <p:txBody>
          <a:bodyPr wrap="square" lIns="0" tIns="0" rIns="0" bIns="0" rtlCol="0" anchor="ctr"/>
          <a:lstStyle/>
          <a:p>
            <a:pPr indent="0" marL="0">
              <a:lnSpc>
                <a:spcPts val="1600"/>
              </a:lnSpc>
              <a:buNone/>
            </a:pPr>
            <a:r>
              <a:rPr lang="en-US" sz="1150" dirty="0">
                <a:solidFill>
                  <a:srgbClr val="6B7785"/>
                </a:solidFill>
                <a:latin typeface="Calibri" pitchFamily="34" charset="0"/>
                <a:ea typeface="Calibri" pitchFamily="34" charset="-122"/>
                <a:cs typeface="Calibri" pitchFamily="34" charset="-120"/>
              </a:rPr>
              <a:t>All three methods are computed from the same raw files, the same features and the same labels inside one script, so the comparison involves no manual step.</a:t>
            </a:r>
            <a:endParaRPr lang="en-US" sz="1150" dirty="0"/>
          </a:p>
        </p:txBody>
      </p:sp>
      <p:sp>
        <p:nvSpPr>
          <p:cNvPr id="12" name="Shape 9"/>
          <p:cNvSpPr/>
          <p:nvPr/>
        </p:nvSpPr>
        <p:spPr>
          <a:xfrm>
            <a:off x="566928" y="5029200"/>
            <a:ext cx="11055096" cy="566928"/>
          </a:xfrm>
          <a:prstGeom prst="roundRect">
            <a:avLst>
              <a:gd name="adj" fmla="val 9677"/>
            </a:avLst>
          </a:prstGeom>
          <a:solidFill>
            <a:srgbClr val="EEF2F6"/>
          </a:solidFill>
          <a:ln w="12700">
            <a:solidFill>
              <a:srgbClr val="EEF2F6"/>
            </a:solidFill>
            <a:prstDash val="solid"/>
          </a:ln>
        </p:spPr>
        <p:txBody>
          <a:bodyPr/>
          <a:p/>
        </p:txBody>
      </p:sp>
      <p:sp>
        <p:nvSpPr>
          <p:cNvPr id="13" name="Shape 10"/>
          <p:cNvSpPr/>
          <p:nvPr/>
        </p:nvSpPr>
        <p:spPr>
          <a:xfrm>
            <a:off x="694944" y="5157216"/>
            <a:ext cx="91440" cy="310896"/>
          </a:xfrm>
          <a:prstGeom prst="roundRect">
            <a:avLst>
              <a:gd name="adj" fmla="val 40000"/>
            </a:avLst>
          </a:prstGeom>
          <a:solidFill>
            <a:srgbClr val="0F766E"/>
          </a:solidFill>
          <a:ln w="12700">
            <a:solidFill>
              <a:srgbClr val="0F766E"/>
            </a:solidFill>
            <a:prstDash val="solid"/>
          </a:ln>
        </p:spPr>
        <p:txBody>
          <a:bodyPr/>
          <a:p/>
        </p:txBody>
      </p:sp>
      <p:sp>
        <p:nvSpPr>
          <p:cNvPr id="14" name="Text 11"/>
          <p:cNvSpPr txBox="1"/>
          <p:nvPr/>
        </p:nvSpPr>
        <p:spPr>
          <a:xfrm>
            <a:off x="932688" y="5074920"/>
            <a:ext cx="10506456" cy="475488"/>
          </a:xfrm>
          <a:prstGeom prst="rect">
            <a:avLst/>
          </a:prstGeom>
          <a:noFill/>
          <a:ln/>
        </p:spPr>
        <p:txBody>
          <a:bodyPr wrap="square" lIns="0" tIns="0" rIns="0" bIns="0" rtlCol="0" anchor="ctr"/>
          <a:lstStyle/>
          <a:p>
            <a:pPr indent="0" marL="0">
              <a:buNone/>
            </a:pPr>
            <a:r>
              <a:rPr lang="en-US" sz="1350" b="1" dirty="0">
                <a:solidFill>
                  <a:srgbClr val="1F2933"/>
                </a:solidFill>
                <a:latin typeface="Calibri" pitchFamily="34" charset="0"/>
                <a:ea typeface="Calibri" pitchFamily="34" charset="-122"/>
                <a:cs typeface="Calibri" pitchFamily="34" charset="-120"/>
              </a:rPr>
              <a:t>This is the central result: multi-feature timing analysis captures about a third of anomalies that aggregate duration cannot see.</a:t>
            </a:r>
            <a:endParaRPr lang="en-US" sz="1350" dirty="0"/>
          </a:p>
        </p:txBody>
      </p:sp>
      <p:sp>
        <p:nvSpPr>
          <p:cNvPr id="15" name="Text 12"/>
          <p:cNvSpPr txBox="1"/>
          <p:nvPr/>
        </p:nvSpPr>
        <p:spPr>
          <a:xfrm>
            <a:off x="566928" y="6144768"/>
            <a:ext cx="10140696" cy="274320"/>
          </a:xfrm>
          <a:prstGeom prst="rect">
            <a:avLst/>
          </a:prstGeom>
          <a:noFill/>
          <a:ln/>
        </p:spPr>
        <p:txBody>
          <a:bodyPr wrap="square" lIns="0" tIns="0" rIns="0" bIns="0" rtlCol="0" anchor="ctr"/>
          <a:lstStyle/>
          <a:p>
            <a:pPr indent="0" marL="0">
              <a:buNone/>
            </a:pPr>
            <a:r>
              <a:rPr lang="en-US" sz="1050" i="1" dirty="0">
                <a:solidFill>
                  <a:srgbClr val="6B7785"/>
                </a:solidFill>
                <a:latin typeface="Calibri" pitchFamily="34" charset="0"/>
                <a:ea typeface="Calibri" pitchFamily="34" charset="-122"/>
                <a:cs typeface="Calibri" pitchFamily="34" charset="-120"/>
              </a:rPr>
              <a:t>Source: output/examiner_audit/strict_examiner_audit_report.md, n500 SurveyCTO benchmark.</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RESULTS 6.3</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Turning the same scrutiny inward</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18</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Samuel Kaoma  |  2022016530  |  CSC 4004</a:t>
            </a:r>
            <a:endParaRPr lang="en-US" sz="1000" dirty="0"/>
          </a:p>
        </p:txBody>
      </p:sp>
      <p:sp>
        <p:nvSpPr>
          <p:cNvPr id="6" name="Text 4"/>
          <p:cNvSpPr txBox="1"/>
          <p:nvPr/>
        </p:nvSpPr>
        <p:spPr>
          <a:xfrm>
            <a:off x="566928" y="1371600"/>
            <a:ext cx="11055096" cy="384048"/>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The proposal foregrounded IQR thresholding. Isolating the two halves of my own detector shows that is not where the detection comes from.</a:t>
            </a:r>
            <a:endParaRPr lang="en-US" sz="1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1920240"/>
          <a:ext cx="11055096" cy="914400"/>
        </p:xfrm>
        <a:graphic>
          <a:graphicData uri="http://schemas.openxmlformats.org/drawingml/2006/table">
            <a:tbl>
              <a:tblPr/>
              <a:tblGrid>
                <a:gridCol w="3200400"/>
                <a:gridCol w="1371600"/>
                <a:gridCol w="1234440"/>
                <a:gridCol w="1234440"/>
                <a:gridCol w="1005840"/>
                <a:gridCol w="1005840"/>
                <a:gridCol w="2002536"/>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Component</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Precision</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Recall</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F1</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TP</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FP</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FN</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r>
              <a:tr h="384048">
                <a:tc>
                  <a:txBody>
                    <a:bodyPr/>
                    <a:lstStyle/>
                    <a:p>
                      <a:pPr algn="l" indent="0" marL="0">
                        <a:buNone/>
                      </a:pPr>
                      <a:r>
                        <a:rPr lang="en-US" sz="1250" b="1" dirty="0">
                          <a:solidFill>
                            <a:srgbClr val="1F2933"/>
                          </a:solidFill>
                          <a:latin typeface="Calibri" pitchFamily="34" charset="0"/>
                          <a:ea typeface="Calibri" pitchFamily="34" charset="-122"/>
                          <a:cs typeface="Calibri" pitchFamily="34" charset="-120"/>
                        </a:rPr>
                        <a:t>Combined, as shipped</a:t>
                      </a:r>
                      <a:endParaRPr lang="en-US" sz="12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50" dirty="0">
                          <a:solidFill>
                            <a:srgbClr val="1F2933"/>
                          </a:solidFill>
                          <a:latin typeface="Calibri" pitchFamily="34" charset="0"/>
                          <a:ea typeface="Calibri" pitchFamily="34" charset="-122"/>
                          <a:cs typeface="Calibri" pitchFamily="34" charset="-120"/>
                        </a:rPr>
                        <a:t>0.9920</a:t>
                      </a:r>
                      <a:endParaRPr lang="en-US" sz="12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50" dirty="0">
                          <a:solidFill>
                            <a:srgbClr val="1F2933"/>
                          </a:solidFill>
                          <a:latin typeface="Calibri" pitchFamily="34" charset="0"/>
                          <a:ea typeface="Calibri" pitchFamily="34" charset="-122"/>
                          <a:cs typeface="Calibri" pitchFamily="34" charset="-120"/>
                        </a:rPr>
                        <a:t>0.9416</a:t>
                      </a:r>
                      <a:endParaRPr lang="en-US" sz="12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50" dirty="0">
                          <a:solidFill>
                            <a:srgbClr val="1F2933"/>
                          </a:solidFill>
                          <a:latin typeface="Calibri" pitchFamily="34" charset="0"/>
                          <a:ea typeface="Calibri" pitchFamily="34" charset="-122"/>
                          <a:cs typeface="Calibri" pitchFamily="34" charset="-120"/>
                        </a:rPr>
                        <a:t>0.9662</a:t>
                      </a:r>
                      <a:endParaRPr lang="en-US" sz="12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50" dirty="0">
                          <a:solidFill>
                            <a:srgbClr val="1F2933"/>
                          </a:solidFill>
                          <a:latin typeface="Calibri" pitchFamily="34" charset="0"/>
                          <a:ea typeface="Calibri" pitchFamily="34" charset="-122"/>
                          <a:cs typeface="Calibri" pitchFamily="34" charset="-120"/>
                        </a:rPr>
                        <a:t>871</a:t>
                      </a:r>
                      <a:endParaRPr lang="en-US" sz="12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50" dirty="0">
                          <a:solidFill>
                            <a:srgbClr val="1F2933"/>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50" dirty="0">
                          <a:solidFill>
                            <a:srgbClr val="1F2933"/>
                          </a:solidFill>
                          <a:latin typeface="Calibri" pitchFamily="34" charset="0"/>
                          <a:ea typeface="Calibri" pitchFamily="34" charset="-122"/>
                          <a:cs typeface="Calibri" pitchFamily="34" charset="-120"/>
                        </a:rPr>
                        <a:t>54</a:t>
                      </a:r>
                      <a:endParaRPr lang="en-US" sz="12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384048">
                <a:tc>
                  <a:txBody>
                    <a:bodyPr/>
                    <a:lstStyle/>
                    <a:p>
                      <a:pPr algn="l" indent="0" marL="0">
                        <a:buNone/>
                      </a:pPr>
                      <a:r>
                        <a:rPr lang="en-US" sz="1250" dirty="0">
                          <a:solidFill>
                            <a:srgbClr val="1F2933"/>
                          </a:solidFill>
                          <a:latin typeface="Calibri" pitchFamily="34" charset="0"/>
                          <a:ea typeface="Calibri" pitchFamily="34" charset="-122"/>
                          <a:cs typeface="Calibri" pitchFamily="34" charset="-120"/>
                        </a:rPr>
                        <a:t>Rules only</a:t>
                      </a:r>
                      <a:endParaRPr lang="en-US" sz="12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50" b="1" dirty="0">
                          <a:solidFill>
                            <a:srgbClr val="0F766E"/>
                          </a:solidFill>
                          <a:latin typeface="Calibri" pitchFamily="34" charset="0"/>
                          <a:ea typeface="Calibri" pitchFamily="34" charset="-122"/>
                          <a:cs typeface="Calibri" pitchFamily="34" charset="-120"/>
                        </a:rPr>
                        <a:t>0.9988</a:t>
                      </a:r>
                      <a:endParaRPr lang="en-US" sz="12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50" b="1" dirty="0">
                          <a:solidFill>
                            <a:srgbClr val="0F766E"/>
                          </a:solidFill>
                          <a:latin typeface="Calibri" pitchFamily="34" charset="0"/>
                          <a:ea typeface="Calibri" pitchFamily="34" charset="-122"/>
                          <a:cs typeface="Calibri" pitchFamily="34" charset="-120"/>
                        </a:rPr>
                        <a:t>0.9319</a:t>
                      </a:r>
                      <a:endParaRPr lang="en-US" sz="12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50" dirty="0">
                          <a:solidFill>
                            <a:srgbClr val="1F2933"/>
                          </a:solidFill>
                          <a:latin typeface="Calibri" pitchFamily="34" charset="0"/>
                          <a:ea typeface="Calibri" pitchFamily="34" charset="-122"/>
                          <a:cs typeface="Calibri" pitchFamily="34" charset="-120"/>
                        </a:rPr>
                        <a:t>0.9642</a:t>
                      </a:r>
                      <a:endParaRPr lang="en-US" sz="12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50" dirty="0">
                          <a:solidFill>
                            <a:srgbClr val="1F2933"/>
                          </a:solidFill>
                          <a:latin typeface="Calibri" pitchFamily="34" charset="0"/>
                          <a:ea typeface="Calibri" pitchFamily="34" charset="-122"/>
                          <a:cs typeface="Calibri" pitchFamily="34" charset="-120"/>
                        </a:rPr>
                        <a:t>862</a:t>
                      </a:r>
                      <a:endParaRPr lang="en-US" sz="12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50" dirty="0">
                          <a:solidFill>
                            <a:srgbClr val="1F2933"/>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50" dirty="0">
                          <a:solidFill>
                            <a:srgbClr val="1F2933"/>
                          </a:solidFill>
                          <a:latin typeface="Calibri" pitchFamily="34" charset="0"/>
                          <a:ea typeface="Calibri" pitchFamily="34" charset="-122"/>
                          <a:cs typeface="Calibri" pitchFamily="34" charset="-120"/>
                        </a:rPr>
                        <a:t>63</a:t>
                      </a:r>
                      <a:endParaRPr lang="en-US" sz="12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384048">
                <a:tc>
                  <a:txBody>
                    <a:bodyPr/>
                    <a:lstStyle/>
                    <a:p>
                      <a:pPr algn="l" indent="0" marL="0">
                        <a:buNone/>
                      </a:pPr>
                      <a:r>
                        <a:rPr lang="en-US" sz="1250" dirty="0">
                          <a:solidFill>
                            <a:srgbClr val="1F2933"/>
                          </a:solidFill>
                          <a:latin typeface="Calibri" pitchFamily="34" charset="0"/>
                          <a:ea typeface="Calibri" pitchFamily="34" charset="-122"/>
                          <a:cs typeface="Calibri" pitchFamily="34" charset="-120"/>
                        </a:rPr>
                        <a:t>Interquartile fences only</a:t>
                      </a:r>
                      <a:endParaRPr lang="en-US" sz="12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50" b="1" dirty="0">
                          <a:solidFill>
                            <a:srgbClr val="B45309"/>
                          </a:solidFill>
                          <a:latin typeface="Calibri" pitchFamily="34" charset="0"/>
                          <a:ea typeface="Calibri" pitchFamily="34" charset="-122"/>
                          <a:cs typeface="Calibri" pitchFamily="34" charset="-120"/>
                        </a:rPr>
                        <a:t>0.6628</a:t>
                      </a:r>
                      <a:endParaRPr lang="en-US" sz="12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50" b="1" dirty="0">
                          <a:solidFill>
                            <a:srgbClr val="B45309"/>
                          </a:solidFill>
                          <a:latin typeface="Calibri" pitchFamily="34" charset="0"/>
                          <a:ea typeface="Calibri" pitchFamily="34" charset="-122"/>
                          <a:cs typeface="Calibri" pitchFamily="34" charset="-120"/>
                        </a:rPr>
                        <a:t>0.6162</a:t>
                      </a:r>
                      <a:endParaRPr lang="en-US" sz="12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50" dirty="0">
                          <a:solidFill>
                            <a:srgbClr val="1F2933"/>
                          </a:solidFill>
                          <a:latin typeface="Calibri" pitchFamily="34" charset="0"/>
                          <a:ea typeface="Calibri" pitchFamily="34" charset="-122"/>
                          <a:cs typeface="Calibri" pitchFamily="34" charset="-120"/>
                        </a:rPr>
                        <a:t>0.6387</a:t>
                      </a:r>
                      <a:endParaRPr lang="en-US" sz="12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50" dirty="0">
                          <a:solidFill>
                            <a:srgbClr val="1F2933"/>
                          </a:solidFill>
                          <a:latin typeface="Calibri" pitchFamily="34" charset="0"/>
                          <a:ea typeface="Calibri" pitchFamily="34" charset="-122"/>
                          <a:cs typeface="Calibri" pitchFamily="34" charset="-120"/>
                        </a:rPr>
                        <a:t>570</a:t>
                      </a:r>
                      <a:endParaRPr lang="en-US" sz="12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50" dirty="0">
                          <a:solidFill>
                            <a:srgbClr val="1F2933"/>
                          </a:solidFill>
                          <a:latin typeface="Calibri" pitchFamily="34" charset="0"/>
                          <a:ea typeface="Calibri" pitchFamily="34" charset="-122"/>
                          <a:cs typeface="Calibri" pitchFamily="34" charset="-120"/>
                        </a:rPr>
                        <a:t>290</a:t>
                      </a:r>
                      <a:endParaRPr lang="en-US" sz="12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250" dirty="0">
                          <a:solidFill>
                            <a:srgbClr val="1F2933"/>
                          </a:solidFill>
                          <a:latin typeface="Calibri" pitchFamily="34" charset="0"/>
                          <a:ea typeface="Calibri" pitchFamily="34" charset="-122"/>
                          <a:cs typeface="Calibri" pitchFamily="34" charset="-120"/>
                        </a:rPr>
                        <a:t>355</a:t>
                      </a:r>
                      <a:endParaRPr lang="en-US" sz="12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bl>
          </a:graphicData>
        </a:graphic>
      </p:graphicFrame>
      <p:sp>
        <p:nvSpPr>
          <p:cNvPr id="8" name="Text 5"/>
          <p:cNvSpPr txBox="1"/>
          <p:nvPr/>
        </p:nvSpPr>
        <p:spPr>
          <a:xfrm>
            <a:off x="566928" y="3703320"/>
            <a:ext cx="6858000" cy="1371600"/>
          </a:xfrm>
          <a:prstGeom prst="rect">
            <a:avLst/>
          </a:prstGeom>
          <a:noFill/>
          <a:ln/>
        </p:spPr>
        <p:txBody>
          <a:bodyPr wrap="square" lIns="0" tIns="0" rIns="0" bIns="0" rtlCol="0" anchor="ctr"/>
          <a:lstStyle/>
          <a:p>
            <a:pPr indent="0" marL="0">
              <a:lnSpc>
                <a:spcPts val="1750"/>
              </a:lnSpc>
              <a:buNone/>
            </a:pPr>
            <a:r>
              <a:rPr lang="en-US" sz="1250" b="1" dirty="0">
                <a:solidFill>
                  <a:srgbClr val="1F2933"/>
                </a:solidFill>
                <a:latin typeface="Calibri" pitchFamily="34" charset="0"/>
                <a:ea typeface="Calibri" pitchFamily="34" charset="-122"/>
                <a:cs typeface="Calibri" pitchFamily="34" charset="-120"/>
              </a:rPr>
              <a:t>The rule layer carries it. </a:t>
            </a:r>
            <a:pPr indent="0" marL="0">
              <a:lnSpc>
                <a:spcPts val="1750"/>
              </a:lnSpc>
              <a:buNone/>
            </a:pPr>
            <a:r>
              <a:rPr lang="en-US" sz="1250" dirty="0">
                <a:solidFill>
                  <a:srgbClr val="1F2933"/>
                </a:solidFill>
                <a:latin typeface="Calibri" pitchFamily="34" charset="0"/>
                <a:ea typeface="Calibri" pitchFamily="34" charset="-122"/>
                <a:cs typeface="Calibri" pitchFamily="34" charset="-120"/>
              </a:rPr>
              <a:t>On its own it is within a point of the combined detector on both measures. Adding the fences recovers nine true positives the rules miss and costs six false positives: recall 0.9319 to 0.9416, precision 0.9988 to 0.9920. That is the entire measured contribution of the statistical component.</a:t>
            </a:r>
            <a:endParaRPr lang="en-US" sz="1250" dirty="0"/>
          </a:p>
        </p:txBody>
      </p:sp>
      <p:sp>
        <p:nvSpPr>
          <p:cNvPr id="9" name="Shape 6"/>
          <p:cNvSpPr/>
          <p:nvPr/>
        </p:nvSpPr>
        <p:spPr>
          <a:xfrm>
            <a:off x="7726680" y="3657600"/>
            <a:ext cx="3904488" cy="1417320"/>
          </a:xfrm>
          <a:prstGeom prst="roundRect">
            <a:avLst>
              <a:gd name="adj" fmla="val 3226"/>
            </a:avLst>
          </a:prstGeom>
          <a:solidFill>
            <a:srgbClr val="EEF2F6"/>
          </a:solidFill>
          <a:ln w="12700">
            <a:solidFill>
              <a:srgbClr val="EEF2F6"/>
            </a:solidFill>
            <a:prstDash val="solid"/>
          </a:ln>
        </p:spPr>
        <p:txBody>
          <a:bodyPr/>
          <a:p/>
        </p:txBody>
      </p:sp>
      <p:sp>
        <p:nvSpPr>
          <p:cNvPr id="10" name="Text 7"/>
          <p:cNvSpPr txBox="1"/>
          <p:nvPr/>
        </p:nvSpPr>
        <p:spPr>
          <a:xfrm>
            <a:off x="7936992" y="3767328"/>
            <a:ext cx="3502152" cy="1234440"/>
          </a:xfrm>
          <a:prstGeom prst="rect">
            <a:avLst/>
          </a:prstGeom>
          <a:noFill/>
          <a:ln/>
        </p:spPr>
        <p:txBody>
          <a:bodyPr wrap="square" lIns="0" tIns="0" rIns="0" bIns="0" rtlCol="0" anchor="ctr"/>
          <a:lstStyle/>
          <a:p>
            <a:pPr indent="0" marL="0">
              <a:lnSpc>
                <a:spcPts val="1500"/>
              </a:lnSpc>
              <a:buNone/>
            </a:pPr>
            <a:r>
              <a:rPr lang="en-US" sz="1100" b="1" dirty="0">
                <a:solidFill>
                  <a:srgbClr val="B45309"/>
                </a:solidFill>
                <a:latin typeface="Calibri" pitchFamily="34" charset="0"/>
                <a:ea typeface="Calibri" pitchFamily="34" charset="-122"/>
                <a:cs typeface="Calibri" pitchFamily="34" charset="-120"/>
              </a:rPr>
              <a:t>Masking, measured.  </a:t>
            </a:r>
            <a:pPr indent="0" marL="0">
              <a:lnSpc>
                <a:spcPts val="1500"/>
              </a:lnSpc>
              <a:buNone/>
            </a:pPr>
            <a:r>
              <a:rPr lang="en-US" sz="1100" dirty="0">
                <a:solidFill>
                  <a:srgbClr val="1F2933"/>
                </a:solidFill>
                <a:latin typeface="Calibri" pitchFamily="34" charset="0"/>
                <a:ea typeface="Calibri" pitchFamily="34" charset="-122"/>
                <a:cs typeface="Calibri" pitchFamily="34" charset="-120"/>
              </a:rPr>
              <a:t>IQR recall holds at 1.00 through 5, 10 and 20 percent prevalence, then falls to 0.6667 at 30 percent. The fences are estimated from data containing the outliers they are meant to isolate, so as contamination rises the quartiles move with it.</a:t>
            </a:r>
            <a:endParaRPr lang="en-US" sz="1100" dirty="0"/>
          </a:p>
        </p:txBody>
      </p:sp>
      <p:sp>
        <p:nvSpPr>
          <p:cNvPr id="11" name="Shape 8"/>
          <p:cNvSpPr/>
          <p:nvPr/>
        </p:nvSpPr>
        <p:spPr>
          <a:xfrm>
            <a:off x="566928" y="5440680"/>
            <a:ext cx="11055096" cy="566928"/>
          </a:xfrm>
          <a:prstGeom prst="roundRect">
            <a:avLst>
              <a:gd name="adj" fmla="val 9677"/>
            </a:avLst>
          </a:prstGeom>
          <a:solidFill>
            <a:srgbClr val="EEF2F6"/>
          </a:solidFill>
          <a:ln w="12700">
            <a:solidFill>
              <a:srgbClr val="EEF2F6"/>
            </a:solidFill>
            <a:prstDash val="solid"/>
          </a:ln>
        </p:spPr>
        <p:txBody>
          <a:bodyPr/>
          <a:p/>
        </p:txBody>
      </p:sp>
      <p:sp>
        <p:nvSpPr>
          <p:cNvPr id="12" name="Shape 9"/>
          <p:cNvSpPr/>
          <p:nvPr/>
        </p:nvSpPr>
        <p:spPr>
          <a:xfrm>
            <a:off x="694944" y="5568696"/>
            <a:ext cx="91440" cy="310896"/>
          </a:xfrm>
          <a:prstGeom prst="roundRect">
            <a:avLst>
              <a:gd name="adj" fmla="val 40000"/>
            </a:avLst>
          </a:prstGeom>
          <a:solidFill>
            <a:srgbClr val="B45309"/>
          </a:solidFill>
          <a:ln w="12700">
            <a:solidFill>
              <a:srgbClr val="B45309"/>
            </a:solidFill>
            <a:prstDash val="solid"/>
          </a:ln>
        </p:spPr>
        <p:txBody>
          <a:bodyPr/>
          <a:p/>
        </p:txBody>
      </p:sp>
      <p:sp>
        <p:nvSpPr>
          <p:cNvPr id="13" name="Text 10"/>
          <p:cNvSpPr txBox="1"/>
          <p:nvPr/>
        </p:nvSpPr>
        <p:spPr>
          <a:xfrm>
            <a:off x="932688" y="5486400"/>
            <a:ext cx="10506456" cy="475488"/>
          </a:xfrm>
          <a:prstGeom prst="rect">
            <a:avLst/>
          </a:prstGeom>
          <a:noFill/>
          <a:ln/>
        </p:spPr>
        <p:txBody>
          <a:bodyPr wrap="square" lIns="0" tIns="0" rIns="0" bIns="0" rtlCol="0" anchor="ctr"/>
          <a:lstStyle/>
          <a:p>
            <a:pPr indent="0" marL="0">
              <a:buNone/>
            </a:pPr>
            <a:r>
              <a:rPr lang="en-US" sz="1350" b="1" dirty="0">
                <a:solidFill>
                  <a:srgbClr val="1F2933"/>
                </a:solidFill>
                <a:latin typeface="Calibri" pitchFamily="34" charset="0"/>
                <a:ea typeface="Calibri" pitchFamily="34" charset="-122"/>
                <a:cs typeface="Calibri" pitchFamily="34" charset="-120"/>
              </a:rPr>
              <a:t>Combining the two is still worth doing, but the margin is small and should be stated as such.</a:t>
            </a:r>
            <a:endParaRPr lang="en-US" sz="1350" dirty="0"/>
          </a:p>
        </p:txBody>
      </p:sp>
      <p:sp>
        <p:nvSpPr>
          <p:cNvPr id="14" name="Text 11"/>
          <p:cNvSpPr txBox="1"/>
          <p:nvPr/>
        </p:nvSpPr>
        <p:spPr>
          <a:xfrm>
            <a:off x="566928" y="6144768"/>
            <a:ext cx="10140696" cy="274320"/>
          </a:xfrm>
          <a:prstGeom prst="rect">
            <a:avLst/>
          </a:prstGeom>
          <a:noFill/>
          <a:ln/>
        </p:spPr>
        <p:txBody>
          <a:bodyPr wrap="square" lIns="0" tIns="0" rIns="0" bIns="0" rtlCol="0" anchor="ctr"/>
          <a:lstStyle/>
          <a:p>
            <a:pPr indent="0" marL="0">
              <a:buNone/>
            </a:pPr>
            <a:r>
              <a:rPr lang="en-US" sz="1050" i="1" dirty="0">
                <a:solidFill>
                  <a:srgbClr val="6B7785"/>
                </a:solidFill>
                <a:latin typeface="Calibri" pitchFamily="34" charset="0"/>
                <a:ea typeface="Calibri" pitchFamily="34" charset="-122"/>
                <a:cs typeface="Calibri" pitchFamily="34" charset="-120"/>
              </a:rPr>
              <a:t>Source: output/robustness_validation/component_breakdown.csv, aggregated over all ten runs of the robustness round.</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RESULTS 6.4</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Performance as anomalies get rarer</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19</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Samuel Kaoma  |  2022016530  |  CSC 4004</a:t>
            </a:r>
            <a:endParaRPr lang="en-US" sz="1000" dirty="0"/>
          </a:p>
        </p:txBody>
      </p:sp>
      <p:pic>
        <p:nvPicPr>
          <p:cNvPr id="6" name="Image 0" descr="C:\Users\Samuel\Desktop\4th year\Final year project\SKACE-Time-Data\report\figures\figure2_prevalence.png">    </p:cNvPr>
          <p:cNvPicPr>
            <a:picLocks noChangeAspect="1"/>
          </p:cNvPicPr>
          <p:nvPr/>
        </p:nvPicPr>
        <p:blipFill>
          <a:blip r:embed="rId1"/>
          <a:stretch>
            <a:fillRect/>
          </a:stretch>
        </p:blipFill>
        <p:spPr>
          <a:xfrm>
            <a:off x="566928" y="1371600"/>
            <a:ext cx="6858000" cy="4050792"/>
          </a:xfrm>
          <a:prstGeom prst="rect">
            <a:avLst/>
          </a:prstGeom>
        </p:spPr>
      </p:pic>
      <p:sp>
        <p:nvSpPr>
          <p:cNvPr id="7" name="Text 4"/>
          <p:cNvSpPr txBox="1"/>
          <p:nvPr/>
        </p:nvSpPr>
        <p:spPr>
          <a:xfrm>
            <a:off x="7680960" y="1371600"/>
            <a:ext cx="3950208" cy="3840480"/>
          </a:xfrm>
          <a:prstGeom prst="rect">
            <a:avLst/>
          </a:prstGeom>
          <a:noFill/>
          <a:ln/>
        </p:spPr>
        <p:txBody>
          <a:bodyPr wrap="square" lIns="0" tIns="0" rIns="0" bIns="0" rtlCol="0" anchor="ctr"/>
          <a:lstStyle/>
          <a:p>
            <a:pPr indent="0" marL="0">
              <a:lnSpc>
                <a:spcPts val="1750"/>
              </a:lnSpc>
              <a:buNone/>
            </a:pPr>
            <a:r>
              <a:rPr lang="en-US" sz="1250" b="1" dirty="0">
                <a:solidFill>
                  <a:srgbClr val="1F2933"/>
                </a:solidFill>
                <a:latin typeface="Calibri" pitchFamily="34" charset="0"/>
                <a:ea typeface="Calibri" pitchFamily="34" charset="-122"/>
                <a:cs typeface="Calibri" pitchFamily="34" charset="-120"/>
              </a:rPr>
              <a:t>Recall holds at 1.0000 across the sweep.</a:t>
            </a:r>
            <a:endParaRPr lang="en-US" sz="1250" dirty="0"/>
          </a:p>
          <a:p>
            <a:pPr indent="0" marL="0">
              <a:lnSpc>
                <a:spcPts val="1750"/>
              </a:lnSpc>
              <a:buNone/>
            </a:pPr>
            <a:r>
              <a:rPr lang="en-US" sz="600" dirty="0">
                <a:solidFill>
                  <a:srgbClr val="1F2933"/>
                </a:solidFill>
                <a:latin typeface="Calibri" pitchFamily="34" charset="0"/>
                <a:ea typeface="Calibri" pitchFamily="34" charset="-122"/>
                <a:cs typeface="Calibri" pitchFamily="34" charset="-120"/>
              </a:rPr>
              <a:t> </a:t>
            </a:r>
            <a:endParaRPr lang="en-US" sz="1250" dirty="0"/>
          </a:p>
          <a:p>
            <a:pPr indent="0" marL="0">
              <a:lnSpc>
                <a:spcPts val="1750"/>
              </a:lnSpc>
              <a:buNone/>
            </a:pPr>
            <a:r>
              <a:rPr lang="en-US" sz="1250" dirty="0">
                <a:solidFill>
                  <a:srgbClr val="1F2933"/>
                </a:solidFill>
                <a:latin typeface="Calibri" pitchFamily="34" charset="0"/>
                <a:ea typeface="Calibri" pitchFamily="34" charset="-122"/>
                <a:cs typeface="Calibri" pitchFamily="34" charset="-120"/>
              </a:rPr>
              <a:t>Precision is 1.0000 at 10, 20 and 30 percent and 0.9615 at 5 percent, where a single false positive among twenty-five true anomalies costs almost four points.</a:t>
            </a:r>
            <a:endParaRPr lang="en-US" sz="1250" dirty="0"/>
          </a:p>
          <a:p>
            <a:pPr indent="0" marL="0">
              <a:lnSpc>
                <a:spcPts val="1750"/>
              </a:lnSpc>
              <a:buNone/>
            </a:pPr>
            <a:r>
              <a:rPr lang="en-US" sz="600" dirty="0">
                <a:solidFill>
                  <a:srgbClr val="1F2933"/>
                </a:solidFill>
                <a:latin typeface="Calibri" pitchFamily="34" charset="0"/>
                <a:ea typeface="Calibri" pitchFamily="34" charset="-122"/>
                <a:cs typeface="Calibri" pitchFamily="34" charset="-120"/>
              </a:rPr>
              <a:t> </a:t>
            </a:r>
            <a:endParaRPr lang="en-US" sz="1250" dirty="0"/>
          </a:p>
          <a:p>
            <a:pPr indent="0" marL="0">
              <a:lnSpc>
                <a:spcPts val="1750"/>
              </a:lnSpc>
              <a:buNone/>
            </a:pPr>
            <a:r>
              <a:rPr lang="en-US" sz="1250" dirty="0">
                <a:solidFill>
                  <a:srgbClr val="1F2933"/>
                </a:solidFill>
                <a:latin typeface="Calibri" pitchFamily="34" charset="0"/>
                <a:ea typeface="Calibri" pitchFamily="34" charset="-122"/>
                <a:cs typeface="Calibri" pitchFamily="34" charset="-120"/>
              </a:rPr>
              <a:t>That is a property of the metric, not a failure of the detector, but it matters operationally: real fabrication rates are low, so this quantifies the review burden a deployment should expect.</a:t>
            </a:r>
            <a:endParaRPr lang="en-US" sz="1250" dirty="0"/>
          </a:p>
          <a:p>
            <a:pPr indent="0" marL="0">
              <a:lnSpc>
                <a:spcPts val="1750"/>
              </a:lnSpc>
              <a:buNone/>
            </a:pPr>
            <a:r>
              <a:rPr lang="en-US" sz="600" dirty="0">
                <a:solidFill>
                  <a:srgbClr val="1F2933"/>
                </a:solidFill>
                <a:latin typeface="Calibri" pitchFamily="34" charset="0"/>
                <a:ea typeface="Calibri" pitchFamily="34" charset="-122"/>
                <a:cs typeface="Calibri" pitchFamily="34" charset="-120"/>
              </a:rPr>
              <a:t> </a:t>
            </a:r>
            <a:endParaRPr lang="en-US" sz="1250" dirty="0"/>
          </a:p>
          <a:p>
            <a:pPr indent="0" marL="0">
              <a:lnSpc>
                <a:spcPts val="1750"/>
              </a:lnSpc>
              <a:buNone/>
            </a:pPr>
            <a:r>
              <a:rPr lang="en-US" sz="1250" b="1" dirty="0">
                <a:solidFill>
                  <a:srgbClr val="0F766E"/>
                </a:solidFill>
                <a:latin typeface="Calibri" pitchFamily="34" charset="0"/>
                <a:ea typeface="Calibri" pitchFamily="34" charset="-122"/>
                <a:cs typeface="Calibri" pitchFamily="34" charset="-120"/>
              </a:rPr>
              <a:t>Roughly one false alarm per five hundred interviews at realistic prevalence.</a:t>
            </a:r>
            <a:endParaRPr lang="en-US" sz="1250" dirty="0"/>
          </a:p>
        </p:txBody>
      </p:sp>
      <p:sp>
        <p:nvSpPr>
          <p:cNvPr id="8" name="Text 5"/>
          <p:cNvSpPr txBox="1"/>
          <p:nvPr/>
        </p:nvSpPr>
        <p:spPr>
          <a:xfrm>
            <a:off x="566928" y="6144768"/>
            <a:ext cx="10140696" cy="274320"/>
          </a:xfrm>
          <a:prstGeom prst="rect">
            <a:avLst/>
          </a:prstGeom>
          <a:noFill/>
          <a:ln/>
        </p:spPr>
        <p:txBody>
          <a:bodyPr wrap="square" lIns="0" tIns="0" rIns="0" bIns="0" rtlCol="0" anchor="ctr"/>
          <a:lstStyle/>
          <a:p>
            <a:pPr indent="0" marL="0">
              <a:buNone/>
            </a:pPr>
            <a:r>
              <a:rPr lang="en-US" sz="1050" i="1" dirty="0">
                <a:solidFill>
                  <a:srgbClr val="6B7785"/>
                </a:solidFill>
                <a:latin typeface="Calibri" pitchFamily="34" charset="0"/>
                <a:ea typeface="Calibri" pitchFamily="34" charset="-122"/>
                <a:cs typeface="Calibri" pitchFamily="34" charset="-120"/>
              </a:rPr>
              <a:t>Source: output/robustness_validation/metrics_sweep_r*.csv. Held-out seed 7, canonical difficulty, SurveyCTO, 500 interviews.</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RESULTS 6.5</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Held-out seeds, overlapping profiles</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20</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Samuel Kaoma  |  2022016530  |  CSC 4004</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6675120" cy="914400"/>
        </p:xfrm>
        <a:graphic>
          <a:graphicData uri="http://schemas.openxmlformats.org/drawingml/2006/table">
            <a:tbl>
              <a:tblPr/>
              <a:tblGrid>
                <a:gridCol w="2560320"/>
                <a:gridCol w="1371600"/>
                <a:gridCol w="1371600"/>
                <a:gridCol w="137160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Precision</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Recall</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F1</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r>
              <a:tr h="384048">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Seed 7, SurveyCTO</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0.9770</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0.8500</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0.9091</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384048">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Seed 7, ODK</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B45309"/>
                          </a:solidFill>
                          <a:latin typeface="Calibri" pitchFamily="34" charset="0"/>
                          <a:ea typeface="Calibri" pitchFamily="34" charset="-122"/>
                          <a:cs typeface="Calibri" pitchFamily="34" charset="-120"/>
                        </a:rPr>
                        <a:t>0.9570</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0.8900</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0.9223</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384048">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Seed 99, SurveyCTO</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0.8800</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0.9362</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384048">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Seed 99, ODK</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B45309"/>
                          </a:solidFill>
                          <a:latin typeface="Calibri" pitchFamily="34" charset="0"/>
                          <a:ea typeface="Calibri" pitchFamily="34" charset="-122"/>
                          <a:cs typeface="Calibri" pitchFamily="34" charset="-120"/>
                        </a:rPr>
                        <a:t>0.8400</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0.9130</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bl>
          </a:graphicData>
        </a:graphic>
      </p:graphicFrame>
      <p:sp>
        <p:nvSpPr>
          <p:cNvPr id="7" name="Shape 4"/>
          <p:cNvSpPr/>
          <p:nvPr/>
        </p:nvSpPr>
        <p:spPr>
          <a:xfrm>
            <a:off x="7223760" y="1371600"/>
            <a:ext cx="2148840" cy="1572768"/>
          </a:xfrm>
          <a:prstGeom prst="roundRect">
            <a:avLst>
              <a:gd name="adj" fmla="val 2907"/>
            </a:avLst>
          </a:prstGeom>
          <a:solidFill>
            <a:srgbClr val="EEF2F6"/>
          </a:solidFill>
          <a:ln w="12700">
            <a:solidFill>
              <a:srgbClr val="EEF2F6"/>
            </a:solidFill>
            <a:prstDash val="solid"/>
          </a:ln>
        </p:spPr>
        <p:txBody>
          <a:bodyPr/>
          <a:p/>
        </p:txBody>
      </p:sp>
      <p:sp>
        <p:nvSpPr>
          <p:cNvPr id="8" name="Text 5"/>
          <p:cNvSpPr txBox="1"/>
          <p:nvPr/>
        </p:nvSpPr>
        <p:spPr>
          <a:xfrm>
            <a:off x="7370064" y="1517904"/>
            <a:ext cx="1856232" cy="749808"/>
          </a:xfrm>
          <a:prstGeom prst="rect">
            <a:avLst/>
          </a:prstGeom>
          <a:noFill/>
          <a:ln/>
        </p:spPr>
        <p:txBody>
          <a:bodyPr wrap="square" lIns="0" tIns="0" rIns="0" bIns="0" rtlCol="0" anchor="ctr"/>
          <a:lstStyle/>
          <a:p>
            <a:pPr algn="ctr" indent="0" marL="0">
              <a:buNone/>
            </a:pPr>
            <a:r>
              <a:rPr lang="en-US" sz="3400" b="1" dirty="0">
                <a:solidFill>
                  <a:srgbClr val="B45309"/>
                </a:solidFill>
                <a:latin typeface="Cambria" pitchFamily="34" charset="0"/>
                <a:ea typeface="Cambria" pitchFamily="34" charset="-122"/>
                <a:cs typeface="Cambria" pitchFamily="34" charset="-120"/>
              </a:rPr>
              <a:t>0.9570</a:t>
            </a:r>
            <a:endParaRPr lang="en-US" sz="3400" dirty="0"/>
          </a:p>
        </p:txBody>
      </p:sp>
      <p:sp>
        <p:nvSpPr>
          <p:cNvPr id="9" name="Text 6"/>
          <p:cNvSpPr txBox="1"/>
          <p:nvPr/>
        </p:nvSpPr>
        <p:spPr>
          <a:xfrm>
            <a:off x="7370064" y="2286000"/>
            <a:ext cx="1856232" cy="548640"/>
          </a:xfrm>
          <a:prstGeom prst="rect">
            <a:avLst/>
          </a:prstGeom>
          <a:noFill/>
          <a:ln/>
        </p:spPr>
        <p:txBody>
          <a:bodyPr wrap="square" lIns="0" tIns="0" rIns="0" bIns="0" rtlCol="0" anchor="ctr"/>
          <a:lstStyle/>
          <a:p>
            <a:pPr algn="ctr" indent="0" marL="0">
              <a:lnSpc>
                <a:spcPts val="1500"/>
              </a:lnSpc>
              <a:buNone/>
            </a:pPr>
            <a:r>
              <a:rPr lang="en-US" sz="1150" dirty="0">
                <a:solidFill>
                  <a:srgbClr val="1F2933"/>
                </a:solidFill>
                <a:latin typeface="Calibri" pitchFamily="34" charset="0"/>
                <a:ea typeface="Calibri" pitchFamily="34" charset="-122"/>
                <a:cs typeface="Calibri" pitchFamily="34" charset="-120"/>
              </a:rPr>
              <a:t>lowest precision</a:t>
            </a:r>
            <a:endParaRPr lang="en-US" sz="1150" dirty="0"/>
          </a:p>
          <a:p>
            <a:pPr algn="ctr" indent="0" marL="0">
              <a:lnSpc>
                <a:spcPts val="1500"/>
              </a:lnSpc>
              <a:buNone/>
            </a:pPr>
            <a:r>
              <a:rPr lang="en-US" sz="1150" dirty="0">
                <a:solidFill>
                  <a:srgbClr val="1F2933"/>
                </a:solidFill>
                <a:latin typeface="Calibri" pitchFamily="34" charset="0"/>
                <a:ea typeface="Calibri" pitchFamily="34" charset="-122"/>
                <a:cs typeface="Calibri" pitchFamily="34" charset="-120"/>
              </a:rPr>
              <a:t>anywhere in the round</a:t>
            </a:r>
            <a:endParaRPr lang="en-US" sz="1150" dirty="0"/>
          </a:p>
        </p:txBody>
      </p:sp>
      <p:sp>
        <p:nvSpPr>
          <p:cNvPr id="10" name="Shape 7"/>
          <p:cNvSpPr/>
          <p:nvPr/>
        </p:nvSpPr>
        <p:spPr>
          <a:xfrm>
            <a:off x="9555480" y="1371600"/>
            <a:ext cx="2075688" cy="1572768"/>
          </a:xfrm>
          <a:prstGeom prst="roundRect">
            <a:avLst>
              <a:gd name="adj" fmla="val 2907"/>
            </a:avLst>
          </a:prstGeom>
          <a:solidFill>
            <a:srgbClr val="EEF2F6"/>
          </a:solidFill>
          <a:ln w="12700">
            <a:solidFill>
              <a:srgbClr val="EEF2F6"/>
            </a:solidFill>
            <a:prstDash val="solid"/>
          </a:ln>
        </p:spPr>
        <p:txBody>
          <a:bodyPr/>
          <a:p/>
        </p:txBody>
      </p:sp>
      <p:sp>
        <p:nvSpPr>
          <p:cNvPr id="11" name="Text 8"/>
          <p:cNvSpPr txBox="1"/>
          <p:nvPr/>
        </p:nvSpPr>
        <p:spPr>
          <a:xfrm>
            <a:off x="9701784" y="1517904"/>
            <a:ext cx="1783080" cy="749808"/>
          </a:xfrm>
          <a:prstGeom prst="rect">
            <a:avLst/>
          </a:prstGeom>
          <a:noFill/>
          <a:ln/>
        </p:spPr>
        <p:txBody>
          <a:bodyPr wrap="square" lIns="0" tIns="0" rIns="0" bIns="0" rtlCol="0" anchor="ctr"/>
          <a:lstStyle/>
          <a:p>
            <a:pPr algn="ctr" indent="0" marL="0">
              <a:buNone/>
            </a:pPr>
            <a:r>
              <a:rPr lang="en-US" sz="3400" b="1" dirty="0">
                <a:solidFill>
                  <a:srgbClr val="B45309"/>
                </a:solidFill>
                <a:latin typeface="Cambria" pitchFamily="34" charset="0"/>
                <a:ea typeface="Cambria" pitchFamily="34" charset="-122"/>
                <a:cs typeface="Cambria" pitchFamily="34" charset="-120"/>
              </a:rPr>
              <a:t>0.8400</a:t>
            </a:r>
            <a:endParaRPr lang="en-US" sz="3400" dirty="0"/>
          </a:p>
        </p:txBody>
      </p:sp>
      <p:sp>
        <p:nvSpPr>
          <p:cNvPr id="12" name="Text 9"/>
          <p:cNvSpPr txBox="1"/>
          <p:nvPr/>
        </p:nvSpPr>
        <p:spPr>
          <a:xfrm>
            <a:off x="9701784" y="2286000"/>
            <a:ext cx="1783080" cy="548640"/>
          </a:xfrm>
          <a:prstGeom prst="rect">
            <a:avLst/>
          </a:prstGeom>
          <a:noFill/>
          <a:ln/>
        </p:spPr>
        <p:txBody>
          <a:bodyPr wrap="square" lIns="0" tIns="0" rIns="0" bIns="0" rtlCol="0" anchor="ctr"/>
          <a:lstStyle/>
          <a:p>
            <a:pPr algn="ctr" indent="0" marL="0">
              <a:lnSpc>
                <a:spcPts val="1500"/>
              </a:lnSpc>
              <a:buNone/>
            </a:pPr>
            <a:r>
              <a:rPr lang="en-US" sz="1150" dirty="0">
                <a:solidFill>
                  <a:srgbClr val="1F2933"/>
                </a:solidFill>
                <a:latin typeface="Calibri" pitchFamily="34" charset="0"/>
                <a:ea typeface="Calibri" pitchFamily="34" charset="-122"/>
                <a:cs typeface="Calibri" pitchFamily="34" charset="-120"/>
              </a:rPr>
              <a:t>lowest recall</a:t>
            </a:r>
            <a:endParaRPr lang="en-US" sz="1150" dirty="0"/>
          </a:p>
          <a:p>
            <a:pPr algn="ctr" indent="0" marL="0">
              <a:lnSpc>
                <a:spcPts val="1500"/>
              </a:lnSpc>
              <a:buNone/>
            </a:pPr>
            <a:r>
              <a:rPr lang="en-US" sz="1150" dirty="0">
                <a:solidFill>
                  <a:srgbClr val="1F2933"/>
                </a:solidFill>
                <a:latin typeface="Calibri" pitchFamily="34" charset="0"/>
                <a:ea typeface="Calibri" pitchFamily="34" charset="-122"/>
                <a:cs typeface="Calibri" pitchFamily="34" charset="-120"/>
              </a:rPr>
              <a:t>anywhere in the round</a:t>
            </a:r>
            <a:endParaRPr lang="en-US" sz="1150" dirty="0"/>
          </a:p>
        </p:txBody>
      </p:sp>
      <p:sp>
        <p:nvSpPr>
          <p:cNvPr id="13" name="Text 10"/>
          <p:cNvSpPr txBox="1"/>
          <p:nvPr/>
        </p:nvSpPr>
        <p:spPr>
          <a:xfrm>
            <a:off x="7223760" y="3154680"/>
            <a:ext cx="4407408" cy="1188720"/>
          </a:xfrm>
          <a:prstGeom prst="rect">
            <a:avLst/>
          </a:prstGeom>
          <a:noFill/>
          <a:ln/>
        </p:spPr>
        <p:txBody>
          <a:bodyPr wrap="square" lIns="0" tIns="0" rIns="0" bIns="0" rtlCol="0" anchor="ctr"/>
          <a:lstStyle/>
          <a:p>
            <a:pPr indent="0" marL="0">
              <a:lnSpc>
                <a:spcPts val="1700"/>
              </a:lnSpc>
              <a:buNone/>
            </a:pPr>
            <a:r>
              <a:rPr lang="en-US" sz="1200" dirty="0">
                <a:solidFill>
                  <a:srgbClr val="1F2933"/>
                </a:solidFill>
                <a:latin typeface="Calibri" pitchFamily="34" charset="0"/>
                <a:ea typeface="Calibri" pitchFamily="34" charset="-122"/>
                <a:cs typeface="Calibri" pitchFamily="34" charset="-120"/>
              </a:rPr>
              <a:t>Proposal criteria: precision at or above 0.80, recall at or above 0.75. Both are cleared on every run with margin, on data the detector had never seen, under a difficulty built so that genuine and anomalous behaviour overlap.</a:t>
            </a:r>
            <a:endParaRPr lang="en-US" sz="1200" dirty="0"/>
          </a:p>
        </p:txBody>
      </p:sp>
      <p:sp>
        <p:nvSpPr>
          <p:cNvPr id="14" name="Text 11"/>
          <p:cNvSpPr txBox="1"/>
          <p:nvPr/>
        </p:nvSpPr>
        <p:spPr>
          <a:xfrm>
            <a:off x="566928" y="3520440"/>
            <a:ext cx="6675120" cy="822960"/>
          </a:xfrm>
          <a:prstGeom prst="rect">
            <a:avLst/>
          </a:prstGeom>
          <a:noFill/>
          <a:ln/>
        </p:spPr>
        <p:txBody>
          <a:bodyPr wrap="square" lIns="0" tIns="0" rIns="0" bIns="0" rtlCol="0" anchor="ctr"/>
          <a:lstStyle/>
          <a:p>
            <a:pPr indent="0" marL="0">
              <a:lnSpc>
                <a:spcPts val="1750"/>
              </a:lnSpc>
              <a:buNone/>
            </a:pPr>
            <a:r>
              <a:rPr lang="en-US" sz="1250" dirty="0">
                <a:solidFill>
                  <a:srgbClr val="1F2933"/>
                </a:solidFill>
                <a:latin typeface="Calibri" pitchFamily="34" charset="0"/>
                <a:ea typeface="Calibri" pitchFamily="34" charset="-122"/>
                <a:cs typeface="Calibri" pitchFamily="34" charset="-120"/>
              </a:rPr>
              <a:t>Performance is consistent across the two platform formats, which is the cross-format parity claim tested rather than assumed.</a:t>
            </a:r>
            <a:endParaRPr lang="en-US" sz="1250" dirty="0"/>
          </a:p>
        </p:txBody>
      </p:sp>
      <p:sp>
        <p:nvSpPr>
          <p:cNvPr id="15" name="Shape 12"/>
          <p:cNvSpPr/>
          <p:nvPr/>
        </p:nvSpPr>
        <p:spPr>
          <a:xfrm>
            <a:off x="566928" y="5029200"/>
            <a:ext cx="11055096" cy="566928"/>
          </a:xfrm>
          <a:prstGeom prst="roundRect">
            <a:avLst>
              <a:gd name="adj" fmla="val 9677"/>
            </a:avLst>
          </a:prstGeom>
          <a:solidFill>
            <a:srgbClr val="EEF2F6"/>
          </a:solidFill>
          <a:ln w="12700">
            <a:solidFill>
              <a:srgbClr val="EEF2F6"/>
            </a:solidFill>
            <a:prstDash val="solid"/>
          </a:ln>
        </p:spPr>
        <p:txBody>
          <a:bodyPr/>
          <a:p/>
        </p:txBody>
      </p:sp>
      <p:sp>
        <p:nvSpPr>
          <p:cNvPr id="16" name="Shape 13"/>
          <p:cNvSpPr/>
          <p:nvPr/>
        </p:nvSpPr>
        <p:spPr>
          <a:xfrm>
            <a:off x="694944" y="5157216"/>
            <a:ext cx="91440" cy="310896"/>
          </a:xfrm>
          <a:prstGeom prst="roundRect">
            <a:avLst>
              <a:gd name="adj" fmla="val 40000"/>
            </a:avLst>
          </a:prstGeom>
          <a:solidFill>
            <a:srgbClr val="0F766E"/>
          </a:solidFill>
          <a:ln w="12700">
            <a:solidFill>
              <a:srgbClr val="0F766E"/>
            </a:solidFill>
            <a:prstDash val="solid"/>
          </a:ln>
        </p:spPr>
        <p:txBody>
          <a:bodyPr/>
          <a:p/>
        </p:txBody>
      </p:sp>
      <p:sp>
        <p:nvSpPr>
          <p:cNvPr id="17" name="Text 14"/>
          <p:cNvSpPr txBox="1"/>
          <p:nvPr/>
        </p:nvSpPr>
        <p:spPr>
          <a:xfrm>
            <a:off x="932688" y="5074920"/>
            <a:ext cx="10506456" cy="475488"/>
          </a:xfrm>
          <a:prstGeom prst="rect">
            <a:avLst/>
          </a:prstGeom>
          <a:noFill/>
          <a:ln/>
        </p:spPr>
        <p:txBody>
          <a:bodyPr wrap="square" lIns="0" tIns="0" rIns="0" bIns="0" rtlCol="0" anchor="ctr"/>
          <a:lstStyle/>
          <a:p>
            <a:pPr indent="0" marL="0">
              <a:buNone/>
            </a:pPr>
            <a:r>
              <a:rPr lang="en-US" sz="1350" b="1" dirty="0">
                <a:solidFill>
                  <a:srgbClr val="1F2933"/>
                </a:solidFill>
                <a:latin typeface="Calibri" pitchFamily="34" charset="0"/>
                <a:ea typeface="Calibri" pitchFamily="34" charset="-122"/>
                <a:cs typeface="Calibri" pitchFamily="34" charset="-120"/>
              </a:rPr>
              <a:t>No committed target is missed by any run in the entire evaluation.</a:t>
            </a:r>
            <a:endParaRPr lang="en-US" sz="1350" dirty="0"/>
          </a:p>
        </p:txBody>
      </p:sp>
      <p:sp>
        <p:nvSpPr>
          <p:cNvPr id="18" name="Text 15"/>
          <p:cNvSpPr txBox="1"/>
          <p:nvPr/>
        </p:nvSpPr>
        <p:spPr>
          <a:xfrm>
            <a:off x="566928" y="6144768"/>
            <a:ext cx="10140696" cy="274320"/>
          </a:xfrm>
          <a:prstGeom prst="rect">
            <a:avLst/>
          </a:prstGeom>
          <a:noFill/>
          <a:ln/>
        </p:spPr>
        <p:txBody>
          <a:bodyPr wrap="square" lIns="0" tIns="0" rIns="0" bIns="0" rtlCol="0" anchor="ctr"/>
          <a:lstStyle/>
          <a:p>
            <a:pPr indent="0" marL="0">
              <a:buNone/>
            </a:pPr>
            <a:r>
              <a:rPr lang="en-US" sz="1050" i="1" dirty="0">
                <a:solidFill>
                  <a:srgbClr val="6B7785"/>
                </a:solidFill>
                <a:latin typeface="Calibri" pitchFamily="34" charset="0"/>
                <a:ea typeface="Calibri" pitchFamily="34" charset="-122"/>
                <a:cs typeface="Calibri" pitchFamily="34" charset="-120"/>
              </a:rPr>
              <a:t>Source: output/robustness_validation/metrics_stress_seed*.csv. Full per-run confusion counts are Appendix B of the report.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RESULTS 6.6</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Where the method is strong and where it is weak</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21</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Samuel Kaoma  |  2022016530  |  CSC 4004</a:t>
            </a:r>
            <a:endParaRPr lang="en-US" sz="1000" dirty="0"/>
          </a:p>
        </p:txBody>
      </p:sp>
      <p:pic>
        <p:nvPicPr>
          <p:cNvPr id="6" name="Image 0" descr="C:\Users\Samuel\Desktop\4th year\Final year project\SKACE-Time-Data\report\figures\figure3_per_class_recall.png">    </p:cNvPr>
          <p:cNvPicPr>
            <a:picLocks noChangeAspect="1"/>
          </p:cNvPicPr>
          <p:nvPr/>
        </p:nvPicPr>
        <p:blipFill>
          <a:blip r:embed="rId1"/>
          <a:stretch>
            <a:fillRect/>
          </a:stretch>
        </p:blipFill>
        <p:spPr>
          <a:xfrm>
            <a:off x="566928" y="1280160"/>
            <a:ext cx="7040880" cy="4379976"/>
          </a:xfrm>
          <a:prstGeom prst="rect">
            <a:avLst/>
          </a:prstGeom>
        </p:spPr>
      </p:pic>
      <p:sp>
        <p:nvSpPr>
          <p:cNvPr id="7" name="Text 4"/>
          <p:cNvSpPr txBox="1"/>
          <p:nvPr/>
        </p:nvSpPr>
        <p:spPr>
          <a:xfrm>
            <a:off x="7818120" y="1463040"/>
            <a:ext cx="3813048" cy="3840480"/>
          </a:xfrm>
          <a:prstGeom prst="rect">
            <a:avLst/>
          </a:prstGeom>
          <a:noFill/>
          <a:ln/>
        </p:spPr>
        <p:txBody>
          <a:bodyPr wrap="square" lIns="0" tIns="0" rIns="0" bIns="0" rtlCol="0" anchor="ctr"/>
          <a:lstStyle/>
          <a:p>
            <a:pPr indent="0" marL="0">
              <a:lnSpc>
                <a:spcPts val="1700"/>
              </a:lnSpc>
              <a:buNone/>
            </a:pPr>
            <a:r>
              <a:rPr lang="en-US" sz="1500" b="1" dirty="0">
                <a:solidFill>
                  <a:srgbClr val="0F766E"/>
                </a:solidFill>
                <a:latin typeface="Cambria" pitchFamily="34" charset="0"/>
                <a:ea typeface="Cambria" pitchFamily="34" charset="-122"/>
                <a:cs typeface="Cambria" pitchFamily="34" charset="-120"/>
              </a:rPr>
              <a:t>Speeding  132 / 132</a:t>
            </a:r>
            <a:endParaRPr lang="en-US" sz="1500" dirty="0"/>
          </a:p>
          <a:p>
            <a:pPr indent="0" marL="0">
              <a:lnSpc>
                <a:spcPts val="1700"/>
              </a:lnSpc>
              <a:buNone/>
            </a:pPr>
            <a:r>
              <a:rPr lang="en-US" sz="1200" dirty="0">
                <a:solidFill>
                  <a:srgbClr val="1F2933"/>
                </a:solidFill>
                <a:latin typeface="Calibri" pitchFamily="34" charset="0"/>
                <a:ea typeface="Calibri" pitchFamily="34" charset="-122"/>
                <a:cs typeface="Calibri" pitchFamily="34" charset="-120"/>
              </a:rPr>
              <a:t>Detected without exception in all four runs.</a:t>
            </a:r>
            <a:endParaRPr lang="en-US" sz="1500" dirty="0"/>
          </a:p>
          <a:p>
            <a:pPr indent="0" marL="0">
              <a:lnSpc>
                <a:spcPts val="1700"/>
              </a:lnSpc>
              <a:buNone/>
            </a:pPr>
            <a:r>
              <a:rPr lang="en-US" sz="800" dirty="0">
                <a:solidFill>
                  <a:srgbClr val="1F2933"/>
                </a:solidFill>
                <a:latin typeface="Calibri" pitchFamily="34" charset="0"/>
                <a:ea typeface="Calibri" pitchFamily="34" charset="-122"/>
                <a:cs typeface="Calibri" pitchFamily="34" charset="-120"/>
              </a:rPr>
              <a:t> </a:t>
            </a:r>
            <a:endParaRPr lang="en-US" sz="1500" dirty="0"/>
          </a:p>
          <a:p>
            <a:pPr indent="0" marL="0">
              <a:lnSpc>
                <a:spcPts val="1700"/>
              </a:lnSpc>
              <a:buNone/>
            </a:pPr>
            <a:r>
              <a:rPr lang="en-US" sz="1500" b="1" dirty="0">
                <a:solidFill>
                  <a:srgbClr val="7C3AED"/>
                </a:solidFill>
                <a:latin typeface="Cambria" pitchFamily="34" charset="0"/>
                <a:ea typeface="Cambria" pitchFamily="34" charset="-122"/>
                <a:cs typeface="Cambria" pitchFamily="34" charset="-120"/>
              </a:rPr>
              <a:t>Disengaged  121 / 136</a:t>
            </a:r>
            <a:endParaRPr lang="en-US" sz="1500" dirty="0"/>
          </a:p>
          <a:p>
            <a:pPr indent="0" marL="0">
              <a:lnSpc>
                <a:spcPts val="1700"/>
              </a:lnSpc>
              <a:buNone/>
            </a:pPr>
            <a:r>
              <a:rPr lang="en-US" sz="1200" dirty="0">
                <a:solidFill>
                  <a:srgbClr val="1F2933"/>
                </a:solidFill>
                <a:latin typeface="Calibri" pitchFamily="34" charset="0"/>
                <a:ea typeface="Calibri" pitchFamily="34" charset="-122"/>
                <a:cs typeface="Calibri" pitchFamily="34" charset="-120"/>
              </a:rPr>
              <a:t>0.89, driven by the median-relative pause rule with elevated back-navigation.</a:t>
            </a:r>
            <a:endParaRPr lang="en-US" sz="1500" dirty="0"/>
          </a:p>
          <a:p>
            <a:pPr indent="0" marL="0">
              <a:lnSpc>
                <a:spcPts val="1700"/>
              </a:lnSpc>
              <a:buNone/>
            </a:pPr>
            <a:r>
              <a:rPr lang="en-US" sz="800" dirty="0">
                <a:solidFill>
                  <a:srgbClr val="1F2933"/>
                </a:solidFill>
                <a:latin typeface="Calibri" pitchFamily="34" charset="0"/>
                <a:ea typeface="Calibri" pitchFamily="34" charset="-122"/>
                <a:cs typeface="Calibri" pitchFamily="34" charset="-120"/>
              </a:rPr>
              <a:t> </a:t>
            </a:r>
            <a:endParaRPr lang="en-US" sz="1500" dirty="0"/>
          </a:p>
          <a:p>
            <a:pPr indent="0" marL="0">
              <a:lnSpc>
                <a:spcPts val="1700"/>
              </a:lnSpc>
              <a:buNone/>
            </a:pPr>
            <a:r>
              <a:rPr lang="en-US" sz="1500" b="1" dirty="0">
                <a:solidFill>
                  <a:srgbClr val="B45309"/>
                </a:solidFill>
                <a:latin typeface="Cambria" pitchFamily="34" charset="0"/>
                <a:ea typeface="Cambria" pitchFamily="34" charset="-122"/>
                <a:cs typeface="Cambria" pitchFamily="34" charset="-120"/>
              </a:rPr>
              <a:t>Fabricated  93 / 132</a:t>
            </a:r>
            <a:endParaRPr lang="en-US" sz="1500" dirty="0"/>
          </a:p>
          <a:p>
            <a:pPr indent="0" marL="0">
              <a:lnSpc>
                <a:spcPts val="1700"/>
              </a:lnSpc>
              <a:buNone/>
            </a:pPr>
            <a:r>
              <a:rPr lang="en-US" sz="1200" dirty="0">
                <a:solidFill>
                  <a:srgbClr val="1F2933"/>
                </a:solidFill>
                <a:latin typeface="Calibri" pitchFamily="34" charset="0"/>
                <a:ea typeface="Calibri" pitchFamily="34" charset="-122"/>
                <a:cs typeface="Calibri" pitchFamily="34" charset="-120"/>
              </a:rPr>
              <a:t>0.70, per-run between 0.61 and 0.76. The weakest class, and the next two slides are about it.</a:t>
            </a:r>
            <a:endParaRPr lang="en-US" sz="1500" dirty="0"/>
          </a:p>
        </p:txBody>
      </p:sp>
      <p:sp>
        <p:nvSpPr>
          <p:cNvPr id="8" name="Text 5"/>
          <p:cNvSpPr txBox="1"/>
          <p:nvPr/>
        </p:nvSpPr>
        <p:spPr>
          <a:xfrm>
            <a:off x="566928" y="6144768"/>
            <a:ext cx="10140696" cy="274320"/>
          </a:xfrm>
          <a:prstGeom prst="rect">
            <a:avLst/>
          </a:prstGeom>
          <a:noFill/>
          <a:ln/>
        </p:spPr>
        <p:txBody>
          <a:bodyPr wrap="square" lIns="0" tIns="0" rIns="0" bIns="0" rtlCol="0" anchor="ctr"/>
          <a:lstStyle/>
          <a:p>
            <a:pPr indent="0" marL="0">
              <a:buNone/>
            </a:pPr>
            <a:r>
              <a:rPr lang="en-US" sz="1050" i="1" dirty="0">
                <a:solidFill>
                  <a:srgbClr val="6B7785"/>
                </a:solidFill>
                <a:latin typeface="Calibri" pitchFamily="34" charset="0"/>
                <a:ea typeface="Calibri" pitchFamily="34" charset="-122"/>
                <a:cs typeface="Calibri" pitchFamily="34" charset="-120"/>
              </a:rPr>
              <a:t>These are diagnostic breakdowns of one detector, not three detectors. The 0.75 criterion is defined for the combined detector and is not a per-class commitment.</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RESULTS 6.6 AND CHAPTER 8</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Diagnosing the fabrication misses</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22</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Samuel Kaoma  |  2022016530  |  CSC 4004</a:t>
            </a:r>
            <a:endParaRPr lang="en-US" sz="1000" dirty="0"/>
          </a:p>
        </p:txBody>
      </p:sp>
      <p:sp>
        <p:nvSpPr>
          <p:cNvPr id="6" name="Shape 4"/>
          <p:cNvSpPr/>
          <p:nvPr/>
        </p:nvSpPr>
        <p:spPr>
          <a:xfrm>
            <a:off x="566928" y="1371600"/>
            <a:ext cx="5532120" cy="1371600"/>
          </a:xfrm>
          <a:prstGeom prst="roundRect">
            <a:avLst>
              <a:gd name="adj" fmla="val 3333"/>
            </a:avLst>
          </a:prstGeom>
          <a:solidFill>
            <a:srgbClr val="EEF2F6"/>
          </a:solidFill>
          <a:ln w="12700">
            <a:solidFill>
              <a:srgbClr val="EEF2F6"/>
            </a:solidFill>
            <a:prstDash val="solid"/>
          </a:ln>
        </p:spPr>
        <p:txBody>
          <a:bodyPr/>
          <a:p/>
        </p:txBody>
      </p:sp>
      <p:sp>
        <p:nvSpPr>
          <p:cNvPr id="7" name="Text 5"/>
          <p:cNvSpPr txBox="1"/>
          <p:nvPr/>
        </p:nvSpPr>
        <p:spPr>
          <a:xfrm>
            <a:off x="786384" y="1517904"/>
            <a:ext cx="5120640" cy="1097280"/>
          </a:xfrm>
          <a:prstGeom prst="rect">
            <a:avLst/>
          </a:prstGeom>
          <a:noFill/>
          <a:ln/>
        </p:spPr>
        <p:txBody>
          <a:bodyPr wrap="square" lIns="0" tIns="0" rIns="0" bIns="0" rtlCol="0" anchor="ctr"/>
          <a:lstStyle/>
          <a:p>
            <a:pPr indent="0" marL="0">
              <a:lnSpc>
                <a:spcPts val="1700"/>
              </a:lnSpc>
              <a:buNone/>
            </a:pPr>
            <a:r>
              <a:rPr lang="en-US" sz="1250" b="1" dirty="0">
                <a:solidFill>
                  <a:srgbClr val="0F766E"/>
                </a:solidFill>
                <a:latin typeface="Calibri" pitchFamily="34" charset="0"/>
                <a:ea typeface="Calibri" pitchFamily="34" charset="-122"/>
                <a:cs typeface="Calibri" pitchFamily="34" charset="-120"/>
              </a:rPr>
              <a:t>The misses are not indistinguishable from genuine interviews.</a:t>
            </a:r>
            <a:endParaRPr lang="en-US" sz="1250" dirty="0"/>
          </a:p>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On the development seeds, response time entropy separates the two populations completely: highest fabricated 1.983 against lowest genuine 2.039. No overlap at all.</a:t>
            </a:r>
            <a:endParaRPr lang="en-US" sz="1250" dirty="0"/>
          </a:p>
        </p:txBody>
      </p:sp>
      <p:sp>
        <p:nvSpPr>
          <p:cNvPr id="8" name="Text 6"/>
          <p:cNvSpPr txBox="1"/>
          <p:nvPr/>
        </p:nvSpPr>
        <p:spPr>
          <a:xfrm>
            <a:off x="566928" y="2926080"/>
            <a:ext cx="5532120" cy="2011680"/>
          </a:xfrm>
          <a:prstGeom prst="rect">
            <a:avLst/>
          </a:prstGeom>
          <a:noFill/>
          <a:ln/>
        </p:spPr>
        <p:txBody>
          <a:bodyPr wrap="square" lIns="0" tIns="0" rIns="0" bIns="0" rtlCol="0" anchor="ctr"/>
          <a:lstStyle/>
          <a:p>
            <a:pPr indent="0" marL="0">
              <a:lnSpc>
                <a:spcPts val="1750"/>
              </a:lnSpc>
              <a:buNone/>
            </a:pPr>
            <a:r>
              <a:rPr lang="en-US" sz="1350" b="1" dirty="0">
                <a:solidFill>
                  <a:srgbClr val="1F2933"/>
                </a:solidFill>
                <a:latin typeface="Calibri" pitchFamily="34" charset="0"/>
                <a:ea typeface="Calibri" pitchFamily="34" charset="-122"/>
                <a:cs typeface="Calibri" pitchFamily="34" charset="-120"/>
              </a:rPr>
              <a:t>So why are they missed? Two mechanisms.</a:t>
            </a:r>
            <a:endParaRPr lang="en-US" sz="1250" dirty="0"/>
          </a:p>
          <a:p>
            <a:pPr indent="0" marL="0">
              <a:lnSpc>
                <a:spcPts val="1750"/>
              </a:lnSpc>
              <a:buNone/>
            </a:pPr>
            <a:r>
              <a:rPr lang="en-US" sz="600" dirty="0">
                <a:solidFill>
                  <a:srgbClr val="1F2933"/>
                </a:solidFill>
                <a:latin typeface="Calibri" pitchFamily="34" charset="0"/>
                <a:ea typeface="Calibri" pitchFamily="34" charset="-122"/>
                <a:cs typeface="Calibri" pitchFamily="34" charset="-120"/>
              </a:rPr>
              <a:t> </a:t>
            </a:r>
            <a:endParaRPr lang="en-US" sz="1250" dirty="0"/>
          </a:p>
          <a:p>
            <a:pPr indent="0" marL="0">
              <a:lnSpc>
                <a:spcPts val="1750"/>
              </a:lnSpc>
              <a:buNone/>
            </a:pPr>
            <a:r>
              <a:rPr lang="en-US" sz="1250" dirty="0">
                <a:solidFill>
                  <a:srgbClr val="1F2933"/>
                </a:solidFill>
                <a:latin typeface="Calibri" pitchFamily="34" charset="0"/>
                <a:ea typeface="Calibri" pitchFamily="34" charset="-122"/>
                <a:cs typeface="Calibri" pitchFamily="34" charset="-120"/>
              </a:rPr>
              <a:t>1.  The behavioural entropy rule uses an absolute constant of 0.5, calibrated to the tightly compressed fabrication profile. It cannot fire for the mildly compressed one.</a:t>
            </a:r>
            <a:endParaRPr lang="en-US" sz="1250" dirty="0"/>
          </a:p>
          <a:p>
            <a:pPr indent="0" marL="0">
              <a:lnSpc>
                <a:spcPts val="1750"/>
              </a:lnSpc>
              <a:buNone/>
            </a:pPr>
            <a:r>
              <a:rPr lang="en-US" sz="600" dirty="0">
                <a:solidFill>
                  <a:srgbClr val="1F2933"/>
                </a:solidFill>
                <a:latin typeface="Calibri" pitchFamily="34" charset="0"/>
                <a:ea typeface="Calibri" pitchFamily="34" charset="-122"/>
                <a:cs typeface="Calibri" pitchFamily="34" charset="-120"/>
              </a:rPr>
              <a:t> </a:t>
            </a:r>
            <a:endParaRPr lang="en-US" sz="1250" dirty="0"/>
          </a:p>
          <a:p>
            <a:pPr indent="0" marL="0">
              <a:lnSpc>
                <a:spcPts val="1750"/>
              </a:lnSpc>
              <a:buNone/>
            </a:pPr>
            <a:r>
              <a:rPr lang="en-US" sz="1250" dirty="0">
                <a:solidFill>
                  <a:srgbClr val="1F2933"/>
                </a:solidFill>
                <a:latin typeface="Calibri" pitchFamily="34" charset="0"/>
                <a:ea typeface="Calibri" pitchFamily="34" charset="-122"/>
                <a:cs typeface="Calibri" pitchFamily="34" charset="-120"/>
              </a:rPr>
              <a:t>2.  The entropy fence is estimated on data already containing 20 percent injected anomalies, which drags the lower quartile and the fence down with it. Masking again.</a:t>
            </a:r>
            <a:endParaRPr lang="en-US" sz="1250" dirty="0"/>
          </a:p>
        </p:txBody>
      </p:sp>
      <p:sp>
        <p:nvSpPr>
          <p:cNvPr id="9" name="Shape 7"/>
          <p:cNvSpPr/>
          <p:nvPr/>
        </p:nvSpPr>
        <p:spPr>
          <a:xfrm>
            <a:off x="6446520" y="1371600"/>
            <a:ext cx="5184648" cy="1874520"/>
          </a:xfrm>
          <a:prstGeom prst="roundRect">
            <a:avLst>
              <a:gd name="adj" fmla="val 2439"/>
            </a:avLst>
          </a:prstGeom>
          <a:solidFill>
            <a:srgbClr val="FFFFFF"/>
          </a:solidFill>
          <a:ln w="15875">
            <a:solidFill>
              <a:srgbClr val="B45309"/>
            </a:solidFill>
            <a:prstDash val="solid"/>
          </a:ln>
        </p:spPr>
        <p:txBody>
          <a:bodyPr/>
          <a:p/>
        </p:txBody>
      </p:sp>
      <p:sp>
        <p:nvSpPr>
          <p:cNvPr id="10" name="Text 8"/>
          <p:cNvSpPr txBox="1"/>
          <p:nvPr/>
        </p:nvSpPr>
        <p:spPr>
          <a:xfrm>
            <a:off x="6656832" y="1499616"/>
            <a:ext cx="4764024" cy="1645920"/>
          </a:xfrm>
          <a:prstGeom prst="rect">
            <a:avLst/>
          </a:prstGeom>
          <a:noFill/>
          <a:ln/>
        </p:spPr>
        <p:txBody>
          <a:bodyPr wrap="square" lIns="0" tIns="0" rIns="0" bIns="0" rtlCol="0" anchor="ctr"/>
          <a:lstStyle/>
          <a:p>
            <a:pPr indent="0" marL="0">
              <a:lnSpc>
                <a:spcPts val="1550"/>
              </a:lnSpc>
              <a:buNone/>
            </a:pPr>
            <a:r>
              <a:rPr lang="en-US" sz="1400" b="1" dirty="0">
                <a:solidFill>
                  <a:srgbClr val="B45309"/>
                </a:solidFill>
                <a:latin typeface="Cambria" pitchFamily="34" charset="0"/>
                <a:ea typeface="Cambria" pitchFamily="34" charset="-122"/>
                <a:cs typeface="Cambria" pitchFamily="34" charset="-120"/>
              </a:rPr>
              <a:t>A structural limit of the Tukey fence</a:t>
            </a:r>
            <a:endParaRPr lang="en-US" sz="1150" dirty="0"/>
          </a:p>
          <a:p>
            <a:pPr indent="0" marL="0">
              <a:lnSpc>
                <a:spcPts val="1550"/>
              </a:lnSpc>
              <a:buNone/>
            </a:pPr>
            <a:r>
              <a:rPr lang="en-US" sz="500" dirty="0">
                <a:solidFill>
                  <a:srgbClr val="1F2933"/>
                </a:solidFill>
                <a:latin typeface="Calibri" pitchFamily="34" charset="0"/>
                <a:ea typeface="Calibri" pitchFamily="34" charset="-122"/>
                <a:cs typeface="Calibri" pitchFamily="34" charset="-120"/>
              </a:rPr>
              <a:t> </a:t>
            </a:r>
            <a:endParaRPr lang="en-US" sz="1150" dirty="0"/>
          </a:p>
          <a:p>
            <a:pPr indent="0" marL="0">
              <a:lnSpc>
                <a:spcPts val="1550"/>
              </a:lnSpc>
              <a:buNone/>
            </a:pPr>
            <a:r>
              <a:rPr lang="en-US" sz="1150" dirty="0">
                <a:solidFill>
                  <a:srgbClr val="1F2933"/>
                </a:solidFill>
                <a:latin typeface="Calibri" pitchFamily="34" charset="0"/>
                <a:ea typeface="Calibri" pitchFamily="34" charset="-122"/>
                <a:cs typeface="Calibri" pitchFamily="34" charset="-120"/>
              </a:rPr>
              <a:t>For right-skewed non-negative quantities such as response time variance, the lower fence Q1 minus 1.5 x IQR falls below zero and is unreachable. No low-side outlier can ever be flagged on those features.</a:t>
            </a:r>
            <a:endParaRPr lang="en-US" sz="1150" dirty="0"/>
          </a:p>
          <a:p>
            <a:pPr indent="0" marL="0">
              <a:lnSpc>
                <a:spcPts val="1550"/>
              </a:lnSpc>
              <a:buNone/>
            </a:pPr>
            <a:r>
              <a:rPr lang="en-US" sz="500" dirty="0">
                <a:solidFill>
                  <a:srgbClr val="1F2933"/>
                </a:solidFill>
                <a:latin typeface="Calibri" pitchFamily="34" charset="0"/>
                <a:ea typeface="Calibri" pitchFamily="34" charset="-122"/>
                <a:cs typeface="Calibri" pitchFamily="34" charset="-120"/>
              </a:rPr>
              <a:t> </a:t>
            </a:r>
            <a:endParaRPr lang="en-US" sz="1150" dirty="0"/>
          </a:p>
          <a:p>
            <a:pPr indent="0" marL="0">
              <a:lnSpc>
                <a:spcPts val="1550"/>
              </a:lnSpc>
              <a:buNone/>
            </a:pPr>
            <a:r>
              <a:rPr lang="en-US" sz="1150" dirty="0">
                <a:solidFill>
                  <a:srgbClr val="1F2933"/>
                </a:solidFill>
                <a:latin typeface="Calibri" pitchFamily="34" charset="0"/>
                <a:ea typeface="Calibri" pitchFamily="34" charset="-122"/>
                <a:cs typeface="Calibri" pitchFamily="34" charset="-120"/>
              </a:rPr>
              <a:t>Fabrication is a low-side deviation on exactly those quantities. Entropy escapes it only because it is bounded and roughly symmetric.</a:t>
            </a:r>
            <a:endParaRPr lang="en-US" sz="1150" dirty="0"/>
          </a:p>
        </p:txBody>
      </p:sp>
      <p:sp>
        <p:nvSpPr>
          <p:cNvPr id="11" name="Shape 9"/>
          <p:cNvSpPr/>
          <p:nvPr/>
        </p:nvSpPr>
        <p:spPr>
          <a:xfrm>
            <a:off x="6446520" y="3429000"/>
            <a:ext cx="5184648" cy="1508760"/>
          </a:xfrm>
          <a:prstGeom prst="roundRect">
            <a:avLst>
              <a:gd name="adj" fmla="val 3030"/>
            </a:avLst>
          </a:prstGeom>
          <a:solidFill>
            <a:srgbClr val="EEF2F6"/>
          </a:solidFill>
          <a:ln w="12700">
            <a:solidFill>
              <a:srgbClr val="EEF2F6"/>
            </a:solidFill>
            <a:prstDash val="solid"/>
          </a:ln>
        </p:spPr>
        <p:txBody>
          <a:bodyPr/>
          <a:p/>
        </p:txBody>
      </p:sp>
      <p:sp>
        <p:nvSpPr>
          <p:cNvPr id="12" name="Text 10"/>
          <p:cNvSpPr txBox="1"/>
          <p:nvPr/>
        </p:nvSpPr>
        <p:spPr>
          <a:xfrm>
            <a:off x="6656832" y="3547872"/>
            <a:ext cx="4764024" cy="1298448"/>
          </a:xfrm>
          <a:prstGeom prst="rect">
            <a:avLst/>
          </a:prstGeom>
          <a:noFill/>
          <a:ln/>
        </p:spPr>
        <p:txBody>
          <a:bodyPr wrap="square" lIns="0" tIns="0" rIns="0" bIns="0" rtlCol="0" anchor="ctr"/>
          <a:lstStyle/>
          <a:p>
            <a:pPr indent="0" marL="0">
              <a:lnSpc>
                <a:spcPts val="1500"/>
              </a:lnSpc>
              <a:buNone/>
            </a:pPr>
            <a:r>
              <a:rPr lang="en-US" sz="1400" b="1" dirty="0">
                <a:solidFill>
                  <a:srgbClr val="1F2933"/>
                </a:solidFill>
                <a:latin typeface="Cambria" pitchFamily="34" charset="0"/>
                <a:ea typeface="Cambria" pitchFamily="34" charset="-122"/>
                <a:cs typeface="Cambria" pitchFamily="34" charset="-120"/>
              </a:rPr>
              <a:t>A retraction</a:t>
            </a:r>
            <a:endParaRPr lang="en-US" sz="1100" dirty="0"/>
          </a:p>
          <a:p>
            <a:pPr indent="0" marL="0">
              <a:lnSpc>
                <a:spcPts val="1500"/>
              </a:lnSpc>
              <a:buNone/>
            </a:pPr>
            <a:r>
              <a:rPr lang="en-US" sz="500" dirty="0">
                <a:solidFill>
                  <a:srgbClr val="1F2933"/>
                </a:solidFill>
                <a:latin typeface="Calibri" pitchFamily="34" charset="0"/>
                <a:ea typeface="Calibri" pitchFamily="34" charset="-122"/>
                <a:cs typeface="Calibri" pitchFamily="34" charset="-120"/>
              </a:rPr>
              <a:t> </a:t>
            </a:r>
            <a:endParaRPr lang="en-US" sz="1100" dirty="0"/>
          </a:p>
          <a:p>
            <a:pPr indent="0" marL="0">
              <a:lnSpc>
                <a:spcPts val="1500"/>
              </a:lnSpc>
              <a:buNone/>
            </a:pPr>
            <a:r>
              <a:rPr lang="en-US" sz="1100" dirty="0">
                <a:solidFill>
                  <a:srgbClr val="1F2933"/>
                </a:solidFill>
                <a:latin typeface="Calibri" pitchFamily="34" charset="0"/>
                <a:ea typeface="Calibri" pitchFamily="34" charset="-122"/>
                <a:cs typeface="Calibri" pitchFamily="34" charset="-120"/>
              </a:rPr>
              <a:t>An earlier version of my validation document attributed these misses to a joint pattern that univariate methods cannot capture. The data does not support that. I have named the retraction in the document, and no threshold was changed in producing the diagnostic, so every reported result stands unaltered.</a:t>
            </a:r>
            <a:endParaRPr lang="en-US" sz="1100" dirty="0"/>
          </a:p>
        </p:txBody>
      </p:sp>
      <p:sp>
        <p:nvSpPr>
          <p:cNvPr id="13" name="Shape 11"/>
          <p:cNvSpPr/>
          <p:nvPr/>
        </p:nvSpPr>
        <p:spPr>
          <a:xfrm>
            <a:off x="566928" y="5440680"/>
            <a:ext cx="11055096" cy="566928"/>
          </a:xfrm>
          <a:prstGeom prst="roundRect">
            <a:avLst>
              <a:gd name="adj" fmla="val 9677"/>
            </a:avLst>
          </a:prstGeom>
          <a:solidFill>
            <a:srgbClr val="EEF2F6"/>
          </a:solidFill>
          <a:ln w="12700">
            <a:solidFill>
              <a:srgbClr val="EEF2F6"/>
            </a:solidFill>
            <a:prstDash val="solid"/>
          </a:ln>
        </p:spPr>
        <p:txBody>
          <a:bodyPr/>
          <a:p/>
        </p:txBody>
      </p:sp>
      <p:sp>
        <p:nvSpPr>
          <p:cNvPr id="14" name="Shape 12"/>
          <p:cNvSpPr/>
          <p:nvPr/>
        </p:nvSpPr>
        <p:spPr>
          <a:xfrm>
            <a:off x="694944" y="5568696"/>
            <a:ext cx="91440" cy="310896"/>
          </a:xfrm>
          <a:prstGeom prst="roundRect">
            <a:avLst>
              <a:gd name="adj" fmla="val 40000"/>
            </a:avLst>
          </a:prstGeom>
          <a:solidFill>
            <a:srgbClr val="0F766E"/>
          </a:solidFill>
          <a:ln w="12700">
            <a:solidFill>
              <a:srgbClr val="0F766E"/>
            </a:solidFill>
            <a:prstDash val="solid"/>
          </a:ln>
        </p:spPr>
        <p:txBody>
          <a:bodyPr/>
          <a:p/>
        </p:txBody>
      </p:sp>
      <p:sp>
        <p:nvSpPr>
          <p:cNvPr id="15" name="Text 13"/>
          <p:cNvSpPr txBox="1"/>
          <p:nvPr/>
        </p:nvSpPr>
        <p:spPr>
          <a:xfrm>
            <a:off x="932688" y="5486400"/>
            <a:ext cx="10506456" cy="475488"/>
          </a:xfrm>
          <a:prstGeom prst="rect">
            <a:avLst/>
          </a:prstGeom>
          <a:noFill/>
          <a:ln/>
        </p:spPr>
        <p:txBody>
          <a:bodyPr wrap="square" lIns="0" tIns="0" rIns="0" bIns="0" rtlCol="0" anchor="ctr"/>
          <a:lstStyle/>
          <a:p>
            <a:pPr indent="0" marL="0">
              <a:buNone/>
            </a:pPr>
            <a:r>
              <a:rPr lang="en-US" sz="1350" b="1" dirty="0">
                <a:solidFill>
                  <a:srgbClr val="1F2933"/>
                </a:solidFill>
                <a:latin typeface="Calibri" pitchFamily="34" charset="0"/>
                <a:ea typeface="Calibri" pitchFamily="34" charset="-122"/>
                <a:cs typeface="Calibri" pitchFamily="34" charset="-120"/>
              </a:rPr>
              <a:t>This is a calibration and fence-construction failure, not a demonstration that univariate analysis has reached its ceiling.</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CHAPTER 7</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I built the fix, measured it, and did not merge it</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23</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Samuel Kaoma  |  2022016530  |  CSC 4004</a:t>
            </a:r>
            <a:endParaRPr lang="en-US" sz="1000" dirty="0"/>
          </a:p>
        </p:txBody>
      </p:sp>
      <p:sp>
        <p:nvSpPr>
          <p:cNvPr id="6" name="Text 4"/>
          <p:cNvSpPr txBox="1"/>
          <p:nvPr/>
        </p:nvSpPr>
        <p:spPr>
          <a:xfrm>
            <a:off x="566928" y="1371600"/>
            <a:ext cx="11055096" cy="566928"/>
          </a:xfrm>
          <a:prstGeom prst="rect">
            <a:avLst/>
          </a:prstGeom>
          <a:noFill/>
          <a:ln/>
        </p:spPr>
        <p:txBody>
          <a:bodyPr wrap="square" lIns="0" tIns="0" rIns="0" bIns="0" rtlCol="0" anchor="ctr"/>
          <a:lstStyle/>
          <a:p>
            <a:pPr indent="0" marL="0">
              <a:lnSpc>
                <a:spcPts val="1900"/>
              </a:lnSpc>
              <a:buNone/>
            </a:pPr>
            <a:r>
              <a:rPr lang="en-US" sz="1350" dirty="0">
                <a:solidFill>
                  <a:srgbClr val="1F2933"/>
                </a:solidFill>
                <a:latin typeface="Calibri" pitchFamily="34" charset="0"/>
                <a:ea typeface="Calibri" pitchFamily="34" charset="-122"/>
                <a:cs typeface="Calibri" pitchFamily="34" charset="-120"/>
              </a:rPr>
              <a:t>The correction keeps the absolute constant as a floor and adds a fence estimated from the uncontaminated upper half of the entropy distribution. Developed on development seeds, frozen, evaluated once against held-out data.</a:t>
            </a:r>
            <a:endParaRPr lang="en-US" sz="13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2121408"/>
          <a:ext cx="6949440" cy="914400"/>
        </p:xfrm>
        <a:graphic>
          <a:graphicData uri="http://schemas.openxmlformats.org/drawingml/2006/table">
            <a:tbl>
              <a:tblPr/>
              <a:tblGrid>
                <a:gridCol w="3291840"/>
                <a:gridCol w="1828800"/>
                <a:gridCol w="1828800"/>
              </a:tblGrid>
              <a:tr h="402336">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Shipped detector</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With the correction</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r>
              <a:tr h="402336">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Fabricated per-class recall</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0.70</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b="1" dirty="0">
                          <a:solidFill>
                            <a:srgbClr val="0F766E"/>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402336">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Lowest precision anywhere in the round</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0.9570</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b="1" dirty="0">
                          <a:solidFill>
                            <a:srgbClr val="B45309"/>
                          </a:solidFill>
                          <a:latin typeface="Calibri" pitchFamily="34" charset="0"/>
                          <a:ea typeface="Calibri" pitchFamily="34" charset="-122"/>
                          <a:cs typeface="Calibri" pitchFamily="34" charset="-120"/>
                        </a:rPr>
                        <a:t>0.8333</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bl>
          </a:graphicData>
        </a:graphic>
      </p:graphicFrame>
      <p:sp>
        <p:nvSpPr>
          <p:cNvPr id="8" name="Text 5"/>
          <p:cNvSpPr txBox="1"/>
          <p:nvPr/>
        </p:nvSpPr>
        <p:spPr>
          <a:xfrm>
            <a:off x="566928" y="3520440"/>
            <a:ext cx="6949440" cy="1463040"/>
          </a:xfrm>
          <a:prstGeom prst="rect">
            <a:avLst/>
          </a:prstGeom>
          <a:noFill/>
          <a:ln/>
        </p:spPr>
        <p:txBody>
          <a:bodyPr wrap="square" lIns="0" tIns="0" rIns="0" bIns="0" rtlCol="0" anchor="ctr"/>
          <a:lstStyle/>
          <a:p>
            <a:pPr indent="0" marL="0">
              <a:lnSpc>
                <a:spcPts val="1750"/>
              </a:lnSpc>
              <a:buNone/>
            </a:pPr>
            <a:r>
              <a:rPr lang="en-US" sz="1250" dirty="0">
                <a:solidFill>
                  <a:srgbClr val="1F2933"/>
                </a:solidFill>
                <a:latin typeface="Calibri" pitchFamily="34" charset="0"/>
                <a:ea typeface="Calibri" pitchFamily="34" charset="-122"/>
                <a:cs typeface="Calibri" pitchFamily="34" charset="-120"/>
              </a:rPr>
              <a:t>The gain concentrates in the stress condition. The cost concentrates at low prevalence, where recall was already complete and every extra flag falls on a genuine interview.</a:t>
            </a:r>
            <a:endParaRPr lang="en-US" sz="1250" dirty="0"/>
          </a:p>
          <a:p>
            <a:pPr indent="0" marL="0">
              <a:lnSpc>
                <a:spcPts val="1750"/>
              </a:lnSpc>
              <a:buNone/>
            </a:pPr>
            <a:r>
              <a:rPr lang="en-US" sz="600" dirty="0">
                <a:solidFill>
                  <a:srgbClr val="1F2933"/>
                </a:solidFill>
                <a:latin typeface="Calibri" pitchFamily="34" charset="0"/>
                <a:ea typeface="Calibri" pitchFamily="34" charset="-122"/>
                <a:cs typeface="Calibri" pitchFamily="34" charset="-120"/>
              </a:rPr>
              <a:t> </a:t>
            </a:r>
            <a:endParaRPr lang="en-US" sz="1250" dirty="0"/>
          </a:p>
          <a:p>
            <a:pPr indent="0" marL="0">
              <a:lnSpc>
                <a:spcPts val="1750"/>
              </a:lnSpc>
              <a:buNone/>
            </a:pPr>
            <a:r>
              <a:rPr lang="en-US" sz="1250" dirty="0">
                <a:solidFill>
                  <a:srgbClr val="1F2933"/>
                </a:solidFill>
                <a:latin typeface="Calibri" pitchFamily="34" charset="0"/>
                <a:ea typeface="Calibri" pitchFamily="34" charset="-122"/>
                <a:cs typeface="Calibri" pitchFamily="34" charset="-120"/>
              </a:rPr>
              <a:t>Real fabrication rates are low. So as it stands the correction buys no additional detection in the condition that most resembles deployment, and pays for it in false accusations against real enumerators.</a:t>
            </a:r>
            <a:endParaRPr lang="en-US" sz="1250" dirty="0"/>
          </a:p>
        </p:txBody>
      </p:sp>
      <p:sp>
        <p:nvSpPr>
          <p:cNvPr id="9" name="Shape 6"/>
          <p:cNvSpPr/>
          <p:nvPr/>
        </p:nvSpPr>
        <p:spPr>
          <a:xfrm>
            <a:off x="7772400" y="2121408"/>
            <a:ext cx="3858768" cy="2834640"/>
          </a:xfrm>
          <a:prstGeom prst="roundRect">
            <a:avLst>
              <a:gd name="adj" fmla="val 1613"/>
            </a:avLst>
          </a:prstGeom>
          <a:solidFill>
            <a:srgbClr val="16232B"/>
          </a:solidFill>
          <a:ln w="12700">
            <a:solidFill>
              <a:srgbClr val="16232B"/>
            </a:solidFill>
            <a:prstDash val="solid"/>
          </a:ln>
        </p:spPr>
        <p:txBody>
          <a:bodyPr/>
          <a:p/>
        </p:txBody>
      </p:sp>
      <p:sp>
        <p:nvSpPr>
          <p:cNvPr id="10" name="Text 7"/>
          <p:cNvSpPr txBox="1"/>
          <p:nvPr/>
        </p:nvSpPr>
        <p:spPr>
          <a:xfrm>
            <a:off x="7991856" y="2267712"/>
            <a:ext cx="3456432" cy="2606040"/>
          </a:xfrm>
          <a:prstGeom prst="rect">
            <a:avLst/>
          </a:prstGeom>
          <a:noFill/>
          <a:ln/>
        </p:spPr>
        <p:txBody>
          <a:bodyPr wrap="square" lIns="0" tIns="0" rIns="0" bIns="0" rtlCol="0" anchor="ctr"/>
          <a:lstStyle/>
          <a:p>
            <a:pPr indent="0" marL="0">
              <a:lnSpc>
                <a:spcPts val="1650"/>
              </a:lnSpc>
              <a:buNone/>
            </a:pPr>
            <a:r>
              <a:rPr lang="en-US" sz="1700" b="1" dirty="0">
                <a:solidFill>
                  <a:srgbClr val="FFFFFF"/>
                </a:solidFill>
                <a:latin typeface="Cambria" pitchFamily="34" charset="0"/>
                <a:ea typeface="Cambria" pitchFamily="34" charset="-122"/>
                <a:cs typeface="Cambria" pitchFamily="34" charset="-120"/>
              </a:rPr>
              <a:t>Held unmerged</a:t>
            </a:r>
            <a:endParaRPr lang="en-US" sz="1200" dirty="0"/>
          </a:p>
          <a:p>
            <a:pPr indent="0" marL="0">
              <a:lnSpc>
                <a:spcPts val="1650"/>
              </a:lnSpc>
              <a:buNone/>
            </a:pPr>
            <a:r>
              <a:rPr lang="en-US" sz="600" dirty="0">
                <a:solidFill>
                  <a:srgbClr val="000000"/>
                </a:solidFill>
                <a:latin typeface="Calibri" pitchFamily="34" charset="0"/>
                <a:ea typeface="Calibri" pitchFamily="34" charset="-122"/>
                <a:cs typeface="Calibri" pitchFamily="34" charset="-120"/>
              </a:rPr>
              <a:t> </a:t>
            </a:r>
            <a:endParaRPr lang="en-US" sz="1200" dirty="0"/>
          </a:p>
          <a:p>
            <a:pPr indent="0" marL="0">
              <a:lnSpc>
                <a:spcPts val="1650"/>
              </a:lnSpc>
              <a:buNone/>
            </a:pPr>
            <a:r>
              <a:rPr lang="en-US" sz="1200" dirty="0">
                <a:solidFill>
                  <a:srgbClr val="AFC0C9"/>
                </a:solidFill>
                <a:latin typeface="Calibri" pitchFamily="34" charset="0"/>
                <a:ea typeface="Calibri" pitchFamily="34" charset="-122"/>
                <a:cs typeface="Calibri" pitchFamily="34" charset="-120"/>
              </a:rPr>
              <a:t>It lives on branch fix/entropy-threshold-relative, 58 commits off main. Every figure in this presentation describes the detector without it.</a:t>
            </a:r>
            <a:endParaRPr lang="en-US" sz="1200" dirty="0"/>
          </a:p>
          <a:p>
            <a:pPr indent="0" marL="0">
              <a:lnSpc>
                <a:spcPts val="1650"/>
              </a:lnSpc>
              <a:buNone/>
            </a:pPr>
            <a:r>
              <a:rPr lang="en-US" sz="600" dirty="0">
                <a:solidFill>
                  <a:srgbClr val="000000"/>
                </a:solidFill>
                <a:latin typeface="Calibri" pitchFamily="34" charset="0"/>
                <a:ea typeface="Calibri" pitchFamily="34" charset="-122"/>
                <a:cs typeface="Calibri" pitchFamily="34" charset="-120"/>
              </a:rPr>
              <a:t> </a:t>
            </a:r>
            <a:endParaRPr lang="en-US" sz="1200" dirty="0"/>
          </a:p>
          <a:p>
            <a:pPr indent="0" marL="0">
              <a:lnSpc>
                <a:spcPts val="1650"/>
              </a:lnSpc>
              <a:buNone/>
            </a:pPr>
            <a:r>
              <a:rPr lang="en-US" sz="1200" dirty="0">
                <a:solidFill>
                  <a:srgbClr val="AFC0C9"/>
                </a:solidFill>
                <a:latin typeface="Calibri" pitchFamily="34" charset="0"/>
                <a:ea typeface="Calibri" pitchFamily="34" charset="-122"/>
                <a:cs typeface="Calibri" pitchFamily="34" charset="-120"/>
              </a:rPr>
              <a:t>Adopting it is a judgement about the relative cost of an undetected fabrication against a genuine enumerator sent for review. That is a deployment decision, not a methodological one.</a:t>
            </a:r>
            <a:endParaRPr lang="en-US" sz="1200" dirty="0"/>
          </a:p>
        </p:txBody>
      </p:sp>
      <p:sp>
        <p:nvSpPr>
          <p:cNvPr id="11" name="Text 8"/>
          <p:cNvSpPr txBox="1"/>
          <p:nvPr/>
        </p:nvSpPr>
        <p:spPr>
          <a:xfrm>
            <a:off x="566928" y="6144768"/>
            <a:ext cx="10140696" cy="274320"/>
          </a:xfrm>
          <a:prstGeom prst="rect">
            <a:avLst/>
          </a:prstGeom>
          <a:noFill/>
          <a:ln/>
        </p:spPr>
        <p:txBody>
          <a:bodyPr wrap="square" lIns="0" tIns="0" rIns="0" bIns="0" rtlCol="0" anchor="ctr"/>
          <a:lstStyle/>
          <a:p>
            <a:pPr indent="0" marL="0">
              <a:buNone/>
            </a:pPr>
            <a:r>
              <a:rPr lang="en-US" sz="1050" i="1" dirty="0">
                <a:solidFill>
                  <a:srgbClr val="6B7785"/>
                </a:solidFill>
                <a:latin typeface="Calibri" pitchFamily="34" charset="0"/>
                <a:ea typeface="Calibri" pitchFamily="34" charset="-122"/>
                <a:cs typeface="Calibri" pitchFamily="34" charset="-120"/>
              </a:rPr>
              <a:t>Source: docs/validation_report.md section 5, and section 7 of the final report.</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RESULTS 6.7</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Scaling to ten thousand interviews</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24</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Samuel Kaoma  |  2022016530  |  CSC 4004</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7315200" cy="914400"/>
        </p:xfrm>
        <a:graphic>
          <a:graphicData uri="http://schemas.openxmlformats.org/drawingml/2006/table">
            <a:tbl>
              <a:tblPr/>
              <a:tblGrid>
                <a:gridCol w="2377440"/>
                <a:gridCol w="1371600"/>
                <a:gridCol w="1463040"/>
                <a:gridCol w="1097280"/>
                <a:gridCol w="1005840"/>
              </a:tblGrid>
              <a:tr h="402336">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Interviews</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Runtime</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Precision</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Recall</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r>
              <a:tr h="402336">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n500, SurveyCTO</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500</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56.12 s</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402336">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n10000, SurveyCTO</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1,068.87 s</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0.9945</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bl>
          </a:graphicData>
        </a:graphic>
      </p:graphicFrame>
      <p:sp>
        <p:nvSpPr>
          <p:cNvPr id="7" name="Shape 4"/>
          <p:cNvSpPr/>
          <p:nvPr/>
        </p:nvSpPr>
        <p:spPr>
          <a:xfrm>
            <a:off x="7863840" y="1371600"/>
            <a:ext cx="1828800" cy="1572768"/>
          </a:xfrm>
          <a:prstGeom prst="roundRect">
            <a:avLst>
              <a:gd name="adj" fmla="val 2907"/>
            </a:avLst>
          </a:prstGeom>
          <a:solidFill>
            <a:srgbClr val="EEF2F6"/>
          </a:solidFill>
          <a:ln w="12700">
            <a:solidFill>
              <a:srgbClr val="EEF2F6"/>
            </a:solidFill>
            <a:prstDash val="solid"/>
          </a:ln>
        </p:spPr>
        <p:txBody>
          <a:bodyPr/>
          <a:p/>
        </p:txBody>
      </p:sp>
      <p:sp>
        <p:nvSpPr>
          <p:cNvPr id="8" name="Text 5"/>
          <p:cNvSpPr txBox="1"/>
          <p:nvPr/>
        </p:nvSpPr>
        <p:spPr>
          <a:xfrm>
            <a:off x="8010144" y="1517904"/>
            <a:ext cx="1536192" cy="749808"/>
          </a:xfrm>
          <a:prstGeom prst="rect">
            <a:avLst/>
          </a:prstGeom>
          <a:noFill/>
          <a:ln/>
        </p:spPr>
        <p:txBody>
          <a:bodyPr wrap="square" lIns="0" tIns="0" rIns="0" bIns="0" rtlCol="0" anchor="ctr"/>
          <a:lstStyle/>
          <a:p>
            <a:pPr algn="ctr" indent="0" marL="0">
              <a:buNone/>
            </a:pPr>
            <a:r>
              <a:rPr lang="en-US" sz="3400" b="1" dirty="0">
                <a:solidFill>
                  <a:srgbClr val="0F766E"/>
                </a:solidFill>
                <a:latin typeface="Cambria" pitchFamily="34" charset="0"/>
                <a:ea typeface="Cambria" pitchFamily="34" charset="-122"/>
                <a:cs typeface="Cambria" pitchFamily="34" charset="-120"/>
              </a:rPr>
              <a:t>x19.05</a:t>
            </a:r>
            <a:endParaRPr lang="en-US" sz="3400" dirty="0"/>
          </a:p>
        </p:txBody>
      </p:sp>
      <p:sp>
        <p:nvSpPr>
          <p:cNvPr id="9" name="Text 6"/>
          <p:cNvSpPr txBox="1"/>
          <p:nvPr/>
        </p:nvSpPr>
        <p:spPr>
          <a:xfrm>
            <a:off x="8010144" y="2286000"/>
            <a:ext cx="1536192" cy="548640"/>
          </a:xfrm>
          <a:prstGeom prst="rect">
            <a:avLst/>
          </a:prstGeom>
          <a:noFill/>
          <a:ln/>
        </p:spPr>
        <p:txBody>
          <a:bodyPr wrap="square" lIns="0" tIns="0" rIns="0" bIns="0" rtlCol="0" anchor="ctr"/>
          <a:lstStyle/>
          <a:p>
            <a:pPr algn="ctr" indent="0" marL="0">
              <a:lnSpc>
                <a:spcPts val="1500"/>
              </a:lnSpc>
              <a:buNone/>
            </a:pPr>
            <a:r>
              <a:rPr lang="en-US" sz="1150" dirty="0">
                <a:solidFill>
                  <a:srgbClr val="1F2933"/>
                </a:solidFill>
                <a:latin typeface="Calibri" pitchFamily="34" charset="0"/>
                <a:ea typeface="Calibri" pitchFamily="34" charset="-122"/>
                <a:cs typeface="Calibri" pitchFamily="34" charset="-120"/>
              </a:rPr>
              <a:t>runtime, for x20</a:t>
            </a:r>
            <a:endParaRPr lang="en-US" sz="1150" dirty="0"/>
          </a:p>
          <a:p>
            <a:pPr algn="ctr" indent="0" marL="0">
              <a:lnSpc>
                <a:spcPts val="1500"/>
              </a:lnSpc>
              <a:buNone/>
            </a:pPr>
            <a:r>
              <a:rPr lang="en-US" sz="1150" dirty="0">
                <a:solidFill>
                  <a:srgbClr val="1F2933"/>
                </a:solidFill>
                <a:latin typeface="Calibri" pitchFamily="34" charset="0"/>
                <a:ea typeface="Calibri" pitchFamily="34" charset="-122"/>
                <a:cs typeface="Calibri" pitchFamily="34" charset="-120"/>
              </a:rPr>
              <a:t>the data</a:t>
            </a:r>
            <a:endParaRPr lang="en-US" sz="1150" dirty="0"/>
          </a:p>
        </p:txBody>
      </p:sp>
      <p:sp>
        <p:nvSpPr>
          <p:cNvPr id="10" name="Shape 7"/>
          <p:cNvSpPr/>
          <p:nvPr/>
        </p:nvSpPr>
        <p:spPr>
          <a:xfrm>
            <a:off x="9875520" y="1371600"/>
            <a:ext cx="1755648" cy="1572768"/>
          </a:xfrm>
          <a:prstGeom prst="roundRect">
            <a:avLst>
              <a:gd name="adj" fmla="val 2907"/>
            </a:avLst>
          </a:prstGeom>
          <a:solidFill>
            <a:srgbClr val="EEF2F6"/>
          </a:solidFill>
          <a:ln w="12700">
            <a:solidFill>
              <a:srgbClr val="EEF2F6"/>
            </a:solidFill>
            <a:prstDash val="solid"/>
          </a:ln>
        </p:spPr>
        <p:txBody>
          <a:bodyPr/>
          <a:p/>
        </p:txBody>
      </p:sp>
      <p:sp>
        <p:nvSpPr>
          <p:cNvPr id="11" name="Text 8"/>
          <p:cNvSpPr txBox="1"/>
          <p:nvPr/>
        </p:nvSpPr>
        <p:spPr>
          <a:xfrm>
            <a:off x="10021824" y="1517904"/>
            <a:ext cx="1463040" cy="749808"/>
          </a:xfrm>
          <a:prstGeom prst="rect">
            <a:avLst/>
          </a:prstGeom>
          <a:noFill/>
          <a:ln/>
        </p:spPr>
        <p:txBody>
          <a:bodyPr wrap="square" lIns="0" tIns="0" rIns="0" bIns="0" rtlCol="0" anchor="ctr"/>
          <a:lstStyle/>
          <a:p>
            <a:pPr algn="ctr" indent="0" marL="0">
              <a:buNone/>
            </a:pPr>
            <a:r>
              <a:rPr lang="en-US" sz="3400" b="1" dirty="0">
                <a:solidFill>
                  <a:srgbClr val="0F766E"/>
                </a:solidFill>
                <a:latin typeface="Cambria" pitchFamily="34" charset="0"/>
                <a:ea typeface="Cambria" pitchFamily="34" charset="-122"/>
                <a:cs typeface="Cambria" pitchFamily="34" charset="-120"/>
              </a:rPr>
              <a:t>11</a:t>
            </a:r>
            <a:endParaRPr lang="en-US" sz="3400" dirty="0"/>
          </a:p>
        </p:txBody>
      </p:sp>
      <p:sp>
        <p:nvSpPr>
          <p:cNvPr id="12" name="Text 9"/>
          <p:cNvSpPr txBox="1"/>
          <p:nvPr/>
        </p:nvSpPr>
        <p:spPr>
          <a:xfrm>
            <a:off x="10021824" y="2286000"/>
            <a:ext cx="1463040" cy="548640"/>
          </a:xfrm>
          <a:prstGeom prst="rect">
            <a:avLst/>
          </a:prstGeom>
          <a:noFill/>
          <a:ln/>
        </p:spPr>
        <p:txBody>
          <a:bodyPr wrap="square" lIns="0" tIns="0" rIns="0" bIns="0" rtlCol="0" anchor="ctr"/>
          <a:lstStyle/>
          <a:p>
            <a:pPr algn="ctr" indent="0" marL="0">
              <a:lnSpc>
                <a:spcPts val="1500"/>
              </a:lnSpc>
              <a:buNone/>
            </a:pPr>
            <a:r>
              <a:rPr lang="en-US" sz="1150" dirty="0">
                <a:solidFill>
                  <a:srgbClr val="1F2933"/>
                </a:solidFill>
                <a:latin typeface="Calibri" pitchFamily="34" charset="0"/>
                <a:ea typeface="Calibri" pitchFamily="34" charset="-122"/>
                <a:cs typeface="Calibri" pitchFamily="34" charset="-120"/>
              </a:rPr>
              <a:t>false positives</a:t>
            </a:r>
            <a:endParaRPr lang="en-US" sz="1150" dirty="0"/>
          </a:p>
          <a:p>
            <a:pPr algn="ctr" indent="0" marL="0">
              <a:lnSpc>
                <a:spcPts val="1500"/>
              </a:lnSpc>
              <a:buNone/>
            </a:pPr>
            <a:r>
              <a:rPr lang="en-US" sz="1150" dirty="0">
                <a:solidFill>
                  <a:srgbClr val="1F2933"/>
                </a:solidFill>
                <a:latin typeface="Calibri" pitchFamily="34" charset="0"/>
                <a:ea typeface="Calibri" pitchFamily="34" charset="-122"/>
                <a:cs typeface="Calibri" pitchFamily="34" charset="-120"/>
              </a:rPr>
              <a:t>in 10,000</a:t>
            </a:r>
            <a:endParaRPr lang="en-US" sz="1150" dirty="0"/>
          </a:p>
        </p:txBody>
      </p:sp>
      <p:sp>
        <p:nvSpPr>
          <p:cNvPr id="13" name="Text 10"/>
          <p:cNvSpPr txBox="1"/>
          <p:nvPr/>
        </p:nvSpPr>
        <p:spPr>
          <a:xfrm>
            <a:off x="566928" y="2834640"/>
            <a:ext cx="7315200" cy="1005840"/>
          </a:xfrm>
          <a:prstGeom prst="rect">
            <a:avLst/>
          </a:prstGeom>
          <a:noFill/>
          <a:ln/>
        </p:spPr>
        <p:txBody>
          <a:bodyPr wrap="square" lIns="0" tIns="0" rIns="0" bIns="0" rtlCol="0" anchor="ctr"/>
          <a:lstStyle/>
          <a:p>
            <a:pPr indent="0" marL="0">
              <a:lnSpc>
                <a:spcPts val="1750"/>
              </a:lnSpc>
              <a:buNone/>
            </a:pPr>
            <a:r>
              <a:rPr lang="en-US" sz="1250" b="1" dirty="0">
                <a:solidFill>
                  <a:srgbClr val="1F2933"/>
                </a:solidFill>
                <a:latin typeface="Calibri" pitchFamily="34" charset="0"/>
                <a:ea typeface="Calibri" pitchFamily="34" charset="-122"/>
                <a:cs typeface="Calibri" pitchFamily="34" charset="-120"/>
              </a:rPr>
              <a:t>Near-linear, as the design targets. </a:t>
            </a:r>
            <a:pPr indent="0" marL="0">
              <a:lnSpc>
                <a:spcPts val="1750"/>
              </a:lnSpc>
              <a:buNone/>
            </a:pPr>
            <a:r>
              <a:rPr lang="en-US" sz="1250" dirty="0">
                <a:solidFill>
                  <a:srgbClr val="1F2933"/>
                </a:solidFill>
                <a:latin typeface="Calibri" pitchFamily="34" charset="0"/>
                <a:ea typeface="Calibri" pitchFamily="34" charset="-122"/>
                <a:cs typeface="Calibri" pitchFamily="34" charset="-120"/>
              </a:rPr>
              <a:t>Recall holds at 1.0000 and precision moves only from 1.0000 to 0.9945. Memory was not a constraint: files are processed independently and only interview-level summaries are held for the batch stage.</a:t>
            </a:r>
            <a:endParaRPr lang="en-US" sz="1250" dirty="0"/>
          </a:p>
        </p:txBody>
      </p:sp>
      <p:sp>
        <p:nvSpPr>
          <p:cNvPr id="14" name="Shape 11"/>
          <p:cNvSpPr/>
          <p:nvPr/>
        </p:nvSpPr>
        <p:spPr>
          <a:xfrm>
            <a:off x="566928" y="3931920"/>
            <a:ext cx="11055096" cy="1051560"/>
          </a:xfrm>
          <a:prstGeom prst="roundRect">
            <a:avLst>
              <a:gd name="adj" fmla="val 4348"/>
            </a:avLst>
          </a:prstGeom>
          <a:solidFill>
            <a:srgbClr val="EEF2F6"/>
          </a:solidFill>
          <a:ln w="12700">
            <a:solidFill>
              <a:srgbClr val="EEF2F6"/>
            </a:solidFill>
            <a:prstDash val="solid"/>
          </a:ln>
        </p:spPr>
        <p:txBody>
          <a:bodyPr/>
          <a:p/>
        </p:txBody>
      </p:sp>
      <p:sp>
        <p:nvSpPr>
          <p:cNvPr id="15" name="Text 12"/>
          <p:cNvSpPr txBox="1"/>
          <p:nvPr/>
        </p:nvSpPr>
        <p:spPr>
          <a:xfrm>
            <a:off x="786384" y="4059936"/>
            <a:ext cx="10597896" cy="822960"/>
          </a:xfrm>
          <a:prstGeom prst="rect">
            <a:avLst/>
          </a:prstGeom>
          <a:noFill/>
          <a:ln/>
        </p:spPr>
        <p:txBody>
          <a:bodyPr wrap="square" lIns="0" tIns="0" rIns="0" bIns="0" rtlCol="0" anchor="ctr"/>
          <a:lstStyle/>
          <a:p>
            <a:pPr indent="0" marL="0">
              <a:lnSpc>
                <a:spcPts val="1600"/>
              </a:lnSpc>
              <a:buNone/>
            </a:pPr>
            <a:r>
              <a:rPr lang="en-US" sz="1150" b="1" dirty="0">
                <a:solidFill>
                  <a:srgbClr val="0F766E"/>
                </a:solidFill>
                <a:latin typeface="Calibri" pitchFamily="34" charset="0"/>
                <a:ea typeface="Calibri" pitchFamily="34" charset="-122"/>
                <a:cs typeface="Calibri" pitchFamily="34" charset="-120"/>
              </a:rPr>
              <a:t>Which run these times come from.  </a:t>
            </a:r>
            <a:pPr indent="0" marL="0">
              <a:lnSpc>
                <a:spcPts val="1600"/>
              </a:lnSpc>
              <a:buNone/>
            </a:pPr>
            <a:r>
              <a:rPr lang="en-US" sz="1150" dirty="0">
                <a:solidFill>
                  <a:srgbClr val="1F2933"/>
                </a:solidFill>
                <a:latin typeface="Calibri" pitchFamily="34" charset="0"/>
                <a:ea typeface="Calibri" pitchFamily="34" charset="-122"/>
                <a:cs typeface="Calibri" pitchFamily="34" charset="-120"/>
              </a:rPr>
              <a:t>They are the strict examiner audit, the run that carries the scale check as an explicit pass or fail condition. A separate aggregate timing file records 57.54 s and 1,037.74 s from a different run, a factor of 18.04. These are two measurements, not one reported twice, and both place the runtime factor below the twentyfold growth in input size.</a:t>
            </a:r>
            <a:endParaRPr lang="en-US" sz="1150" dirty="0"/>
          </a:p>
        </p:txBody>
      </p:sp>
      <p:sp>
        <p:nvSpPr>
          <p:cNvPr id="16" name="Text 13"/>
          <p:cNvSpPr txBox="1"/>
          <p:nvPr/>
        </p:nvSpPr>
        <p:spPr>
          <a:xfrm>
            <a:off x="566928" y="6144768"/>
            <a:ext cx="10140696" cy="274320"/>
          </a:xfrm>
          <a:prstGeom prst="rect">
            <a:avLst/>
          </a:prstGeom>
          <a:noFill/>
          <a:ln/>
        </p:spPr>
        <p:txBody>
          <a:bodyPr wrap="square" lIns="0" tIns="0" rIns="0" bIns="0" rtlCol="0" anchor="ctr"/>
          <a:lstStyle/>
          <a:p>
            <a:pPr indent="0" marL="0">
              <a:buNone/>
            </a:pPr>
            <a:r>
              <a:rPr lang="en-US" sz="1050" i="1" dirty="0">
                <a:solidFill>
                  <a:srgbClr val="6B7785"/>
                </a:solidFill>
                <a:latin typeface="Calibri" pitchFamily="34" charset="0"/>
                <a:ea typeface="Calibri" pitchFamily="34" charset="-122"/>
                <a:cs typeface="Calibri" pitchFamily="34" charset="-120"/>
              </a:rPr>
              <a:t>Source: output/examiner_audit/strict_examiner_audit_report.md, keys n500_runtime_seconds and n10000_runtime_seconds.</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CHAPTER 5 AND APPENDIX D</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How the numbers are verified</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25</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Samuel Kaoma  |  2022016530  |  CSC 4004</a:t>
            </a:r>
            <a:endParaRPr lang="en-US" sz="1000" dirty="0"/>
          </a:p>
        </p:txBody>
      </p:sp>
      <p:sp>
        <p:nvSpPr>
          <p:cNvPr id="6" name="Shape 4"/>
          <p:cNvSpPr/>
          <p:nvPr/>
        </p:nvSpPr>
        <p:spPr>
          <a:xfrm>
            <a:off x="566928" y="1371600"/>
            <a:ext cx="3566160" cy="2651760"/>
          </a:xfrm>
          <a:prstGeom prst="roundRect">
            <a:avLst>
              <a:gd name="adj" fmla="val 1724"/>
            </a:avLst>
          </a:prstGeom>
          <a:solidFill>
            <a:srgbClr val="EEF2F6"/>
          </a:solidFill>
          <a:ln w="12700">
            <a:solidFill>
              <a:srgbClr val="EEF2F6"/>
            </a:solidFill>
            <a:prstDash val="solid"/>
          </a:ln>
        </p:spPr>
        <p:txBody>
          <a:bodyPr/>
          <a:p/>
        </p:txBody>
      </p:sp>
      <p:sp>
        <p:nvSpPr>
          <p:cNvPr id="7" name="Text 5"/>
          <p:cNvSpPr txBox="1"/>
          <p:nvPr/>
        </p:nvSpPr>
        <p:spPr>
          <a:xfrm>
            <a:off x="786384" y="1554480"/>
            <a:ext cx="3127248" cy="603504"/>
          </a:xfrm>
          <a:prstGeom prst="rect">
            <a:avLst/>
          </a:prstGeom>
          <a:noFill/>
          <a:ln/>
        </p:spPr>
        <p:txBody>
          <a:bodyPr wrap="square" lIns="0" tIns="0" rIns="0" bIns="0" rtlCol="0" anchor="ctr"/>
          <a:lstStyle/>
          <a:p>
            <a:pPr indent="0" marL="0">
              <a:buNone/>
            </a:pPr>
            <a:r>
              <a:rPr lang="en-US" sz="3000" b="1" dirty="0">
                <a:solidFill>
                  <a:srgbClr val="0F766E"/>
                </a:solidFill>
                <a:latin typeface="Cambria" pitchFamily="34" charset="0"/>
                <a:ea typeface="Cambria" pitchFamily="34" charset="-122"/>
                <a:cs typeface="Cambria" pitchFamily="34" charset="-120"/>
              </a:rPr>
              <a:t>37</a:t>
            </a:r>
            <a:endParaRPr lang="en-US" sz="3000" dirty="0"/>
          </a:p>
        </p:txBody>
      </p:sp>
      <p:sp>
        <p:nvSpPr>
          <p:cNvPr id="8" name="Text 6"/>
          <p:cNvSpPr txBox="1"/>
          <p:nvPr/>
        </p:nvSpPr>
        <p:spPr>
          <a:xfrm>
            <a:off x="786384" y="2157984"/>
            <a:ext cx="3127248" cy="274320"/>
          </a:xfrm>
          <a:prstGeom prst="rect">
            <a:avLst/>
          </a:prstGeom>
          <a:noFill/>
          <a:ln/>
        </p:spPr>
        <p:txBody>
          <a:bodyPr wrap="square" lIns="0" tIns="0" rIns="0" bIns="0" rtlCol="0" anchor="ctr"/>
          <a:lstStyle/>
          <a:p>
            <a:pPr indent="0" marL="0">
              <a:buNone/>
            </a:pPr>
            <a:r>
              <a:rPr lang="en-US" sz="1250" b="1" dirty="0">
                <a:solidFill>
                  <a:srgbClr val="1F2933"/>
                </a:solidFill>
                <a:latin typeface="Calibri" pitchFamily="34" charset="0"/>
                <a:ea typeface="Calibri" pitchFamily="34" charset="-122"/>
                <a:cs typeface="Calibri" pitchFamily="34" charset="-120"/>
              </a:rPr>
              <a:t>automated tests</a:t>
            </a:r>
            <a:endParaRPr lang="en-US" sz="1250" dirty="0"/>
          </a:p>
        </p:txBody>
      </p:sp>
      <p:sp>
        <p:nvSpPr>
          <p:cNvPr id="9" name="Text 7"/>
          <p:cNvSpPr txBox="1"/>
          <p:nvPr/>
        </p:nvSpPr>
        <p:spPr>
          <a:xfrm>
            <a:off x="786384" y="2487168"/>
            <a:ext cx="3127248" cy="1371600"/>
          </a:xfrm>
          <a:prstGeom prst="rect">
            <a:avLst/>
          </a:prstGeom>
          <a:noFill/>
          <a:ln/>
        </p:spPr>
        <p:txBody>
          <a:bodyPr wrap="square" lIns="0" tIns="0" rIns="0" bIns="0" rtlCol="0" anchor="ctr"/>
          <a:lstStyle/>
          <a:p>
            <a:pPr indent="0" marL="0">
              <a:lnSpc>
                <a:spcPts val="1550"/>
              </a:lnSpc>
              <a:buNone/>
            </a:pPr>
            <a:r>
              <a:rPr lang="en-US" sz="1150" dirty="0">
                <a:solidFill>
                  <a:srgbClr val="3E4C55"/>
                </a:solidFill>
                <a:latin typeface="Calibri" pitchFamily="34" charset="0"/>
                <a:ea typeface="Calibri" pitchFamily="34" charset="-122"/>
                <a:cs typeface="Calibri" pitchFamily="34" charset="-120"/>
              </a:rPr>
              <a:t>Parsers, each extractor, the detector, config validation and the end-to-end pipeline, plus property-based tests. All pass on Python 3.14.0 with pandas 3.0.1.</a:t>
            </a:r>
            <a:endParaRPr lang="en-US" sz="1150" dirty="0"/>
          </a:p>
        </p:txBody>
      </p:sp>
      <p:sp>
        <p:nvSpPr>
          <p:cNvPr id="10" name="Shape 8"/>
          <p:cNvSpPr/>
          <p:nvPr/>
        </p:nvSpPr>
        <p:spPr>
          <a:xfrm>
            <a:off x="4306824" y="1371600"/>
            <a:ext cx="3566160" cy="2651760"/>
          </a:xfrm>
          <a:prstGeom prst="roundRect">
            <a:avLst>
              <a:gd name="adj" fmla="val 1724"/>
            </a:avLst>
          </a:prstGeom>
          <a:solidFill>
            <a:srgbClr val="EEF2F6"/>
          </a:solidFill>
          <a:ln w="12700">
            <a:solidFill>
              <a:srgbClr val="EEF2F6"/>
            </a:solidFill>
            <a:prstDash val="solid"/>
          </a:ln>
        </p:spPr>
        <p:txBody>
          <a:bodyPr/>
          <a:p/>
        </p:txBody>
      </p:sp>
      <p:sp>
        <p:nvSpPr>
          <p:cNvPr id="11" name="Text 9"/>
          <p:cNvSpPr txBox="1"/>
          <p:nvPr/>
        </p:nvSpPr>
        <p:spPr>
          <a:xfrm>
            <a:off x="4526280" y="1554480"/>
            <a:ext cx="3127248" cy="603504"/>
          </a:xfrm>
          <a:prstGeom prst="rect">
            <a:avLst/>
          </a:prstGeom>
          <a:noFill/>
          <a:ln/>
        </p:spPr>
        <p:txBody>
          <a:bodyPr wrap="square" lIns="0" tIns="0" rIns="0" bIns="0" rtlCol="0" anchor="ctr"/>
          <a:lstStyle/>
          <a:p>
            <a:pPr indent="0" marL="0">
              <a:buNone/>
            </a:pPr>
            <a:r>
              <a:rPr lang="en-US" sz="3000" b="1" dirty="0">
                <a:solidFill>
                  <a:srgbClr val="0F766E"/>
                </a:solidFill>
                <a:latin typeface="Cambria" pitchFamily="34" charset="0"/>
                <a:ea typeface="Cambria" pitchFamily="34" charset="-122"/>
                <a:cs typeface="Cambria" pitchFamily="34" charset="-120"/>
              </a:rPr>
              <a:t>16 / 16</a:t>
            </a:r>
            <a:endParaRPr lang="en-US" sz="3000" dirty="0"/>
          </a:p>
        </p:txBody>
      </p:sp>
      <p:sp>
        <p:nvSpPr>
          <p:cNvPr id="12" name="Text 10"/>
          <p:cNvSpPr txBox="1"/>
          <p:nvPr/>
        </p:nvSpPr>
        <p:spPr>
          <a:xfrm>
            <a:off x="4526280" y="2157984"/>
            <a:ext cx="3127248" cy="274320"/>
          </a:xfrm>
          <a:prstGeom prst="rect">
            <a:avLst/>
          </a:prstGeom>
          <a:noFill/>
          <a:ln/>
        </p:spPr>
        <p:txBody>
          <a:bodyPr wrap="square" lIns="0" tIns="0" rIns="0" bIns="0" rtlCol="0" anchor="ctr"/>
          <a:lstStyle/>
          <a:p>
            <a:pPr indent="0" marL="0">
              <a:buNone/>
            </a:pPr>
            <a:r>
              <a:rPr lang="en-US" sz="1250" b="1" dirty="0">
                <a:solidFill>
                  <a:srgbClr val="1F2933"/>
                </a:solidFill>
                <a:latin typeface="Calibri" pitchFamily="34" charset="0"/>
                <a:ea typeface="Calibri" pitchFamily="34" charset="-122"/>
                <a:cs typeface="Calibri" pitchFamily="34" charset="-120"/>
              </a:rPr>
              <a:t>strict audit checks</a:t>
            </a:r>
            <a:endParaRPr lang="en-US" sz="1250" dirty="0"/>
          </a:p>
        </p:txBody>
      </p:sp>
      <p:sp>
        <p:nvSpPr>
          <p:cNvPr id="13" name="Text 11"/>
          <p:cNvSpPr txBox="1"/>
          <p:nvPr/>
        </p:nvSpPr>
        <p:spPr>
          <a:xfrm>
            <a:off x="4526280" y="2487168"/>
            <a:ext cx="3127248" cy="1371600"/>
          </a:xfrm>
          <a:prstGeom prst="rect">
            <a:avLst/>
          </a:prstGeom>
          <a:noFill/>
          <a:ln/>
        </p:spPr>
        <p:txBody>
          <a:bodyPr wrap="square" lIns="0" tIns="0" rIns="0" bIns="0" rtlCol="0" anchor="ctr"/>
          <a:lstStyle/>
          <a:p>
            <a:pPr indent="0" marL="0">
              <a:lnSpc>
                <a:spcPts val="1550"/>
              </a:lnSpc>
              <a:buNone/>
            </a:pPr>
            <a:r>
              <a:rPr lang="en-US" sz="1150" dirty="0">
                <a:solidFill>
                  <a:srgbClr val="3E4C55"/>
                </a:solidFill>
                <a:latin typeface="Calibri" pitchFamily="34" charset="0"/>
                <a:ea typeface="Calibri" pitchFamily="34" charset="-122"/>
                <a:cs typeface="Calibri" pitchFamily="34" charset="-120"/>
              </a:rPr>
              <a:t>Raw-format consistency, normalisation, features recomputed by hand from the raw logs, score reconstruction, baselines, cross-format parity and scale. Every check passes.</a:t>
            </a:r>
            <a:endParaRPr lang="en-US" sz="1150" dirty="0"/>
          </a:p>
        </p:txBody>
      </p:sp>
      <p:sp>
        <p:nvSpPr>
          <p:cNvPr id="14" name="Shape 12"/>
          <p:cNvSpPr/>
          <p:nvPr/>
        </p:nvSpPr>
        <p:spPr>
          <a:xfrm>
            <a:off x="8046720" y="1371600"/>
            <a:ext cx="3566160" cy="2651760"/>
          </a:xfrm>
          <a:prstGeom prst="roundRect">
            <a:avLst>
              <a:gd name="adj" fmla="val 1724"/>
            </a:avLst>
          </a:prstGeom>
          <a:solidFill>
            <a:srgbClr val="EEF2F6"/>
          </a:solidFill>
          <a:ln w="12700">
            <a:solidFill>
              <a:srgbClr val="EEF2F6"/>
            </a:solidFill>
            <a:prstDash val="solid"/>
          </a:ln>
        </p:spPr>
        <p:txBody>
          <a:bodyPr/>
          <a:p/>
        </p:txBody>
      </p:sp>
      <p:sp>
        <p:nvSpPr>
          <p:cNvPr id="15" name="Text 13"/>
          <p:cNvSpPr txBox="1"/>
          <p:nvPr/>
        </p:nvSpPr>
        <p:spPr>
          <a:xfrm>
            <a:off x="8266176" y="1554480"/>
            <a:ext cx="3127248" cy="603504"/>
          </a:xfrm>
          <a:prstGeom prst="rect">
            <a:avLst/>
          </a:prstGeom>
          <a:noFill/>
          <a:ln/>
        </p:spPr>
        <p:txBody>
          <a:bodyPr wrap="square" lIns="0" tIns="0" rIns="0" bIns="0" rtlCol="0" anchor="ctr"/>
          <a:lstStyle/>
          <a:p>
            <a:pPr indent="0" marL="0">
              <a:buNone/>
            </a:pPr>
            <a:r>
              <a:rPr lang="en-US" sz="3000" b="1" dirty="0">
                <a:solidFill>
                  <a:srgbClr val="B45309"/>
                </a:solidFill>
                <a:latin typeface="Cambria" pitchFamily="34" charset="0"/>
                <a:ea typeface="Cambria" pitchFamily="34" charset="-122"/>
                <a:cs typeface="Cambria" pitchFamily="34" charset="-120"/>
              </a:rPr>
              <a:t>5</a:t>
            </a:r>
            <a:endParaRPr lang="en-US" sz="3000" dirty="0"/>
          </a:p>
        </p:txBody>
      </p:sp>
      <p:sp>
        <p:nvSpPr>
          <p:cNvPr id="16" name="Text 14"/>
          <p:cNvSpPr txBox="1"/>
          <p:nvPr/>
        </p:nvSpPr>
        <p:spPr>
          <a:xfrm>
            <a:off x="8266176" y="2157984"/>
            <a:ext cx="3127248" cy="274320"/>
          </a:xfrm>
          <a:prstGeom prst="rect">
            <a:avLst/>
          </a:prstGeom>
          <a:noFill/>
          <a:ln/>
        </p:spPr>
        <p:txBody>
          <a:bodyPr wrap="square" lIns="0" tIns="0" rIns="0" bIns="0" rtlCol="0" anchor="ctr"/>
          <a:lstStyle/>
          <a:p>
            <a:pPr indent="0" marL="0">
              <a:buNone/>
            </a:pPr>
            <a:r>
              <a:rPr lang="en-US" sz="1250" b="1" dirty="0">
                <a:solidFill>
                  <a:srgbClr val="1F2933"/>
                </a:solidFill>
                <a:latin typeface="Calibri" pitchFamily="34" charset="0"/>
                <a:ea typeface="Calibri" pitchFamily="34" charset="-122"/>
                <a:cs typeface="Calibri" pitchFamily="34" charset="-120"/>
              </a:rPr>
              <a:t>defects found and fixed</a:t>
            </a:r>
            <a:endParaRPr lang="en-US" sz="1250" dirty="0"/>
          </a:p>
        </p:txBody>
      </p:sp>
      <p:sp>
        <p:nvSpPr>
          <p:cNvPr id="17" name="Text 15"/>
          <p:cNvSpPr txBox="1"/>
          <p:nvPr/>
        </p:nvSpPr>
        <p:spPr>
          <a:xfrm>
            <a:off x="8266176" y="2487168"/>
            <a:ext cx="3127248" cy="1371600"/>
          </a:xfrm>
          <a:prstGeom prst="rect">
            <a:avLst/>
          </a:prstGeom>
          <a:noFill/>
          <a:ln/>
        </p:spPr>
        <p:txBody>
          <a:bodyPr wrap="square" lIns="0" tIns="0" rIns="0" bIns="0" rtlCol="0" anchor="ctr"/>
          <a:lstStyle/>
          <a:p>
            <a:pPr indent="0" marL="0">
              <a:lnSpc>
                <a:spcPts val="1550"/>
              </a:lnSpc>
              <a:buNone/>
            </a:pPr>
            <a:r>
              <a:rPr lang="en-US" sz="1150" dirty="0">
                <a:solidFill>
                  <a:srgbClr val="3E4C55"/>
                </a:solidFill>
                <a:latin typeface="Calibri" pitchFamily="34" charset="0"/>
                <a:ea typeface="Calibri" pitchFamily="34" charset="-122"/>
                <a:cs typeface="Calibri" pitchFamily="34" charset="-120"/>
              </a:rPr>
              <a:t>Including a pandas 3 timestamp resolution fault that silently produced values a thousand times too small, and a response time computed as a span rather than a sum. All five are covered by tests.</a:t>
            </a:r>
            <a:endParaRPr lang="en-US" sz="1150" dirty="0"/>
          </a:p>
        </p:txBody>
      </p:sp>
      <p:sp>
        <p:nvSpPr>
          <p:cNvPr id="18" name="Text 16"/>
          <p:cNvSpPr txBox="1"/>
          <p:nvPr/>
        </p:nvSpPr>
        <p:spPr>
          <a:xfrm>
            <a:off x="566928" y="4251960"/>
            <a:ext cx="11055096" cy="640080"/>
          </a:xfrm>
          <a:prstGeom prst="rect">
            <a:avLst/>
          </a:prstGeom>
          <a:noFill/>
          <a:ln/>
        </p:spPr>
        <p:txBody>
          <a:bodyPr wrap="square" lIns="0" tIns="0" rIns="0" bIns="0" rtlCol="0" anchor="ctr"/>
          <a:lstStyle/>
          <a:p>
            <a:pPr indent="0" marL="0">
              <a:lnSpc>
                <a:spcPts val="1750"/>
              </a:lnSpc>
              <a:buNone/>
            </a:pPr>
            <a:r>
              <a:rPr lang="en-US" sz="1250" dirty="0">
                <a:solidFill>
                  <a:srgbClr val="1F2933"/>
                </a:solidFill>
                <a:latin typeface="Calibri" pitchFamily="34" charset="0"/>
                <a:ea typeface="Calibri" pitchFamily="34" charset="-122"/>
                <a:cs typeface="Calibri" pitchFamily="34" charset="-120"/>
              </a:rPr>
              <a:t>Every quantitative claim in the report resolves to a file under output/, and Appendix D gives the command that regenerates each one. The whole robustness round rebuilds from recorded seeds with a single command.</a:t>
            </a:r>
            <a:endParaRPr lang="en-US" sz="1250" dirty="0"/>
          </a:p>
        </p:txBody>
      </p:sp>
      <p:sp>
        <p:nvSpPr>
          <p:cNvPr id="19" name="Shape 17"/>
          <p:cNvSpPr/>
          <p:nvPr/>
        </p:nvSpPr>
        <p:spPr>
          <a:xfrm>
            <a:off x="566928" y="5440680"/>
            <a:ext cx="11055096" cy="566928"/>
          </a:xfrm>
          <a:prstGeom prst="roundRect">
            <a:avLst>
              <a:gd name="adj" fmla="val 9677"/>
            </a:avLst>
          </a:prstGeom>
          <a:solidFill>
            <a:srgbClr val="EEF2F6"/>
          </a:solidFill>
          <a:ln w="12700">
            <a:solidFill>
              <a:srgbClr val="EEF2F6"/>
            </a:solidFill>
            <a:prstDash val="solid"/>
          </a:ln>
        </p:spPr>
        <p:txBody>
          <a:bodyPr/>
          <a:p/>
        </p:txBody>
      </p:sp>
      <p:sp>
        <p:nvSpPr>
          <p:cNvPr id="20" name="Shape 18"/>
          <p:cNvSpPr/>
          <p:nvPr/>
        </p:nvSpPr>
        <p:spPr>
          <a:xfrm>
            <a:off x="694944" y="5568696"/>
            <a:ext cx="91440" cy="310896"/>
          </a:xfrm>
          <a:prstGeom prst="roundRect">
            <a:avLst>
              <a:gd name="adj" fmla="val 40000"/>
            </a:avLst>
          </a:prstGeom>
          <a:solidFill>
            <a:srgbClr val="0F766E"/>
          </a:solidFill>
          <a:ln w="12700">
            <a:solidFill>
              <a:srgbClr val="0F766E"/>
            </a:solidFill>
            <a:prstDash val="solid"/>
          </a:ln>
        </p:spPr>
        <p:txBody>
          <a:bodyPr/>
          <a:p/>
        </p:txBody>
      </p:sp>
      <p:sp>
        <p:nvSpPr>
          <p:cNvPr id="21" name="Text 19"/>
          <p:cNvSpPr txBox="1"/>
          <p:nvPr/>
        </p:nvSpPr>
        <p:spPr>
          <a:xfrm>
            <a:off x="932688" y="5486400"/>
            <a:ext cx="10506456" cy="475488"/>
          </a:xfrm>
          <a:prstGeom prst="rect">
            <a:avLst/>
          </a:prstGeom>
          <a:noFill/>
          <a:ln/>
        </p:spPr>
        <p:txBody>
          <a:bodyPr wrap="square" lIns="0" tIns="0" rIns="0" bIns="0" rtlCol="0" anchor="ctr"/>
          <a:lstStyle/>
          <a:p>
            <a:pPr indent="0" marL="0">
              <a:buNone/>
            </a:pPr>
            <a:r>
              <a:rPr lang="en-US" sz="1350" b="1" dirty="0">
                <a:solidFill>
                  <a:srgbClr val="1F2933"/>
                </a:solidFill>
                <a:latin typeface="Calibri" pitchFamily="34" charset="0"/>
                <a:ea typeface="Calibri" pitchFamily="34" charset="-122"/>
                <a:cs typeface="Calibri" pitchFamily="34" charset="-120"/>
              </a:rPr>
              <a:t>Validated state is tagged v-validation-complete. git rev-parse resolves it to the exact commit.</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CHAPTER 3.6 AND APPENDIX A</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Ethics, and the disclosure that goes with it</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26</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Samuel Kaoma  |  2022016530  |  CSC 4004</a:t>
            </a:r>
            <a:endParaRPr lang="en-US" sz="1000" dirty="0"/>
          </a:p>
        </p:txBody>
      </p:sp>
      <p:sp>
        <p:nvSpPr>
          <p:cNvPr id="6" name="Text 4"/>
          <p:cNvSpPr txBox="1"/>
          <p:nvPr/>
        </p:nvSpPr>
        <p:spPr>
          <a:xfrm>
            <a:off x="566928" y="1371600"/>
            <a:ext cx="3566160" cy="329184"/>
          </a:xfrm>
          <a:prstGeom prst="rect">
            <a:avLst/>
          </a:prstGeom>
          <a:noFill/>
          <a:ln/>
        </p:spPr>
        <p:txBody>
          <a:bodyPr wrap="square" lIns="0" tIns="0" rIns="0" bIns="0" rtlCol="0" anchor="ctr"/>
          <a:lstStyle/>
          <a:p>
            <a:pPr indent="0" marL="0">
              <a:buNone/>
            </a:pPr>
            <a:r>
              <a:rPr lang="en-US" sz="1500" b="1" dirty="0">
                <a:solidFill>
                  <a:srgbClr val="0F766E"/>
                </a:solidFill>
                <a:latin typeface="Cambria" pitchFamily="34" charset="0"/>
                <a:ea typeface="Cambria" pitchFamily="34" charset="-122"/>
                <a:cs typeface="Cambria" pitchFamily="34" charset="-120"/>
              </a:rPr>
              <a:t>Data and privacy</a:t>
            </a:r>
            <a:endParaRPr lang="en-US" sz="1500" dirty="0"/>
          </a:p>
        </p:txBody>
      </p:sp>
      <p:sp>
        <p:nvSpPr>
          <p:cNvPr id="7" name="Text 5"/>
          <p:cNvSpPr txBox="1"/>
          <p:nvPr/>
        </p:nvSpPr>
        <p:spPr>
          <a:xfrm>
            <a:off x="566928" y="1792224"/>
            <a:ext cx="3566160" cy="274320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150" dirty="0">
                <a:solidFill>
                  <a:srgbClr val="1F2933"/>
                </a:solidFill>
                <a:latin typeface="Calibri" pitchFamily="34" charset="0"/>
                <a:ea typeface="Calibri" pitchFamily="34" charset="-122"/>
                <a:cs typeface="Calibri" pitchFamily="34" charset="-120"/>
              </a:rPr>
              <a:t>All evaluation data is synthetic, generated from recorded seeds. No respondent data of any kind was processed.</a:t>
            </a:r>
            <a:endParaRPr lang="en-US" sz="1150" dirty="0"/>
          </a:p>
          <a:p>
            <a:pPr marL="342900" indent="-342900">
              <a:lnSpc>
                <a:spcPts val="1600"/>
              </a:lnSpc>
              <a:spcAft>
                <a:spcPts val="800"/>
              </a:spcAft>
              <a:buSzPct val="100000"/>
              <a:buChar char="•"/>
            </a:pPr>
            <a:r>
              <a:rPr lang="en-US" sz="1150" dirty="0">
                <a:solidFill>
                  <a:srgbClr val="1F2933"/>
                </a:solidFill>
                <a:latin typeface="Calibri" pitchFamily="34" charset="0"/>
                <a:ea typeface="Calibri" pitchFamily="34" charset="-122"/>
                <a:cs typeface="Calibri" pitchFamily="34" charset="-120"/>
              </a:rPr>
              <a:t>Paradata records timing and navigation, not answers or identities.</a:t>
            </a:r>
            <a:endParaRPr lang="en-US" sz="1150" dirty="0"/>
          </a:p>
          <a:p>
            <a:pPr marL="342900" indent="-342900">
              <a:lnSpc>
                <a:spcPts val="1600"/>
              </a:lnSpc>
              <a:spcAft>
                <a:spcPts val="800"/>
              </a:spcAft>
              <a:buSzPct val="100000"/>
              <a:buChar char="•"/>
            </a:pPr>
            <a:r>
              <a:rPr lang="en-US" sz="1150" dirty="0">
                <a:solidFill>
                  <a:srgbClr val="1F2933"/>
                </a:solidFill>
                <a:latin typeface="Calibri" pitchFamily="34" charset="0"/>
                <a:ea typeface="Calibri" pitchFamily="34" charset="-122"/>
                <a:cs typeface="Calibri" pitchFamily="34" charset="-120"/>
              </a:rPr>
              <a:t>No data belonging to any third party was uploaded to any external tool at any point.</a:t>
            </a:r>
            <a:endParaRPr lang="en-US" sz="1150" dirty="0"/>
          </a:p>
        </p:txBody>
      </p:sp>
      <p:sp>
        <p:nvSpPr>
          <p:cNvPr id="8" name="Text 6"/>
          <p:cNvSpPr txBox="1"/>
          <p:nvPr/>
        </p:nvSpPr>
        <p:spPr>
          <a:xfrm>
            <a:off x="4306824" y="1371600"/>
            <a:ext cx="3566160" cy="329184"/>
          </a:xfrm>
          <a:prstGeom prst="rect">
            <a:avLst/>
          </a:prstGeom>
          <a:noFill/>
          <a:ln/>
        </p:spPr>
        <p:txBody>
          <a:bodyPr wrap="square" lIns="0" tIns="0" rIns="0" bIns="0" rtlCol="0" anchor="ctr"/>
          <a:lstStyle/>
          <a:p>
            <a:pPr indent="0" marL="0">
              <a:buNone/>
            </a:pPr>
            <a:r>
              <a:rPr lang="en-US" sz="1500" b="1" dirty="0">
                <a:solidFill>
                  <a:srgbClr val="B45309"/>
                </a:solidFill>
                <a:latin typeface="Cambria" pitchFamily="34" charset="0"/>
                <a:ea typeface="Cambria" pitchFamily="34" charset="-122"/>
                <a:cs typeface="Cambria" pitchFamily="34" charset="-120"/>
              </a:rPr>
              <a:t>Responsible use</a:t>
            </a:r>
            <a:endParaRPr lang="en-US" sz="1500" dirty="0"/>
          </a:p>
        </p:txBody>
      </p:sp>
      <p:sp>
        <p:nvSpPr>
          <p:cNvPr id="9" name="Text 7"/>
          <p:cNvSpPr txBox="1"/>
          <p:nvPr/>
        </p:nvSpPr>
        <p:spPr>
          <a:xfrm>
            <a:off x="4306824" y="1792224"/>
            <a:ext cx="3566160" cy="274320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150" dirty="0">
                <a:solidFill>
                  <a:srgbClr val="1F2933"/>
                </a:solidFill>
                <a:latin typeface="Calibri" pitchFamily="34" charset="0"/>
                <a:ea typeface="Calibri" pitchFamily="34" charset="-122"/>
                <a:cs typeface="Calibri" pitchFamily="34" charset="-120"/>
              </a:rPr>
              <a:t>A flag is an accusation about a named enumerator's work, so it must be explainable and it must be reviewable.</a:t>
            </a:r>
            <a:endParaRPr lang="en-US" sz="1150" dirty="0"/>
          </a:p>
          <a:p>
            <a:pPr marL="342900" indent="-342900">
              <a:lnSpc>
                <a:spcPts val="1600"/>
              </a:lnSpc>
              <a:spcAft>
                <a:spcPts val="800"/>
              </a:spcAft>
              <a:buSzPct val="100000"/>
              <a:buChar char="•"/>
            </a:pPr>
            <a:r>
              <a:rPr lang="en-US" sz="1150" dirty="0">
                <a:solidFill>
                  <a:srgbClr val="1F2933"/>
                </a:solidFill>
                <a:latin typeface="Calibri" pitchFamily="34" charset="0"/>
                <a:ea typeface="Calibri" pitchFamily="34" charset="-122"/>
                <a:cs typeface="Calibri" pitchFamily="34" charset="-120"/>
              </a:rPr>
              <a:t>Flags are signals for human review, never proof, and never a sole basis for sanction.</a:t>
            </a:r>
            <a:endParaRPr lang="en-US" sz="1150" dirty="0"/>
          </a:p>
          <a:p>
            <a:pPr marL="342900" indent="-342900">
              <a:lnSpc>
                <a:spcPts val="1600"/>
              </a:lnSpc>
              <a:spcAft>
                <a:spcPts val="800"/>
              </a:spcAft>
              <a:buSzPct val="100000"/>
              <a:buChar char="•"/>
            </a:pPr>
            <a:r>
              <a:rPr lang="en-US" sz="1150" dirty="0">
                <a:solidFill>
                  <a:srgbClr val="1F2933"/>
                </a:solidFill>
                <a:latin typeface="Calibri" pitchFamily="34" charset="0"/>
                <a:ea typeface="Calibri" pitchFamily="34" charset="-122"/>
                <a:cs typeface="Calibri" pitchFamily="34" charset="-120"/>
              </a:rPr>
              <a:t>The severity bands separate an interview that warrants a question from one that warrants investigation.</a:t>
            </a:r>
            <a:endParaRPr lang="en-US" sz="1150" dirty="0"/>
          </a:p>
        </p:txBody>
      </p:sp>
      <p:sp>
        <p:nvSpPr>
          <p:cNvPr id="10" name="Text 8"/>
          <p:cNvSpPr txBox="1"/>
          <p:nvPr/>
        </p:nvSpPr>
        <p:spPr>
          <a:xfrm>
            <a:off x="8046720" y="1371600"/>
            <a:ext cx="3566160" cy="329184"/>
          </a:xfrm>
          <a:prstGeom prst="rect">
            <a:avLst/>
          </a:prstGeom>
          <a:noFill/>
          <a:ln/>
        </p:spPr>
        <p:txBody>
          <a:bodyPr wrap="square" lIns="0" tIns="0" rIns="0" bIns="0" rtlCol="0" anchor="ctr"/>
          <a:lstStyle/>
          <a:p>
            <a:pPr indent="0" marL="0">
              <a:buNone/>
            </a:pPr>
            <a:r>
              <a:rPr lang="en-US" sz="1500" b="1" dirty="0">
                <a:solidFill>
                  <a:srgbClr val="7C3AED"/>
                </a:solidFill>
                <a:latin typeface="Cambria" pitchFamily="34" charset="0"/>
                <a:ea typeface="Cambria" pitchFamily="34" charset="-122"/>
                <a:cs typeface="Cambria" pitchFamily="34" charset="-120"/>
              </a:rPr>
              <a:t>AI usage disclosure</a:t>
            </a:r>
            <a:endParaRPr lang="en-US" sz="1500" dirty="0"/>
          </a:p>
        </p:txBody>
      </p:sp>
      <p:sp>
        <p:nvSpPr>
          <p:cNvPr id="11" name="Text 9"/>
          <p:cNvSpPr txBox="1"/>
          <p:nvPr/>
        </p:nvSpPr>
        <p:spPr>
          <a:xfrm>
            <a:off x="8046720" y="1792224"/>
            <a:ext cx="3566160" cy="274320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150" dirty="0">
                <a:solidFill>
                  <a:srgbClr val="1F2933"/>
                </a:solidFill>
                <a:latin typeface="Calibri" pitchFamily="34" charset="0"/>
                <a:ea typeface="Calibri" pitchFamily="34" charset="-122"/>
                <a:cs typeface="Calibri" pitchFamily="34" charset="-120"/>
              </a:rPr>
              <a:t>Appendix A records every episode of tool use: what was asked, what was provided, and whether the output was accepted, modified or rejected.</a:t>
            </a:r>
            <a:endParaRPr lang="en-US" sz="1150" dirty="0"/>
          </a:p>
          <a:p>
            <a:pPr marL="342900" indent="-342900">
              <a:lnSpc>
                <a:spcPts val="1600"/>
              </a:lnSpc>
              <a:spcAft>
                <a:spcPts val="800"/>
              </a:spcAft>
              <a:buSzPct val="100000"/>
              <a:buChar char="•"/>
            </a:pPr>
            <a:r>
              <a:rPr lang="en-US" sz="1150" dirty="0">
                <a:solidFill>
                  <a:srgbClr val="1F2933"/>
                </a:solidFill>
                <a:latin typeface="Calibri" pitchFamily="34" charset="0"/>
                <a:ea typeface="Calibri" pitchFamily="34" charset="-122"/>
                <a:cs typeface="Calibri" pitchFamily="34" charset="-120"/>
              </a:rPr>
              <a:t>Tool versions where recoverable, and stated as unrecoverable where not.</a:t>
            </a:r>
            <a:endParaRPr lang="en-US" sz="1150" dirty="0"/>
          </a:p>
          <a:p>
            <a:pPr marL="342900" indent="-342900">
              <a:lnSpc>
                <a:spcPts val="1600"/>
              </a:lnSpc>
              <a:spcAft>
                <a:spcPts val="800"/>
              </a:spcAft>
              <a:buSzPct val="100000"/>
              <a:buChar char="•"/>
            </a:pPr>
            <a:r>
              <a:rPr lang="en-US" sz="1150" dirty="0">
                <a:solidFill>
                  <a:srgbClr val="1F2933"/>
                </a:solidFill>
                <a:latin typeface="Calibri" pitchFamily="34" charset="0"/>
                <a:ea typeface="Calibri" pitchFamily="34" charset="-122"/>
                <a:cs typeface="Calibri" pitchFamily="34" charset="-120"/>
              </a:rPr>
              <a:t>No code-level suggestion entered the work without a test or recorded output check behind it.</a:t>
            </a:r>
            <a:endParaRPr lang="en-US" sz="1150" dirty="0"/>
          </a:p>
        </p:txBody>
      </p:sp>
      <p:sp>
        <p:nvSpPr>
          <p:cNvPr id="12" name="Shape 10"/>
          <p:cNvSpPr/>
          <p:nvPr/>
        </p:nvSpPr>
        <p:spPr>
          <a:xfrm>
            <a:off x="566928" y="5440680"/>
            <a:ext cx="11055096" cy="566928"/>
          </a:xfrm>
          <a:prstGeom prst="roundRect">
            <a:avLst>
              <a:gd name="adj" fmla="val 9677"/>
            </a:avLst>
          </a:prstGeom>
          <a:solidFill>
            <a:srgbClr val="EEF2F6"/>
          </a:solidFill>
          <a:ln w="12700">
            <a:solidFill>
              <a:srgbClr val="EEF2F6"/>
            </a:solidFill>
            <a:prstDash val="solid"/>
          </a:ln>
        </p:spPr>
        <p:txBody>
          <a:bodyPr/>
          <a:p/>
        </p:txBody>
      </p:sp>
      <p:sp>
        <p:nvSpPr>
          <p:cNvPr id="13" name="Shape 11"/>
          <p:cNvSpPr/>
          <p:nvPr/>
        </p:nvSpPr>
        <p:spPr>
          <a:xfrm>
            <a:off x="694944" y="5568696"/>
            <a:ext cx="91440" cy="310896"/>
          </a:xfrm>
          <a:prstGeom prst="roundRect">
            <a:avLst>
              <a:gd name="adj" fmla="val 40000"/>
            </a:avLst>
          </a:prstGeom>
          <a:solidFill>
            <a:srgbClr val="0F766E"/>
          </a:solidFill>
          <a:ln w="12700">
            <a:solidFill>
              <a:srgbClr val="0F766E"/>
            </a:solidFill>
            <a:prstDash val="solid"/>
          </a:ln>
        </p:spPr>
        <p:txBody>
          <a:bodyPr/>
          <a:p/>
        </p:txBody>
      </p:sp>
      <p:sp>
        <p:nvSpPr>
          <p:cNvPr id="14" name="Text 12"/>
          <p:cNvSpPr txBox="1"/>
          <p:nvPr/>
        </p:nvSpPr>
        <p:spPr>
          <a:xfrm>
            <a:off x="932688" y="5486400"/>
            <a:ext cx="10506456" cy="475488"/>
          </a:xfrm>
          <a:prstGeom prst="rect">
            <a:avLst/>
          </a:prstGeom>
          <a:noFill/>
          <a:ln/>
        </p:spPr>
        <p:txBody>
          <a:bodyPr wrap="square" lIns="0" tIns="0" rIns="0" bIns="0" rtlCol="0" anchor="ctr"/>
          <a:lstStyle/>
          <a:p>
            <a:pPr indent="0" marL="0">
              <a:buNone/>
            </a:pPr>
            <a:r>
              <a:rPr lang="en-US" sz="1350" b="1" dirty="0">
                <a:solidFill>
                  <a:srgbClr val="1F2933"/>
                </a:solidFill>
                <a:latin typeface="Calibri" pitchFamily="34" charset="0"/>
                <a:ea typeface="Calibri" pitchFamily="34" charset="-122"/>
                <a:cs typeface="Calibri" pitchFamily="34" charset="-120"/>
              </a:rPr>
              <a:t>The tool flags interviews for review. It must never be the sole basis for action against a person.</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CHAPTER 8</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What this does not establish</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27</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Samuel Kaoma  |  2022016530  |  CSC 4004</a:t>
            </a:r>
            <a:endParaRPr lang="en-US" sz="1000" dirty="0"/>
          </a:p>
        </p:txBody>
      </p:sp>
      <p:sp>
        <p:nvSpPr>
          <p:cNvPr id="6" name="Shape 4"/>
          <p:cNvSpPr/>
          <p:nvPr/>
        </p:nvSpPr>
        <p:spPr>
          <a:xfrm>
            <a:off x="566928" y="1371600"/>
            <a:ext cx="82296" cy="868680"/>
          </a:xfrm>
          <a:prstGeom prst="roundRect">
            <a:avLst>
              <a:gd name="adj" fmla="val 33333"/>
            </a:avLst>
          </a:prstGeom>
          <a:solidFill>
            <a:srgbClr val="B45309"/>
          </a:solidFill>
          <a:ln w="12700">
            <a:solidFill>
              <a:srgbClr val="B45309"/>
            </a:solidFill>
            <a:prstDash val="solid"/>
          </a:ln>
        </p:spPr>
        <p:txBody>
          <a:bodyPr/>
          <a:p/>
        </p:txBody>
      </p:sp>
      <p:sp>
        <p:nvSpPr>
          <p:cNvPr id="7" name="Text 5"/>
          <p:cNvSpPr txBox="1"/>
          <p:nvPr/>
        </p:nvSpPr>
        <p:spPr>
          <a:xfrm>
            <a:off x="841248" y="1371600"/>
            <a:ext cx="3200400" cy="822960"/>
          </a:xfrm>
          <a:prstGeom prst="rect">
            <a:avLst/>
          </a:prstGeom>
          <a:noFill/>
          <a:ln/>
        </p:spPr>
        <p:txBody>
          <a:bodyPr wrap="square" lIns="0" tIns="0" rIns="0" bIns="0" rtlCol="0" anchor="ctr"/>
          <a:lstStyle/>
          <a:p>
            <a:pPr indent="0" marL="0">
              <a:lnSpc>
                <a:spcPts val="1700"/>
              </a:lnSpc>
              <a:buNone/>
            </a:pPr>
            <a:r>
              <a:rPr lang="en-US" sz="1300" b="1" dirty="0">
                <a:solidFill>
                  <a:srgbClr val="1F2933"/>
                </a:solidFill>
                <a:latin typeface="Calibri" pitchFamily="34" charset="0"/>
                <a:ea typeface="Calibri" pitchFamily="34" charset="-122"/>
                <a:cs typeface="Calibri" pitchFamily="34" charset="-120"/>
              </a:rPr>
              <a:t>Evaluation is synthetic throughout</a:t>
            </a:r>
            <a:endParaRPr lang="en-US" sz="1300" dirty="0"/>
          </a:p>
        </p:txBody>
      </p:sp>
      <p:sp>
        <p:nvSpPr>
          <p:cNvPr id="8" name="Text 6"/>
          <p:cNvSpPr txBox="1"/>
          <p:nvPr/>
        </p:nvSpPr>
        <p:spPr>
          <a:xfrm>
            <a:off x="4178808" y="1371600"/>
            <a:ext cx="7351776" cy="914400"/>
          </a:xfrm>
          <a:prstGeom prst="rect">
            <a:avLst/>
          </a:prstGeom>
          <a:noFill/>
          <a:ln/>
        </p:spPr>
        <p:txBody>
          <a:bodyPr wrap="square" lIns="0" tIns="0" rIns="0" bIns="0" rtlCol="0" anchor="ctr"/>
          <a:lstStyle/>
          <a:p>
            <a:pPr indent="0" marL="0">
              <a:lnSpc>
                <a:spcPts val="1550"/>
              </a:lnSpc>
              <a:buNone/>
            </a:pPr>
            <a:r>
              <a:rPr lang="en-US" sz="1150" dirty="0">
                <a:solidFill>
                  <a:srgbClr val="3E4C55"/>
                </a:solidFill>
                <a:latin typeface="Calibri" pitchFamily="34" charset="0"/>
                <a:ea typeface="Calibri" pitchFamily="34" charset="-122"/>
                <a:cs typeface="Calibri" pitchFamily="34" charset="-120"/>
              </a:rPr>
              <a:t>Results estimate an upper bound on field performance. Eight of the forty features are constant across the corpus, so the evaluation is silent on them rather than negative. It measures the detector against a documented threat model, not the full space of real behaviour.</a:t>
            </a:r>
            <a:endParaRPr lang="en-US" sz="1150" dirty="0"/>
          </a:p>
        </p:txBody>
      </p:sp>
      <p:sp>
        <p:nvSpPr>
          <p:cNvPr id="9" name="Shape 7"/>
          <p:cNvSpPr/>
          <p:nvPr/>
        </p:nvSpPr>
        <p:spPr>
          <a:xfrm>
            <a:off x="566928" y="2386584"/>
            <a:ext cx="82296" cy="868680"/>
          </a:xfrm>
          <a:prstGeom prst="roundRect">
            <a:avLst>
              <a:gd name="adj" fmla="val 33333"/>
            </a:avLst>
          </a:prstGeom>
          <a:solidFill>
            <a:srgbClr val="B45309"/>
          </a:solidFill>
          <a:ln w="12700">
            <a:solidFill>
              <a:srgbClr val="B45309"/>
            </a:solidFill>
            <a:prstDash val="solid"/>
          </a:ln>
        </p:spPr>
        <p:txBody>
          <a:bodyPr/>
          <a:p/>
        </p:txBody>
      </p:sp>
      <p:sp>
        <p:nvSpPr>
          <p:cNvPr id="10" name="Text 8"/>
          <p:cNvSpPr txBox="1"/>
          <p:nvPr/>
        </p:nvSpPr>
        <p:spPr>
          <a:xfrm>
            <a:off x="841248" y="2386584"/>
            <a:ext cx="3200400" cy="822960"/>
          </a:xfrm>
          <a:prstGeom prst="rect">
            <a:avLst/>
          </a:prstGeom>
          <a:noFill/>
          <a:ln/>
        </p:spPr>
        <p:txBody>
          <a:bodyPr wrap="square" lIns="0" tIns="0" rIns="0" bIns="0" rtlCol="0" anchor="ctr"/>
          <a:lstStyle/>
          <a:p>
            <a:pPr indent="0" marL="0">
              <a:lnSpc>
                <a:spcPts val="1700"/>
              </a:lnSpc>
              <a:buNone/>
            </a:pPr>
            <a:r>
              <a:rPr lang="en-US" sz="1300" b="1" dirty="0">
                <a:solidFill>
                  <a:srgbClr val="1F2933"/>
                </a:solidFill>
                <a:latin typeface="Calibri" pitchFamily="34" charset="0"/>
                <a:ea typeface="Calibri" pitchFamily="34" charset="-122"/>
                <a:cs typeface="Calibri" pitchFamily="34" charset="-120"/>
              </a:rPr>
              <a:t>Detection is univariate</a:t>
            </a:r>
            <a:endParaRPr lang="en-US" sz="1300" dirty="0"/>
          </a:p>
        </p:txBody>
      </p:sp>
      <p:sp>
        <p:nvSpPr>
          <p:cNvPr id="11" name="Text 9"/>
          <p:cNvSpPr txBox="1"/>
          <p:nvPr/>
        </p:nvSpPr>
        <p:spPr>
          <a:xfrm>
            <a:off x="4178808" y="2386584"/>
            <a:ext cx="7351776" cy="914400"/>
          </a:xfrm>
          <a:prstGeom prst="rect">
            <a:avLst/>
          </a:prstGeom>
          <a:noFill/>
          <a:ln/>
        </p:spPr>
        <p:txBody>
          <a:bodyPr wrap="square" lIns="0" tIns="0" rIns="0" bIns="0" rtlCol="0" anchor="ctr"/>
          <a:lstStyle/>
          <a:p>
            <a:pPr indent="0" marL="0">
              <a:lnSpc>
                <a:spcPts val="1550"/>
              </a:lnSpc>
              <a:buNone/>
            </a:pPr>
            <a:r>
              <a:rPr lang="en-US" sz="1150" dirty="0">
                <a:solidFill>
                  <a:srgbClr val="3E4C55"/>
                </a:solidFill>
                <a:latin typeface="Calibri" pitchFamily="34" charset="0"/>
                <a:ea typeface="Calibri" pitchFamily="34" charset="-122"/>
                <a:cs typeface="Calibri" pitchFamily="34" charset="-120"/>
              </a:rPr>
              <a:t>Anomalies visible only in joint feature patterns will evade both fences and rules. The fabrication shortfall is not an instance of this, since one feature separates the missed cases cleanly, but the limit is real.</a:t>
            </a:r>
            <a:endParaRPr lang="en-US" sz="1150" dirty="0"/>
          </a:p>
        </p:txBody>
      </p:sp>
      <p:sp>
        <p:nvSpPr>
          <p:cNvPr id="12" name="Shape 10"/>
          <p:cNvSpPr/>
          <p:nvPr/>
        </p:nvSpPr>
        <p:spPr>
          <a:xfrm>
            <a:off x="566928" y="3401568"/>
            <a:ext cx="82296" cy="868680"/>
          </a:xfrm>
          <a:prstGeom prst="roundRect">
            <a:avLst>
              <a:gd name="adj" fmla="val 33333"/>
            </a:avLst>
          </a:prstGeom>
          <a:solidFill>
            <a:srgbClr val="B45309"/>
          </a:solidFill>
          <a:ln w="12700">
            <a:solidFill>
              <a:srgbClr val="B45309"/>
            </a:solidFill>
            <a:prstDash val="solid"/>
          </a:ln>
        </p:spPr>
        <p:txBody>
          <a:bodyPr/>
          <a:p/>
        </p:txBody>
      </p:sp>
      <p:sp>
        <p:nvSpPr>
          <p:cNvPr id="13" name="Text 11"/>
          <p:cNvSpPr txBox="1"/>
          <p:nvPr/>
        </p:nvSpPr>
        <p:spPr>
          <a:xfrm>
            <a:off x="841248" y="3401568"/>
            <a:ext cx="3200400" cy="822960"/>
          </a:xfrm>
          <a:prstGeom prst="rect">
            <a:avLst/>
          </a:prstGeom>
          <a:noFill/>
          <a:ln/>
        </p:spPr>
        <p:txBody>
          <a:bodyPr wrap="square" lIns="0" tIns="0" rIns="0" bIns="0" rtlCol="0" anchor="ctr"/>
          <a:lstStyle/>
          <a:p>
            <a:pPr indent="0" marL="0">
              <a:lnSpc>
                <a:spcPts val="1700"/>
              </a:lnSpc>
              <a:buNone/>
            </a:pPr>
            <a:r>
              <a:rPr lang="en-US" sz="1300" b="1" dirty="0">
                <a:solidFill>
                  <a:srgbClr val="1F2933"/>
                </a:solidFill>
                <a:latin typeface="Calibri" pitchFamily="34" charset="0"/>
                <a:ea typeface="Calibri" pitchFamily="34" charset="-122"/>
                <a:cs typeface="Calibri" pitchFamily="34" charset="-120"/>
              </a:rPr>
              <a:t>A measured asymmetry between formats</a:t>
            </a:r>
            <a:endParaRPr lang="en-US" sz="1300" dirty="0"/>
          </a:p>
        </p:txBody>
      </p:sp>
      <p:sp>
        <p:nvSpPr>
          <p:cNvPr id="14" name="Text 12"/>
          <p:cNvSpPr txBox="1"/>
          <p:nvPr/>
        </p:nvSpPr>
        <p:spPr>
          <a:xfrm>
            <a:off x="4178808" y="3401568"/>
            <a:ext cx="7351776" cy="914400"/>
          </a:xfrm>
          <a:prstGeom prst="rect">
            <a:avLst/>
          </a:prstGeom>
          <a:noFill/>
          <a:ln/>
        </p:spPr>
        <p:txBody>
          <a:bodyPr wrap="square" lIns="0" tIns="0" rIns="0" bIns="0" rtlCol="0" anchor="ctr"/>
          <a:lstStyle/>
          <a:p>
            <a:pPr indent="0" marL="0">
              <a:lnSpc>
                <a:spcPts val="1550"/>
              </a:lnSpc>
              <a:buNone/>
            </a:pPr>
            <a:r>
              <a:rPr lang="en-US" sz="1150" dirty="0">
                <a:solidFill>
                  <a:srgbClr val="3E4C55"/>
                </a:solidFill>
                <a:latin typeface="Calibri" pitchFamily="34" charset="0"/>
                <a:ea typeface="Calibri" pitchFamily="34" charset="-122"/>
                <a:cs typeface="Calibri" pitchFamily="34" charset="-120"/>
              </a:rPr>
              <a:t>ODK returns 0.9856 precision and 0.9100 recall against SurveyCTO at 0.9950 and 0.9568, and all four false positives in the round arose on ODK. The likely cause is the extra ISO 8601 to epoch conversion step, which is exactly where the pandas 3 defect was found. Four interviews in 1,500, and it changes no verdict.</a:t>
            </a:r>
            <a:endParaRPr lang="en-US" sz="1150" dirty="0"/>
          </a:p>
        </p:txBody>
      </p:sp>
      <p:sp>
        <p:nvSpPr>
          <p:cNvPr id="15" name="Shape 13"/>
          <p:cNvSpPr/>
          <p:nvPr/>
        </p:nvSpPr>
        <p:spPr>
          <a:xfrm>
            <a:off x="566928" y="4416552"/>
            <a:ext cx="82296" cy="868680"/>
          </a:xfrm>
          <a:prstGeom prst="roundRect">
            <a:avLst>
              <a:gd name="adj" fmla="val 33333"/>
            </a:avLst>
          </a:prstGeom>
          <a:solidFill>
            <a:srgbClr val="B45309"/>
          </a:solidFill>
          <a:ln w="12700">
            <a:solidFill>
              <a:srgbClr val="B45309"/>
            </a:solidFill>
            <a:prstDash val="solid"/>
          </a:ln>
        </p:spPr>
        <p:txBody>
          <a:bodyPr/>
          <a:p/>
        </p:txBody>
      </p:sp>
      <p:sp>
        <p:nvSpPr>
          <p:cNvPr id="16" name="Text 14"/>
          <p:cNvSpPr txBox="1"/>
          <p:nvPr/>
        </p:nvSpPr>
        <p:spPr>
          <a:xfrm>
            <a:off x="841248" y="4416552"/>
            <a:ext cx="3200400" cy="822960"/>
          </a:xfrm>
          <a:prstGeom prst="rect">
            <a:avLst/>
          </a:prstGeom>
          <a:noFill/>
          <a:ln/>
        </p:spPr>
        <p:txBody>
          <a:bodyPr wrap="square" lIns="0" tIns="0" rIns="0" bIns="0" rtlCol="0" anchor="ctr"/>
          <a:lstStyle/>
          <a:p>
            <a:pPr indent="0" marL="0">
              <a:lnSpc>
                <a:spcPts val="1700"/>
              </a:lnSpc>
              <a:buNone/>
            </a:pPr>
            <a:r>
              <a:rPr lang="en-US" sz="1300" b="1" dirty="0">
                <a:solidFill>
                  <a:srgbClr val="1F2933"/>
                </a:solidFill>
                <a:latin typeface="Calibri" pitchFamily="34" charset="0"/>
                <a:ea typeface="Calibri" pitchFamily="34" charset="-122"/>
                <a:cs typeface="Calibri" pitchFamily="34" charset="-120"/>
              </a:rPr>
              <a:t>Thresholds and external dependencies</a:t>
            </a:r>
            <a:endParaRPr lang="en-US" sz="1300" dirty="0"/>
          </a:p>
        </p:txBody>
      </p:sp>
      <p:sp>
        <p:nvSpPr>
          <p:cNvPr id="17" name="Text 15"/>
          <p:cNvSpPr txBox="1"/>
          <p:nvPr/>
        </p:nvSpPr>
        <p:spPr>
          <a:xfrm>
            <a:off x="4178808" y="4416552"/>
            <a:ext cx="7351776" cy="914400"/>
          </a:xfrm>
          <a:prstGeom prst="rect">
            <a:avLst/>
          </a:prstGeom>
          <a:noFill/>
          <a:ln/>
        </p:spPr>
        <p:txBody>
          <a:bodyPr wrap="square" lIns="0" tIns="0" rIns="0" bIns="0" rtlCol="0" anchor="ctr"/>
          <a:lstStyle/>
          <a:p>
            <a:pPr indent="0" marL="0">
              <a:lnSpc>
                <a:spcPts val="1550"/>
              </a:lnSpc>
              <a:buNone/>
            </a:pPr>
            <a:r>
              <a:rPr lang="en-US" sz="1150" dirty="0">
                <a:solidFill>
                  <a:srgbClr val="3E4C55"/>
                </a:solidFill>
                <a:latin typeface="Calibri" pitchFamily="34" charset="0"/>
                <a:ea typeface="Calibri" pitchFamily="34" charset="-122"/>
                <a:cs typeface="Calibri" pitchFamily="34" charset="-120"/>
              </a:rPr>
              <a:t>Defaults come from the literature and calibration data; instruments unlike the twenty-question household pattern should recalibrate. The pipeline also depends on device clocks and on each platform holding its current audit schema.</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PROJECT MANAGEMENT</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Delivered against the 32-week plan</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28</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Samuel Kaoma  |  2022016530  |  CSC 4004</a:t>
            </a:r>
            <a:endParaRPr lang="en-US" sz="1000" dirty="0"/>
          </a:p>
        </p:txBody>
      </p:sp>
      <p:sp>
        <p:nvSpPr>
          <p:cNvPr id="6" name="Shape 4"/>
          <p:cNvSpPr/>
          <p:nvPr/>
        </p:nvSpPr>
        <p:spPr>
          <a:xfrm>
            <a:off x="566928" y="1371600"/>
            <a:ext cx="2084832" cy="1417320"/>
          </a:xfrm>
          <a:prstGeom prst="roundRect">
            <a:avLst>
              <a:gd name="adj" fmla="val 3226"/>
            </a:avLst>
          </a:prstGeom>
          <a:solidFill>
            <a:srgbClr val="EEF2F6"/>
          </a:solidFill>
          <a:ln w="12700">
            <a:solidFill>
              <a:srgbClr val="EEF2F6"/>
            </a:solidFill>
            <a:prstDash val="solid"/>
          </a:ln>
        </p:spPr>
        <p:txBody>
          <a:bodyPr/>
          <a:p/>
        </p:txBody>
      </p:sp>
      <p:sp>
        <p:nvSpPr>
          <p:cNvPr id="7" name="Text 5"/>
          <p:cNvSpPr txBox="1"/>
          <p:nvPr/>
        </p:nvSpPr>
        <p:spPr>
          <a:xfrm>
            <a:off x="713232" y="1517904"/>
            <a:ext cx="1792224" cy="256032"/>
          </a:xfrm>
          <a:prstGeom prst="rect">
            <a:avLst/>
          </a:prstGeom>
          <a:noFill/>
          <a:ln/>
        </p:spPr>
        <p:txBody>
          <a:bodyPr wrap="square" lIns="0" tIns="0" rIns="0" bIns="0" rtlCol="0" anchor="ctr"/>
          <a:lstStyle/>
          <a:p>
            <a:pPr indent="0" marL="0">
              <a:buNone/>
            </a:pPr>
            <a:r>
              <a:rPr lang="en-US" sz="1100" b="1" dirty="0">
                <a:solidFill>
                  <a:srgbClr val="0F766E"/>
                </a:solidFill>
                <a:latin typeface="Calibri" pitchFamily="34" charset="0"/>
                <a:ea typeface="Calibri" pitchFamily="34" charset="-122"/>
                <a:cs typeface="Calibri" pitchFamily="34" charset="-120"/>
              </a:rPr>
              <a:t>Weeks 1 to 7</a:t>
            </a:r>
            <a:endParaRPr lang="en-US" sz="1100" dirty="0"/>
          </a:p>
        </p:txBody>
      </p:sp>
      <p:sp>
        <p:nvSpPr>
          <p:cNvPr id="8" name="Text 6"/>
          <p:cNvSpPr txBox="1"/>
          <p:nvPr/>
        </p:nvSpPr>
        <p:spPr>
          <a:xfrm>
            <a:off x="713232" y="1792224"/>
            <a:ext cx="1792224" cy="658368"/>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Proposal and literature review</a:t>
            </a:r>
            <a:endParaRPr lang="en-US" sz="1200" dirty="0"/>
          </a:p>
        </p:txBody>
      </p:sp>
      <p:sp>
        <p:nvSpPr>
          <p:cNvPr id="9" name="Text 7"/>
          <p:cNvSpPr txBox="1"/>
          <p:nvPr/>
        </p:nvSpPr>
        <p:spPr>
          <a:xfrm>
            <a:off x="713232" y="2468880"/>
            <a:ext cx="1792224" cy="219456"/>
          </a:xfrm>
          <a:prstGeom prst="rect">
            <a:avLst/>
          </a:prstGeom>
          <a:noFill/>
          <a:ln/>
        </p:spPr>
        <p:txBody>
          <a:bodyPr wrap="square" lIns="0" tIns="0" rIns="0" bIns="0" rtlCol="0" anchor="ctr"/>
          <a:lstStyle/>
          <a:p>
            <a:pPr indent="0" marL="0">
              <a:buNone/>
            </a:pPr>
            <a:r>
              <a:rPr lang="en-US" sz="1050" b="1" dirty="0">
                <a:solidFill>
                  <a:srgbClr val="0F766E"/>
                </a:solidFill>
                <a:latin typeface="Calibri" pitchFamily="34" charset="0"/>
                <a:ea typeface="Calibri" pitchFamily="34" charset="-122"/>
                <a:cs typeface="Calibri" pitchFamily="34" charset="-120"/>
              </a:rPr>
              <a:t>Done</a:t>
            </a:r>
            <a:endParaRPr lang="en-US" sz="1050" dirty="0"/>
          </a:p>
        </p:txBody>
      </p:sp>
      <p:sp>
        <p:nvSpPr>
          <p:cNvPr id="10" name="Text 8"/>
          <p:cNvSpPr txBox="1"/>
          <p:nvPr/>
        </p:nvSpPr>
        <p:spPr>
          <a:xfrm>
            <a:off x="2651760" y="1920240"/>
            <a:ext cx="192024" cy="274320"/>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&gt;</a:t>
            </a:r>
            <a:endParaRPr lang="en-US" sz="1400" dirty="0"/>
          </a:p>
        </p:txBody>
      </p:sp>
      <p:sp>
        <p:nvSpPr>
          <p:cNvPr id="11" name="Shape 9"/>
          <p:cNvSpPr/>
          <p:nvPr/>
        </p:nvSpPr>
        <p:spPr>
          <a:xfrm>
            <a:off x="2843784" y="1371600"/>
            <a:ext cx="2084832" cy="1417320"/>
          </a:xfrm>
          <a:prstGeom prst="roundRect">
            <a:avLst>
              <a:gd name="adj" fmla="val 3226"/>
            </a:avLst>
          </a:prstGeom>
          <a:solidFill>
            <a:srgbClr val="EEF2F6"/>
          </a:solidFill>
          <a:ln w="12700">
            <a:solidFill>
              <a:srgbClr val="EEF2F6"/>
            </a:solidFill>
            <a:prstDash val="solid"/>
          </a:ln>
        </p:spPr>
        <p:txBody>
          <a:bodyPr/>
          <a:p/>
        </p:txBody>
      </p:sp>
      <p:sp>
        <p:nvSpPr>
          <p:cNvPr id="12" name="Text 10"/>
          <p:cNvSpPr txBox="1"/>
          <p:nvPr/>
        </p:nvSpPr>
        <p:spPr>
          <a:xfrm>
            <a:off x="2990088" y="1517904"/>
            <a:ext cx="1792224" cy="256032"/>
          </a:xfrm>
          <a:prstGeom prst="rect">
            <a:avLst/>
          </a:prstGeom>
          <a:noFill/>
          <a:ln/>
        </p:spPr>
        <p:txBody>
          <a:bodyPr wrap="square" lIns="0" tIns="0" rIns="0" bIns="0" rtlCol="0" anchor="ctr"/>
          <a:lstStyle/>
          <a:p>
            <a:pPr indent="0" marL="0">
              <a:buNone/>
            </a:pPr>
            <a:r>
              <a:rPr lang="en-US" sz="1100" b="1" dirty="0">
                <a:solidFill>
                  <a:srgbClr val="0F766E"/>
                </a:solidFill>
                <a:latin typeface="Calibri" pitchFamily="34" charset="0"/>
                <a:ea typeface="Calibri" pitchFamily="34" charset="-122"/>
                <a:cs typeface="Calibri" pitchFamily="34" charset="-120"/>
              </a:rPr>
              <a:t>Weeks 8 to 13</a:t>
            </a:r>
            <a:endParaRPr lang="en-US" sz="1100" dirty="0"/>
          </a:p>
        </p:txBody>
      </p:sp>
      <p:sp>
        <p:nvSpPr>
          <p:cNvPr id="13" name="Text 11"/>
          <p:cNvSpPr txBox="1"/>
          <p:nvPr/>
        </p:nvSpPr>
        <p:spPr>
          <a:xfrm>
            <a:off x="2990088" y="1792224"/>
            <a:ext cx="1792224" cy="658368"/>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Design and parsers</a:t>
            </a:r>
            <a:endParaRPr lang="en-US" sz="1200" dirty="0"/>
          </a:p>
        </p:txBody>
      </p:sp>
      <p:sp>
        <p:nvSpPr>
          <p:cNvPr id="14" name="Text 12"/>
          <p:cNvSpPr txBox="1"/>
          <p:nvPr/>
        </p:nvSpPr>
        <p:spPr>
          <a:xfrm>
            <a:off x="2990088" y="2468880"/>
            <a:ext cx="1792224" cy="219456"/>
          </a:xfrm>
          <a:prstGeom prst="rect">
            <a:avLst/>
          </a:prstGeom>
          <a:noFill/>
          <a:ln/>
        </p:spPr>
        <p:txBody>
          <a:bodyPr wrap="square" lIns="0" tIns="0" rIns="0" bIns="0" rtlCol="0" anchor="ctr"/>
          <a:lstStyle/>
          <a:p>
            <a:pPr indent="0" marL="0">
              <a:buNone/>
            </a:pPr>
            <a:r>
              <a:rPr lang="en-US" sz="1050" b="1" dirty="0">
                <a:solidFill>
                  <a:srgbClr val="0F766E"/>
                </a:solidFill>
                <a:latin typeface="Calibri" pitchFamily="34" charset="0"/>
                <a:ea typeface="Calibri" pitchFamily="34" charset="-122"/>
                <a:cs typeface="Calibri" pitchFamily="34" charset="-120"/>
              </a:rPr>
              <a:t>Done</a:t>
            </a:r>
            <a:endParaRPr lang="en-US" sz="1050" dirty="0"/>
          </a:p>
        </p:txBody>
      </p:sp>
      <p:sp>
        <p:nvSpPr>
          <p:cNvPr id="15" name="Text 13"/>
          <p:cNvSpPr txBox="1"/>
          <p:nvPr/>
        </p:nvSpPr>
        <p:spPr>
          <a:xfrm>
            <a:off x="4928616" y="1920240"/>
            <a:ext cx="192024" cy="274320"/>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&gt;</a:t>
            </a:r>
            <a:endParaRPr lang="en-US" sz="1400" dirty="0"/>
          </a:p>
        </p:txBody>
      </p:sp>
      <p:sp>
        <p:nvSpPr>
          <p:cNvPr id="16" name="Shape 14"/>
          <p:cNvSpPr/>
          <p:nvPr/>
        </p:nvSpPr>
        <p:spPr>
          <a:xfrm>
            <a:off x="5120640" y="1371600"/>
            <a:ext cx="2084832" cy="1417320"/>
          </a:xfrm>
          <a:prstGeom prst="roundRect">
            <a:avLst>
              <a:gd name="adj" fmla="val 3226"/>
            </a:avLst>
          </a:prstGeom>
          <a:solidFill>
            <a:srgbClr val="EEF2F6"/>
          </a:solidFill>
          <a:ln w="12700">
            <a:solidFill>
              <a:srgbClr val="EEF2F6"/>
            </a:solidFill>
            <a:prstDash val="solid"/>
          </a:ln>
        </p:spPr>
        <p:txBody>
          <a:bodyPr/>
          <a:p/>
        </p:txBody>
      </p:sp>
      <p:sp>
        <p:nvSpPr>
          <p:cNvPr id="17" name="Text 15"/>
          <p:cNvSpPr txBox="1"/>
          <p:nvPr/>
        </p:nvSpPr>
        <p:spPr>
          <a:xfrm>
            <a:off x="5266944" y="1517904"/>
            <a:ext cx="1792224" cy="256032"/>
          </a:xfrm>
          <a:prstGeom prst="rect">
            <a:avLst/>
          </a:prstGeom>
          <a:noFill/>
          <a:ln/>
        </p:spPr>
        <p:txBody>
          <a:bodyPr wrap="square" lIns="0" tIns="0" rIns="0" bIns="0" rtlCol="0" anchor="ctr"/>
          <a:lstStyle/>
          <a:p>
            <a:pPr indent="0" marL="0">
              <a:buNone/>
            </a:pPr>
            <a:r>
              <a:rPr lang="en-US" sz="1100" b="1" dirty="0">
                <a:solidFill>
                  <a:srgbClr val="0F766E"/>
                </a:solidFill>
                <a:latin typeface="Calibri" pitchFamily="34" charset="0"/>
                <a:ea typeface="Calibri" pitchFamily="34" charset="-122"/>
                <a:cs typeface="Calibri" pitchFamily="34" charset="-120"/>
              </a:rPr>
              <a:t>Weeks 14 to 21</a:t>
            </a:r>
            <a:endParaRPr lang="en-US" sz="1100" dirty="0"/>
          </a:p>
        </p:txBody>
      </p:sp>
      <p:sp>
        <p:nvSpPr>
          <p:cNvPr id="18" name="Text 16"/>
          <p:cNvSpPr txBox="1"/>
          <p:nvPr/>
        </p:nvSpPr>
        <p:spPr>
          <a:xfrm>
            <a:off x="5266944" y="1792224"/>
            <a:ext cx="1792224" cy="658368"/>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Features and detection</a:t>
            </a:r>
            <a:endParaRPr lang="en-US" sz="1200" dirty="0"/>
          </a:p>
        </p:txBody>
      </p:sp>
      <p:sp>
        <p:nvSpPr>
          <p:cNvPr id="19" name="Text 17"/>
          <p:cNvSpPr txBox="1"/>
          <p:nvPr/>
        </p:nvSpPr>
        <p:spPr>
          <a:xfrm>
            <a:off x="5266944" y="2468880"/>
            <a:ext cx="1792224" cy="219456"/>
          </a:xfrm>
          <a:prstGeom prst="rect">
            <a:avLst/>
          </a:prstGeom>
          <a:noFill/>
          <a:ln/>
        </p:spPr>
        <p:txBody>
          <a:bodyPr wrap="square" lIns="0" tIns="0" rIns="0" bIns="0" rtlCol="0" anchor="ctr"/>
          <a:lstStyle/>
          <a:p>
            <a:pPr indent="0" marL="0">
              <a:buNone/>
            </a:pPr>
            <a:r>
              <a:rPr lang="en-US" sz="1050" b="1" dirty="0">
                <a:solidFill>
                  <a:srgbClr val="0F766E"/>
                </a:solidFill>
                <a:latin typeface="Calibri" pitchFamily="34" charset="0"/>
                <a:ea typeface="Calibri" pitchFamily="34" charset="-122"/>
                <a:cs typeface="Calibri" pitchFamily="34" charset="-120"/>
              </a:rPr>
              <a:t>Done</a:t>
            </a:r>
            <a:endParaRPr lang="en-US" sz="1050" dirty="0"/>
          </a:p>
        </p:txBody>
      </p:sp>
      <p:sp>
        <p:nvSpPr>
          <p:cNvPr id="20" name="Text 18"/>
          <p:cNvSpPr txBox="1"/>
          <p:nvPr/>
        </p:nvSpPr>
        <p:spPr>
          <a:xfrm>
            <a:off x="7205472" y="1920240"/>
            <a:ext cx="192024" cy="274320"/>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&gt;</a:t>
            </a:r>
            <a:endParaRPr lang="en-US" sz="1400" dirty="0"/>
          </a:p>
        </p:txBody>
      </p:sp>
      <p:sp>
        <p:nvSpPr>
          <p:cNvPr id="21" name="Shape 19"/>
          <p:cNvSpPr/>
          <p:nvPr/>
        </p:nvSpPr>
        <p:spPr>
          <a:xfrm>
            <a:off x="7397496" y="1371600"/>
            <a:ext cx="2084832" cy="1417320"/>
          </a:xfrm>
          <a:prstGeom prst="roundRect">
            <a:avLst>
              <a:gd name="adj" fmla="val 3226"/>
            </a:avLst>
          </a:prstGeom>
          <a:solidFill>
            <a:srgbClr val="EEF2F6"/>
          </a:solidFill>
          <a:ln w="12700">
            <a:solidFill>
              <a:srgbClr val="EEF2F6"/>
            </a:solidFill>
            <a:prstDash val="solid"/>
          </a:ln>
        </p:spPr>
        <p:txBody>
          <a:bodyPr/>
          <a:p/>
        </p:txBody>
      </p:sp>
      <p:sp>
        <p:nvSpPr>
          <p:cNvPr id="22" name="Text 20"/>
          <p:cNvSpPr txBox="1"/>
          <p:nvPr/>
        </p:nvSpPr>
        <p:spPr>
          <a:xfrm>
            <a:off x="7543800" y="1517904"/>
            <a:ext cx="1792224" cy="256032"/>
          </a:xfrm>
          <a:prstGeom prst="rect">
            <a:avLst/>
          </a:prstGeom>
          <a:noFill/>
          <a:ln/>
        </p:spPr>
        <p:txBody>
          <a:bodyPr wrap="square" lIns="0" tIns="0" rIns="0" bIns="0" rtlCol="0" anchor="ctr"/>
          <a:lstStyle/>
          <a:p>
            <a:pPr indent="0" marL="0">
              <a:buNone/>
            </a:pPr>
            <a:r>
              <a:rPr lang="en-US" sz="1100" b="1" dirty="0">
                <a:solidFill>
                  <a:srgbClr val="0F766E"/>
                </a:solidFill>
                <a:latin typeface="Calibri" pitchFamily="34" charset="0"/>
                <a:ea typeface="Calibri" pitchFamily="34" charset="-122"/>
                <a:cs typeface="Calibri" pitchFamily="34" charset="-120"/>
              </a:rPr>
              <a:t>Weeks 22 to 29</a:t>
            </a:r>
            <a:endParaRPr lang="en-US" sz="1100" dirty="0"/>
          </a:p>
        </p:txBody>
      </p:sp>
      <p:sp>
        <p:nvSpPr>
          <p:cNvPr id="23" name="Text 21"/>
          <p:cNvSpPr txBox="1"/>
          <p:nvPr/>
        </p:nvSpPr>
        <p:spPr>
          <a:xfrm>
            <a:off x="7543800" y="1792224"/>
            <a:ext cx="1792224" cy="658368"/>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Validation and documentation</a:t>
            </a:r>
            <a:endParaRPr lang="en-US" sz="1200" dirty="0"/>
          </a:p>
        </p:txBody>
      </p:sp>
      <p:sp>
        <p:nvSpPr>
          <p:cNvPr id="24" name="Text 22"/>
          <p:cNvSpPr txBox="1"/>
          <p:nvPr/>
        </p:nvSpPr>
        <p:spPr>
          <a:xfrm>
            <a:off x="7543800" y="2468880"/>
            <a:ext cx="1792224" cy="219456"/>
          </a:xfrm>
          <a:prstGeom prst="rect">
            <a:avLst/>
          </a:prstGeom>
          <a:noFill/>
          <a:ln/>
        </p:spPr>
        <p:txBody>
          <a:bodyPr wrap="square" lIns="0" tIns="0" rIns="0" bIns="0" rtlCol="0" anchor="ctr"/>
          <a:lstStyle/>
          <a:p>
            <a:pPr indent="0" marL="0">
              <a:buNone/>
            </a:pPr>
            <a:r>
              <a:rPr lang="en-US" sz="1050" b="1" dirty="0">
                <a:solidFill>
                  <a:srgbClr val="0F766E"/>
                </a:solidFill>
                <a:latin typeface="Calibri" pitchFamily="34" charset="0"/>
                <a:ea typeface="Calibri" pitchFamily="34" charset="-122"/>
                <a:cs typeface="Calibri" pitchFamily="34" charset="-120"/>
              </a:rPr>
              <a:t>Done</a:t>
            </a:r>
            <a:endParaRPr lang="en-US" sz="1050" dirty="0"/>
          </a:p>
        </p:txBody>
      </p:sp>
      <p:sp>
        <p:nvSpPr>
          <p:cNvPr id="25" name="Text 23"/>
          <p:cNvSpPr txBox="1"/>
          <p:nvPr/>
        </p:nvSpPr>
        <p:spPr>
          <a:xfrm>
            <a:off x="9482328" y="1920240"/>
            <a:ext cx="192024" cy="274320"/>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&gt;</a:t>
            </a:r>
            <a:endParaRPr lang="en-US" sz="1400" dirty="0"/>
          </a:p>
        </p:txBody>
      </p:sp>
      <p:sp>
        <p:nvSpPr>
          <p:cNvPr id="26" name="Shape 24"/>
          <p:cNvSpPr/>
          <p:nvPr/>
        </p:nvSpPr>
        <p:spPr>
          <a:xfrm>
            <a:off x="9674352" y="1371600"/>
            <a:ext cx="2084832" cy="1417320"/>
          </a:xfrm>
          <a:prstGeom prst="roundRect">
            <a:avLst>
              <a:gd name="adj" fmla="val 3226"/>
            </a:avLst>
          </a:prstGeom>
          <a:solidFill>
            <a:srgbClr val="EEF2F6"/>
          </a:solidFill>
          <a:ln w="12700">
            <a:solidFill>
              <a:srgbClr val="EEF2F6"/>
            </a:solidFill>
            <a:prstDash val="solid"/>
          </a:ln>
        </p:spPr>
        <p:txBody>
          <a:bodyPr/>
          <a:p/>
        </p:txBody>
      </p:sp>
      <p:sp>
        <p:nvSpPr>
          <p:cNvPr id="27" name="Text 25"/>
          <p:cNvSpPr txBox="1"/>
          <p:nvPr/>
        </p:nvSpPr>
        <p:spPr>
          <a:xfrm>
            <a:off x="9820656" y="1517904"/>
            <a:ext cx="1792224" cy="256032"/>
          </a:xfrm>
          <a:prstGeom prst="rect">
            <a:avLst/>
          </a:prstGeom>
          <a:noFill/>
          <a:ln/>
        </p:spPr>
        <p:txBody>
          <a:bodyPr wrap="square" lIns="0" tIns="0" rIns="0" bIns="0" rtlCol="0" anchor="ctr"/>
          <a:lstStyle/>
          <a:p>
            <a:pPr indent="0" marL="0">
              <a:buNone/>
            </a:pPr>
            <a:r>
              <a:rPr lang="en-US" sz="1100" b="1" dirty="0">
                <a:solidFill>
                  <a:srgbClr val="0F766E"/>
                </a:solidFill>
                <a:latin typeface="Calibri" pitchFamily="34" charset="0"/>
                <a:ea typeface="Calibri" pitchFamily="34" charset="-122"/>
                <a:cs typeface="Calibri" pitchFamily="34" charset="-120"/>
              </a:rPr>
              <a:t>Weeks 30 to 32</a:t>
            </a:r>
            <a:endParaRPr lang="en-US" sz="1100" dirty="0"/>
          </a:p>
        </p:txBody>
      </p:sp>
      <p:sp>
        <p:nvSpPr>
          <p:cNvPr id="28" name="Text 26"/>
          <p:cNvSpPr txBox="1"/>
          <p:nvPr/>
        </p:nvSpPr>
        <p:spPr>
          <a:xfrm>
            <a:off x="9820656" y="1792224"/>
            <a:ext cx="1792224" cy="658368"/>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Report and submission</a:t>
            </a:r>
            <a:endParaRPr lang="en-US" sz="1200" dirty="0"/>
          </a:p>
        </p:txBody>
      </p:sp>
      <p:sp>
        <p:nvSpPr>
          <p:cNvPr id="29" name="Text 27"/>
          <p:cNvSpPr txBox="1"/>
          <p:nvPr/>
        </p:nvSpPr>
        <p:spPr>
          <a:xfrm>
            <a:off x="9820656" y="2468880"/>
            <a:ext cx="1792224" cy="219456"/>
          </a:xfrm>
          <a:prstGeom prst="rect">
            <a:avLst/>
          </a:prstGeom>
          <a:noFill/>
          <a:ln/>
        </p:spPr>
        <p:txBody>
          <a:bodyPr wrap="square" lIns="0" tIns="0" rIns="0" bIns="0" rtlCol="0" anchor="ctr"/>
          <a:lstStyle/>
          <a:p>
            <a:pPr indent="0" marL="0">
              <a:buNone/>
            </a:pPr>
            <a:r>
              <a:rPr lang="en-US" sz="1050" b="1" dirty="0">
                <a:solidFill>
                  <a:srgbClr val="0F766E"/>
                </a:solidFill>
                <a:latin typeface="Calibri" pitchFamily="34" charset="0"/>
                <a:ea typeface="Calibri" pitchFamily="34" charset="-122"/>
                <a:cs typeface="Calibri" pitchFamily="34" charset="-120"/>
              </a:rPr>
              <a:t>Done</a:t>
            </a:r>
            <a:endParaRPr lang="en-US" sz="10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66928" y="3063240"/>
          <a:ext cx="11055096" cy="914400"/>
        </p:xfrm>
        <a:graphic>
          <a:graphicData uri="http://schemas.openxmlformats.org/drawingml/2006/table">
            <a:tbl>
              <a:tblPr/>
              <a:tblGrid>
                <a:gridCol w="5120640"/>
                <a:gridCol w="1737360"/>
                <a:gridCol w="4197096"/>
              </a:tblGrid>
              <a:tr h="30175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Deliverable (Proposal section 4)</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r>
              <a:tr h="301752">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Python feature library, 30 to 50 features, documented</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40 features</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src/features/, feature documentation</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301752">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Paradata format guide, SurveyCTO and ODK</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Done</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docs/paradata_format_guide.md</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301752">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Labelled synthetic validation datasets</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Done</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data/synthetic_datasets/, n500 to n10000</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301752">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Validation report with precision, recall, effect sizes</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Done</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docs/validation_report.md</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301752">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Final paper and this presentation</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Done</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report/, docs/deliverables/</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301752">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AI usage log as a report appendix</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Done</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Appendix A of the final report</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bl>
          </a:graphicData>
        </a:graphic>
      </p:graphicFrame>
      <p:sp>
        <p:nvSpPr>
          <p:cNvPr id="31" name="Text 28"/>
          <p:cNvSpPr txBox="1"/>
          <p:nvPr/>
        </p:nvSpPr>
        <p:spPr>
          <a:xfrm>
            <a:off x="566928" y="6144768"/>
            <a:ext cx="10140696" cy="274320"/>
          </a:xfrm>
          <a:prstGeom prst="rect">
            <a:avLst/>
          </a:prstGeom>
          <a:noFill/>
          <a:ln/>
        </p:spPr>
        <p:txBody>
          <a:bodyPr wrap="square" lIns="0" tIns="0" rIns="0" bIns="0" rtlCol="0" anchor="ctr"/>
          <a:lstStyle/>
          <a:p>
            <a:pPr indent="0" marL="0">
              <a:buNone/>
            </a:pPr>
            <a:r>
              <a:rPr lang="en-US" sz="1050" i="1" dirty="0">
                <a:solidFill>
                  <a:srgbClr val="6B7785"/>
                </a:solidFill>
                <a:latin typeface="Calibri" pitchFamily="34" charset="0"/>
                <a:ea typeface="Calibri" pitchFamily="34" charset="-122"/>
                <a:cs typeface="Calibri" pitchFamily="34" charset="-120"/>
              </a:rPr>
              <a:t>Every phase and deliverable is evidenced in docs/milestone_tracker.md and docs/evidence_index.md against named commits and tags.</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ASSESSMENT</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Mapping to the course learning outcomes</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29</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Samuel Kaoma  |  2022016530  |  CSC 4004</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55096" cy="914400"/>
        </p:xfrm>
        <a:graphic>
          <a:graphicData uri="http://schemas.openxmlformats.org/drawingml/2006/table">
            <a:tbl>
              <a:tblPr/>
              <a:tblGrid>
                <a:gridCol w="3017520"/>
                <a:gridCol w="8037576"/>
              </a:tblGrid>
              <a:tr h="47548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Outcome</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Where it is demonstrated</a:t>
                      </a:r>
                      <a:endParaRPr lang="en-US" sz="120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solidFill>
                      <a:srgbClr val="0F766E"/>
                    </a:solidFill>
                  </a:tcPr>
                </a:tc>
              </a:tr>
              <a:tr h="475488">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i. Concepts, applications and challenges</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Literature review covers outlier detection theory and the univariate versus multivariate trade-off. Challenges are measured, not asserted: masking, threshold calibration, and the unreachable Tukey lower fence.</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475488">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ii. Preprocess data</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Two platform parsers reduce heterogeneous audit logs to one intermediate representation. Timestamp normalisation across epoch milliseconds and ISO 8601, hybrid file splitting, and explicit quality flagging.</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475488">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iii. Implement algorithms</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Unsupervised detection: Tukey fences combined with rule logic, evaluated as binary classification. Mann-Whitney U with Cohen's d and Bonferroni adjustment for feature validity.</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475488">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iv. Data warehousing</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Addressed in part: the parser pipeline is an ETL design with a common target schema, though no OLAP cube or star schema was built.</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475488">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v. Evaluate models</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Precision, recall, F1 against labelled ground truth, two named baselines, a prevalence sweep, a per-component breakdown, and a scale check from 500 to 10,000 interviews.</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475488">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vi. Apply tools</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Python throughout: pandas, NumPy, SciPy, statsmodels, scikit-learn, pytest, with continuous integration. Weka and RapidMiner were not appropriate to a custom parsing pipeline.</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r h="475488">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vii. Ethical and professional issues</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c>
                  <a:txBody>
                    <a:bodyPr/>
                    <a:lstStyle/>
                    <a:p>
                      <a:pPr algn="l" indent="0" marL="0">
                        <a:buNone/>
                      </a:pPr>
                      <a:r>
                        <a:rPr lang="en-US" sz="1150" dirty="0">
                          <a:solidFill>
                            <a:srgbClr val="1F2933"/>
                          </a:solidFill>
                          <a:latin typeface="Calibri" pitchFamily="34" charset="0"/>
                          <a:ea typeface="Calibri" pitchFamily="34" charset="-122"/>
                          <a:cs typeface="Calibri" pitchFamily="34" charset="-120"/>
                        </a:rPr>
                        <a:t>Synthetic data only, explainable flags, human review required before action, and a full AI usage disclosure as Appendix A.</a:t>
                      </a:r>
                      <a:endParaRPr lang="en-US" sz="1150" dirty="0">
                        <a:latin typeface="Calibri" charset="0"/>
                        <a:ea typeface="Calibri" charset="0"/>
                        <a:cs typeface="Calibri" charset="0"/>
                      </a:endParaRPr>
                    </a:p>
                  </a:txBody>
                  <a:tcPr marL="91440" marR="91440" marT="45720" marB="45720" anchor="ctr">
                    <a:lnL w="9525" cap="flat" cmpd="sng" algn="ctr">
                      <a:solidFill>
                        <a:srgbClr val="D6DEE5"/>
                      </a:solidFill>
                      <a:prstDash val="solid"/>
                      <a:round/>
                      <a:headEnd type="none" w="med" len="med"/>
                      <a:tailEnd type="none" w="med" len="med"/>
                    </a:lnL>
                    <a:lnR w="9525" cap="flat" cmpd="sng" algn="ctr">
                      <a:solidFill>
                        <a:srgbClr val="D6DEE5"/>
                      </a:solidFill>
                      <a:prstDash val="solid"/>
                      <a:round/>
                      <a:headEnd type="none" w="med" len="med"/>
                      <a:tailEnd type="none" w="med" len="med"/>
                    </a:lnR>
                    <a:lnT w="9525" cap="flat" cmpd="sng" algn="ctr">
                      <a:solidFill>
                        <a:srgbClr val="D6DEE5"/>
                      </a:solidFill>
                      <a:prstDash val="solid"/>
                      <a:round/>
                      <a:headEnd type="none" w="med" len="med"/>
                      <a:tailEnd type="none" w="med" len="med"/>
                    </a:lnT>
                    <a:lnB w="9525" cap="flat" cmpd="sng" algn="ctr">
                      <a:solidFill>
                        <a:srgbClr val="D6DEE5"/>
                      </a:solidFill>
                      <a:prstDash val="solid"/>
                      <a:round/>
                      <a:headEnd type="none" w="med" len="med"/>
                      <a:tailEnd type="none" w="med" len="med"/>
                    </a:lnB>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6232B"/>
        </a:solidFill>
      </p:bgPr>
    </p:bg>
    <p:spTree>
      <p:nvGrpSpPr>
        <p:cNvPr id="1" name=""/>
        <p:cNvGrpSpPr/>
        <p:nvPr/>
      </p:nvGrpSpPr>
      <p:grpSpPr>
        <a:xfrm>
          <a:off x="0" y="0"/>
          <a:ext cx="0" cy="0"/>
          <a:chOff x="0" y="0"/>
          <a:chExt cx="0" cy="0"/>
        </a:xfrm>
      </p:grpSpPr>
      <p:sp>
        <p:nvSpPr>
          <p:cNvPr id="2" name="Text 0"/>
          <p:cNvSpPr txBox="1"/>
          <p:nvPr/>
        </p:nvSpPr>
        <p:spPr>
          <a:xfrm>
            <a:off x="566928" y="2286000"/>
            <a:ext cx="9774936"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Timing paradata is usable, and it beats what field practice runs today.</a:t>
            </a:r>
            <a:endParaRPr lang="en-US" sz="4000" dirty="0"/>
          </a:p>
        </p:txBody>
      </p:sp>
      <p:sp>
        <p:nvSpPr>
          <p:cNvPr id="3" name="Text 1"/>
          <p:cNvSpPr txBox="1"/>
          <p:nvPr/>
        </p:nvSpPr>
        <p:spPr>
          <a:xfrm>
            <a:off x="566928" y="3657600"/>
            <a:ext cx="9043416" cy="914400"/>
          </a:xfrm>
          <a:prstGeom prst="rect">
            <a:avLst/>
          </a:prstGeom>
          <a:noFill/>
          <a:ln/>
        </p:spPr>
        <p:txBody>
          <a:bodyPr wrap="square" lIns="0" tIns="0" rIns="0" bIns="0" rtlCol="0" anchor="ctr"/>
          <a:lstStyle/>
          <a:p>
            <a:pPr indent="0" marL="0">
              <a:lnSpc>
                <a:spcPts val="2400"/>
              </a:lnSpc>
              <a:buNone/>
            </a:pPr>
            <a:r>
              <a:rPr lang="en-US" sz="1500" dirty="0">
                <a:solidFill>
                  <a:srgbClr val="AFC0C9"/>
                </a:solidFill>
                <a:latin typeface="Calibri" pitchFamily="34" charset="0"/>
                <a:ea typeface="Calibri" pitchFamily="34" charset="-122"/>
                <a:cs typeface="Calibri" pitchFamily="34" charset="-120"/>
              </a:rPr>
              <a:t>Precision 0.96 to 1.00 and recall 0.84 to 1.00 on data the detector had never seen, under a stress condition built to blur the line between genuine and anomalous behaviour. All six objectives met.</a:t>
            </a:r>
            <a:endParaRPr lang="en-US" sz="15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7C8B95"/>
                </a:solidFill>
                <a:latin typeface="Calibri" pitchFamily="34" charset="0"/>
                <a:ea typeface="Calibri" pitchFamily="34" charset="-122"/>
                <a:cs typeface="Calibri" pitchFamily="34" charset="-120"/>
              </a:rPr>
              <a:t>30</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7C8B95"/>
                </a:solidFill>
                <a:latin typeface="Calibri" pitchFamily="34" charset="0"/>
                <a:ea typeface="Calibri" pitchFamily="34" charset="-122"/>
                <a:cs typeface="Calibri" pitchFamily="34" charset="-120"/>
              </a:rPr>
              <a:t>Samuel Kaoma  |  2022016530  |  CSC 4004</a:t>
            </a:r>
            <a:endParaRPr lang="en-US" sz="1000" dirty="0"/>
          </a:p>
        </p:txBody>
      </p:sp>
      <p:sp>
        <p:nvSpPr>
          <p:cNvPr id="6" name="Shape 4"/>
          <p:cNvSpPr/>
          <p:nvPr/>
        </p:nvSpPr>
        <p:spPr>
          <a:xfrm>
            <a:off x="566928" y="4800600"/>
            <a:ext cx="2670048" cy="1234440"/>
          </a:xfrm>
          <a:prstGeom prst="roundRect">
            <a:avLst>
              <a:gd name="adj" fmla="val 3704"/>
            </a:avLst>
          </a:prstGeom>
          <a:solidFill>
            <a:srgbClr val="203038"/>
          </a:solidFill>
          <a:ln w="12700">
            <a:solidFill>
              <a:srgbClr val="203038"/>
            </a:solidFill>
            <a:prstDash val="solid"/>
          </a:ln>
        </p:spPr>
        <p:txBody>
          <a:bodyPr/>
          <a:p/>
        </p:txBody>
      </p:sp>
      <p:sp>
        <p:nvSpPr>
          <p:cNvPr id="7" name="Text 5"/>
          <p:cNvSpPr txBox="1"/>
          <p:nvPr/>
        </p:nvSpPr>
        <p:spPr>
          <a:xfrm>
            <a:off x="731520" y="4919472"/>
            <a:ext cx="2340864" cy="457200"/>
          </a:xfrm>
          <a:prstGeom prst="rect">
            <a:avLst/>
          </a:prstGeom>
          <a:noFill/>
          <a:ln/>
        </p:spPr>
        <p:txBody>
          <a:bodyPr wrap="square" lIns="0" tIns="0" rIns="0" bIns="0" rtlCol="0" anchor="ctr"/>
          <a:lstStyle/>
          <a:p>
            <a:pPr indent="0" marL="0">
              <a:buNone/>
            </a:pPr>
            <a:r>
              <a:rPr lang="en-US" sz="2400" b="1" dirty="0">
                <a:solidFill>
                  <a:srgbClr val="0F766E"/>
                </a:solidFill>
                <a:latin typeface="Cambria" pitchFamily="34" charset="0"/>
                <a:ea typeface="Cambria" pitchFamily="34" charset="-122"/>
                <a:cs typeface="Cambria" pitchFamily="34" charset="-120"/>
              </a:rPr>
              <a:t>+34%</a:t>
            </a:r>
            <a:endParaRPr lang="en-US" sz="2400" dirty="0"/>
          </a:p>
        </p:txBody>
      </p:sp>
      <p:sp>
        <p:nvSpPr>
          <p:cNvPr id="8" name="Text 6"/>
          <p:cNvSpPr txBox="1"/>
          <p:nvPr/>
        </p:nvSpPr>
        <p:spPr>
          <a:xfrm>
            <a:off x="731520" y="5394960"/>
            <a:ext cx="2340864" cy="548640"/>
          </a:xfrm>
          <a:prstGeom prst="rect">
            <a:avLst/>
          </a:prstGeom>
          <a:noFill/>
          <a:ln/>
        </p:spPr>
        <p:txBody>
          <a:bodyPr wrap="square" lIns="0" tIns="0" rIns="0" bIns="0" rtlCol="0" anchor="ctr"/>
          <a:lstStyle/>
          <a:p>
            <a:pPr indent="0" marL="0">
              <a:lnSpc>
                <a:spcPts val="1400"/>
              </a:lnSpc>
              <a:buNone/>
            </a:pPr>
            <a:r>
              <a:rPr lang="en-US" sz="1050" dirty="0">
                <a:solidFill>
                  <a:srgbClr val="AFC0C9"/>
                </a:solidFill>
                <a:latin typeface="Calibri" pitchFamily="34" charset="0"/>
                <a:ea typeface="Calibri" pitchFamily="34" charset="-122"/>
                <a:cs typeface="Calibri" pitchFamily="34" charset="-120"/>
              </a:rPr>
              <a:t>recall over duration-only checking</a:t>
            </a:r>
            <a:endParaRPr lang="en-US" sz="1050" dirty="0"/>
          </a:p>
        </p:txBody>
      </p:sp>
      <p:sp>
        <p:nvSpPr>
          <p:cNvPr id="9" name="Shape 7"/>
          <p:cNvSpPr/>
          <p:nvPr/>
        </p:nvSpPr>
        <p:spPr>
          <a:xfrm>
            <a:off x="3410712" y="4800600"/>
            <a:ext cx="2670048" cy="1234440"/>
          </a:xfrm>
          <a:prstGeom prst="roundRect">
            <a:avLst>
              <a:gd name="adj" fmla="val 3704"/>
            </a:avLst>
          </a:prstGeom>
          <a:solidFill>
            <a:srgbClr val="203038"/>
          </a:solidFill>
          <a:ln w="12700">
            <a:solidFill>
              <a:srgbClr val="203038"/>
            </a:solidFill>
            <a:prstDash val="solid"/>
          </a:ln>
        </p:spPr>
        <p:txBody>
          <a:bodyPr/>
          <a:p/>
        </p:txBody>
      </p:sp>
      <p:sp>
        <p:nvSpPr>
          <p:cNvPr id="10" name="Text 8"/>
          <p:cNvSpPr txBox="1"/>
          <p:nvPr/>
        </p:nvSpPr>
        <p:spPr>
          <a:xfrm>
            <a:off x="3575304" y="4919472"/>
            <a:ext cx="2340864" cy="457200"/>
          </a:xfrm>
          <a:prstGeom prst="rect">
            <a:avLst/>
          </a:prstGeom>
          <a:noFill/>
          <a:ln/>
        </p:spPr>
        <p:txBody>
          <a:bodyPr wrap="square" lIns="0" tIns="0" rIns="0" bIns="0" rtlCol="0" anchor="ctr"/>
          <a:lstStyle/>
          <a:p>
            <a:pPr indent="0" marL="0">
              <a:buNone/>
            </a:pPr>
            <a:r>
              <a:rPr lang="en-US" sz="2400" b="1" dirty="0">
                <a:solidFill>
                  <a:srgbClr val="0F766E"/>
                </a:solidFill>
                <a:latin typeface="Cambria" pitchFamily="34" charset="0"/>
                <a:ea typeface="Cambria" pitchFamily="34" charset="-122"/>
                <a:cs typeface="Cambria" pitchFamily="34" charset="-120"/>
              </a:rPr>
              <a:t>40</a:t>
            </a:r>
            <a:endParaRPr lang="en-US" sz="2400" dirty="0"/>
          </a:p>
        </p:txBody>
      </p:sp>
      <p:sp>
        <p:nvSpPr>
          <p:cNvPr id="11" name="Text 9"/>
          <p:cNvSpPr txBox="1"/>
          <p:nvPr/>
        </p:nvSpPr>
        <p:spPr>
          <a:xfrm>
            <a:off x="3575304" y="5394960"/>
            <a:ext cx="2340864" cy="548640"/>
          </a:xfrm>
          <a:prstGeom prst="rect">
            <a:avLst/>
          </a:prstGeom>
          <a:noFill/>
          <a:ln/>
        </p:spPr>
        <p:txBody>
          <a:bodyPr wrap="square" lIns="0" tIns="0" rIns="0" bIns="0" rtlCol="0" anchor="ctr"/>
          <a:lstStyle/>
          <a:p>
            <a:pPr indent="0" marL="0">
              <a:lnSpc>
                <a:spcPts val="1400"/>
              </a:lnSpc>
              <a:buNone/>
            </a:pPr>
            <a:r>
              <a:rPr lang="en-US" sz="1050" dirty="0">
                <a:solidFill>
                  <a:srgbClr val="AFC0C9"/>
                </a:solidFill>
                <a:latin typeface="Calibri" pitchFamily="34" charset="0"/>
                <a:ea typeface="Calibri" pitchFamily="34" charset="-122"/>
                <a:cs typeface="Calibri" pitchFamily="34" charset="-120"/>
              </a:rPr>
              <a:t>documented, tested features</a:t>
            </a:r>
            <a:endParaRPr lang="en-US" sz="1050" dirty="0"/>
          </a:p>
        </p:txBody>
      </p:sp>
      <p:sp>
        <p:nvSpPr>
          <p:cNvPr id="12" name="Shape 10"/>
          <p:cNvSpPr/>
          <p:nvPr/>
        </p:nvSpPr>
        <p:spPr>
          <a:xfrm>
            <a:off x="6254496" y="4800600"/>
            <a:ext cx="2670048" cy="1234440"/>
          </a:xfrm>
          <a:prstGeom prst="roundRect">
            <a:avLst>
              <a:gd name="adj" fmla="val 3704"/>
            </a:avLst>
          </a:prstGeom>
          <a:solidFill>
            <a:srgbClr val="203038"/>
          </a:solidFill>
          <a:ln w="12700">
            <a:solidFill>
              <a:srgbClr val="203038"/>
            </a:solidFill>
            <a:prstDash val="solid"/>
          </a:ln>
        </p:spPr>
        <p:txBody>
          <a:bodyPr/>
          <a:p/>
        </p:txBody>
      </p:sp>
      <p:sp>
        <p:nvSpPr>
          <p:cNvPr id="13" name="Text 11"/>
          <p:cNvSpPr txBox="1"/>
          <p:nvPr/>
        </p:nvSpPr>
        <p:spPr>
          <a:xfrm>
            <a:off x="6419088" y="4919472"/>
            <a:ext cx="2340864" cy="457200"/>
          </a:xfrm>
          <a:prstGeom prst="rect">
            <a:avLst/>
          </a:prstGeom>
          <a:noFill/>
          <a:ln/>
        </p:spPr>
        <p:txBody>
          <a:bodyPr wrap="square" lIns="0" tIns="0" rIns="0" bIns="0" rtlCol="0" anchor="ctr"/>
          <a:lstStyle/>
          <a:p>
            <a:pPr indent="0" marL="0">
              <a:buNone/>
            </a:pPr>
            <a:r>
              <a:rPr lang="en-US" sz="2400" b="1" dirty="0">
                <a:solidFill>
                  <a:srgbClr val="0F766E"/>
                </a:solidFill>
                <a:latin typeface="Cambria" pitchFamily="34" charset="0"/>
                <a:ea typeface="Cambria" pitchFamily="34" charset="-122"/>
                <a:cs typeface="Cambria" pitchFamily="34" charset="-120"/>
              </a:rPr>
              <a:t>x19.05</a:t>
            </a:r>
            <a:endParaRPr lang="en-US" sz="2400" dirty="0"/>
          </a:p>
        </p:txBody>
      </p:sp>
      <p:sp>
        <p:nvSpPr>
          <p:cNvPr id="14" name="Text 12"/>
          <p:cNvSpPr txBox="1"/>
          <p:nvPr/>
        </p:nvSpPr>
        <p:spPr>
          <a:xfrm>
            <a:off x="6419088" y="5394960"/>
            <a:ext cx="2340864" cy="548640"/>
          </a:xfrm>
          <a:prstGeom prst="rect">
            <a:avLst/>
          </a:prstGeom>
          <a:noFill/>
          <a:ln/>
        </p:spPr>
        <p:txBody>
          <a:bodyPr wrap="square" lIns="0" tIns="0" rIns="0" bIns="0" rtlCol="0" anchor="ctr"/>
          <a:lstStyle/>
          <a:p>
            <a:pPr indent="0" marL="0">
              <a:lnSpc>
                <a:spcPts val="1400"/>
              </a:lnSpc>
              <a:buNone/>
            </a:pPr>
            <a:r>
              <a:rPr lang="en-US" sz="1050" dirty="0">
                <a:solidFill>
                  <a:srgbClr val="AFC0C9"/>
                </a:solidFill>
                <a:latin typeface="Calibri" pitchFamily="34" charset="0"/>
                <a:ea typeface="Calibri" pitchFamily="34" charset="-122"/>
                <a:cs typeface="Calibri" pitchFamily="34" charset="-120"/>
              </a:rPr>
              <a:t>runtime for x20 the data</a:t>
            </a:r>
            <a:endParaRPr lang="en-US" sz="1050" dirty="0"/>
          </a:p>
        </p:txBody>
      </p:sp>
      <p:sp>
        <p:nvSpPr>
          <p:cNvPr id="15" name="Shape 13"/>
          <p:cNvSpPr/>
          <p:nvPr/>
        </p:nvSpPr>
        <p:spPr>
          <a:xfrm>
            <a:off x="9098280" y="4800600"/>
            <a:ext cx="2670048" cy="1234440"/>
          </a:xfrm>
          <a:prstGeom prst="roundRect">
            <a:avLst>
              <a:gd name="adj" fmla="val 3704"/>
            </a:avLst>
          </a:prstGeom>
          <a:solidFill>
            <a:srgbClr val="203038"/>
          </a:solidFill>
          <a:ln w="12700">
            <a:solidFill>
              <a:srgbClr val="203038"/>
            </a:solidFill>
            <a:prstDash val="solid"/>
          </a:ln>
        </p:spPr>
        <p:txBody>
          <a:bodyPr/>
          <a:p/>
        </p:txBody>
      </p:sp>
      <p:sp>
        <p:nvSpPr>
          <p:cNvPr id="16" name="Text 14"/>
          <p:cNvSpPr txBox="1"/>
          <p:nvPr/>
        </p:nvSpPr>
        <p:spPr>
          <a:xfrm>
            <a:off x="9262872" y="4919472"/>
            <a:ext cx="2340864" cy="457200"/>
          </a:xfrm>
          <a:prstGeom prst="rect">
            <a:avLst/>
          </a:prstGeom>
          <a:noFill/>
          <a:ln/>
        </p:spPr>
        <p:txBody>
          <a:bodyPr wrap="square" lIns="0" tIns="0" rIns="0" bIns="0" rtlCol="0" anchor="ctr"/>
          <a:lstStyle/>
          <a:p>
            <a:pPr indent="0" marL="0">
              <a:buNone/>
            </a:pPr>
            <a:r>
              <a:rPr lang="en-US" sz="2400" b="1" dirty="0">
                <a:solidFill>
                  <a:srgbClr val="B45309"/>
                </a:solidFill>
                <a:latin typeface="Cambria" pitchFamily="34" charset="0"/>
                <a:ea typeface="Cambria" pitchFamily="34" charset="-122"/>
                <a:cs typeface="Cambria" pitchFamily="34" charset="-120"/>
              </a:rPr>
              <a:t>0.70</a:t>
            </a:r>
            <a:endParaRPr lang="en-US" sz="2400" dirty="0"/>
          </a:p>
        </p:txBody>
      </p:sp>
      <p:sp>
        <p:nvSpPr>
          <p:cNvPr id="17" name="Text 15"/>
          <p:cNvSpPr txBox="1"/>
          <p:nvPr/>
        </p:nvSpPr>
        <p:spPr>
          <a:xfrm>
            <a:off x="9262872" y="5394960"/>
            <a:ext cx="2340864" cy="548640"/>
          </a:xfrm>
          <a:prstGeom prst="rect">
            <a:avLst/>
          </a:prstGeom>
          <a:noFill/>
          <a:ln/>
        </p:spPr>
        <p:txBody>
          <a:bodyPr wrap="square" lIns="0" tIns="0" rIns="0" bIns="0" rtlCol="0" anchor="ctr"/>
          <a:lstStyle/>
          <a:p>
            <a:pPr indent="0" marL="0">
              <a:lnSpc>
                <a:spcPts val="1400"/>
              </a:lnSpc>
              <a:buNone/>
            </a:pPr>
            <a:r>
              <a:rPr lang="en-US" sz="1050" dirty="0">
                <a:solidFill>
                  <a:srgbClr val="AFC0C9"/>
                </a:solidFill>
                <a:latin typeface="Calibri" pitchFamily="34" charset="0"/>
                <a:ea typeface="Calibri" pitchFamily="34" charset="-122"/>
                <a:cs typeface="Calibri" pitchFamily="34" charset="-120"/>
              </a:rPr>
              <a:t>fabricated recall: the honest weak point</a:t>
            </a:r>
            <a:endParaRPr lang="en-US" sz="1050" dirty="0"/>
          </a:p>
        </p:txBody>
      </p:sp>
      <p:sp>
        <p:nvSpPr>
          <p:cNvPr id="18" name="Text 16"/>
          <p:cNvSpPr txBox="1"/>
          <p:nvPr/>
        </p:nvSpPr>
        <p:spPr>
          <a:xfrm>
            <a:off x="566928" y="658368"/>
            <a:ext cx="11055096" cy="292608"/>
          </a:xfrm>
          <a:prstGeom prst="rect">
            <a:avLst/>
          </a:prstGeom>
          <a:noFill/>
          <a:ln/>
        </p:spPr>
        <p:txBody>
          <a:bodyPr wrap="square" lIns="0" tIns="0" rIns="0" bIns="0" rtlCol="0" anchor="ctr"/>
          <a:lstStyle/>
          <a:p>
            <a:pPr indent="0" marL="0">
              <a:buNone/>
            </a:pPr>
            <a:r>
              <a:rPr lang="en-US" sz="1200" b="1" dirty="0">
                <a:solidFill>
                  <a:srgbClr val="6FA9A2"/>
                </a:solidFill>
                <a:latin typeface="Calibri" pitchFamily="34" charset="0"/>
                <a:ea typeface="Calibri" pitchFamily="34" charset="-122"/>
                <a:cs typeface="Calibri" pitchFamily="34" charset="-120"/>
              </a:rPr>
              <a:t>github.com/Samuelkaoma-eng/SKACE-TIME-DATA</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5096" cy="237744"/>
          </a:xfrm>
          <a:prstGeom prst="rect">
            <a:avLst/>
          </a:prstGeom>
          <a:noFill/>
          <a:ln/>
        </p:spPr>
        <p:txBody>
          <a:bodyPr wrap="square" lIns="0" tIns="0" rIns="0" bIns="0" rtlCol="0" anchor="ctr"/>
          <a:lstStyle/>
          <a:p>
            <a:pPr indent="0" marL="0">
              <a:buNone/>
            </a:pPr>
            <a:r>
              <a:rPr lang="en-US" sz="1100" b="1" spc="140" kern="0" dirty="0">
                <a:solidFill>
                  <a:srgbClr val="0F766E"/>
                </a:solidFill>
                <a:latin typeface="Calibri" pitchFamily="34" charset="0"/>
                <a:ea typeface="Calibri" pitchFamily="34" charset="-122"/>
                <a:cs typeface="Calibri" pitchFamily="34" charset="-120"/>
              </a:rPr>
              <a:t>CHAPTER 2</a:t>
            </a:r>
            <a:endParaRPr lang="en-US" sz="1100" dirty="0"/>
          </a:p>
        </p:txBody>
      </p:sp>
      <p:sp>
        <p:nvSpPr>
          <p:cNvPr id="3" name="Text 1"/>
          <p:cNvSpPr txBox="1"/>
          <p:nvPr/>
        </p:nvSpPr>
        <p:spPr>
          <a:xfrm>
            <a:off x="566928" y="658368"/>
            <a:ext cx="11055096" cy="566928"/>
          </a:xfrm>
          <a:prstGeom prst="rect">
            <a:avLst/>
          </a:prstGeom>
          <a:noFill/>
          <a:ln/>
        </p:spPr>
        <p:txBody>
          <a:bodyPr wrap="square" lIns="0" tIns="0" rIns="0" bIns="0" rtlCol="0" anchor="ctr"/>
          <a:lstStyle/>
          <a:p>
            <a:pPr indent="0" marL="0">
              <a:buNone/>
            </a:pPr>
            <a:r>
              <a:rPr lang="en-US" sz="3000" b="1" dirty="0">
                <a:solidFill>
                  <a:srgbClr val="1F2933"/>
                </a:solidFill>
                <a:latin typeface="Cambria" pitchFamily="34" charset="0"/>
                <a:ea typeface="Cambria" pitchFamily="34" charset="-122"/>
                <a:cs typeface="Cambria" pitchFamily="34" charset="-120"/>
              </a:rPr>
              <a:t>Key references</a:t>
            </a:r>
            <a:endParaRPr lang="en-US" sz="3000" dirty="0"/>
          </a:p>
        </p:txBody>
      </p:sp>
      <p:sp>
        <p:nvSpPr>
          <p:cNvPr id="4" name="Text 2"/>
          <p:cNvSpPr txBox="1"/>
          <p:nvPr/>
        </p:nvSpPr>
        <p:spPr>
          <a:xfrm>
            <a:off x="11073384" y="6437376"/>
            <a:ext cx="54864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31</a:t>
            </a:r>
            <a:endParaRPr lang="en-US" sz="1000" dirty="0"/>
          </a:p>
        </p:txBody>
      </p:sp>
      <p:sp>
        <p:nvSpPr>
          <p:cNvPr id="5" name="Text 3"/>
          <p:cNvSpPr txBox="1"/>
          <p:nvPr/>
        </p:nvSpPr>
        <p:spPr>
          <a:xfrm>
            <a:off x="566928" y="6437376"/>
            <a:ext cx="54864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Samuel Kaoma  |  2022016530  |  CSC 4004</a:t>
            </a:r>
            <a:endParaRPr lang="en-US" sz="1000" dirty="0"/>
          </a:p>
        </p:txBody>
      </p:sp>
      <p:sp>
        <p:nvSpPr>
          <p:cNvPr id="6" name="Text 4"/>
          <p:cNvSpPr txBox="1"/>
          <p:nvPr/>
        </p:nvSpPr>
        <p:spPr>
          <a:xfrm>
            <a:off x="566928" y="1371600"/>
            <a:ext cx="5349240" cy="3566160"/>
          </a:xfrm>
          <a:prstGeom prst="rect">
            <a:avLst/>
          </a:prstGeom>
          <a:noFill/>
          <a:ln/>
        </p:spPr>
        <p:txBody>
          <a:bodyPr wrap="square" lIns="0" tIns="0" rIns="0" bIns="0" rtlCol="0" anchor="ctr"/>
          <a:lstStyle/>
          <a:p>
            <a:pPr marL="342900" indent="-342900">
              <a:lnSpc>
                <a:spcPts val="1550"/>
              </a:lnSpc>
              <a:spcAft>
                <a:spcPts val="900"/>
              </a:spcAft>
              <a:buSzPct val="100000"/>
              <a:buChar char="•"/>
            </a:pPr>
            <a:r>
              <a:rPr lang="en-US" sz="1150" dirty="0">
                <a:solidFill>
                  <a:srgbClr val="1F2933"/>
                </a:solidFill>
                <a:latin typeface="Calibri" pitchFamily="34" charset="0"/>
                <a:ea typeface="Calibri" pitchFamily="34" charset="-122"/>
                <a:cs typeface="Calibri" pitchFamily="34" charset="-120"/>
              </a:rPr>
              <a:t>Bushery, J.M., Reichert, J.W., Albright, K.A. and Rossiter, J.C. (1999) 'Using date and time stamps to detect interviewer falsification', Proceedings of the Survey Research Methods Section, ASA, pp. 316-320.</a:t>
            </a:r>
            <a:endParaRPr lang="en-US" sz="1150" dirty="0"/>
          </a:p>
          <a:p>
            <a:pPr marL="342900" indent="-342900">
              <a:lnSpc>
                <a:spcPts val="1550"/>
              </a:lnSpc>
              <a:spcAft>
                <a:spcPts val="900"/>
              </a:spcAft>
              <a:buSzPct val="100000"/>
              <a:buChar char="•"/>
            </a:pPr>
            <a:r>
              <a:rPr lang="en-US" sz="1150" dirty="0">
                <a:solidFill>
                  <a:srgbClr val="1F2933"/>
                </a:solidFill>
                <a:latin typeface="Calibri" pitchFamily="34" charset="0"/>
                <a:ea typeface="Calibri" pitchFamily="34" charset="-122"/>
                <a:cs typeface="Calibri" pitchFamily="34" charset="-120"/>
              </a:rPr>
              <a:t>Chandola, V., Banerjee, A. and Kumar, V. (2009) 'Anomaly detection: a survey', ACM Computing Surveys, 41(3).</a:t>
            </a:r>
            <a:endParaRPr lang="en-US" sz="1150" dirty="0"/>
          </a:p>
          <a:p>
            <a:pPr marL="342900" indent="-342900">
              <a:lnSpc>
                <a:spcPts val="1550"/>
              </a:lnSpc>
              <a:spcAft>
                <a:spcPts val="900"/>
              </a:spcAft>
              <a:buSzPct val="100000"/>
              <a:buChar char="•"/>
            </a:pPr>
            <a:r>
              <a:rPr lang="en-US" sz="1150" dirty="0">
                <a:solidFill>
                  <a:srgbClr val="1F2933"/>
                </a:solidFill>
                <a:latin typeface="Calibri" pitchFamily="34" charset="0"/>
                <a:ea typeface="Calibri" pitchFamily="34" charset="-122"/>
                <a:cs typeface="Calibri" pitchFamily="34" charset="-120"/>
              </a:rPr>
              <a:t>Conrad, F.G., Tourangeau, R. and Couper, M.P. (2013) 'Adaptive survey design and paradata', Journal of Official Statistics, 29(2).</a:t>
            </a:r>
            <a:endParaRPr lang="en-US" sz="1150" dirty="0"/>
          </a:p>
          <a:p>
            <a:pPr marL="342900" indent="-342900">
              <a:lnSpc>
                <a:spcPts val="1550"/>
              </a:lnSpc>
              <a:spcAft>
                <a:spcPts val="900"/>
              </a:spcAft>
              <a:buSzPct val="100000"/>
              <a:buChar char="•"/>
            </a:pPr>
            <a:r>
              <a:rPr lang="en-US" sz="1150" dirty="0">
                <a:solidFill>
                  <a:srgbClr val="1F2933"/>
                </a:solidFill>
                <a:latin typeface="Calibri" pitchFamily="34" charset="0"/>
                <a:ea typeface="Calibri" pitchFamily="34" charset="-122"/>
                <a:cs typeface="Calibri" pitchFamily="34" charset="-120"/>
              </a:rPr>
              <a:t>Finn, A. and Ranchhod, V. (2017) 'Genuine fakes: the prevalence and implications of data fabrication in a large South African survey', The World Bank Economic Review, 31(1), pp. 129-157.</a:t>
            </a:r>
            <a:endParaRPr lang="en-US" sz="1150" dirty="0"/>
          </a:p>
          <a:p>
            <a:pPr marL="342900" indent="-342900">
              <a:lnSpc>
                <a:spcPts val="1550"/>
              </a:lnSpc>
              <a:spcAft>
                <a:spcPts val="900"/>
              </a:spcAft>
              <a:buSzPct val="100000"/>
              <a:buChar char="•"/>
            </a:pPr>
            <a:r>
              <a:rPr lang="en-US" sz="1150" dirty="0">
                <a:solidFill>
                  <a:srgbClr val="1F2933"/>
                </a:solidFill>
                <a:latin typeface="Calibri" pitchFamily="34" charset="0"/>
                <a:ea typeface="Calibri" pitchFamily="34" charset="-122"/>
                <a:cs typeface="Calibri" pitchFamily="34" charset="-120"/>
              </a:rPr>
              <a:t>Groves, R.M. et al. (2009) Survey Methodology. 2nd edn. Hoboken, NJ: Wiley.</a:t>
            </a:r>
            <a:endParaRPr lang="en-US" sz="1150" dirty="0"/>
          </a:p>
        </p:txBody>
      </p:sp>
      <p:sp>
        <p:nvSpPr>
          <p:cNvPr id="7" name="Text 5"/>
          <p:cNvSpPr txBox="1"/>
          <p:nvPr/>
        </p:nvSpPr>
        <p:spPr>
          <a:xfrm>
            <a:off x="6281928" y="1371600"/>
            <a:ext cx="5349240" cy="3566160"/>
          </a:xfrm>
          <a:prstGeom prst="rect">
            <a:avLst/>
          </a:prstGeom>
          <a:noFill/>
          <a:ln/>
        </p:spPr>
        <p:txBody>
          <a:bodyPr wrap="square" lIns="0" tIns="0" rIns="0" bIns="0" rtlCol="0" anchor="ctr"/>
          <a:lstStyle/>
          <a:p>
            <a:pPr marL="342900" indent="-342900">
              <a:lnSpc>
                <a:spcPts val="1550"/>
              </a:lnSpc>
              <a:spcAft>
                <a:spcPts val="900"/>
              </a:spcAft>
              <a:buSzPct val="100000"/>
              <a:buChar char="•"/>
            </a:pPr>
            <a:r>
              <a:rPr lang="en-US" sz="1150" dirty="0">
                <a:solidFill>
                  <a:srgbClr val="1F2933"/>
                </a:solidFill>
                <a:latin typeface="Calibri" pitchFamily="34" charset="0"/>
                <a:ea typeface="Calibri" pitchFamily="34" charset="-122"/>
                <a:cs typeface="Calibri" pitchFamily="34" charset="-120"/>
              </a:rPr>
              <a:t>Hoogeveen, J. and Pape, U. (eds.) (2020) Data Collection in Fragile States: Innovations from Africa and Beyond. Cham: Palgrave Macmillan.</a:t>
            </a:r>
            <a:endParaRPr lang="en-US" sz="1150" dirty="0"/>
          </a:p>
          <a:p>
            <a:pPr marL="342900" indent="-342900">
              <a:lnSpc>
                <a:spcPts val="1550"/>
              </a:lnSpc>
              <a:spcAft>
                <a:spcPts val="900"/>
              </a:spcAft>
              <a:buSzPct val="100000"/>
              <a:buChar char="•"/>
            </a:pPr>
            <a:r>
              <a:rPr lang="en-US" sz="1150" dirty="0">
                <a:solidFill>
                  <a:srgbClr val="1F2933"/>
                </a:solidFill>
                <a:latin typeface="Calibri" pitchFamily="34" charset="0"/>
                <a:ea typeface="Calibri" pitchFamily="34" charset="-122"/>
                <a:cs typeface="Calibri" pitchFamily="34" charset="-120"/>
              </a:rPr>
              <a:t>Iglewicz, B. and Hoaglin, D.C. (1993) How to Detect and Handle Outliers. Milwaukee, WI: ASQ Quality Press.</a:t>
            </a:r>
            <a:endParaRPr lang="en-US" sz="1150" dirty="0"/>
          </a:p>
          <a:p>
            <a:pPr marL="342900" indent="-342900">
              <a:lnSpc>
                <a:spcPts val="1550"/>
              </a:lnSpc>
              <a:spcAft>
                <a:spcPts val="900"/>
              </a:spcAft>
              <a:buSzPct val="100000"/>
              <a:buChar char="•"/>
            </a:pPr>
            <a:r>
              <a:rPr lang="en-US" sz="1150" dirty="0">
                <a:solidFill>
                  <a:srgbClr val="1F2933"/>
                </a:solidFill>
                <a:latin typeface="Calibri" pitchFamily="34" charset="0"/>
                <a:ea typeface="Calibri" pitchFamily="34" charset="-122"/>
                <a:cs typeface="Calibri" pitchFamily="34" charset="-120"/>
              </a:rPr>
              <a:t>Kreuter, F. (ed.) (2013) Improving Surveys with Paradata. Hoboken, NJ: Wiley.</a:t>
            </a:r>
            <a:endParaRPr lang="en-US" sz="1150" dirty="0"/>
          </a:p>
          <a:p>
            <a:pPr marL="342900" indent="-342900">
              <a:lnSpc>
                <a:spcPts val="1550"/>
              </a:lnSpc>
              <a:spcAft>
                <a:spcPts val="900"/>
              </a:spcAft>
              <a:buSzPct val="100000"/>
              <a:buChar char="•"/>
            </a:pPr>
            <a:r>
              <a:rPr lang="en-US" sz="1150" dirty="0">
                <a:solidFill>
                  <a:srgbClr val="1F2933"/>
                </a:solidFill>
                <a:latin typeface="Calibri" pitchFamily="34" charset="0"/>
                <a:ea typeface="Calibri" pitchFamily="34" charset="-122"/>
                <a:cs typeface="Calibri" pitchFamily="34" charset="-120"/>
              </a:rPr>
              <a:t>Wenz, M., Kreuter, F. and Janke, S. (2019) 'An investigation of data fabrication using paradata', Survey Research Methods, 13(1), pp. 35-47.</a:t>
            </a:r>
            <a:endParaRPr lang="en-US" sz="1150" dirty="0"/>
          </a:p>
          <a:p>
            <a:pPr marL="342900" indent="-342900">
              <a:lnSpc>
                <a:spcPts val="1550"/>
              </a:lnSpc>
              <a:spcAft>
                <a:spcPts val="900"/>
              </a:spcAft>
              <a:buSzPct val="100000"/>
              <a:buChar char="•"/>
            </a:pPr>
            <a:r>
              <a:rPr lang="en-US" sz="1150" dirty="0">
                <a:solidFill>
                  <a:srgbClr val="1F2933"/>
                </a:solidFill>
                <a:latin typeface="Calibri" pitchFamily="34" charset="0"/>
                <a:ea typeface="Calibri" pitchFamily="34" charset="-122"/>
                <a:cs typeface="Calibri" pitchFamily="34" charset="-120"/>
              </a:rPr>
              <a:t>Yan, T. and Tourangeau, R. (2008) 'Fast times and easy questions', Applied Cognitive Psychology, 22(1), pp. 51-68.</a:t>
            </a:r>
            <a:endParaRPr lang="en-US" sz="1150" dirty="0"/>
          </a:p>
        </p:txBody>
      </p:sp>
      <p:sp>
        <p:nvSpPr>
          <p:cNvPr id="8" name="Shape 6"/>
          <p:cNvSpPr/>
          <p:nvPr/>
        </p:nvSpPr>
        <p:spPr>
          <a:xfrm>
            <a:off x="566928" y="5440680"/>
            <a:ext cx="11055096" cy="566928"/>
          </a:xfrm>
          <a:prstGeom prst="roundRect">
            <a:avLst>
              <a:gd name="adj" fmla="val 9677"/>
            </a:avLst>
          </a:prstGeom>
          <a:solidFill>
            <a:srgbClr val="EEF2F6"/>
          </a:solidFill>
          <a:ln w="12700">
            <a:solidFill>
              <a:srgbClr val="EEF2F6"/>
            </a:solidFill>
            <a:prstDash val="solid"/>
          </a:ln>
        </p:spPr>
        <p:txBody>
          <a:bodyPr/>
          <a:p/>
        </p:txBody>
      </p:sp>
      <p:sp>
        <p:nvSpPr>
          <p:cNvPr id="9" name="Shape 7"/>
          <p:cNvSpPr/>
          <p:nvPr/>
        </p:nvSpPr>
        <p:spPr>
          <a:xfrm>
            <a:off x="694944" y="5568696"/>
            <a:ext cx="91440" cy="310896"/>
          </a:xfrm>
          <a:prstGeom prst="roundRect">
            <a:avLst>
              <a:gd name="adj" fmla="val 40000"/>
            </a:avLst>
          </a:prstGeom>
          <a:solidFill>
            <a:srgbClr val="0F766E"/>
          </a:solidFill>
          <a:ln w="12700">
            <a:solidFill>
              <a:srgbClr val="0F766E"/>
            </a:solidFill>
            <a:prstDash val="solid"/>
          </a:ln>
        </p:spPr>
        <p:txBody>
          <a:bodyPr/>
          <a:p/>
        </p:txBody>
      </p:sp>
      <p:sp>
        <p:nvSpPr>
          <p:cNvPr id="10" name="Text 8"/>
          <p:cNvSpPr txBox="1"/>
          <p:nvPr/>
        </p:nvSpPr>
        <p:spPr>
          <a:xfrm>
            <a:off x="932688" y="5486400"/>
            <a:ext cx="10506456" cy="475488"/>
          </a:xfrm>
          <a:prstGeom prst="rect">
            <a:avLst/>
          </a:prstGeom>
          <a:noFill/>
          <a:ln/>
        </p:spPr>
        <p:txBody>
          <a:bodyPr wrap="square" lIns="0" tIns="0" rIns="0" bIns="0" rtlCol="0" anchor="ctr"/>
          <a:lstStyle/>
          <a:p>
            <a:pPr indent="0" marL="0">
              <a:buNone/>
            </a:pPr>
            <a:r>
              <a:rPr lang="en-US" sz="1350" b="1" dirty="0">
                <a:solidFill>
                  <a:srgbClr val="1F2933"/>
                </a:solidFill>
                <a:latin typeface="Calibri" pitchFamily="34" charset="0"/>
                <a:ea typeface="Calibri" pitchFamily="34" charset="-122"/>
                <a:cs typeface="Calibri" pitchFamily="34" charset="-120"/>
              </a:rPr>
              <a:t>Full list of 17 references in the final report, Harvard style.</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The University of Zambia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Automated Extraction and Analysis of Timing-Based Paradata Features</dc:title>
  <dc:subject>PptxGenJS Presentation</dc:subject>
  <dc:creator>Samuel Kaoma</dc:creator>
  <cp:lastModifiedBy>Samuel Kaoma</cp:lastModifiedBy>
  <cp:revision>1</cp:revision>
  <dcterms:created xsi:type="dcterms:W3CDTF">2026-09-05T18:13:36Z</dcterms:created>
  <dcterms:modified xsi:type="dcterms:W3CDTF">2026-09-05T18:13:36Z</dcterms:modified>
</cp:coreProperties>
</file>