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My project makes the timing data that survey platforms already record, called paradata, usable for detecting fabricated, rushed and disengaged interviews at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major field platforms record when every question was opened, answered and revisited. The literature, especially Wenz, Kreuter and Janke 2019, shows fabricated interviews have compressed, uniform timing. But quality teams mostly check only total duration. In my own evaluation a duration-only check misses a third of injected anomalies.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aim from my proposal, and the six objectives. All six are met; each maps to a deliverable I will show.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decoupled layers. The key design decision is the common intermediate representation in the middle: parsers normalise each platform into one six-column table, and features and detection never see platform specifics. The same detector performed equivalently on both formats in every experiment, which validates this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Forty features in four groups, each grounded in a cited source: compressed IQR and variance from Wenz et al., latency features from Yan and Tourangeau, navigation and pause features from Conrad et al., survey-level robust indicators from Kreuter. The statistical group carries the most detection weight.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complementary mechanisms. IQR fences suit right-skewed response time data. Rules encode the qualitative fabrication and disengagement indicators from the literature, expressed relative to each sample's median so they carry no absolute assumptions. The final score is a transparent count, deliberately not a black-box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actual terminal output. The user gives only the raw files; format detection is automatic, including hybrid files where both platforms were merged into one export.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row per interview, forty feature columns with stable identifiers, plus interview id and source file. This is the structured output dataset deliverable.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Highlighted rows are flagged. Notice normal interviews score at most one and stay CLEAN, while each flagged row lists its reasons, low entropy, uniform timing, zero back-navigation and so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Drilling into one interview. Six named flags, all pointing at the fabrication signature from the literature: compressed and uniform timing with no natural navigation errors. The ground-truth label confirms the catch.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labels exist, evaluation is one flag away. The detector never sees the labels; a strict one-to-one join computes the metrics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visualization script turns the metric outputs into charts: overall precision, recall, F1 and accuracy per benchmark on the left, detection rate by anomaly type on the right. These are the actual charts from the final validation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numbers are from the reconciled July validation round in a clean environment. The sweep varies prevalence from five to thirty percent, recall holds at one. The stress runs overlap normal and anomalous behaviour on purpose and still clear both targets. The baseline row is the point of the project: current practice recalls 66 percent; this system recalls 84 to 100 percent depending on condition.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state these openly because the evaluation was built to find them. Early perfect scores were treated as a warning, not a result; the harder evaluation produced lower numbers and a more defensible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the system parses both major platforms, computes a documented forty-feature taxonomy, and flags anomalies with an explainable score, exceeding the proposal's success criteria on data it had never seen. Thank you; I welcome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822960" y="1554480"/>
            <a:ext cx="10515600" cy="1828800"/>
          </a:xfrm>
          <a:prstGeom prst="rect">
            <a:avLst/>
          </a:prstGeom>
          <a:noFill/>
          <a:ln/>
        </p:spPr>
        <p:txBody>
          <a:bodyPr wrap="square" rtlCol="0" anchor="ctr"/>
          <a:lstStyle/>
          <a:p>
            <a:pPr indent="0" marL="0">
              <a:lnSpc>
                <a:spcPct val="110000"/>
              </a:lnSpc>
              <a:buNone/>
            </a:pPr>
            <a:r>
              <a:rPr lang="en-US" sz="3400" b="1" dirty="0">
                <a:solidFill>
                  <a:srgbClr val="FFFFFF"/>
                </a:solidFill>
                <a:latin typeface="Cambria" pitchFamily="34" charset="0"/>
                <a:ea typeface="Cambria" pitchFamily="34" charset="-122"/>
                <a:cs typeface="Cambria" pitchFamily="34" charset="-120"/>
              </a:rPr>
              <a:t>Automated Extraction and Analysis of Timing-Based Paradata Features for Survey Quality Assurance</a:t>
            </a:r>
            <a:endParaRPr lang="en-US" sz="3400" dirty="0"/>
          </a:p>
        </p:txBody>
      </p:sp>
      <p:sp>
        <p:nvSpPr>
          <p:cNvPr id="3" name="Text 1"/>
          <p:cNvSpPr/>
          <p:nvPr/>
        </p:nvSpPr>
        <p:spPr>
          <a:xfrm>
            <a:off x="822960" y="3566160"/>
            <a:ext cx="10515600" cy="457200"/>
          </a:xfrm>
          <a:prstGeom prst="rect">
            <a:avLst/>
          </a:prstGeom>
          <a:noFill/>
          <a:ln/>
        </p:spPr>
        <p:txBody>
          <a:bodyPr wrap="square" rtlCol="0" anchor="ctr"/>
          <a:lstStyle/>
          <a:p>
            <a:pPr indent="0" marL="0">
              <a:buNone/>
            </a:pPr>
            <a:r>
              <a:rPr lang="en-US" sz="1800" i="1" dirty="0">
                <a:solidFill>
                  <a:srgbClr val="CADCFC"/>
                </a:solidFill>
              </a:rPr>
              <a:t>CSC 4004 Final Year Project</a:t>
            </a:r>
            <a:endParaRPr lang="en-US" sz="1800" dirty="0"/>
          </a:p>
        </p:txBody>
      </p:sp>
      <p:sp>
        <p:nvSpPr>
          <p:cNvPr id="4" name="Text 2"/>
          <p:cNvSpPr/>
          <p:nvPr/>
        </p:nvSpPr>
        <p:spPr>
          <a:xfrm>
            <a:off x="822960" y="4297680"/>
            <a:ext cx="10515600" cy="1371600"/>
          </a:xfrm>
          <a:prstGeom prst="rect">
            <a:avLst/>
          </a:prstGeom>
          <a:noFill/>
          <a:ln/>
        </p:spPr>
        <p:txBody>
          <a:bodyPr wrap="square" rtlCol="0" anchor="ctr"/>
          <a:lstStyle/>
          <a:p>
            <a:pPr indent="0" marL="0">
              <a:buNone/>
            </a:pPr>
            <a:r>
              <a:rPr lang="en-US" sz="2000" b="1" dirty="0">
                <a:solidFill>
                  <a:srgbClr val="FFFFFF"/>
                </a:solidFill>
              </a:rPr>
              <a:t>Samuel Kaoma  ·  2022016530</a:t>
            </a:r>
            <a:endParaRPr lang="en-US" sz="2000" dirty="0"/>
          </a:p>
          <a:p>
            <a:pPr indent="0" marL="0">
              <a:buNone/>
            </a:pPr>
            <a:r>
              <a:rPr lang="en-US" sz="1600" dirty="0">
                <a:solidFill>
                  <a:srgbClr val="CADCFC"/>
                </a:solidFill>
              </a:rPr>
              <a:t>Supervisor: Mr. Mofya Phiri</a:t>
            </a:r>
            <a:endParaRPr lang="en-US" sz="2000" dirty="0"/>
          </a:p>
          <a:p>
            <a:pPr indent="0" marL="0">
              <a:buNone/>
            </a:pPr>
            <a:r>
              <a:rPr lang="en-US" sz="1400" dirty="0">
                <a:solidFill>
                  <a:srgbClr val="CADCFC"/>
                </a:solidFill>
              </a:rPr>
              <a:t>Department of Computing and Informatics, The University of Zambia</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The problem: rich timing data, unused</a:t>
            </a:r>
            <a:endParaRPr lang="en-US" sz="3000" dirty="0"/>
          </a:p>
        </p:txBody>
      </p:sp>
      <p:sp>
        <p:nvSpPr>
          <p:cNvPr id="3" name="Text 1"/>
          <p:cNvSpPr/>
          <p:nvPr/>
        </p:nvSpPr>
        <p:spPr>
          <a:xfrm>
            <a:off x="640080" y="1371600"/>
            <a:ext cx="6035040" cy="4023360"/>
          </a:xfrm>
          <a:prstGeom prst="rect">
            <a:avLst/>
          </a:prstGeom>
          <a:noFill/>
          <a:ln/>
        </p:spPr>
        <p:txBody>
          <a:bodyPr wrap="square" rtlCol="0" anchor="ctr"/>
          <a:lstStyle/>
          <a:p>
            <a:pPr marL="342900" indent="-342900">
              <a:lnSpc>
                <a:spcPct val="110000"/>
              </a:lnSpc>
              <a:spcAft>
                <a:spcPts val="1000"/>
              </a:spcAft>
              <a:buSzPct val="100000"/>
              <a:buChar char="•"/>
            </a:pPr>
            <a:r>
              <a:rPr lang="en-US" sz="1700" dirty="0">
                <a:solidFill>
                  <a:srgbClr val="1A1A2E"/>
                </a:solidFill>
              </a:rPr>
              <a:t>SurveyCTO and ODK log every question event with timestamps: paradata.</a:t>
            </a:r>
            <a:endParaRPr lang="en-US" sz="1700" dirty="0"/>
          </a:p>
          <a:p>
            <a:pPr marL="342900" indent="-342900">
              <a:lnSpc>
                <a:spcPct val="110000"/>
              </a:lnSpc>
              <a:spcAft>
                <a:spcPts val="1000"/>
              </a:spcAft>
              <a:buSzPct val="100000"/>
              <a:buChar char="•"/>
            </a:pPr>
            <a:r>
              <a:rPr lang="en-US" sz="1700" dirty="0">
                <a:solidFill>
                  <a:srgbClr val="1A1A2E"/>
                </a:solidFill>
              </a:rPr>
              <a:t>Research shows fabrication, speeding and disengagement leave clear timing signatures.</a:t>
            </a:r>
            <a:endParaRPr lang="en-US" sz="1700" dirty="0"/>
          </a:p>
          <a:p>
            <a:pPr marL="342900" indent="-342900">
              <a:lnSpc>
                <a:spcPct val="110000"/>
              </a:lnSpc>
              <a:spcAft>
                <a:spcPts val="1000"/>
              </a:spcAft>
              <a:buSzPct val="100000"/>
              <a:buChar char="•"/>
            </a:pPr>
            <a:r>
              <a:rPr lang="en-US" sz="1700" dirty="0">
                <a:solidFill>
                  <a:srgbClr val="1A1A2E"/>
                </a:solidFill>
              </a:rPr>
              <a:t>Yet practice still relies on one aggregate check: total interview duration.</a:t>
            </a:r>
            <a:endParaRPr lang="en-US" sz="1700" dirty="0"/>
          </a:p>
          <a:p>
            <a:pPr marL="342900" indent="-342900">
              <a:lnSpc>
                <a:spcPct val="110000"/>
              </a:lnSpc>
              <a:buSzPct val="100000"/>
              <a:buChar char="•"/>
            </a:pPr>
            <a:r>
              <a:rPr lang="en-US" sz="1700" dirty="0">
                <a:solidFill>
                  <a:srgbClr val="1A1A2E"/>
                </a:solidFill>
              </a:rPr>
              <a:t>The logs differ across platforms and no standard tooling turns them into features.</a:t>
            </a:r>
            <a:endParaRPr lang="en-US" sz="1700" dirty="0"/>
          </a:p>
        </p:txBody>
      </p:sp>
      <p:sp>
        <p:nvSpPr>
          <p:cNvPr id="4" name="Shape 2"/>
          <p:cNvSpPr/>
          <p:nvPr/>
        </p:nvSpPr>
        <p:spPr>
          <a:xfrm>
            <a:off x="7132320" y="1463040"/>
            <a:ext cx="4389120" cy="4023360"/>
          </a:xfrm>
          <a:prstGeom prst="roundRect">
            <a:avLst>
              <a:gd name="adj" fmla="val 2727"/>
            </a:avLst>
          </a:prstGeom>
          <a:solidFill>
            <a:srgbClr val="F2F5FB"/>
          </a:solidFill>
          <a:ln/>
        </p:spPr>
      </p:sp>
      <p:sp>
        <p:nvSpPr>
          <p:cNvPr id="5" name="Text 3"/>
          <p:cNvSpPr/>
          <p:nvPr/>
        </p:nvSpPr>
        <p:spPr>
          <a:xfrm>
            <a:off x="7132320" y="1828800"/>
            <a:ext cx="4389120" cy="1097280"/>
          </a:xfrm>
          <a:prstGeom prst="rect">
            <a:avLst/>
          </a:prstGeom>
          <a:noFill/>
          <a:ln/>
        </p:spPr>
        <p:txBody>
          <a:bodyPr wrap="square" rtlCol="0" anchor="ctr"/>
          <a:lstStyle/>
          <a:p>
            <a:pPr algn="ctr" indent="0" marL="0">
              <a:buNone/>
            </a:pPr>
            <a:r>
              <a:rPr lang="en-US" sz="6000" b="1" dirty="0">
                <a:solidFill>
                  <a:srgbClr val="B85042"/>
                </a:solidFill>
              </a:rPr>
              <a:t>66%</a:t>
            </a:r>
            <a:endParaRPr lang="en-US" sz="6000" dirty="0"/>
          </a:p>
        </p:txBody>
      </p:sp>
      <p:sp>
        <p:nvSpPr>
          <p:cNvPr id="6" name="Text 4"/>
          <p:cNvSpPr/>
          <p:nvPr/>
        </p:nvSpPr>
        <p:spPr>
          <a:xfrm>
            <a:off x="7498080" y="3017520"/>
            <a:ext cx="3657600" cy="2103120"/>
          </a:xfrm>
          <a:prstGeom prst="rect">
            <a:avLst/>
          </a:prstGeom>
          <a:noFill/>
          <a:ln/>
        </p:spPr>
        <p:txBody>
          <a:bodyPr wrap="square" rtlCol="0" anchor="ctr"/>
          <a:lstStyle/>
          <a:p>
            <a:pPr algn="ctr" indent="0" marL="0">
              <a:lnSpc>
                <a:spcPct val="115000"/>
              </a:lnSpc>
              <a:buNone/>
            </a:pPr>
            <a:r>
              <a:rPr lang="en-US" sz="1400" dirty="0">
                <a:solidFill>
                  <a:srgbClr val="5A6270"/>
                </a:solidFill>
              </a:rPr>
              <a:t>of injected anomalies is all a duration-only check recalls in my evaluation. A third of bad interviews sail through the standard practice.</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Aim and objectives</a:t>
            </a:r>
            <a:endParaRPr lang="en-US" sz="3000" dirty="0"/>
          </a:p>
        </p:txBody>
      </p:sp>
      <p:sp>
        <p:nvSpPr>
          <p:cNvPr id="3" name="Text 1"/>
          <p:cNvSpPr/>
          <p:nvPr/>
        </p:nvSpPr>
        <p:spPr>
          <a:xfrm>
            <a:off x="640080" y="1234440"/>
            <a:ext cx="10972800" cy="868680"/>
          </a:xfrm>
          <a:prstGeom prst="rect">
            <a:avLst/>
          </a:prstGeom>
          <a:noFill/>
          <a:ln/>
        </p:spPr>
        <p:txBody>
          <a:bodyPr wrap="square" rtlCol="0" anchor="ctr"/>
          <a:lstStyle/>
          <a:p>
            <a:pPr indent="0" marL="0">
              <a:lnSpc>
                <a:spcPct val="110000"/>
              </a:lnSpc>
              <a:buNone/>
            </a:pPr>
            <a:r>
              <a:rPr lang="en-US" sz="1600" i="1" dirty="0">
                <a:solidFill>
                  <a:srgbClr val="1E2761"/>
                </a:solidFill>
              </a:rPr>
              <a:t>Design and implement an automated pipeline that extracts, catalogues and analyses timing-based paradata features from SurveyCTO and ODK audit logs, to support scalable survey data quality assessment.</a:t>
            </a:r>
            <a:endParaRPr lang="en-US" sz="1600" dirty="0"/>
          </a:p>
        </p:txBody>
      </p:sp>
      <p:sp>
        <p:nvSpPr>
          <p:cNvPr id="4" name="Shape 2"/>
          <p:cNvSpPr/>
          <p:nvPr/>
        </p:nvSpPr>
        <p:spPr>
          <a:xfrm>
            <a:off x="640080" y="2450592"/>
            <a:ext cx="566928" cy="566928"/>
          </a:xfrm>
          <a:prstGeom prst="ellipse">
            <a:avLst/>
          </a:prstGeom>
          <a:solidFill>
            <a:srgbClr val="1E2761"/>
          </a:solidFill>
          <a:ln/>
        </p:spPr>
      </p:sp>
      <p:sp>
        <p:nvSpPr>
          <p:cNvPr id="5" name="Text 3"/>
          <p:cNvSpPr/>
          <p:nvPr/>
        </p:nvSpPr>
        <p:spPr>
          <a:xfrm>
            <a:off x="640080" y="245059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rPr>
              <a:t>1</a:t>
            </a:r>
            <a:endParaRPr lang="en-US" sz="2000" dirty="0"/>
          </a:p>
        </p:txBody>
      </p:sp>
      <p:sp>
        <p:nvSpPr>
          <p:cNvPr id="6" name="Text 4"/>
          <p:cNvSpPr/>
          <p:nvPr/>
        </p:nvSpPr>
        <p:spPr>
          <a:xfrm>
            <a:off x="1371600" y="2377440"/>
            <a:ext cx="4754880" cy="1188720"/>
          </a:xfrm>
          <a:prstGeom prst="rect">
            <a:avLst/>
          </a:prstGeom>
          <a:noFill/>
          <a:ln/>
        </p:spPr>
        <p:txBody>
          <a:bodyPr wrap="square" rtlCol="0" anchor="ctr"/>
          <a:lstStyle/>
          <a:p>
            <a:pPr indent="0" marL="0">
              <a:lnSpc>
                <a:spcPct val="105000"/>
              </a:lnSpc>
              <a:buNone/>
            </a:pPr>
            <a:r>
              <a:rPr lang="en-US" sz="1350" dirty="0">
                <a:solidFill>
                  <a:srgbClr val="1A1A2E"/>
                </a:solidFill>
              </a:rPr>
              <a:t>Catalogue timing-based quality indicators from the survey methodology literature</a:t>
            </a:r>
            <a:endParaRPr lang="en-US" sz="1350" dirty="0"/>
          </a:p>
        </p:txBody>
      </p:sp>
      <p:sp>
        <p:nvSpPr>
          <p:cNvPr id="7" name="Shape 5"/>
          <p:cNvSpPr/>
          <p:nvPr/>
        </p:nvSpPr>
        <p:spPr>
          <a:xfrm>
            <a:off x="6309360" y="2450592"/>
            <a:ext cx="566928" cy="566928"/>
          </a:xfrm>
          <a:prstGeom prst="ellipse">
            <a:avLst/>
          </a:prstGeom>
          <a:solidFill>
            <a:srgbClr val="1E2761"/>
          </a:solidFill>
          <a:ln/>
        </p:spPr>
      </p:sp>
      <p:sp>
        <p:nvSpPr>
          <p:cNvPr id="8" name="Text 6"/>
          <p:cNvSpPr/>
          <p:nvPr/>
        </p:nvSpPr>
        <p:spPr>
          <a:xfrm>
            <a:off x="6309360" y="245059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rPr>
              <a:t>2</a:t>
            </a:r>
            <a:endParaRPr lang="en-US" sz="2000" dirty="0"/>
          </a:p>
        </p:txBody>
      </p:sp>
      <p:sp>
        <p:nvSpPr>
          <p:cNvPr id="9" name="Text 7"/>
          <p:cNvSpPr/>
          <p:nvPr/>
        </p:nvSpPr>
        <p:spPr>
          <a:xfrm>
            <a:off x="7040880" y="2377440"/>
            <a:ext cx="4754880" cy="1188720"/>
          </a:xfrm>
          <a:prstGeom prst="rect">
            <a:avLst/>
          </a:prstGeom>
          <a:noFill/>
          <a:ln/>
        </p:spPr>
        <p:txBody>
          <a:bodyPr wrap="square" rtlCol="0" anchor="ctr"/>
          <a:lstStyle/>
          <a:p>
            <a:pPr indent="0" marL="0">
              <a:lnSpc>
                <a:spcPct val="105000"/>
              </a:lnSpc>
              <a:buNone/>
            </a:pPr>
            <a:r>
              <a:rPr lang="en-US" sz="1350" dirty="0">
                <a:solidFill>
                  <a:srgbClr val="1A1A2E"/>
                </a:solidFill>
              </a:rPr>
              <a:t>Build format-aware parsers producing a common intermediate representation</a:t>
            </a:r>
            <a:endParaRPr lang="en-US" sz="1350" dirty="0"/>
          </a:p>
        </p:txBody>
      </p:sp>
      <p:sp>
        <p:nvSpPr>
          <p:cNvPr id="10" name="Shape 8"/>
          <p:cNvSpPr/>
          <p:nvPr/>
        </p:nvSpPr>
        <p:spPr>
          <a:xfrm>
            <a:off x="640080" y="3776472"/>
            <a:ext cx="566928" cy="566928"/>
          </a:xfrm>
          <a:prstGeom prst="ellipse">
            <a:avLst/>
          </a:prstGeom>
          <a:solidFill>
            <a:srgbClr val="1E2761"/>
          </a:solidFill>
          <a:ln/>
        </p:spPr>
      </p:sp>
      <p:sp>
        <p:nvSpPr>
          <p:cNvPr id="11" name="Text 9"/>
          <p:cNvSpPr/>
          <p:nvPr/>
        </p:nvSpPr>
        <p:spPr>
          <a:xfrm>
            <a:off x="640080" y="377647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rPr>
              <a:t>3</a:t>
            </a:r>
            <a:endParaRPr lang="en-US" sz="2000" dirty="0"/>
          </a:p>
        </p:txBody>
      </p:sp>
      <p:sp>
        <p:nvSpPr>
          <p:cNvPr id="12" name="Text 10"/>
          <p:cNvSpPr/>
          <p:nvPr/>
        </p:nvSpPr>
        <p:spPr>
          <a:xfrm>
            <a:off x="1371600" y="3703320"/>
            <a:ext cx="4754880" cy="1188720"/>
          </a:xfrm>
          <a:prstGeom prst="rect">
            <a:avLst/>
          </a:prstGeom>
          <a:noFill/>
          <a:ln/>
        </p:spPr>
        <p:txBody>
          <a:bodyPr wrap="square" rtlCol="0" anchor="ctr"/>
          <a:lstStyle/>
          <a:p>
            <a:pPr indent="0" marL="0">
              <a:lnSpc>
                <a:spcPct val="105000"/>
              </a:lnSpc>
              <a:buNone/>
            </a:pPr>
            <a:r>
              <a:rPr lang="en-US" sz="1350" dirty="0">
                <a:solidFill>
                  <a:srgbClr val="1A1A2E"/>
                </a:solidFill>
              </a:rPr>
              <a:t>Implement 30 to 50 timing features across question, section and survey levels</a:t>
            </a:r>
            <a:endParaRPr lang="en-US" sz="1350" dirty="0"/>
          </a:p>
        </p:txBody>
      </p:sp>
      <p:sp>
        <p:nvSpPr>
          <p:cNvPr id="13" name="Shape 11"/>
          <p:cNvSpPr/>
          <p:nvPr/>
        </p:nvSpPr>
        <p:spPr>
          <a:xfrm>
            <a:off x="6309360" y="3776472"/>
            <a:ext cx="566928" cy="566928"/>
          </a:xfrm>
          <a:prstGeom prst="ellipse">
            <a:avLst/>
          </a:prstGeom>
          <a:solidFill>
            <a:srgbClr val="1E2761"/>
          </a:solidFill>
          <a:ln/>
        </p:spPr>
      </p:sp>
      <p:sp>
        <p:nvSpPr>
          <p:cNvPr id="14" name="Text 12"/>
          <p:cNvSpPr/>
          <p:nvPr/>
        </p:nvSpPr>
        <p:spPr>
          <a:xfrm>
            <a:off x="6309360" y="377647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rPr>
              <a:t>4</a:t>
            </a:r>
            <a:endParaRPr lang="en-US" sz="2000" dirty="0"/>
          </a:p>
        </p:txBody>
      </p:sp>
      <p:sp>
        <p:nvSpPr>
          <p:cNvPr id="15" name="Text 13"/>
          <p:cNvSpPr/>
          <p:nvPr/>
        </p:nvSpPr>
        <p:spPr>
          <a:xfrm>
            <a:off x="7040880" y="3703320"/>
            <a:ext cx="4754880" cy="1188720"/>
          </a:xfrm>
          <a:prstGeom prst="rect">
            <a:avLst/>
          </a:prstGeom>
          <a:noFill/>
          <a:ln/>
        </p:spPr>
        <p:txBody>
          <a:bodyPr wrap="square" rtlCol="0" anchor="ctr"/>
          <a:lstStyle/>
          <a:p>
            <a:pPr indent="0" marL="0">
              <a:lnSpc>
                <a:spcPct val="105000"/>
              </a:lnSpc>
              <a:buNone/>
            </a:pPr>
            <a:r>
              <a:rPr lang="en-US" sz="1350" dirty="0">
                <a:solidFill>
                  <a:srgbClr val="1A1A2E"/>
                </a:solidFill>
              </a:rPr>
              <a:t>Compute statistical measures: variance, entropy, skewness, kurtosis</a:t>
            </a:r>
            <a:endParaRPr lang="en-US" sz="1350" dirty="0"/>
          </a:p>
        </p:txBody>
      </p:sp>
      <p:sp>
        <p:nvSpPr>
          <p:cNvPr id="16" name="Shape 14"/>
          <p:cNvSpPr/>
          <p:nvPr/>
        </p:nvSpPr>
        <p:spPr>
          <a:xfrm>
            <a:off x="640080" y="5102352"/>
            <a:ext cx="566928" cy="566928"/>
          </a:xfrm>
          <a:prstGeom prst="ellipse">
            <a:avLst/>
          </a:prstGeom>
          <a:solidFill>
            <a:srgbClr val="1E2761"/>
          </a:solidFill>
          <a:ln/>
        </p:spPr>
      </p:sp>
      <p:sp>
        <p:nvSpPr>
          <p:cNvPr id="17" name="Text 15"/>
          <p:cNvSpPr/>
          <p:nvPr/>
        </p:nvSpPr>
        <p:spPr>
          <a:xfrm>
            <a:off x="640080" y="51023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rPr>
              <a:t>5</a:t>
            </a:r>
            <a:endParaRPr lang="en-US" sz="2000" dirty="0"/>
          </a:p>
        </p:txBody>
      </p:sp>
      <p:sp>
        <p:nvSpPr>
          <p:cNvPr id="18" name="Text 16"/>
          <p:cNvSpPr/>
          <p:nvPr/>
        </p:nvSpPr>
        <p:spPr>
          <a:xfrm>
            <a:off x="1371600" y="5029200"/>
            <a:ext cx="4754880" cy="1188720"/>
          </a:xfrm>
          <a:prstGeom prst="rect">
            <a:avLst/>
          </a:prstGeom>
          <a:noFill/>
          <a:ln/>
        </p:spPr>
        <p:txBody>
          <a:bodyPr wrap="square" rtlCol="0" anchor="ctr"/>
          <a:lstStyle/>
          <a:p>
            <a:pPr indent="0" marL="0">
              <a:lnSpc>
                <a:spcPct val="105000"/>
              </a:lnSpc>
              <a:buNone/>
            </a:pPr>
            <a:r>
              <a:rPr lang="en-US" sz="1350" dirty="0">
                <a:solidFill>
                  <a:srgbClr val="1A1A2E"/>
                </a:solidFill>
              </a:rPr>
              <a:t>Detect anomalies with IQR thresholds plus rules, validated on precision and recall</a:t>
            </a:r>
            <a:endParaRPr lang="en-US" sz="1350" dirty="0"/>
          </a:p>
        </p:txBody>
      </p:sp>
      <p:sp>
        <p:nvSpPr>
          <p:cNvPr id="19" name="Shape 17"/>
          <p:cNvSpPr/>
          <p:nvPr/>
        </p:nvSpPr>
        <p:spPr>
          <a:xfrm>
            <a:off x="6309360" y="5102352"/>
            <a:ext cx="566928" cy="566928"/>
          </a:xfrm>
          <a:prstGeom prst="ellipse">
            <a:avLst/>
          </a:prstGeom>
          <a:solidFill>
            <a:srgbClr val="1E2761"/>
          </a:solidFill>
          <a:ln/>
        </p:spPr>
      </p:sp>
      <p:sp>
        <p:nvSpPr>
          <p:cNvPr id="20" name="Text 18"/>
          <p:cNvSpPr/>
          <p:nvPr/>
        </p:nvSpPr>
        <p:spPr>
          <a:xfrm>
            <a:off x="6309360" y="51023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rPr>
              <a:t>6</a:t>
            </a:r>
            <a:endParaRPr lang="en-US" sz="2000" dirty="0"/>
          </a:p>
        </p:txBody>
      </p:sp>
      <p:sp>
        <p:nvSpPr>
          <p:cNvPr id="21" name="Text 19"/>
          <p:cNvSpPr/>
          <p:nvPr/>
        </p:nvSpPr>
        <p:spPr>
          <a:xfrm>
            <a:off x="7040880" y="5029200"/>
            <a:ext cx="4754880" cy="1188720"/>
          </a:xfrm>
          <a:prstGeom prst="rect">
            <a:avLst/>
          </a:prstGeom>
          <a:noFill/>
          <a:ln/>
        </p:spPr>
        <p:txBody>
          <a:bodyPr wrap="square" rtlCol="0" anchor="ctr"/>
          <a:lstStyle/>
          <a:p>
            <a:pPr indent="0" marL="0">
              <a:lnSpc>
                <a:spcPct val="105000"/>
              </a:lnSpc>
              <a:buNone/>
            </a:pPr>
            <a:r>
              <a:rPr lang="en-US" sz="1350" dirty="0">
                <a:solidFill>
                  <a:srgbClr val="1A1A2E"/>
                </a:solidFill>
              </a:rPr>
              <a:t>Deliver structured outputs, feature documentation and a paradata format guide</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System architecture</a:t>
            </a:r>
            <a:endParaRPr lang="en-US" sz="3000" dirty="0"/>
          </a:p>
        </p:txBody>
      </p:sp>
      <p:sp>
        <p:nvSpPr>
          <p:cNvPr id="3" name="Shape 1"/>
          <p:cNvSpPr/>
          <p:nvPr/>
        </p:nvSpPr>
        <p:spPr>
          <a:xfrm>
            <a:off x="594360" y="2011680"/>
            <a:ext cx="2084832" cy="2651760"/>
          </a:xfrm>
          <a:prstGeom prst="roundRect">
            <a:avLst>
              <a:gd name="adj" fmla="val 4386"/>
            </a:avLst>
          </a:prstGeom>
          <a:solidFill>
            <a:srgbClr val="F2F5FB"/>
          </a:solidFill>
          <a:ln/>
        </p:spPr>
      </p:sp>
      <p:sp>
        <p:nvSpPr>
          <p:cNvPr id="4" name="Text 2"/>
          <p:cNvSpPr/>
          <p:nvPr/>
        </p:nvSpPr>
        <p:spPr>
          <a:xfrm>
            <a:off x="594360" y="2148840"/>
            <a:ext cx="2084832" cy="868680"/>
          </a:xfrm>
          <a:prstGeom prst="rect">
            <a:avLst/>
          </a:prstGeom>
          <a:noFill/>
          <a:ln/>
        </p:spPr>
        <p:txBody>
          <a:bodyPr wrap="square" rtlCol="0" anchor="ctr"/>
          <a:lstStyle/>
          <a:p>
            <a:pPr algn="ctr" indent="0" marL="0">
              <a:buNone/>
            </a:pPr>
            <a:r>
              <a:rPr lang="en-US" sz="1400" b="1" dirty="0">
                <a:solidFill>
                  <a:srgbClr val="1E2761"/>
                </a:solidFill>
              </a:rPr>
              <a:t>Raw audit logs</a:t>
            </a:r>
            <a:endParaRPr lang="en-US" sz="1400" dirty="0"/>
          </a:p>
        </p:txBody>
      </p:sp>
      <p:sp>
        <p:nvSpPr>
          <p:cNvPr id="5" name="Text 3"/>
          <p:cNvSpPr/>
          <p:nvPr/>
        </p:nvSpPr>
        <p:spPr>
          <a:xfrm>
            <a:off x="667512" y="3063240"/>
            <a:ext cx="1938528" cy="1463040"/>
          </a:xfrm>
          <a:prstGeom prst="rect">
            <a:avLst/>
          </a:prstGeom>
          <a:noFill/>
          <a:ln/>
        </p:spPr>
        <p:txBody>
          <a:bodyPr wrap="square" rtlCol="0" anchor="ctr"/>
          <a:lstStyle/>
          <a:p>
            <a:pPr algn="ctr" indent="0" marL="0">
              <a:lnSpc>
                <a:spcPct val="115000"/>
              </a:lnSpc>
              <a:buNone/>
            </a:pPr>
            <a:r>
              <a:rPr lang="en-US" sz="1050" dirty="0">
                <a:solidFill>
                  <a:srgbClr val="5A6270"/>
                </a:solidFill>
              </a:rPr>
              <a:t>SurveyCTO CSV (epoch ms)</a:t>
            </a:r>
            <a:endParaRPr lang="en-US" sz="1050" dirty="0"/>
          </a:p>
          <a:p>
            <a:pPr algn="ctr" indent="0" marL="0">
              <a:lnSpc>
                <a:spcPct val="115000"/>
              </a:lnSpc>
              <a:buNone/>
            </a:pPr>
            <a:r>
              <a:rPr lang="en-US" sz="1050" dirty="0">
                <a:solidFill>
                  <a:srgbClr val="5A6270"/>
                </a:solidFill>
              </a:rPr>
              <a:t>ODK CSV (ISO 8601)</a:t>
            </a:r>
            <a:endParaRPr lang="en-US" sz="1050" dirty="0"/>
          </a:p>
          <a:p>
            <a:pPr algn="ctr" indent="0" marL="0">
              <a:lnSpc>
                <a:spcPct val="115000"/>
              </a:lnSpc>
              <a:buNone/>
            </a:pPr>
            <a:r>
              <a:rPr lang="en-US" sz="1050" dirty="0">
                <a:solidFill>
                  <a:srgbClr val="5A6270"/>
                </a:solidFill>
              </a:rPr>
              <a:t>hybrid merged files</a:t>
            </a:r>
            <a:endParaRPr lang="en-US" sz="1050" dirty="0"/>
          </a:p>
        </p:txBody>
      </p:sp>
      <p:sp>
        <p:nvSpPr>
          <p:cNvPr id="6" name="Text 4"/>
          <p:cNvSpPr/>
          <p:nvPr/>
        </p:nvSpPr>
        <p:spPr>
          <a:xfrm>
            <a:off x="2624328" y="3063240"/>
            <a:ext cx="329184" cy="548640"/>
          </a:xfrm>
          <a:prstGeom prst="rect">
            <a:avLst/>
          </a:prstGeom>
          <a:noFill/>
          <a:ln/>
        </p:spPr>
        <p:txBody>
          <a:bodyPr wrap="square" lIns="0" tIns="0" rIns="0" bIns="0" rtlCol="0" anchor="ctr"/>
          <a:lstStyle/>
          <a:p>
            <a:pPr algn="ctr" indent="0" marL="0">
              <a:buNone/>
            </a:pPr>
            <a:r>
              <a:rPr lang="en-US" sz="2200" b="1" dirty="0">
                <a:solidFill>
                  <a:srgbClr val="B85042"/>
                </a:solidFill>
              </a:rPr>
              <a:t>→</a:t>
            </a:r>
            <a:endParaRPr lang="en-US" sz="2200" dirty="0"/>
          </a:p>
        </p:txBody>
      </p:sp>
      <p:sp>
        <p:nvSpPr>
          <p:cNvPr id="7" name="Shape 5"/>
          <p:cNvSpPr/>
          <p:nvPr/>
        </p:nvSpPr>
        <p:spPr>
          <a:xfrm>
            <a:off x="2880360" y="2011680"/>
            <a:ext cx="2084832" cy="2651760"/>
          </a:xfrm>
          <a:prstGeom prst="roundRect">
            <a:avLst>
              <a:gd name="adj" fmla="val 4386"/>
            </a:avLst>
          </a:prstGeom>
          <a:solidFill>
            <a:srgbClr val="F2F5FB"/>
          </a:solidFill>
          <a:ln/>
        </p:spPr>
      </p:sp>
      <p:sp>
        <p:nvSpPr>
          <p:cNvPr id="8" name="Text 6"/>
          <p:cNvSpPr/>
          <p:nvPr/>
        </p:nvSpPr>
        <p:spPr>
          <a:xfrm>
            <a:off x="2880360" y="2148840"/>
            <a:ext cx="2084832" cy="868680"/>
          </a:xfrm>
          <a:prstGeom prst="rect">
            <a:avLst/>
          </a:prstGeom>
          <a:noFill/>
          <a:ln/>
        </p:spPr>
        <p:txBody>
          <a:bodyPr wrap="square" rtlCol="0" anchor="ctr"/>
          <a:lstStyle/>
          <a:p>
            <a:pPr algn="ctr" indent="0" marL="0">
              <a:buNone/>
            </a:pPr>
            <a:r>
              <a:rPr lang="en-US" sz="1400" b="1" dirty="0">
                <a:solidFill>
                  <a:srgbClr val="1E2761"/>
                </a:solidFill>
              </a:rPr>
              <a:t>Parsers</a:t>
            </a:r>
            <a:endParaRPr lang="en-US" sz="1400" dirty="0"/>
          </a:p>
        </p:txBody>
      </p:sp>
      <p:sp>
        <p:nvSpPr>
          <p:cNvPr id="9" name="Text 7"/>
          <p:cNvSpPr/>
          <p:nvPr/>
        </p:nvSpPr>
        <p:spPr>
          <a:xfrm>
            <a:off x="2953512" y="3063240"/>
            <a:ext cx="1938528" cy="1463040"/>
          </a:xfrm>
          <a:prstGeom prst="rect">
            <a:avLst/>
          </a:prstGeom>
          <a:noFill/>
          <a:ln/>
        </p:spPr>
        <p:txBody>
          <a:bodyPr wrap="square" rtlCol="0" anchor="ctr"/>
          <a:lstStyle/>
          <a:p>
            <a:pPr algn="ctr" indent="0" marL="0">
              <a:lnSpc>
                <a:spcPct val="115000"/>
              </a:lnSpc>
              <a:buNone/>
            </a:pPr>
            <a:r>
              <a:rPr lang="en-US" sz="1050" dirty="0">
                <a:solidFill>
                  <a:srgbClr val="5A6270"/>
                </a:solidFill>
              </a:rPr>
              <a:t>auto-detection</a:t>
            </a:r>
            <a:endParaRPr lang="en-US" sz="1050" dirty="0"/>
          </a:p>
          <a:p>
            <a:pPr algn="ctr" indent="0" marL="0">
              <a:lnSpc>
                <a:spcPct val="115000"/>
              </a:lnSpc>
              <a:buNone/>
            </a:pPr>
            <a:r>
              <a:rPr lang="en-US" sz="1050" dirty="0">
                <a:solidFill>
                  <a:srgbClr val="5A6270"/>
                </a:solidFill>
              </a:rPr>
              <a:t>SurveyCTOParser</a:t>
            </a:r>
            <a:endParaRPr lang="en-US" sz="1050" dirty="0"/>
          </a:p>
          <a:p>
            <a:pPr algn="ctr" indent="0" marL="0">
              <a:lnSpc>
                <a:spcPct val="115000"/>
              </a:lnSpc>
              <a:buNone/>
            </a:pPr>
            <a:r>
              <a:rPr lang="en-US" sz="1050" dirty="0">
                <a:solidFill>
                  <a:srgbClr val="5A6270"/>
                </a:solidFill>
              </a:rPr>
              <a:t>ODKParser</a:t>
            </a:r>
            <a:endParaRPr lang="en-US" sz="1050" dirty="0"/>
          </a:p>
        </p:txBody>
      </p:sp>
      <p:sp>
        <p:nvSpPr>
          <p:cNvPr id="10" name="Text 8"/>
          <p:cNvSpPr/>
          <p:nvPr/>
        </p:nvSpPr>
        <p:spPr>
          <a:xfrm>
            <a:off x="4910328" y="3063240"/>
            <a:ext cx="329184" cy="548640"/>
          </a:xfrm>
          <a:prstGeom prst="rect">
            <a:avLst/>
          </a:prstGeom>
          <a:noFill/>
          <a:ln/>
        </p:spPr>
        <p:txBody>
          <a:bodyPr wrap="square" lIns="0" tIns="0" rIns="0" bIns="0" rtlCol="0" anchor="ctr"/>
          <a:lstStyle/>
          <a:p>
            <a:pPr algn="ctr" indent="0" marL="0">
              <a:buNone/>
            </a:pPr>
            <a:r>
              <a:rPr lang="en-US" sz="2200" b="1" dirty="0">
                <a:solidFill>
                  <a:srgbClr val="B85042"/>
                </a:solidFill>
              </a:rPr>
              <a:t>→</a:t>
            </a:r>
            <a:endParaRPr lang="en-US" sz="2200" dirty="0"/>
          </a:p>
        </p:txBody>
      </p:sp>
      <p:sp>
        <p:nvSpPr>
          <p:cNvPr id="11" name="Shape 9"/>
          <p:cNvSpPr/>
          <p:nvPr/>
        </p:nvSpPr>
        <p:spPr>
          <a:xfrm>
            <a:off x="5166360" y="2011680"/>
            <a:ext cx="2084832" cy="2651760"/>
          </a:xfrm>
          <a:prstGeom prst="roundRect">
            <a:avLst>
              <a:gd name="adj" fmla="val 4386"/>
            </a:avLst>
          </a:prstGeom>
          <a:solidFill>
            <a:srgbClr val="1E2761"/>
          </a:solidFill>
          <a:ln/>
        </p:spPr>
      </p:sp>
      <p:sp>
        <p:nvSpPr>
          <p:cNvPr id="12" name="Text 10"/>
          <p:cNvSpPr/>
          <p:nvPr/>
        </p:nvSpPr>
        <p:spPr>
          <a:xfrm>
            <a:off x="5166360" y="2148840"/>
            <a:ext cx="2084832" cy="868680"/>
          </a:xfrm>
          <a:prstGeom prst="rect">
            <a:avLst/>
          </a:prstGeom>
          <a:noFill/>
          <a:ln/>
        </p:spPr>
        <p:txBody>
          <a:bodyPr wrap="square" rtlCol="0" anchor="ctr"/>
          <a:lstStyle/>
          <a:p>
            <a:pPr algn="ctr" indent="0" marL="0">
              <a:buNone/>
            </a:pPr>
            <a:r>
              <a:rPr lang="en-US" sz="1400" b="1" dirty="0">
                <a:solidFill>
                  <a:srgbClr val="FFFFFF"/>
                </a:solidFill>
              </a:rPr>
              <a:t>Common intermediate</a:t>
            </a:r>
            <a:endParaRPr lang="en-US" sz="1400" dirty="0"/>
          </a:p>
          <a:p>
            <a:pPr algn="ctr" indent="0" marL="0">
              <a:buNone/>
            </a:pPr>
            <a:r>
              <a:rPr lang="en-US" sz="1400" b="1" dirty="0">
                <a:solidFill>
                  <a:srgbClr val="FFFFFF"/>
                </a:solidFill>
              </a:rPr>
              <a:t>representation</a:t>
            </a:r>
            <a:endParaRPr lang="en-US" sz="1400" dirty="0"/>
          </a:p>
        </p:txBody>
      </p:sp>
      <p:sp>
        <p:nvSpPr>
          <p:cNvPr id="13" name="Text 11"/>
          <p:cNvSpPr/>
          <p:nvPr/>
        </p:nvSpPr>
        <p:spPr>
          <a:xfrm>
            <a:off x="5239512" y="3063240"/>
            <a:ext cx="1938528" cy="1463040"/>
          </a:xfrm>
          <a:prstGeom prst="rect">
            <a:avLst/>
          </a:prstGeom>
          <a:noFill/>
          <a:ln/>
        </p:spPr>
        <p:txBody>
          <a:bodyPr wrap="square" rtlCol="0" anchor="ctr"/>
          <a:lstStyle/>
          <a:p>
            <a:pPr algn="ctr" indent="0" marL="0">
              <a:lnSpc>
                <a:spcPct val="115000"/>
              </a:lnSpc>
              <a:buNone/>
            </a:pPr>
            <a:r>
              <a:rPr lang="en-US" sz="1050" dirty="0">
                <a:solidFill>
                  <a:srgbClr val="CADCFC"/>
                </a:solidFill>
              </a:rPr>
              <a:t>interview_id, field_name,</a:t>
            </a:r>
            <a:endParaRPr lang="en-US" sz="1050" dirty="0"/>
          </a:p>
          <a:p>
            <a:pPr algn="ctr" indent="0" marL="0">
              <a:lnSpc>
                <a:spcPct val="115000"/>
              </a:lnSpc>
              <a:buNone/>
            </a:pPr>
            <a:r>
              <a:rPr lang="en-US" sz="1050" dirty="0">
                <a:solidFill>
                  <a:srgbClr val="CADCFC"/>
                </a:solidFill>
              </a:rPr>
              <a:t>event_type, start_ms,</a:t>
            </a:r>
            <a:endParaRPr lang="en-US" sz="1050" dirty="0"/>
          </a:p>
          <a:p>
            <a:pPr algn="ctr" indent="0" marL="0">
              <a:lnSpc>
                <a:spcPct val="115000"/>
              </a:lnSpc>
              <a:buNone/>
            </a:pPr>
            <a:r>
              <a:rPr lang="en-US" sz="1050" dirty="0">
                <a:solidFill>
                  <a:srgbClr val="CADCFC"/>
                </a:solidFill>
              </a:rPr>
              <a:t>end_ms, duration_ms</a:t>
            </a:r>
            <a:endParaRPr lang="en-US" sz="1050" dirty="0"/>
          </a:p>
        </p:txBody>
      </p:sp>
      <p:sp>
        <p:nvSpPr>
          <p:cNvPr id="14" name="Text 12"/>
          <p:cNvSpPr/>
          <p:nvPr/>
        </p:nvSpPr>
        <p:spPr>
          <a:xfrm>
            <a:off x="7196328" y="3063240"/>
            <a:ext cx="329184" cy="548640"/>
          </a:xfrm>
          <a:prstGeom prst="rect">
            <a:avLst/>
          </a:prstGeom>
          <a:noFill/>
          <a:ln/>
        </p:spPr>
        <p:txBody>
          <a:bodyPr wrap="square" lIns="0" tIns="0" rIns="0" bIns="0" rtlCol="0" anchor="ctr"/>
          <a:lstStyle/>
          <a:p>
            <a:pPr algn="ctr" indent="0" marL="0">
              <a:buNone/>
            </a:pPr>
            <a:r>
              <a:rPr lang="en-US" sz="2200" b="1" dirty="0">
                <a:solidFill>
                  <a:srgbClr val="B85042"/>
                </a:solidFill>
              </a:rPr>
              <a:t>→</a:t>
            </a:r>
            <a:endParaRPr lang="en-US" sz="2200" dirty="0"/>
          </a:p>
        </p:txBody>
      </p:sp>
      <p:sp>
        <p:nvSpPr>
          <p:cNvPr id="15" name="Shape 13"/>
          <p:cNvSpPr/>
          <p:nvPr/>
        </p:nvSpPr>
        <p:spPr>
          <a:xfrm>
            <a:off x="7452360" y="2011680"/>
            <a:ext cx="2084832" cy="2651760"/>
          </a:xfrm>
          <a:prstGeom prst="roundRect">
            <a:avLst>
              <a:gd name="adj" fmla="val 4386"/>
            </a:avLst>
          </a:prstGeom>
          <a:solidFill>
            <a:srgbClr val="F2F5FB"/>
          </a:solidFill>
          <a:ln/>
        </p:spPr>
      </p:sp>
      <p:sp>
        <p:nvSpPr>
          <p:cNvPr id="16" name="Text 14"/>
          <p:cNvSpPr/>
          <p:nvPr/>
        </p:nvSpPr>
        <p:spPr>
          <a:xfrm>
            <a:off x="7452360" y="2148840"/>
            <a:ext cx="2084832" cy="868680"/>
          </a:xfrm>
          <a:prstGeom prst="rect">
            <a:avLst/>
          </a:prstGeom>
          <a:noFill/>
          <a:ln/>
        </p:spPr>
        <p:txBody>
          <a:bodyPr wrap="square" rtlCol="0" anchor="ctr"/>
          <a:lstStyle/>
          <a:p>
            <a:pPr algn="ctr" indent="0" marL="0">
              <a:buNone/>
            </a:pPr>
            <a:r>
              <a:rPr lang="en-US" sz="1400" b="1" dirty="0">
                <a:solidFill>
                  <a:srgbClr val="1E2761"/>
                </a:solidFill>
              </a:rPr>
              <a:t>Feature extraction</a:t>
            </a:r>
            <a:endParaRPr lang="en-US" sz="1400" dirty="0"/>
          </a:p>
        </p:txBody>
      </p:sp>
      <p:sp>
        <p:nvSpPr>
          <p:cNvPr id="17" name="Text 15"/>
          <p:cNvSpPr/>
          <p:nvPr/>
        </p:nvSpPr>
        <p:spPr>
          <a:xfrm>
            <a:off x="7525512" y="3063240"/>
            <a:ext cx="1938528" cy="1463040"/>
          </a:xfrm>
          <a:prstGeom prst="rect">
            <a:avLst/>
          </a:prstGeom>
          <a:noFill/>
          <a:ln/>
        </p:spPr>
        <p:txBody>
          <a:bodyPr wrap="square" rtlCol="0" anchor="ctr"/>
          <a:lstStyle/>
          <a:p>
            <a:pPr algn="ctr" indent="0" marL="0">
              <a:lnSpc>
                <a:spcPct val="115000"/>
              </a:lnSpc>
              <a:buNone/>
            </a:pPr>
            <a:r>
              <a:rPr lang="en-US" sz="1050" dirty="0">
                <a:solidFill>
                  <a:srgbClr val="5A6270"/>
                </a:solidFill>
              </a:rPr>
              <a:t>40 features</a:t>
            </a:r>
            <a:endParaRPr lang="en-US" sz="1050" dirty="0"/>
          </a:p>
          <a:p>
            <a:pPr algn="ctr" indent="0" marL="0">
              <a:lnSpc>
                <a:spcPct val="115000"/>
              </a:lnSpc>
              <a:buNone/>
            </a:pPr>
            <a:r>
              <a:rPr lang="en-US" sz="1050" dirty="0">
                <a:solidFill>
                  <a:srgbClr val="5A6270"/>
                </a:solidFill>
              </a:rPr>
              <a:t>Q / S / V / T groups</a:t>
            </a:r>
            <a:endParaRPr lang="en-US" sz="1050" dirty="0"/>
          </a:p>
        </p:txBody>
      </p:sp>
      <p:sp>
        <p:nvSpPr>
          <p:cNvPr id="18" name="Text 16"/>
          <p:cNvSpPr/>
          <p:nvPr/>
        </p:nvSpPr>
        <p:spPr>
          <a:xfrm>
            <a:off x="9482328" y="3063240"/>
            <a:ext cx="329184" cy="548640"/>
          </a:xfrm>
          <a:prstGeom prst="rect">
            <a:avLst/>
          </a:prstGeom>
          <a:noFill/>
          <a:ln/>
        </p:spPr>
        <p:txBody>
          <a:bodyPr wrap="square" lIns="0" tIns="0" rIns="0" bIns="0" rtlCol="0" anchor="ctr"/>
          <a:lstStyle/>
          <a:p>
            <a:pPr algn="ctr" indent="0" marL="0">
              <a:buNone/>
            </a:pPr>
            <a:r>
              <a:rPr lang="en-US" sz="2200" b="1" dirty="0">
                <a:solidFill>
                  <a:srgbClr val="B85042"/>
                </a:solidFill>
              </a:rPr>
              <a:t>→</a:t>
            </a:r>
            <a:endParaRPr lang="en-US" sz="2200" dirty="0"/>
          </a:p>
        </p:txBody>
      </p:sp>
      <p:sp>
        <p:nvSpPr>
          <p:cNvPr id="19" name="Shape 17"/>
          <p:cNvSpPr/>
          <p:nvPr/>
        </p:nvSpPr>
        <p:spPr>
          <a:xfrm>
            <a:off x="9738360" y="2011680"/>
            <a:ext cx="2084832" cy="2651760"/>
          </a:xfrm>
          <a:prstGeom prst="roundRect">
            <a:avLst>
              <a:gd name="adj" fmla="val 4386"/>
            </a:avLst>
          </a:prstGeom>
          <a:solidFill>
            <a:srgbClr val="F2F5FB"/>
          </a:solidFill>
          <a:ln/>
        </p:spPr>
      </p:sp>
      <p:sp>
        <p:nvSpPr>
          <p:cNvPr id="20" name="Text 18"/>
          <p:cNvSpPr/>
          <p:nvPr/>
        </p:nvSpPr>
        <p:spPr>
          <a:xfrm>
            <a:off x="9738360" y="2148840"/>
            <a:ext cx="2084832" cy="868680"/>
          </a:xfrm>
          <a:prstGeom prst="rect">
            <a:avLst/>
          </a:prstGeom>
          <a:noFill/>
          <a:ln/>
        </p:spPr>
        <p:txBody>
          <a:bodyPr wrap="square" rtlCol="0" anchor="ctr"/>
          <a:lstStyle/>
          <a:p>
            <a:pPr algn="ctr" indent="0" marL="0">
              <a:buNone/>
            </a:pPr>
            <a:r>
              <a:rPr lang="en-US" sz="1400" b="1" dirty="0">
                <a:solidFill>
                  <a:srgbClr val="1E2761"/>
                </a:solidFill>
              </a:rPr>
              <a:t>Detection + reporting</a:t>
            </a:r>
            <a:endParaRPr lang="en-US" sz="1400" dirty="0"/>
          </a:p>
        </p:txBody>
      </p:sp>
      <p:sp>
        <p:nvSpPr>
          <p:cNvPr id="21" name="Text 19"/>
          <p:cNvSpPr/>
          <p:nvPr/>
        </p:nvSpPr>
        <p:spPr>
          <a:xfrm>
            <a:off x="9811512" y="3063240"/>
            <a:ext cx="1938528" cy="1463040"/>
          </a:xfrm>
          <a:prstGeom prst="rect">
            <a:avLst/>
          </a:prstGeom>
          <a:noFill/>
          <a:ln/>
        </p:spPr>
        <p:txBody>
          <a:bodyPr wrap="square" rtlCol="0" anchor="ctr"/>
          <a:lstStyle/>
          <a:p>
            <a:pPr algn="ctr" indent="0" marL="0">
              <a:lnSpc>
                <a:spcPct val="115000"/>
              </a:lnSpc>
              <a:buNone/>
            </a:pPr>
            <a:r>
              <a:rPr lang="en-US" sz="1050" dirty="0">
                <a:solidFill>
                  <a:srgbClr val="5A6270"/>
                </a:solidFill>
              </a:rPr>
              <a:t>IQR fences + rules</a:t>
            </a:r>
            <a:endParaRPr lang="en-US" sz="1050" dirty="0"/>
          </a:p>
          <a:p>
            <a:pPr algn="ctr" indent="0" marL="0">
              <a:lnSpc>
                <a:spcPct val="115000"/>
              </a:lnSpc>
              <a:buNone/>
            </a:pPr>
            <a:r>
              <a:rPr lang="en-US" sz="1050" dirty="0">
                <a:solidFill>
                  <a:srgbClr val="5A6270"/>
                </a:solidFill>
              </a:rPr>
              <a:t>score, category, flags</a:t>
            </a:r>
            <a:endParaRPr lang="en-US" sz="1050" dirty="0"/>
          </a:p>
          <a:p>
            <a:pPr algn="ctr" indent="0" marL="0">
              <a:lnSpc>
                <a:spcPct val="115000"/>
              </a:lnSpc>
              <a:buNone/>
            </a:pPr>
            <a:r>
              <a:rPr lang="en-US" sz="1050" dirty="0">
                <a:solidFill>
                  <a:srgbClr val="5A6270"/>
                </a:solidFill>
              </a:rPr>
              <a:t>CSV reports + metrics</a:t>
            </a:r>
            <a:endParaRPr lang="en-US" sz="1050" dirty="0"/>
          </a:p>
        </p:txBody>
      </p:sp>
      <p:sp>
        <p:nvSpPr>
          <p:cNvPr id="22" name="Text 20"/>
          <p:cNvSpPr/>
          <p:nvPr/>
        </p:nvSpPr>
        <p:spPr>
          <a:xfrm>
            <a:off x="640080" y="5120640"/>
            <a:ext cx="10972800" cy="731520"/>
          </a:xfrm>
          <a:prstGeom prst="rect">
            <a:avLst/>
          </a:prstGeom>
          <a:noFill/>
          <a:ln/>
        </p:spPr>
        <p:txBody>
          <a:bodyPr wrap="square" rtlCol="0" anchor="ctr"/>
          <a:lstStyle/>
          <a:p>
            <a:pPr algn="ctr" indent="0" marL="0">
              <a:buNone/>
            </a:pPr>
            <a:r>
              <a:rPr lang="en-US" sz="1400" i="1" dirty="0">
                <a:solidFill>
                  <a:srgbClr val="5A6270"/>
                </a:solidFill>
              </a:rPr>
              <a:t>Every downstream stage works only on the intermediate representation, so supporting a new platform means writing one parser and nothing else.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The 40-feature taxonomy</a:t>
            </a:r>
            <a:endParaRPr lang="en-US" sz="3000" dirty="0"/>
          </a:p>
        </p:txBody>
      </p:sp>
      <p:sp>
        <p:nvSpPr>
          <p:cNvPr id="3" name="Shape 1"/>
          <p:cNvSpPr/>
          <p:nvPr/>
        </p:nvSpPr>
        <p:spPr>
          <a:xfrm>
            <a:off x="640080" y="1463040"/>
            <a:ext cx="5394960" cy="2011680"/>
          </a:xfrm>
          <a:prstGeom prst="roundRect">
            <a:avLst>
              <a:gd name="adj" fmla="val 4545"/>
            </a:avLst>
          </a:prstGeom>
          <a:solidFill>
            <a:srgbClr val="F2F5FB"/>
          </a:solidFill>
          <a:ln/>
        </p:spPr>
      </p:sp>
      <p:sp>
        <p:nvSpPr>
          <p:cNvPr id="4" name="Text 2"/>
          <p:cNvSpPr/>
          <p:nvPr/>
        </p:nvSpPr>
        <p:spPr>
          <a:xfrm>
            <a:off x="914400" y="1627632"/>
            <a:ext cx="4846320" cy="411480"/>
          </a:xfrm>
          <a:prstGeom prst="rect">
            <a:avLst/>
          </a:prstGeom>
          <a:noFill/>
          <a:ln/>
        </p:spPr>
        <p:txBody>
          <a:bodyPr wrap="square" rtlCol="0" anchor="ctr"/>
          <a:lstStyle/>
          <a:p>
            <a:pPr indent="0" marL="0">
              <a:buNone/>
            </a:pPr>
            <a:r>
              <a:rPr lang="en-US" sz="1500" b="1" dirty="0">
                <a:solidFill>
                  <a:srgbClr val="B85042"/>
                </a:solidFill>
              </a:rPr>
              <a:t>Q-01 to Q-10</a:t>
            </a:r>
            <a:endParaRPr lang="en-US" sz="1500" dirty="0"/>
          </a:p>
        </p:txBody>
      </p:sp>
      <p:sp>
        <p:nvSpPr>
          <p:cNvPr id="5" name="Text 3"/>
          <p:cNvSpPr/>
          <p:nvPr/>
        </p:nvSpPr>
        <p:spPr>
          <a:xfrm>
            <a:off x="914400" y="2029968"/>
            <a:ext cx="4846320" cy="457200"/>
          </a:xfrm>
          <a:prstGeom prst="rect">
            <a:avLst/>
          </a:prstGeom>
          <a:noFill/>
          <a:ln/>
        </p:spPr>
        <p:txBody>
          <a:bodyPr wrap="square" rtlCol="0" anchor="ctr"/>
          <a:lstStyle/>
          <a:p>
            <a:pPr indent="0" marL="0">
              <a:buNone/>
            </a:pPr>
            <a:r>
              <a:rPr lang="en-US" sz="1900" b="1" dirty="0">
                <a:solidFill>
                  <a:srgbClr val="1E2761"/>
                </a:solidFill>
              </a:rPr>
              <a:t>Question level</a:t>
            </a:r>
            <a:endParaRPr lang="en-US" sz="1900" dirty="0"/>
          </a:p>
        </p:txBody>
      </p:sp>
      <p:sp>
        <p:nvSpPr>
          <p:cNvPr id="6" name="Text 4"/>
          <p:cNvSpPr/>
          <p:nvPr/>
        </p:nvSpPr>
        <p:spPr>
          <a:xfrm>
            <a:off x="914400" y="2514600"/>
            <a:ext cx="4846320" cy="868680"/>
          </a:xfrm>
          <a:prstGeom prst="rect">
            <a:avLst/>
          </a:prstGeom>
          <a:noFill/>
          <a:ln/>
        </p:spPr>
        <p:txBody>
          <a:bodyPr wrap="square" rtlCol="0" anchor="ctr"/>
          <a:lstStyle/>
          <a:p>
            <a:pPr indent="0" marL="0">
              <a:lnSpc>
                <a:spcPct val="110000"/>
              </a:lnSpc>
              <a:buNone/>
            </a:pPr>
            <a:r>
              <a:rPr lang="en-US" sz="1250" dirty="0">
                <a:solidFill>
                  <a:srgbClr val="5A6270"/>
                </a:solidFill>
              </a:rPr>
              <a:t>response time, time to first interaction, edits, revisits, idle time, constraint triggers</a:t>
            </a:r>
            <a:endParaRPr lang="en-US" sz="1250" dirty="0"/>
          </a:p>
        </p:txBody>
      </p:sp>
      <p:sp>
        <p:nvSpPr>
          <p:cNvPr id="7" name="Shape 5"/>
          <p:cNvSpPr/>
          <p:nvPr/>
        </p:nvSpPr>
        <p:spPr>
          <a:xfrm>
            <a:off x="6355080" y="1463040"/>
            <a:ext cx="5394960" cy="2011680"/>
          </a:xfrm>
          <a:prstGeom prst="roundRect">
            <a:avLst>
              <a:gd name="adj" fmla="val 4545"/>
            </a:avLst>
          </a:prstGeom>
          <a:solidFill>
            <a:srgbClr val="F2F5FB"/>
          </a:solidFill>
          <a:ln/>
        </p:spPr>
      </p:sp>
      <p:sp>
        <p:nvSpPr>
          <p:cNvPr id="8" name="Text 6"/>
          <p:cNvSpPr/>
          <p:nvPr/>
        </p:nvSpPr>
        <p:spPr>
          <a:xfrm>
            <a:off x="6629400" y="1627632"/>
            <a:ext cx="4846320" cy="411480"/>
          </a:xfrm>
          <a:prstGeom prst="rect">
            <a:avLst/>
          </a:prstGeom>
          <a:noFill/>
          <a:ln/>
        </p:spPr>
        <p:txBody>
          <a:bodyPr wrap="square" rtlCol="0" anchor="ctr"/>
          <a:lstStyle/>
          <a:p>
            <a:pPr indent="0" marL="0">
              <a:buNone/>
            </a:pPr>
            <a:r>
              <a:rPr lang="en-US" sz="1500" b="1" dirty="0">
                <a:solidFill>
                  <a:srgbClr val="B85042"/>
                </a:solidFill>
              </a:rPr>
              <a:t>S-01 to S-10</a:t>
            </a:r>
            <a:endParaRPr lang="en-US" sz="1500" dirty="0"/>
          </a:p>
        </p:txBody>
      </p:sp>
      <p:sp>
        <p:nvSpPr>
          <p:cNvPr id="9" name="Text 7"/>
          <p:cNvSpPr/>
          <p:nvPr/>
        </p:nvSpPr>
        <p:spPr>
          <a:xfrm>
            <a:off x="6629400" y="2029968"/>
            <a:ext cx="4846320" cy="457200"/>
          </a:xfrm>
          <a:prstGeom prst="rect">
            <a:avLst/>
          </a:prstGeom>
          <a:noFill/>
          <a:ln/>
        </p:spPr>
        <p:txBody>
          <a:bodyPr wrap="square" rtlCol="0" anchor="ctr"/>
          <a:lstStyle/>
          <a:p>
            <a:pPr indent="0" marL="0">
              <a:buNone/>
            </a:pPr>
            <a:r>
              <a:rPr lang="en-US" sz="1900" b="1" dirty="0">
                <a:solidFill>
                  <a:srgbClr val="1E2761"/>
                </a:solidFill>
              </a:rPr>
              <a:t>Section level</a:t>
            </a:r>
            <a:endParaRPr lang="en-US" sz="1900" dirty="0"/>
          </a:p>
        </p:txBody>
      </p:sp>
      <p:sp>
        <p:nvSpPr>
          <p:cNvPr id="10" name="Text 8"/>
          <p:cNvSpPr/>
          <p:nvPr/>
        </p:nvSpPr>
        <p:spPr>
          <a:xfrm>
            <a:off x="6629400" y="2514600"/>
            <a:ext cx="4846320" cy="868680"/>
          </a:xfrm>
          <a:prstGeom prst="rect">
            <a:avLst/>
          </a:prstGeom>
          <a:noFill/>
          <a:ln/>
        </p:spPr>
        <p:txBody>
          <a:bodyPr wrap="square" rtlCol="0" anchor="ctr"/>
          <a:lstStyle/>
          <a:p>
            <a:pPr indent="0" marL="0">
              <a:lnSpc>
                <a:spcPct val="110000"/>
              </a:lnSpc>
              <a:buNone/>
            </a:pPr>
            <a:r>
              <a:rPr lang="en-US" sz="1250" dirty="0">
                <a:solidFill>
                  <a:srgbClr val="5A6270"/>
                </a:solidFill>
              </a:rPr>
              <a:t>section pace and duration, within-section variance, pause counts and durations, back-navigation</a:t>
            </a:r>
            <a:endParaRPr lang="en-US" sz="1250" dirty="0"/>
          </a:p>
        </p:txBody>
      </p:sp>
      <p:sp>
        <p:nvSpPr>
          <p:cNvPr id="11" name="Shape 9"/>
          <p:cNvSpPr/>
          <p:nvPr/>
        </p:nvSpPr>
        <p:spPr>
          <a:xfrm>
            <a:off x="640080" y="3749040"/>
            <a:ext cx="5394960" cy="2011680"/>
          </a:xfrm>
          <a:prstGeom prst="roundRect">
            <a:avLst>
              <a:gd name="adj" fmla="val 4545"/>
            </a:avLst>
          </a:prstGeom>
          <a:solidFill>
            <a:srgbClr val="F2F5FB"/>
          </a:solidFill>
          <a:ln/>
        </p:spPr>
      </p:sp>
      <p:sp>
        <p:nvSpPr>
          <p:cNvPr id="12" name="Text 10"/>
          <p:cNvSpPr/>
          <p:nvPr/>
        </p:nvSpPr>
        <p:spPr>
          <a:xfrm>
            <a:off x="914400" y="3913632"/>
            <a:ext cx="4846320" cy="411480"/>
          </a:xfrm>
          <a:prstGeom prst="rect">
            <a:avLst/>
          </a:prstGeom>
          <a:noFill/>
          <a:ln/>
        </p:spPr>
        <p:txBody>
          <a:bodyPr wrap="square" rtlCol="0" anchor="ctr"/>
          <a:lstStyle/>
          <a:p>
            <a:pPr indent="0" marL="0">
              <a:buNone/>
            </a:pPr>
            <a:r>
              <a:rPr lang="en-US" sz="1500" b="1" dirty="0">
                <a:solidFill>
                  <a:srgbClr val="B85042"/>
                </a:solidFill>
              </a:rPr>
              <a:t>V-01 to V-10</a:t>
            </a:r>
            <a:endParaRPr lang="en-US" sz="1500" dirty="0"/>
          </a:p>
        </p:txBody>
      </p:sp>
      <p:sp>
        <p:nvSpPr>
          <p:cNvPr id="13" name="Text 11"/>
          <p:cNvSpPr/>
          <p:nvPr/>
        </p:nvSpPr>
        <p:spPr>
          <a:xfrm>
            <a:off x="914400" y="4315968"/>
            <a:ext cx="4846320" cy="457200"/>
          </a:xfrm>
          <a:prstGeom prst="rect">
            <a:avLst/>
          </a:prstGeom>
          <a:noFill/>
          <a:ln/>
        </p:spPr>
        <p:txBody>
          <a:bodyPr wrap="square" rtlCol="0" anchor="ctr"/>
          <a:lstStyle/>
          <a:p>
            <a:pPr indent="0" marL="0">
              <a:buNone/>
            </a:pPr>
            <a:r>
              <a:rPr lang="en-US" sz="1900" b="1" dirty="0">
                <a:solidFill>
                  <a:srgbClr val="1E2761"/>
                </a:solidFill>
              </a:rPr>
              <a:t>Survey level</a:t>
            </a:r>
            <a:endParaRPr lang="en-US" sz="1900" dirty="0"/>
          </a:p>
        </p:txBody>
      </p:sp>
      <p:sp>
        <p:nvSpPr>
          <p:cNvPr id="14" name="Text 12"/>
          <p:cNvSpPr/>
          <p:nvPr/>
        </p:nvSpPr>
        <p:spPr>
          <a:xfrm>
            <a:off x="914400" y="4800600"/>
            <a:ext cx="4846320" cy="868680"/>
          </a:xfrm>
          <a:prstGeom prst="rect">
            <a:avLst/>
          </a:prstGeom>
          <a:noFill/>
          <a:ln/>
        </p:spPr>
        <p:txBody>
          <a:bodyPr wrap="square" rtlCol="0" anchor="ctr"/>
          <a:lstStyle/>
          <a:p>
            <a:pPr indent="0" marL="0">
              <a:lnSpc>
                <a:spcPct val="110000"/>
              </a:lnSpc>
              <a:buNone/>
            </a:pPr>
            <a:r>
              <a:rPr lang="en-US" sz="1250" dirty="0">
                <a:solidFill>
                  <a:srgbClr val="5A6270"/>
                </a:solidFill>
              </a:rPr>
              <a:t>total duration, early vs late pace trajectory, back-navigation rate, start hour, day of week</a:t>
            </a:r>
            <a:endParaRPr lang="en-US" sz="1250" dirty="0"/>
          </a:p>
        </p:txBody>
      </p:sp>
      <p:sp>
        <p:nvSpPr>
          <p:cNvPr id="15" name="Shape 13"/>
          <p:cNvSpPr/>
          <p:nvPr/>
        </p:nvSpPr>
        <p:spPr>
          <a:xfrm>
            <a:off x="6355080" y="3749040"/>
            <a:ext cx="5394960" cy="2011680"/>
          </a:xfrm>
          <a:prstGeom prst="roundRect">
            <a:avLst>
              <a:gd name="adj" fmla="val 4545"/>
            </a:avLst>
          </a:prstGeom>
          <a:solidFill>
            <a:srgbClr val="1E2761"/>
          </a:solidFill>
          <a:ln/>
        </p:spPr>
      </p:sp>
      <p:sp>
        <p:nvSpPr>
          <p:cNvPr id="16" name="Text 14"/>
          <p:cNvSpPr/>
          <p:nvPr/>
        </p:nvSpPr>
        <p:spPr>
          <a:xfrm>
            <a:off x="6629400" y="3913632"/>
            <a:ext cx="4846320" cy="411480"/>
          </a:xfrm>
          <a:prstGeom prst="rect">
            <a:avLst/>
          </a:prstGeom>
          <a:noFill/>
          <a:ln/>
        </p:spPr>
        <p:txBody>
          <a:bodyPr wrap="square" rtlCol="0" anchor="ctr"/>
          <a:lstStyle/>
          <a:p>
            <a:pPr indent="0" marL="0">
              <a:buNone/>
            </a:pPr>
            <a:r>
              <a:rPr lang="en-US" sz="1500" b="1" dirty="0">
                <a:solidFill>
                  <a:srgbClr val="CADCFC"/>
                </a:solidFill>
              </a:rPr>
              <a:t>T-01 to T-10</a:t>
            </a:r>
            <a:endParaRPr lang="en-US" sz="1500" dirty="0"/>
          </a:p>
        </p:txBody>
      </p:sp>
      <p:sp>
        <p:nvSpPr>
          <p:cNvPr id="17" name="Text 15"/>
          <p:cNvSpPr/>
          <p:nvPr/>
        </p:nvSpPr>
        <p:spPr>
          <a:xfrm>
            <a:off x="6629400" y="4315968"/>
            <a:ext cx="4846320" cy="457200"/>
          </a:xfrm>
          <a:prstGeom prst="rect">
            <a:avLst/>
          </a:prstGeom>
          <a:noFill/>
          <a:ln/>
        </p:spPr>
        <p:txBody>
          <a:bodyPr wrap="square" rtlCol="0" anchor="ctr"/>
          <a:lstStyle/>
          <a:p>
            <a:pPr indent="0" marL="0">
              <a:buNone/>
            </a:pPr>
            <a:r>
              <a:rPr lang="en-US" sz="1900" b="1" dirty="0">
                <a:solidFill>
                  <a:srgbClr val="FFFFFF"/>
                </a:solidFill>
              </a:rPr>
              <a:t>Statistical</a:t>
            </a:r>
            <a:endParaRPr lang="en-US" sz="1900" dirty="0"/>
          </a:p>
        </p:txBody>
      </p:sp>
      <p:sp>
        <p:nvSpPr>
          <p:cNvPr id="18" name="Text 16"/>
          <p:cNvSpPr/>
          <p:nvPr/>
        </p:nvSpPr>
        <p:spPr>
          <a:xfrm>
            <a:off x="6629400" y="4800600"/>
            <a:ext cx="4846320" cy="868680"/>
          </a:xfrm>
          <a:prstGeom prst="rect">
            <a:avLst/>
          </a:prstGeom>
          <a:noFill/>
          <a:ln/>
        </p:spPr>
        <p:txBody>
          <a:bodyPr wrap="square" rtlCol="0" anchor="ctr"/>
          <a:lstStyle/>
          <a:p>
            <a:pPr indent="0" marL="0">
              <a:lnSpc>
                <a:spcPct val="110000"/>
              </a:lnSpc>
              <a:buNone/>
            </a:pPr>
            <a:r>
              <a:rPr lang="en-US" sz="1250" dirty="0">
                <a:solidFill>
                  <a:srgbClr val="CADCFC"/>
                </a:solidFill>
              </a:rPr>
              <a:t>variance, IQR, Shannon entropy, skewness, kurtosis, coefficient of variation of response times</a:t>
            </a:r>
            <a:endParaRPr lang="en-US" sz="1250" dirty="0"/>
          </a:p>
        </p:txBody>
      </p:sp>
      <p:sp>
        <p:nvSpPr>
          <p:cNvPr id="19" name="Text 17"/>
          <p:cNvSpPr/>
          <p:nvPr/>
        </p:nvSpPr>
        <p:spPr>
          <a:xfrm>
            <a:off x="640080" y="6035040"/>
            <a:ext cx="10972800" cy="457200"/>
          </a:xfrm>
          <a:prstGeom prst="rect">
            <a:avLst/>
          </a:prstGeom>
          <a:noFill/>
          <a:ln/>
        </p:spPr>
        <p:txBody>
          <a:bodyPr wrap="square" rtlCol="0" anchor="ctr"/>
          <a:lstStyle/>
          <a:p>
            <a:pPr algn="ctr" indent="0" marL="0">
              <a:buNone/>
            </a:pPr>
            <a:r>
              <a:rPr lang="en-US" sz="1300" i="1" dirty="0">
                <a:solidFill>
                  <a:srgbClr val="5A6270"/>
                </a:solidFill>
              </a:rPr>
              <a:t>Catalogued from the literature at proposal stage; all 40 implemented and exported with stable identifiers.</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Anomaly detection: transparent by construction</a:t>
            </a:r>
            <a:endParaRPr lang="en-US" sz="3000" dirty="0"/>
          </a:p>
        </p:txBody>
      </p:sp>
      <p:sp>
        <p:nvSpPr>
          <p:cNvPr id="3" name="Shape 1"/>
          <p:cNvSpPr/>
          <p:nvPr/>
        </p:nvSpPr>
        <p:spPr>
          <a:xfrm>
            <a:off x="640080" y="1554480"/>
            <a:ext cx="3611880" cy="3383280"/>
          </a:xfrm>
          <a:prstGeom prst="roundRect">
            <a:avLst>
              <a:gd name="adj" fmla="val 2703"/>
            </a:avLst>
          </a:prstGeom>
          <a:solidFill>
            <a:srgbClr val="F2F5FB"/>
          </a:solidFill>
          <a:ln/>
        </p:spPr>
      </p:sp>
      <p:sp>
        <p:nvSpPr>
          <p:cNvPr id="4" name="Text 2"/>
          <p:cNvSpPr/>
          <p:nvPr/>
        </p:nvSpPr>
        <p:spPr>
          <a:xfrm>
            <a:off x="868680" y="1783080"/>
            <a:ext cx="3154680" cy="731520"/>
          </a:xfrm>
          <a:prstGeom prst="rect">
            <a:avLst/>
          </a:prstGeom>
          <a:noFill/>
          <a:ln/>
        </p:spPr>
        <p:txBody>
          <a:bodyPr wrap="square" rtlCol="0" anchor="ctr"/>
          <a:lstStyle/>
          <a:p>
            <a:pPr indent="0" marL="0">
              <a:buNone/>
            </a:pPr>
            <a:r>
              <a:rPr lang="en-US" sz="1700" b="1" dirty="0">
                <a:solidFill>
                  <a:srgbClr val="1E2761"/>
                </a:solidFill>
              </a:rPr>
              <a:t>IQR fences</a:t>
            </a:r>
            <a:endParaRPr lang="en-US" sz="1700" dirty="0"/>
          </a:p>
        </p:txBody>
      </p:sp>
      <p:sp>
        <p:nvSpPr>
          <p:cNvPr id="5" name="Text 3"/>
          <p:cNvSpPr/>
          <p:nvPr/>
        </p:nvSpPr>
        <p:spPr>
          <a:xfrm>
            <a:off x="868680" y="2514600"/>
            <a:ext cx="3154680" cy="2286000"/>
          </a:xfrm>
          <a:prstGeom prst="rect">
            <a:avLst/>
          </a:prstGeom>
          <a:noFill/>
          <a:ln/>
        </p:spPr>
        <p:txBody>
          <a:bodyPr wrap="square" rtlCol="0" anchor="ctr"/>
          <a:lstStyle/>
          <a:p>
            <a:pPr indent="0" marL="0">
              <a:lnSpc>
                <a:spcPct val="118000"/>
              </a:lnSpc>
              <a:buNone/>
            </a:pPr>
            <a:r>
              <a:rPr lang="en-US" sz="1250" dirty="0">
                <a:solidFill>
                  <a:srgbClr val="333A45"/>
                </a:solidFill>
              </a:rPr>
              <a:t>Tukey fences on total duration, mean response time, entropy and variance. No distributional assumption; robust to the outliers they detect.</a:t>
            </a:r>
            <a:endParaRPr lang="en-US" sz="1250" dirty="0"/>
          </a:p>
        </p:txBody>
      </p:sp>
      <p:sp>
        <p:nvSpPr>
          <p:cNvPr id="6" name="Shape 4"/>
          <p:cNvSpPr/>
          <p:nvPr/>
        </p:nvSpPr>
        <p:spPr>
          <a:xfrm>
            <a:off x="4526280" y="1554480"/>
            <a:ext cx="3611880" cy="3383280"/>
          </a:xfrm>
          <a:prstGeom prst="roundRect">
            <a:avLst>
              <a:gd name="adj" fmla="val 2703"/>
            </a:avLst>
          </a:prstGeom>
          <a:solidFill>
            <a:srgbClr val="F2F5FB"/>
          </a:solidFill>
          <a:ln/>
        </p:spPr>
      </p:sp>
      <p:sp>
        <p:nvSpPr>
          <p:cNvPr id="7" name="Text 5"/>
          <p:cNvSpPr/>
          <p:nvPr/>
        </p:nvSpPr>
        <p:spPr>
          <a:xfrm>
            <a:off x="4754880" y="1783080"/>
            <a:ext cx="3154680" cy="731520"/>
          </a:xfrm>
          <a:prstGeom prst="rect">
            <a:avLst/>
          </a:prstGeom>
          <a:noFill/>
          <a:ln/>
        </p:spPr>
        <p:txBody>
          <a:bodyPr wrap="square" rtlCol="0" anchor="ctr"/>
          <a:lstStyle/>
          <a:p>
            <a:pPr indent="0" marL="0">
              <a:buNone/>
            </a:pPr>
            <a:r>
              <a:rPr lang="en-US" sz="1700" b="1" dirty="0">
                <a:solidFill>
                  <a:srgbClr val="1E2761"/>
                </a:solidFill>
              </a:rPr>
              <a:t>Rule-based checks</a:t>
            </a:r>
            <a:endParaRPr lang="en-US" sz="1700" dirty="0"/>
          </a:p>
        </p:txBody>
      </p:sp>
      <p:sp>
        <p:nvSpPr>
          <p:cNvPr id="8" name="Text 6"/>
          <p:cNvSpPr/>
          <p:nvPr/>
        </p:nvSpPr>
        <p:spPr>
          <a:xfrm>
            <a:off x="4754880" y="2514600"/>
            <a:ext cx="3154680" cy="2286000"/>
          </a:xfrm>
          <a:prstGeom prst="rect">
            <a:avLst/>
          </a:prstGeom>
          <a:noFill/>
          <a:ln/>
        </p:spPr>
        <p:txBody>
          <a:bodyPr wrap="square" rtlCol="0" anchor="ctr"/>
          <a:lstStyle/>
          <a:p>
            <a:pPr indent="0" marL="0">
              <a:lnSpc>
                <a:spcPct val="118000"/>
              </a:lnSpc>
              <a:buNone/>
            </a:pPr>
            <a:r>
              <a:rPr lang="en-US" sz="1250" dirty="0">
                <a:solidFill>
                  <a:srgbClr val="333A45"/>
                </a:solidFill>
              </a:rPr>
              <a:t>Minimum plausible duration, low entropy, uniform pacing (CV), compressed IQR, zero back-navigation, elevated pauses. Thresholds are median-relative and configurable.</a:t>
            </a:r>
            <a:endParaRPr lang="en-US" sz="1250" dirty="0"/>
          </a:p>
        </p:txBody>
      </p:sp>
      <p:sp>
        <p:nvSpPr>
          <p:cNvPr id="9" name="Shape 7"/>
          <p:cNvSpPr/>
          <p:nvPr/>
        </p:nvSpPr>
        <p:spPr>
          <a:xfrm>
            <a:off x="8412480" y="1554480"/>
            <a:ext cx="3611880" cy="3383280"/>
          </a:xfrm>
          <a:prstGeom prst="roundRect">
            <a:avLst>
              <a:gd name="adj" fmla="val 2703"/>
            </a:avLst>
          </a:prstGeom>
          <a:solidFill>
            <a:srgbClr val="1E2761"/>
          </a:solidFill>
          <a:ln/>
        </p:spPr>
      </p:sp>
      <p:sp>
        <p:nvSpPr>
          <p:cNvPr id="10" name="Text 8"/>
          <p:cNvSpPr/>
          <p:nvPr/>
        </p:nvSpPr>
        <p:spPr>
          <a:xfrm>
            <a:off x="8641080" y="1783080"/>
            <a:ext cx="3154680" cy="731520"/>
          </a:xfrm>
          <a:prstGeom prst="rect">
            <a:avLst/>
          </a:prstGeom>
          <a:noFill/>
          <a:ln/>
        </p:spPr>
        <p:txBody>
          <a:bodyPr wrap="square" rtlCol="0" anchor="ctr"/>
          <a:lstStyle/>
          <a:p>
            <a:pPr indent="0" marL="0">
              <a:buNone/>
            </a:pPr>
            <a:r>
              <a:rPr lang="en-US" sz="1700" b="1" dirty="0">
                <a:solidFill>
                  <a:srgbClr val="FFFFFF"/>
                </a:solidFill>
              </a:rPr>
              <a:t>Score = count of flags</a:t>
            </a:r>
            <a:endParaRPr lang="en-US" sz="1700" dirty="0"/>
          </a:p>
        </p:txBody>
      </p:sp>
      <p:sp>
        <p:nvSpPr>
          <p:cNvPr id="11" name="Text 9"/>
          <p:cNvSpPr/>
          <p:nvPr/>
        </p:nvSpPr>
        <p:spPr>
          <a:xfrm>
            <a:off x="8641080" y="2514600"/>
            <a:ext cx="3154680" cy="2286000"/>
          </a:xfrm>
          <a:prstGeom prst="rect">
            <a:avLst/>
          </a:prstGeom>
          <a:noFill/>
          <a:ln/>
        </p:spPr>
        <p:txBody>
          <a:bodyPr wrap="square" rtlCol="0" anchor="ctr"/>
          <a:lstStyle/>
          <a:p>
            <a:pPr indent="0" marL="0">
              <a:lnSpc>
                <a:spcPct val="118000"/>
              </a:lnSpc>
              <a:buNone/>
            </a:pPr>
            <a:r>
              <a:rPr lang="en-US" sz="1250" dirty="0">
                <a:solidFill>
                  <a:srgbClr val="CADCFC"/>
                </a:solidFill>
              </a:rPr>
              <a:t>Suspicious at score 2, anomalous at 5. Data-quality issues routed separately. Every flagged interview lists exactly which flags fired.</a:t>
            </a:r>
            <a:endParaRPr lang="en-US" sz="1250" dirty="0"/>
          </a:p>
        </p:txBody>
      </p:sp>
      <p:sp>
        <p:nvSpPr>
          <p:cNvPr id="12" name="Text 10"/>
          <p:cNvSpPr/>
          <p:nvPr/>
        </p:nvSpPr>
        <p:spPr>
          <a:xfrm>
            <a:off x="640080" y="5257800"/>
            <a:ext cx="10972800" cy="548640"/>
          </a:xfrm>
          <a:prstGeom prst="rect">
            <a:avLst/>
          </a:prstGeom>
          <a:noFill/>
          <a:ln/>
        </p:spPr>
        <p:txBody>
          <a:bodyPr wrap="square" rtlCol="0" anchor="ctr"/>
          <a:lstStyle/>
          <a:p>
            <a:pPr algn="ctr" indent="0" marL="0">
              <a:buNone/>
            </a:pPr>
            <a:r>
              <a:rPr lang="en-US" sz="1500" b="1" i="1" dirty="0">
                <a:solidFill>
                  <a:srgbClr val="B85042"/>
                </a:solidFill>
              </a:rPr>
              <a:t>A field supervisor can always answer: why was this interview flagged?</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Demo 1: one command on the raw logs</a:t>
            </a:r>
            <a:endParaRPr lang="en-US" sz="3000" dirty="0"/>
          </a:p>
        </p:txBody>
      </p:sp>
      <p:pic>
        <p:nvPicPr>
          <p:cNvPr id="3" name="Image 0" descr="01_pipeline_terminal.png">    </p:cNvPr>
          <p:cNvPicPr>
            <a:picLocks noChangeAspect="1"/>
          </p:cNvPicPr>
          <p:nvPr/>
        </p:nvPicPr>
        <p:blipFill>
          <a:blip r:embed="rId1"/>
          <a:srcRect l="0" r="0" t="0" b="0"/>
          <a:stretch/>
        </p:blipFill>
        <p:spPr>
          <a:xfrm>
            <a:off x="640080" y="1234440"/>
            <a:ext cx="10881360" cy="4480560"/>
          </a:xfrm>
          <a:prstGeom prst="rect">
            <a:avLst/>
          </a:prstGeom>
        </p:spPr>
      </p:pic>
      <p:sp>
        <p:nvSpPr>
          <p:cNvPr id="4" name="Text 1"/>
          <p:cNvSpPr/>
          <p:nvPr/>
        </p:nvSpPr>
        <p:spPr>
          <a:xfrm>
            <a:off x="640080" y="5897880"/>
            <a:ext cx="10881360" cy="685800"/>
          </a:xfrm>
          <a:prstGeom prst="rect">
            <a:avLst/>
          </a:prstGeom>
          <a:noFill/>
          <a:ln/>
        </p:spPr>
        <p:txBody>
          <a:bodyPr wrap="square" rtlCol="0" anchor="ctr"/>
          <a:lstStyle/>
          <a:p>
            <a:pPr algn="ctr" indent="0" marL="0">
              <a:lnSpc>
                <a:spcPct val="105000"/>
              </a:lnSpc>
              <a:buNone/>
            </a:pPr>
            <a:r>
              <a:rPr lang="en-US" sz="1350" i="1" dirty="0">
                <a:solidFill>
                  <a:srgbClr val="5A6270"/>
                </a:solidFill>
              </a:rPr>
              <a:t>The analyst runs run_pipeline.py on the two raw exports. The pipeline auto-detects SurveyCTO and ODK formats, extracts all 24 interviews and writes five output files.</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Demo 2: the feature dataset</a:t>
            </a:r>
            <a:endParaRPr lang="en-US" sz="3000" dirty="0"/>
          </a:p>
        </p:txBody>
      </p:sp>
      <p:pic>
        <p:nvPicPr>
          <p:cNvPr id="3" name="Image 0" descr="02_feature_dataset.png">    </p:cNvPr>
          <p:cNvPicPr>
            <a:picLocks noChangeAspect="1"/>
          </p:cNvPicPr>
          <p:nvPr/>
        </p:nvPicPr>
        <p:blipFill>
          <a:blip r:embed="rId1"/>
          <a:srcRect l="0" r="0" t="0" b="0"/>
          <a:stretch/>
        </p:blipFill>
        <p:spPr>
          <a:xfrm>
            <a:off x="640080" y="1234440"/>
            <a:ext cx="10881360" cy="4480560"/>
          </a:xfrm>
          <a:prstGeom prst="rect">
            <a:avLst/>
          </a:prstGeom>
        </p:spPr>
      </p:pic>
      <p:sp>
        <p:nvSpPr>
          <p:cNvPr id="4" name="Text 1"/>
          <p:cNvSpPr/>
          <p:nvPr/>
        </p:nvSpPr>
        <p:spPr>
          <a:xfrm>
            <a:off x="640080" y="5897880"/>
            <a:ext cx="10881360" cy="685800"/>
          </a:xfrm>
          <a:prstGeom prst="rect">
            <a:avLst/>
          </a:prstGeom>
          <a:noFill/>
          <a:ln/>
        </p:spPr>
        <p:txBody>
          <a:bodyPr wrap="square" rtlCol="0" anchor="ctr"/>
          <a:lstStyle/>
          <a:p>
            <a:pPr algn="ctr" indent="0" marL="0">
              <a:lnSpc>
                <a:spcPct val="105000"/>
              </a:lnSpc>
              <a:buNone/>
            </a:pPr>
            <a:r>
              <a:rPr lang="en-US" sz="1350" i="1" dirty="0">
                <a:solidFill>
                  <a:srgbClr val="5A6270"/>
                </a:solidFill>
              </a:rPr>
              <a:t>feature_dataset.csv holds one row per interview with all 40 features. ODK402, 408 and 409 are degenerate records the generator injected; their timings are zeroed and they are routed to the data-quality path.</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Demo 3: the anomaly report</a:t>
            </a:r>
            <a:endParaRPr lang="en-US" sz="3000" dirty="0"/>
          </a:p>
        </p:txBody>
      </p:sp>
      <p:pic>
        <p:nvPicPr>
          <p:cNvPr id="3" name="Image 0" descr="03_anomaly_report.png">    </p:cNvPr>
          <p:cNvPicPr>
            <a:picLocks noChangeAspect="1"/>
          </p:cNvPicPr>
          <p:nvPr/>
        </p:nvPicPr>
        <p:blipFill>
          <a:blip r:embed="rId1"/>
          <a:srcRect l="0" r="0" t="0" b="0"/>
          <a:stretch/>
        </p:blipFill>
        <p:spPr>
          <a:xfrm>
            <a:off x="640080" y="1234440"/>
            <a:ext cx="10881360" cy="4480560"/>
          </a:xfrm>
          <a:prstGeom prst="rect">
            <a:avLst/>
          </a:prstGeom>
        </p:spPr>
      </p:pic>
      <p:sp>
        <p:nvSpPr>
          <p:cNvPr id="4" name="Text 1"/>
          <p:cNvSpPr/>
          <p:nvPr/>
        </p:nvSpPr>
        <p:spPr>
          <a:xfrm>
            <a:off x="640080" y="5897880"/>
            <a:ext cx="10881360" cy="685800"/>
          </a:xfrm>
          <a:prstGeom prst="rect">
            <a:avLst/>
          </a:prstGeom>
          <a:noFill/>
          <a:ln/>
        </p:spPr>
        <p:txBody>
          <a:bodyPr wrap="square" rtlCol="0" anchor="ctr"/>
          <a:lstStyle/>
          <a:p>
            <a:pPr algn="ctr" indent="0" marL="0">
              <a:lnSpc>
                <a:spcPct val="105000"/>
              </a:lnSpc>
              <a:buNone/>
            </a:pPr>
            <a:r>
              <a:rPr lang="en-US" sz="1350" i="1" dirty="0">
                <a:solidFill>
                  <a:srgbClr val="5A6270"/>
                </a:solidFill>
              </a:rPr>
              <a:t>Every interview gets a score, category and status. The active flags column names exactly why each interview was caught: this is the transparency the design promises.</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Demo 4: explaining a single flag</a:t>
            </a:r>
            <a:endParaRPr lang="en-US" sz="3000" dirty="0"/>
          </a:p>
        </p:txBody>
      </p:sp>
      <p:pic>
        <p:nvPicPr>
          <p:cNvPr id="3" name="Image 0" descr="04_flag_explanation.png">    </p:cNvPr>
          <p:cNvPicPr>
            <a:picLocks noChangeAspect="1"/>
          </p:cNvPicPr>
          <p:nvPr/>
        </p:nvPicPr>
        <p:blipFill>
          <a:blip r:embed="rId1"/>
          <a:srcRect l="0" r="0" t="0" b="0"/>
          <a:stretch/>
        </p:blipFill>
        <p:spPr>
          <a:xfrm>
            <a:off x="640080" y="1234440"/>
            <a:ext cx="10881360" cy="4480560"/>
          </a:xfrm>
          <a:prstGeom prst="rect">
            <a:avLst/>
          </a:prstGeom>
        </p:spPr>
      </p:pic>
      <p:sp>
        <p:nvSpPr>
          <p:cNvPr id="4" name="Text 1"/>
          <p:cNvSpPr/>
          <p:nvPr/>
        </p:nvSpPr>
        <p:spPr>
          <a:xfrm>
            <a:off x="640080" y="5897880"/>
            <a:ext cx="10881360" cy="685800"/>
          </a:xfrm>
          <a:prstGeom prst="rect">
            <a:avLst/>
          </a:prstGeom>
          <a:noFill/>
          <a:ln/>
        </p:spPr>
        <p:txBody>
          <a:bodyPr wrap="square" rtlCol="0" anchor="ctr"/>
          <a:lstStyle/>
          <a:p>
            <a:pPr algn="ctr" indent="0" marL="0">
              <a:lnSpc>
                <a:spcPct val="105000"/>
              </a:lnSpc>
              <a:buNone/>
            </a:pPr>
            <a:r>
              <a:rPr lang="en-US" sz="1350" i="1" dirty="0">
                <a:solidFill>
                  <a:srgbClr val="5A6270"/>
                </a:solidFill>
              </a:rPr>
              <a:t>ODK401 scored 6: uniformly fast, low entropy, compressed IQR, no back-navigation. Ground truth confirms it was a fabricated interview.</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Demo 5: labelled evaluation in the same run</a:t>
            </a:r>
            <a:endParaRPr lang="en-US" sz="3000" dirty="0"/>
          </a:p>
        </p:txBody>
      </p:sp>
      <p:pic>
        <p:nvPicPr>
          <p:cNvPr id="3" name="Image 0" descr="05_metrics_terminal.png">    </p:cNvPr>
          <p:cNvPicPr>
            <a:picLocks noChangeAspect="1"/>
          </p:cNvPicPr>
          <p:nvPr/>
        </p:nvPicPr>
        <p:blipFill>
          <a:blip r:embed="rId1"/>
          <a:srcRect l="0" r="0" t="0" b="0"/>
          <a:stretch/>
        </p:blipFill>
        <p:spPr>
          <a:xfrm>
            <a:off x="640080" y="1234440"/>
            <a:ext cx="10881360" cy="4480560"/>
          </a:xfrm>
          <a:prstGeom prst="rect">
            <a:avLst/>
          </a:prstGeom>
        </p:spPr>
      </p:pic>
      <p:sp>
        <p:nvSpPr>
          <p:cNvPr id="4" name="Text 1"/>
          <p:cNvSpPr/>
          <p:nvPr/>
        </p:nvSpPr>
        <p:spPr>
          <a:xfrm>
            <a:off x="640080" y="5897880"/>
            <a:ext cx="10881360" cy="685800"/>
          </a:xfrm>
          <a:prstGeom prst="rect">
            <a:avLst/>
          </a:prstGeom>
          <a:noFill/>
          <a:ln/>
        </p:spPr>
        <p:txBody>
          <a:bodyPr wrap="square" rtlCol="0" anchor="ctr"/>
          <a:lstStyle/>
          <a:p>
            <a:pPr algn="ctr" indent="0" marL="0">
              <a:lnSpc>
                <a:spcPct val="105000"/>
              </a:lnSpc>
              <a:buNone/>
            </a:pPr>
            <a:r>
              <a:rPr lang="en-US" sz="1350" i="1" dirty="0">
                <a:solidFill>
                  <a:srgbClr val="5A6270"/>
                </a:solidFill>
              </a:rPr>
              <a:t>Passing a ground-truth file makes the same pipeline emit precision, recall and F1 plus acceptance checks: precision 1.00 and recall 1.00 on the 500-interview canonical benchmark.</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Demo 6: the evaluation charts</a:t>
            </a:r>
            <a:endParaRPr lang="en-US" sz="3000" dirty="0"/>
          </a:p>
        </p:txBody>
      </p:sp>
      <p:pic>
        <p:nvPicPr>
          <p:cNvPr id="3" name="Image 0" descr="synthetic_metrics_overview.png">    </p:cNvPr>
          <p:cNvPicPr>
            <a:picLocks noChangeAspect="1"/>
          </p:cNvPicPr>
          <p:nvPr/>
        </p:nvPicPr>
        <p:blipFill>
          <a:blip r:embed="rId1"/>
          <a:srcRect l="0" r="0" t="0" b="0"/>
          <a:stretch/>
        </p:blipFill>
        <p:spPr>
          <a:xfrm>
            <a:off x="502920" y="1554480"/>
            <a:ext cx="5623560" cy="2788920"/>
          </a:xfrm>
          <a:prstGeom prst="rect">
            <a:avLst/>
          </a:prstGeom>
        </p:spPr>
      </p:pic>
      <p:pic>
        <p:nvPicPr>
          <p:cNvPr id="4" name="Image 1" descr="synthetic_detection_by_type.png">    </p:cNvPr>
          <p:cNvPicPr>
            <a:picLocks noChangeAspect="1"/>
          </p:cNvPicPr>
          <p:nvPr/>
        </p:nvPicPr>
        <p:blipFill>
          <a:blip r:embed="rId2"/>
          <a:srcRect l="0" r="0" t="0" b="0"/>
          <a:stretch/>
        </p:blipFill>
        <p:spPr>
          <a:xfrm>
            <a:off x="6263640" y="1554480"/>
            <a:ext cx="5623560" cy="2788920"/>
          </a:xfrm>
          <a:prstGeom prst="rect">
            <a:avLst/>
          </a:prstGeom>
        </p:spPr>
      </p:pic>
      <p:sp>
        <p:nvSpPr>
          <p:cNvPr id="5" name="Text 1"/>
          <p:cNvSpPr/>
          <p:nvPr/>
        </p:nvSpPr>
        <p:spPr>
          <a:xfrm>
            <a:off x="640080" y="4754880"/>
            <a:ext cx="10881360" cy="731520"/>
          </a:xfrm>
          <a:prstGeom prst="rect">
            <a:avLst/>
          </a:prstGeom>
          <a:noFill/>
          <a:ln/>
        </p:spPr>
        <p:txBody>
          <a:bodyPr wrap="square" rtlCol="0" anchor="ctr"/>
          <a:lstStyle/>
          <a:p>
            <a:pPr algn="ctr" indent="0" marL="0">
              <a:lnSpc>
                <a:spcPct val="105000"/>
              </a:lnSpc>
              <a:buNone/>
            </a:pPr>
            <a:r>
              <a:rPr lang="en-US" sz="1350" i="1" dirty="0">
                <a:solidFill>
                  <a:srgbClr val="5A6270"/>
                </a:solidFill>
              </a:rPr>
              <a:t>scripts/create_visualizations.py renders the benchmark metrics and per-type detection rates straight from the metric CSVs, ready for reports and review meetings.</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Evaluation results against the 0.80 / 0.75 targets</a:t>
            </a:r>
            <a:endParaRPr lang="en-US" sz="3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6675120" cy="914400"/>
        </p:xfrm>
        <a:graphic>
          <a:graphicData uri="http://schemas.openxmlformats.org/drawingml/2006/table">
            <a:tbl>
              <a:tblPr/>
              <a:tblGrid>
                <a:gridCol w="3931920"/>
                <a:gridCol w="1371600"/>
                <a:gridCol w="1371600"/>
              </a:tblGrid>
              <a:tr h="384048">
                <a:tc>
                  <a:txBody>
                    <a:bodyPr/>
                    <a:lstStyle/>
                    <a:p>
                      <a:pPr indent="0" marL="0">
                        <a:buNone/>
                      </a:pPr>
                      <a:r>
                        <a:rPr lang="en-US" sz="1250" b="1" dirty="0">
                          <a:solidFill>
                            <a:srgbClr val="FFFFFF"/>
                          </a:solidFill>
                        </a:rPr>
                        <a:t>Condition</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solidFill>
                      <a:srgbClr val="1E2761"/>
                    </a:solidFill>
                  </a:tcPr>
                </a:tc>
                <a:tc>
                  <a:txBody>
                    <a:bodyPr/>
                    <a:lstStyle/>
                    <a:p>
                      <a:pPr indent="0" marL="0">
                        <a:buNone/>
                      </a:pPr>
                      <a:r>
                        <a:rPr lang="en-US" sz="1250" b="1" dirty="0">
                          <a:solidFill>
                            <a:srgbClr val="FFFFFF"/>
                          </a:solidFill>
                        </a:rPr>
                        <a:t>Precision</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solidFill>
                      <a:srgbClr val="1E2761"/>
                    </a:solidFill>
                  </a:tcPr>
                </a:tc>
                <a:tc>
                  <a:txBody>
                    <a:bodyPr/>
                    <a:lstStyle/>
                    <a:p>
                      <a:pPr indent="0" marL="0">
                        <a:buNone/>
                      </a:pPr>
                      <a:r>
                        <a:rPr lang="en-US" sz="1250" b="1" dirty="0">
                          <a:solidFill>
                            <a:srgbClr val="FFFFFF"/>
                          </a:solidFill>
                        </a:rPr>
                        <a:t>Recall</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solidFill>
                      <a:srgbClr val="1E2761"/>
                    </a:solidFill>
                  </a:tcPr>
                </a:tc>
              </a:tr>
              <a:tr h="384048">
                <a:tc>
                  <a:txBody>
                    <a:bodyPr/>
                    <a:lstStyle/>
                    <a:p>
                      <a:pPr indent="0" marL="0">
                        <a:buNone/>
                      </a:pPr>
                      <a:r>
                        <a:rPr lang="en-US" sz="1250" dirty="0">
                          <a:solidFill>
                            <a:srgbClr val="1A1A2E"/>
                          </a:solidFill>
                        </a:rPr>
                        <a:t>Imbalance sweep, 5% to 30% prevalence (held-out seed 7)</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c>
                  <a:txBody>
                    <a:bodyPr/>
                    <a:lstStyle/>
                    <a:p>
                      <a:pPr indent="0" marL="0">
                        <a:buNone/>
                      </a:pPr>
                      <a:r>
                        <a:rPr lang="en-US" sz="1250" dirty="0">
                          <a:solidFill>
                            <a:srgbClr val="1A1A2E"/>
                          </a:solidFill>
                        </a:rPr>
                        <a:t>0.96 to 1.00</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c>
                  <a:txBody>
                    <a:bodyPr/>
                    <a:lstStyle/>
                    <a:p>
                      <a:pPr indent="0" marL="0">
                        <a:buNone/>
                      </a:pPr>
                      <a:r>
                        <a:rPr lang="en-US" sz="1250" dirty="0">
                          <a:solidFill>
                            <a:srgbClr val="1A1A2E"/>
                          </a:solidFill>
                        </a:rPr>
                        <a:t>1.00</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r>
              <a:tr h="384048">
                <a:tc>
                  <a:txBody>
                    <a:bodyPr/>
                    <a:lstStyle/>
                    <a:p>
                      <a:pPr indent="0" marL="0">
                        <a:buNone/>
                      </a:pPr>
                      <a:r>
                        <a:rPr lang="en-US" sz="1250" dirty="0">
                          <a:solidFill>
                            <a:srgbClr val="1A1A2E"/>
                          </a:solidFill>
                        </a:rPr>
                        <a:t>Stress, seed 7, SurveyCTO</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c>
                  <a:txBody>
                    <a:bodyPr/>
                    <a:lstStyle/>
                    <a:p>
                      <a:pPr indent="0" marL="0">
                        <a:buNone/>
                      </a:pPr>
                      <a:r>
                        <a:rPr lang="en-US" sz="1250" dirty="0">
                          <a:solidFill>
                            <a:srgbClr val="1A1A2E"/>
                          </a:solidFill>
                        </a:rPr>
                        <a:t>0.98</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c>
                  <a:txBody>
                    <a:bodyPr/>
                    <a:lstStyle/>
                    <a:p>
                      <a:pPr indent="0" marL="0">
                        <a:buNone/>
                      </a:pPr>
                      <a:r>
                        <a:rPr lang="en-US" sz="1250" dirty="0">
                          <a:solidFill>
                            <a:srgbClr val="1A1A2E"/>
                          </a:solidFill>
                        </a:rPr>
                        <a:t>0.85</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r>
              <a:tr h="384048">
                <a:tc>
                  <a:txBody>
                    <a:bodyPr/>
                    <a:lstStyle/>
                    <a:p>
                      <a:pPr indent="0" marL="0">
                        <a:buNone/>
                      </a:pPr>
                      <a:r>
                        <a:rPr lang="en-US" sz="1250" dirty="0">
                          <a:solidFill>
                            <a:srgbClr val="1A1A2E"/>
                          </a:solidFill>
                        </a:rPr>
                        <a:t>Stress, seed 7, ODK</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c>
                  <a:txBody>
                    <a:bodyPr/>
                    <a:lstStyle/>
                    <a:p>
                      <a:pPr indent="0" marL="0">
                        <a:buNone/>
                      </a:pPr>
                      <a:r>
                        <a:rPr lang="en-US" sz="1250" dirty="0">
                          <a:solidFill>
                            <a:srgbClr val="1A1A2E"/>
                          </a:solidFill>
                        </a:rPr>
                        <a:t>0.96</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c>
                  <a:txBody>
                    <a:bodyPr/>
                    <a:lstStyle/>
                    <a:p>
                      <a:pPr indent="0" marL="0">
                        <a:buNone/>
                      </a:pPr>
                      <a:r>
                        <a:rPr lang="en-US" sz="1250" dirty="0">
                          <a:solidFill>
                            <a:srgbClr val="1A1A2E"/>
                          </a:solidFill>
                        </a:rPr>
                        <a:t>0.89</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r>
              <a:tr h="384048">
                <a:tc>
                  <a:txBody>
                    <a:bodyPr/>
                    <a:lstStyle/>
                    <a:p>
                      <a:pPr indent="0" marL="0">
                        <a:buNone/>
                      </a:pPr>
                      <a:r>
                        <a:rPr lang="en-US" sz="1250" dirty="0">
                          <a:solidFill>
                            <a:srgbClr val="1A1A2E"/>
                          </a:solidFill>
                        </a:rPr>
                        <a:t>Stress, seed 99, SurveyCTO</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c>
                  <a:txBody>
                    <a:bodyPr/>
                    <a:lstStyle/>
                    <a:p>
                      <a:pPr indent="0" marL="0">
                        <a:buNone/>
                      </a:pPr>
                      <a:r>
                        <a:rPr lang="en-US" sz="1250" dirty="0">
                          <a:solidFill>
                            <a:srgbClr val="1A1A2E"/>
                          </a:solidFill>
                        </a:rPr>
                        <a:t>1.00</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c>
                  <a:txBody>
                    <a:bodyPr/>
                    <a:lstStyle/>
                    <a:p>
                      <a:pPr indent="0" marL="0">
                        <a:buNone/>
                      </a:pPr>
                      <a:r>
                        <a:rPr lang="en-US" sz="1250" dirty="0">
                          <a:solidFill>
                            <a:srgbClr val="1A1A2E"/>
                          </a:solidFill>
                        </a:rPr>
                        <a:t>0.88</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r>
              <a:tr h="384048">
                <a:tc>
                  <a:txBody>
                    <a:bodyPr/>
                    <a:lstStyle/>
                    <a:p>
                      <a:pPr indent="0" marL="0">
                        <a:buNone/>
                      </a:pPr>
                      <a:r>
                        <a:rPr lang="en-US" sz="1250" dirty="0">
                          <a:solidFill>
                            <a:srgbClr val="1A1A2E"/>
                          </a:solidFill>
                        </a:rPr>
                        <a:t>Stress, seed 99, ODK</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c>
                  <a:txBody>
                    <a:bodyPr/>
                    <a:lstStyle/>
                    <a:p>
                      <a:pPr indent="0" marL="0">
                        <a:buNone/>
                      </a:pPr>
                      <a:r>
                        <a:rPr lang="en-US" sz="1250" dirty="0">
                          <a:solidFill>
                            <a:srgbClr val="1A1A2E"/>
                          </a:solidFill>
                        </a:rPr>
                        <a:t>1.00</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c>
                  <a:txBody>
                    <a:bodyPr/>
                    <a:lstStyle/>
                    <a:p>
                      <a:pPr indent="0" marL="0">
                        <a:buNone/>
                      </a:pPr>
                      <a:r>
                        <a:rPr lang="en-US" sz="1250" dirty="0">
                          <a:solidFill>
                            <a:srgbClr val="1A1A2E"/>
                          </a:solidFill>
                        </a:rPr>
                        <a:t>0.84</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r>
              <a:tr h="384048">
                <a:tc>
                  <a:txBody>
                    <a:bodyPr/>
                    <a:lstStyle/>
                    <a:p>
                      <a:pPr indent="0" marL="0">
                        <a:buNone/>
                      </a:pPr>
                      <a:r>
                        <a:rPr lang="en-US" sz="1250" dirty="0">
                          <a:solidFill>
                            <a:srgbClr val="1A1A2E"/>
                          </a:solidFill>
                        </a:rPr>
                        <a:t>Duration-only baseline (current practice)</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c>
                  <a:txBody>
                    <a:bodyPr/>
                    <a:lstStyle/>
                    <a:p>
                      <a:pPr indent="0" marL="0">
                        <a:buNone/>
                      </a:pPr>
                      <a:r>
                        <a:rPr lang="en-US" sz="1250" dirty="0">
                          <a:solidFill>
                            <a:srgbClr val="1A1A2E"/>
                          </a:solidFill>
                        </a:rPr>
                        <a:t>0.96</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c>
                  <a:txBody>
                    <a:bodyPr/>
                    <a:lstStyle/>
                    <a:p>
                      <a:pPr indent="0" marL="0">
                        <a:buNone/>
                      </a:pPr>
                      <a:r>
                        <a:rPr lang="en-US" sz="1250" dirty="0">
                          <a:solidFill>
                            <a:srgbClr val="1A1A2E"/>
                          </a:solidFill>
                        </a:rPr>
                        <a:t>0.66</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r>
            </a:tbl>
          </a:graphicData>
        </a:graphic>
      </p:graphicFrame>
      <p:sp>
        <p:nvSpPr>
          <p:cNvPr id="4" name="Shape 1"/>
          <p:cNvSpPr/>
          <p:nvPr/>
        </p:nvSpPr>
        <p:spPr>
          <a:xfrm>
            <a:off x="7680960" y="1325880"/>
            <a:ext cx="3840480" cy="4206240"/>
          </a:xfrm>
          <a:prstGeom prst="roundRect">
            <a:avLst>
              <a:gd name="adj" fmla="val 2857"/>
            </a:avLst>
          </a:prstGeom>
          <a:solidFill>
            <a:srgbClr val="F2F5FB"/>
          </a:solidFill>
          <a:ln/>
        </p:spPr>
      </p:sp>
      <p:sp>
        <p:nvSpPr>
          <p:cNvPr id="5" name="Text 2"/>
          <p:cNvSpPr/>
          <p:nvPr/>
        </p:nvSpPr>
        <p:spPr>
          <a:xfrm>
            <a:off x="7909560" y="1508760"/>
            <a:ext cx="3383280" cy="548640"/>
          </a:xfrm>
          <a:prstGeom prst="rect">
            <a:avLst/>
          </a:prstGeom>
          <a:noFill/>
          <a:ln/>
        </p:spPr>
        <p:txBody>
          <a:bodyPr wrap="square" rtlCol="0" anchor="ctr"/>
          <a:lstStyle/>
          <a:p>
            <a:pPr indent="0" marL="0">
              <a:buNone/>
            </a:pPr>
            <a:r>
              <a:rPr lang="en-US" sz="1300" b="1" dirty="0">
                <a:solidFill>
                  <a:srgbClr val="1E2761"/>
                </a:solidFill>
              </a:rPr>
              <a:t>Per-type detection (stress, all four runs)</a:t>
            </a:r>
            <a:endParaRPr lang="en-US" sz="1300" dirty="0"/>
          </a:p>
        </p:txBody>
      </p:sp>
      <p:sp>
        <p:nvSpPr>
          <p:cNvPr id="6" name="Text 3"/>
          <p:cNvSpPr/>
          <p:nvPr/>
        </p:nvSpPr>
        <p:spPr>
          <a:xfrm>
            <a:off x="7909560" y="2103120"/>
            <a:ext cx="3383280" cy="1371600"/>
          </a:xfrm>
          <a:prstGeom prst="rect">
            <a:avLst/>
          </a:prstGeom>
          <a:noFill/>
          <a:ln/>
        </p:spPr>
        <p:txBody>
          <a:bodyPr wrap="square" rtlCol="0" anchor="ctr"/>
          <a:lstStyle/>
          <a:p>
            <a:pPr indent="0" marL="0">
              <a:spcAft>
                <a:spcPts val="600"/>
              </a:spcAft>
              <a:buNone/>
            </a:pPr>
            <a:r>
              <a:rPr lang="en-US" sz="1300" dirty="0">
                <a:solidFill>
                  <a:srgbClr val="1A1A2E"/>
                </a:solidFill>
                <a:latin typeface="Courier New" pitchFamily="34" charset="0"/>
                <a:ea typeface="Courier New" pitchFamily="34" charset="-122"/>
                <a:cs typeface="Courier New" pitchFamily="34" charset="-120"/>
              </a:rPr>
              <a:t>Speeding      132 / 132</a:t>
            </a:r>
            <a:endParaRPr lang="en-US" sz="1300" dirty="0"/>
          </a:p>
          <a:p>
            <a:pPr indent="0" marL="0">
              <a:spcAft>
                <a:spcPts val="600"/>
              </a:spcAft>
              <a:buNone/>
            </a:pPr>
            <a:r>
              <a:rPr lang="en-US" sz="1300" dirty="0">
                <a:solidFill>
                  <a:srgbClr val="1A1A2E"/>
                </a:solidFill>
                <a:latin typeface="Courier New" pitchFamily="34" charset="0"/>
                <a:ea typeface="Courier New" pitchFamily="34" charset="-122"/>
                <a:cs typeface="Courier New" pitchFamily="34" charset="-120"/>
              </a:rPr>
              <a:t>Disengaged   121 / 136  (89%)</a:t>
            </a:r>
            <a:endParaRPr lang="en-US" sz="1300" dirty="0"/>
          </a:p>
          <a:p>
            <a:pPr indent="0" marL="0">
              <a:buNone/>
            </a:pPr>
            <a:r>
              <a:rPr lang="en-US" sz="1300" dirty="0">
                <a:solidFill>
                  <a:srgbClr val="1A1A2E"/>
                </a:solidFill>
                <a:latin typeface="Courier New" pitchFamily="34" charset="0"/>
                <a:ea typeface="Courier New" pitchFamily="34" charset="-122"/>
                <a:cs typeface="Courier New" pitchFamily="34" charset="-120"/>
              </a:rPr>
              <a:t>Fabricated     93 / 132  (70%)</a:t>
            </a:r>
            <a:endParaRPr lang="en-US" sz="1300" dirty="0"/>
          </a:p>
        </p:txBody>
      </p:sp>
      <p:sp>
        <p:nvSpPr>
          <p:cNvPr id="7" name="Text 4"/>
          <p:cNvSpPr/>
          <p:nvPr/>
        </p:nvSpPr>
        <p:spPr>
          <a:xfrm>
            <a:off x="7909560" y="3566160"/>
            <a:ext cx="3383280" cy="1737360"/>
          </a:xfrm>
          <a:prstGeom prst="rect">
            <a:avLst/>
          </a:prstGeom>
          <a:noFill/>
          <a:ln/>
        </p:spPr>
        <p:txBody>
          <a:bodyPr wrap="square" rtlCol="0" anchor="ctr"/>
          <a:lstStyle/>
          <a:p>
            <a:pPr indent="0" marL="0">
              <a:lnSpc>
                <a:spcPct val="115000"/>
              </a:lnSpc>
              <a:buNone/>
            </a:pPr>
            <a:r>
              <a:rPr lang="en-US" sz="1150" dirty="0">
                <a:solidFill>
                  <a:srgbClr val="5A6270"/>
                </a:solidFill>
              </a:rPr>
              <a:t>Misses concentrate in mildly compressed fabrication, whose univariate profile sits inside normal bounds: the known limit of IQR methods, accepted in scope.</a:t>
            </a:r>
            <a:endParaRPr lang="en-US" sz="1150" dirty="0"/>
          </a:p>
        </p:txBody>
      </p:sp>
      <p:sp>
        <p:nvSpPr>
          <p:cNvPr id="8" name="Text 5"/>
          <p:cNvSpPr/>
          <p:nvPr/>
        </p:nvSpPr>
        <p:spPr>
          <a:xfrm>
            <a:off x="640080" y="5806440"/>
            <a:ext cx="10972800" cy="548640"/>
          </a:xfrm>
          <a:prstGeom prst="rect">
            <a:avLst/>
          </a:prstGeom>
          <a:noFill/>
          <a:ln/>
        </p:spPr>
        <p:txBody>
          <a:bodyPr wrap="square" rtlCol="0" anchor="ctr"/>
          <a:lstStyle/>
          <a:p>
            <a:pPr algn="ctr" indent="0" marL="0">
              <a:buNone/>
            </a:pPr>
            <a:r>
              <a:rPr lang="en-US" sz="1350" b="1" i="1" dirty="0">
                <a:solidFill>
                  <a:srgbClr val="B85042"/>
                </a:solidFill>
              </a:rPr>
              <a:t>Every run exceeds the proposal's success criteria. Seeds 7 and 99 were never used during development.</a:t>
            </a:r>
            <a:endParaRPr lang="en-US" sz="13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Limitations and future work</a:t>
            </a:r>
            <a:endParaRPr lang="en-US" sz="3000" dirty="0"/>
          </a:p>
        </p:txBody>
      </p:sp>
      <p:sp>
        <p:nvSpPr>
          <p:cNvPr id="3" name="Text 1"/>
          <p:cNvSpPr/>
          <p:nvPr/>
        </p:nvSpPr>
        <p:spPr>
          <a:xfrm>
            <a:off x="640080" y="1371600"/>
            <a:ext cx="5394960" cy="457200"/>
          </a:xfrm>
          <a:prstGeom prst="rect">
            <a:avLst/>
          </a:prstGeom>
          <a:noFill/>
          <a:ln/>
        </p:spPr>
        <p:txBody>
          <a:bodyPr wrap="square" rtlCol="0" anchor="ctr"/>
          <a:lstStyle/>
          <a:p>
            <a:pPr indent="0" marL="0">
              <a:buNone/>
            </a:pPr>
            <a:r>
              <a:rPr lang="en-US" sz="1900" b="1" dirty="0">
                <a:solidFill>
                  <a:srgbClr val="1E2761"/>
                </a:solidFill>
              </a:rPr>
              <a:t>Limitations</a:t>
            </a:r>
            <a:endParaRPr lang="en-US" sz="1900" dirty="0"/>
          </a:p>
        </p:txBody>
      </p:sp>
      <p:sp>
        <p:nvSpPr>
          <p:cNvPr id="4" name="Text 2"/>
          <p:cNvSpPr/>
          <p:nvPr/>
        </p:nvSpPr>
        <p:spPr>
          <a:xfrm>
            <a:off x="640080" y="1920240"/>
            <a:ext cx="5394960" cy="3200400"/>
          </a:xfrm>
          <a:prstGeom prst="rect">
            <a:avLst/>
          </a:prstGeom>
          <a:noFill/>
          <a:ln/>
        </p:spPr>
        <p:txBody>
          <a:bodyPr wrap="square" rtlCol="0" anchor="ctr"/>
          <a:lstStyle/>
          <a:p>
            <a:pPr marL="342900" indent="-342900">
              <a:lnSpc>
                <a:spcPct val="115000"/>
              </a:lnSpc>
              <a:spcAft>
                <a:spcPts val="800"/>
              </a:spcAft>
              <a:buSzPct val="100000"/>
              <a:buChar char="•"/>
            </a:pPr>
            <a:r>
              <a:rPr lang="en-US" sz="1350" dirty="0">
                <a:solidFill>
                  <a:srgbClr val="1A1A2E"/>
                </a:solidFill>
              </a:rPr>
              <a:t>Evaluation is synthetic throughout; results estimate an upper bound on field performance.</a:t>
            </a:r>
            <a:endParaRPr lang="en-US" sz="1350" dirty="0"/>
          </a:p>
          <a:p>
            <a:pPr marL="342900" indent="-342900">
              <a:lnSpc>
                <a:spcPct val="115000"/>
              </a:lnSpc>
              <a:spcAft>
                <a:spcPts val="800"/>
              </a:spcAft>
              <a:buSzPct val="100000"/>
              <a:buChar char="•"/>
            </a:pPr>
            <a:r>
              <a:rPr lang="en-US" sz="1350" dirty="0">
                <a:solidFill>
                  <a:srgbClr val="1A1A2E"/>
                </a:solidFill>
              </a:rPr>
              <a:t>Detection is univariate: jointly-expressed anomalies (mild fabrication) evade fences.</a:t>
            </a:r>
            <a:endParaRPr lang="en-US" sz="1350" dirty="0"/>
          </a:p>
          <a:p>
            <a:pPr marL="342900" indent="-342900">
              <a:lnSpc>
                <a:spcPct val="115000"/>
              </a:lnSpc>
              <a:buSzPct val="100000"/>
              <a:buChar char="•"/>
            </a:pPr>
            <a:r>
              <a:rPr lang="en-US" sz="1350" dirty="0">
                <a:solidFill>
                  <a:srgbClr val="1A1A2E"/>
                </a:solidFill>
              </a:rPr>
              <a:t>Default thresholds derive from literature and calibration data; unusual instruments should recalibrate.</a:t>
            </a:r>
            <a:endParaRPr lang="en-US" sz="1350" dirty="0"/>
          </a:p>
        </p:txBody>
      </p:sp>
      <p:sp>
        <p:nvSpPr>
          <p:cNvPr id="5" name="Text 3"/>
          <p:cNvSpPr/>
          <p:nvPr/>
        </p:nvSpPr>
        <p:spPr>
          <a:xfrm>
            <a:off x="6400800" y="1371600"/>
            <a:ext cx="5120640" cy="457200"/>
          </a:xfrm>
          <a:prstGeom prst="rect">
            <a:avLst/>
          </a:prstGeom>
          <a:noFill/>
          <a:ln/>
        </p:spPr>
        <p:txBody>
          <a:bodyPr wrap="square" rtlCol="0" anchor="ctr"/>
          <a:lstStyle/>
          <a:p>
            <a:pPr indent="0" marL="0">
              <a:buNone/>
            </a:pPr>
            <a:r>
              <a:rPr lang="en-US" sz="1900" b="1" dirty="0">
                <a:solidFill>
                  <a:srgbClr val="1E2761"/>
                </a:solidFill>
              </a:rPr>
              <a:t>Future work</a:t>
            </a:r>
            <a:endParaRPr lang="en-US" sz="1900" dirty="0"/>
          </a:p>
        </p:txBody>
      </p:sp>
      <p:sp>
        <p:nvSpPr>
          <p:cNvPr id="6" name="Text 4"/>
          <p:cNvSpPr/>
          <p:nvPr/>
        </p:nvSpPr>
        <p:spPr>
          <a:xfrm>
            <a:off x="6400800" y="1920240"/>
            <a:ext cx="5120640" cy="3200400"/>
          </a:xfrm>
          <a:prstGeom prst="rect">
            <a:avLst/>
          </a:prstGeom>
          <a:noFill/>
          <a:ln/>
        </p:spPr>
        <p:txBody>
          <a:bodyPr wrap="square" rtlCol="0" anchor="ctr"/>
          <a:lstStyle/>
          <a:p>
            <a:pPr marL="342900" indent="-342900">
              <a:lnSpc>
                <a:spcPct val="115000"/>
              </a:lnSpc>
              <a:spcAft>
                <a:spcPts val="800"/>
              </a:spcAft>
              <a:buSzPct val="100000"/>
              <a:buChar char="•"/>
            </a:pPr>
            <a:r>
              <a:rPr lang="en-US" sz="1350" dirty="0">
                <a:solidFill>
                  <a:srgbClr val="1A1A2E"/>
                </a:solidFill>
              </a:rPr>
              <a:t>Validate against real field paradata with independently verified outcomes.</a:t>
            </a:r>
            <a:endParaRPr lang="en-US" sz="1350" dirty="0"/>
          </a:p>
          <a:p>
            <a:pPr marL="342900" indent="-342900">
              <a:lnSpc>
                <a:spcPct val="115000"/>
              </a:lnSpc>
              <a:spcAft>
                <a:spcPts val="800"/>
              </a:spcAft>
              <a:buSzPct val="100000"/>
              <a:buChar char="•"/>
            </a:pPr>
            <a:r>
              <a:rPr lang="en-US" sz="1350" dirty="0">
                <a:solidFill>
                  <a:srgbClr val="1A1A2E"/>
                </a:solidFill>
              </a:rPr>
              <a:t>Add an interpretable multivariate layer to catch joint-pattern fabrication.</a:t>
            </a:r>
            <a:endParaRPr lang="en-US" sz="1350" dirty="0"/>
          </a:p>
          <a:p>
            <a:pPr marL="342900" indent="-342900">
              <a:lnSpc>
                <a:spcPct val="115000"/>
              </a:lnSpc>
              <a:buSzPct val="100000"/>
              <a:buChar char="•"/>
            </a:pPr>
            <a:r>
              <a:rPr lang="en-US" sz="1350" dirty="0">
                <a:solidFill>
                  <a:srgbClr val="1A1A2E"/>
                </a:solidFill>
              </a:rPr>
              <a:t>Add parsers for further platforms; the architecture was designed for exactly this.</a:t>
            </a:r>
            <a:endParaRPr lang="en-US" sz="13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822960" y="640080"/>
            <a:ext cx="10515600" cy="731520"/>
          </a:xfrm>
          <a:prstGeom prst="rect">
            <a:avLst/>
          </a:prstGeom>
          <a:noFill/>
          <a:ln/>
        </p:spPr>
        <p:txBody>
          <a:bodyPr wrap="square" rtlCol="0" anchor="ctr"/>
          <a:lstStyle/>
          <a:p>
            <a:pPr indent="0" marL="0">
              <a:buNone/>
            </a:pPr>
            <a:r>
              <a:rPr lang="en-US" sz="3000" b="1" dirty="0">
                <a:solidFill>
                  <a:srgbClr val="FFFFFF"/>
                </a:solidFill>
              </a:rPr>
              <a:t>Conclusion</a:t>
            </a:r>
            <a:endParaRPr lang="en-US" sz="3000" dirty="0"/>
          </a:p>
        </p:txBody>
      </p:sp>
      <p:sp>
        <p:nvSpPr>
          <p:cNvPr id="3" name="Text 1"/>
          <p:cNvSpPr/>
          <p:nvPr/>
        </p:nvSpPr>
        <p:spPr>
          <a:xfrm>
            <a:off x="822960" y="1417320"/>
            <a:ext cx="10515600" cy="822960"/>
          </a:xfrm>
          <a:prstGeom prst="rect">
            <a:avLst/>
          </a:prstGeom>
          <a:noFill/>
          <a:ln/>
        </p:spPr>
        <p:txBody>
          <a:bodyPr wrap="square" rtlCol="0" anchor="ctr"/>
          <a:lstStyle/>
          <a:p>
            <a:pPr indent="0" marL="0">
              <a:lnSpc>
                <a:spcPct val="110000"/>
              </a:lnSpc>
              <a:buNone/>
            </a:pPr>
            <a:r>
              <a:rPr lang="en-US" sz="1700" i="1" dirty="0">
                <a:solidFill>
                  <a:srgbClr val="CADCFC"/>
                </a:solidFill>
              </a:rPr>
              <a:t>All six objectives met. Timing-based paradata analysis is practical, transparent and materially better than duration-only checking.</a:t>
            </a:r>
            <a:endParaRPr lang="en-US" sz="1700" dirty="0"/>
          </a:p>
        </p:txBody>
      </p:sp>
      <p:sp>
        <p:nvSpPr>
          <p:cNvPr id="4" name="Shape 2"/>
          <p:cNvSpPr/>
          <p:nvPr/>
        </p:nvSpPr>
        <p:spPr>
          <a:xfrm>
            <a:off x="822960" y="2514600"/>
            <a:ext cx="5257800" cy="960120"/>
          </a:xfrm>
          <a:prstGeom prst="roundRect">
            <a:avLst>
              <a:gd name="adj" fmla="val 8571"/>
            </a:avLst>
          </a:prstGeom>
          <a:solidFill>
            <a:srgbClr val="2A3572"/>
          </a:solidFill>
          <a:ln/>
        </p:spPr>
      </p:sp>
      <p:sp>
        <p:nvSpPr>
          <p:cNvPr id="5" name="Text 3"/>
          <p:cNvSpPr/>
          <p:nvPr/>
        </p:nvSpPr>
        <p:spPr>
          <a:xfrm>
            <a:off x="1051560" y="2514600"/>
            <a:ext cx="4846320" cy="960120"/>
          </a:xfrm>
          <a:prstGeom prst="rect">
            <a:avLst/>
          </a:prstGeom>
          <a:noFill/>
          <a:ln/>
        </p:spPr>
        <p:txBody>
          <a:bodyPr wrap="square" rtlCol="0" anchor="ctr"/>
          <a:lstStyle/>
          <a:p>
            <a:pPr indent="0" marL="0">
              <a:lnSpc>
                <a:spcPct val="105000"/>
              </a:lnSpc>
              <a:buNone/>
            </a:pPr>
            <a:r>
              <a:rPr lang="en-US" sz="1250" dirty="0">
                <a:solidFill>
                  <a:srgbClr val="FFFFFF"/>
                </a:solidFill>
              </a:rPr>
              <a:t>Python feature library: 40 documented features</a:t>
            </a:r>
            <a:endParaRPr lang="en-US" sz="1250" dirty="0"/>
          </a:p>
        </p:txBody>
      </p:sp>
      <p:sp>
        <p:nvSpPr>
          <p:cNvPr id="6" name="Shape 4"/>
          <p:cNvSpPr/>
          <p:nvPr/>
        </p:nvSpPr>
        <p:spPr>
          <a:xfrm>
            <a:off x="6355080" y="2514600"/>
            <a:ext cx="5257800" cy="960120"/>
          </a:xfrm>
          <a:prstGeom prst="roundRect">
            <a:avLst>
              <a:gd name="adj" fmla="val 8571"/>
            </a:avLst>
          </a:prstGeom>
          <a:solidFill>
            <a:srgbClr val="2A3572"/>
          </a:solidFill>
          <a:ln/>
        </p:spPr>
      </p:sp>
      <p:sp>
        <p:nvSpPr>
          <p:cNvPr id="7" name="Text 5"/>
          <p:cNvSpPr/>
          <p:nvPr/>
        </p:nvSpPr>
        <p:spPr>
          <a:xfrm>
            <a:off x="6583680" y="2514600"/>
            <a:ext cx="4846320" cy="960120"/>
          </a:xfrm>
          <a:prstGeom prst="rect">
            <a:avLst/>
          </a:prstGeom>
          <a:noFill/>
          <a:ln/>
        </p:spPr>
        <p:txBody>
          <a:bodyPr wrap="square" rtlCol="0" anchor="ctr"/>
          <a:lstStyle/>
          <a:p>
            <a:pPr indent="0" marL="0">
              <a:lnSpc>
                <a:spcPct val="105000"/>
              </a:lnSpc>
              <a:buNone/>
            </a:pPr>
            <a:r>
              <a:rPr lang="en-US" sz="1250" dirty="0">
                <a:solidFill>
                  <a:srgbClr val="FFFFFF"/>
                </a:solidFill>
              </a:rPr>
              <a:t>Paradata format guide: SurveyCTO and ODK</a:t>
            </a:r>
            <a:endParaRPr lang="en-US" sz="1250" dirty="0"/>
          </a:p>
        </p:txBody>
      </p:sp>
      <p:sp>
        <p:nvSpPr>
          <p:cNvPr id="8" name="Shape 6"/>
          <p:cNvSpPr/>
          <p:nvPr/>
        </p:nvSpPr>
        <p:spPr>
          <a:xfrm>
            <a:off x="822960" y="3657600"/>
            <a:ext cx="5257800" cy="960120"/>
          </a:xfrm>
          <a:prstGeom prst="roundRect">
            <a:avLst>
              <a:gd name="adj" fmla="val 8571"/>
            </a:avLst>
          </a:prstGeom>
          <a:solidFill>
            <a:srgbClr val="2A3572"/>
          </a:solidFill>
          <a:ln/>
        </p:spPr>
      </p:sp>
      <p:sp>
        <p:nvSpPr>
          <p:cNvPr id="9" name="Text 7"/>
          <p:cNvSpPr/>
          <p:nvPr/>
        </p:nvSpPr>
        <p:spPr>
          <a:xfrm>
            <a:off x="1051560" y="3657600"/>
            <a:ext cx="4846320" cy="960120"/>
          </a:xfrm>
          <a:prstGeom prst="rect">
            <a:avLst/>
          </a:prstGeom>
          <a:noFill/>
          <a:ln/>
        </p:spPr>
        <p:txBody>
          <a:bodyPr wrap="square" rtlCol="0" anchor="ctr"/>
          <a:lstStyle/>
          <a:p>
            <a:pPr indent="0" marL="0">
              <a:lnSpc>
                <a:spcPct val="105000"/>
              </a:lnSpc>
              <a:buNone/>
            </a:pPr>
            <a:r>
              <a:rPr lang="en-US" sz="1250" dirty="0">
                <a:solidFill>
                  <a:srgbClr val="FFFFFF"/>
                </a:solidFill>
              </a:rPr>
              <a:t>Labelled synthetic validation datasets (n=500 to 10,000, both formats)</a:t>
            </a:r>
            <a:endParaRPr lang="en-US" sz="1250" dirty="0"/>
          </a:p>
        </p:txBody>
      </p:sp>
      <p:sp>
        <p:nvSpPr>
          <p:cNvPr id="10" name="Shape 8"/>
          <p:cNvSpPr/>
          <p:nvPr/>
        </p:nvSpPr>
        <p:spPr>
          <a:xfrm>
            <a:off x="6355080" y="3657600"/>
            <a:ext cx="5257800" cy="960120"/>
          </a:xfrm>
          <a:prstGeom prst="roundRect">
            <a:avLst>
              <a:gd name="adj" fmla="val 8571"/>
            </a:avLst>
          </a:prstGeom>
          <a:solidFill>
            <a:srgbClr val="2A3572"/>
          </a:solidFill>
          <a:ln/>
        </p:spPr>
      </p:sp>
      <p:sp>
        <p:nvSpPr>
          <p:cNvPr id="11" name="Text 9"/>
          <p:cNvSpPr/>
          <p:nvPr/>
        </p:nvSpPr>
        <p:spPr>
          <a:xfrm>
            <a:off x="6583680" y="3657600"/>
            <a:ext cx="4846320" cy="960120"/>
          </a:xfrm>
          <a:prstGeom prst="rect">
            <a:avLst/>
          </a:prstGeom>
          <a:noFill/>
          <a:ln/>
        </p:spPr>
        <p:txBody>
          <a:bodyPr wrap="square" rtlCol="0" anchor="ctr"/>
          <a:lstStyle/>
          <a:p>
            <a:pPr indent="0" marL="0">
              <a:lnSpc>
                <a:spcPct val="105000"/>
              </a:lnSpc>
              <a:buNone/>
            </a:pPr>
            <a:r>
              <a:rPr lang="en-US" sz="1250" dirty="0">
                <a:solidFill>
                  <a:srgbClr val="FFFFFF"/>
                </a:solidFill>
              </a:rPr>
              <a:t>Validation report: precision 0.95 to 1.00, recall 0.84 to 1.00 on held-out seeds</a:t>
            </a:r>
            <a:endParaRPr lang="en-US" sz="1250" dirty="0"/>
          </a:p>
        </p:txBody>
      </p:sp>
      <p:sp>
        <p:nvSpPr>
          <p:cNvPr id="12" name="Shape 10"/>
          <p:cNvSpPr/>
          <p:nvPr/>
        </p:nvSpPr>
        <p:spPr>
          <a:xfrm>
            <a:off x="822960" y="4800600"/>
            <a:ext cx="5257800" cy="960120"/>
          </a:xfrm>
          <a:prstGeom prst="roundRect">
            <a:avLst>
              <a:gd name="adj" fmla="val 8571"/>
            </a:avLst>
          </a:prstGeom>
          <a:solidFill>
            <a:srgbClr val="2A3572"/>
          </a:solidFill>
          <a:ln/>
        </p:spPr>
      </p:sp>
      <p:sp>
        <p:nvSpPr>
          <p:cNvPr id="13" name="Text 11"/>
          <p:cNvSpPr/>
          <p:nvPr/>
        </p:nvSpPr>
        <p:spPr>
          <a:xfrm>
            <a:off x="1051560" y="4800600"/>
            <a:ext cx="4846320" cy="960120"/>
          </a:xfrm>
          <a:prstGeom prst="rect">
            <a:avLst/>
          </a:prstGeom>
          <a:noFill/>
          <a:ln/>
        </p:spPr>
        <p:txBody>
          <a:bodyPr wrap="square" rtlCol="0" anchor="ctr"/>
          <a:lstStyle/>
          <a:p>
            <a:pPr indent="0" marL="0">
              <a:lnSpc>
                <a:spcPct val="105000"/>
              </a:lnSpc>
              <a:buNone/>
            </a:pPr>
            <a:r>
              <a:rPr lang="en-US" sz="1250" dirty="0">
                <a:solidFill>
                  <a:srgbClr val="FFFFFF"/>
                </a:solidFill>
              </a:rPr>
              <a:t>Final paper (5,500 words) and this presentation</a:t>
            </a:r>
            <a:endParaRPr lang="en-US" sz="1250" dirty="0"/>
          </a:p>
        </p:txBody>
      </p:sp>
      <p:sp>
        <p:nvSpPr>
          <p:cNvPr id="14" name="Shape 12"/>
          <p:cNvSpPr/>
          <p:nvPr/>
        </p:nvSpPr>
        <p:spPr>
          <a:xfrm>
            <a:off x="6355080" y="4800600"/>
            <a:ext cx="5257800" cy="960120"/>
          </a:xfrm>
          <a:prstGeom prst="roundRect">
            <a:avLst>
              <a:gd name="adj" fmla="val 8571"/>
            </a:avLst>
          </a:prstGeom>
          <a:solidFill>
            <a:srgbClr val="2A3572"/>
          </a:solidFill>
          <a:ln/>
        </p:spPr>
      </p:sp>
      <p:sp>
        <p:nvSpPr>
          <p:cNvPr id="15" name="Text 13"/>
          <p:cNvSpPr/>
          <p:nvPr/>
        </p:nvSpPr>
        <p:spPr>
          <a:xfrm>
            <a:off x="6583680" y="4800600"/>
            <a:ext cx="4846320" cy="960120"/>
          </a:xfrm>
          <a:prstGeom prst="rect">
            <a:avLst/>
          </a:prstGeom>
          <a:noFill/>
          <a:ln/>
        </p:spPr>
        <p:txBody>
          <a:bodyPr wrap="square" rtlCol="0" anchor="ctr"/>
          <a:lstStyle/>
          <a:p>
            <a:pPr indent="0" marL="0">
              <a:lnSpc>
                <a:spcPct val="105000"/>
              </a:lnSpc>
              <a:buNone/>
            </a:pPr>
            <a:r>
              <a:rPr lang="en-US" sz="1250" dirty="0">
                <a:solidFill>
                  <a:srgbClr val="FFFFFF"/>
                </a:solidFill>
              </a:rPr>
              <a:t>Structured outputs: feature datasets, anomaly reports, statistical summaries, charts</a:t>
            </a:r>
            <a:endParaRPr lang="en-US" sz="1250" dirty="0"/>
          </a:p>
        </p:txBody>
      </p:sp>
      <p:sp>
        <p:nvSpPr>
          <p:cNvPr id="16" name="Text 14"/>
          <p:cNvSpPr/>
          <p:nvPr/>
        </p:nvSpPr>
        <p:spPr>
          <a:xfrm>
            <a:off x="822960" y="6126480"/>
            <a:ext cx="10515600" cy="457200"/>
          </a:xfrm>
          <a:prstGeom prst="rect">
            <a:avLst/>
          </a:prstGeom>
          <a:noFill/>
          <a:ln/>
        </p:spPr>
        <p:txBody>
          <a:bodyPr wrap="square" rtlCol="0" anchor="ctr"/>
          <a:lstStyle/>
          <a:p>
            <a:pPr algn="ctr" indent="0" marL="0">
              <a:buNone/>
            </a:pPr>
            <a:r>
              <a:rPr lang="en-US" sz="1300" dirty="0">
                <a:solidFill>
                  <a:srgbClr val="CADCFC"/>
                </a:solidFill>
              </a:rPr>
              <a:t>Repository: github.com/Samuelkaoma-eng/SKACE-TIME-DATA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The University of Zambia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Automated Extraction and Analysis of Timing-Based Paradata Features for Survey Quality Assurance</dc:title>
  <dc:subject>PptxGenJS Presentation</dc:subject>
  <dc:creator>Samuel Kaoma</dc:creator>
  <cp:lastModifiedBy>Samuel Kaoma</cp:lastModifiedBy>
  <cp:revision>1</cp:revision>
  <dcterms:created xsi:type="dcterms:W3CDTF">2026-07-14T18:36:39Z</dcterms:created>
  <dcterms:modified xsi:type="dcterms:W3CDTF">2026-07-14T18:36:39Z</dcterms:modified>
</cp:coreProperties>
</file>