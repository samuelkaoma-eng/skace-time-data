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8" r:id="rId29"/>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project makes the timing data that survey platforms already record, called paradata, usable for detecting fabricated, rushed and disengaged interviews at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major field platforms record when every question was opened, answered and revisited. The literature, especially Wenz, Kreuter and Janke 2019, shows fabricated interviews have compressed, uniform timing. But quality teams mostly check only total duration. In my own evaluation a duration-only check misses a third of injected anomalies.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aim from my proposal, and the six objectives. All six are met; each maps to a deliverable I will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related work that grounds the design. The most important source is Wenz, Kreuter and Janke: their fabrication signature, compressed timing and low back-navigation, is exactly what the detector looks for. Yan and Tourangeau give the latency features, Conrad et al. the pause and navigation features, Kreuter the survey-level features and the need for platform-specific parsing, and Iglewicz and Hoaglin justify choosing IQR fences over z-score for skewed response-time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methodology was iterative and incremental with test-driven development, and the report states this explicitly. I did not follow strict waterfall. Requirements were stable, but how the detector actually behaved could only be seen by running it against labelled data. The clearest example: early evaluations scored perfect precision and recall everywhere. I treated that as a warning rather than success, rebuilt the generator to be harder and moved to held-out seeds, and the numbers came down to a defensible range. The commit history shows these build, evaluate, refine cycles.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decoupled layers. The key design decision is the common intermediate representation in the middle: parsers normalise each platform into one six-column table, and features and detection never see platform specifics. The same detector performed equivalently on both formats in every experiment, which validates this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features in four groups, each grounded in a cited source: compressed IQR and variance from Wenz et al., latency features from Yan and Tourangeau, navigation and pause features from Conrad et al., survey-level robust indicators from Kreuter. The statistical group carries the most detection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is standard scientific Python, nothing exotic. pandas and NumPy do the data work. The statistical features use SciPy directly, entropy, skew and kurtosis. Feature significance uses statsmodels, and scikit-learn provides the ROC analysis and the precision, recall and F1 metrics. Matplotlib and Seaborn draw the charts. Testing is pytest plus Hypothesis for property-based tests, the notebook is Jupyter, and everything is under Git and GitHub, reproducible from a single clone.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complementary mechanisms. IQR fences suit right-skewed response time data. Rules encode the qualitative fabrication and disengagement indicators from the literature, expressed relative to each sample's median so they carry no absolute assumptions. The final score is a transparent count, deliberately not a black-box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terminal output. The user gives only the raw files; format detection is automatic, including hybrid files where both platforms were merged into one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row per interview, forty feature columns with stable identifiers, plus interview id and source file. This is the structured output dataset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Highlighted rows are flagged. Notice normal interviews score at most one and stay CLEAN, while each flagged row lists its reasons, low entropy, uniform timing, zero back-navigation and so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Drilling into one interview. Six named flags, all pointing at the fabrication signature from the literature: compressed and uniform timing with no natural navigation errors. The ground-truth label confirms the catch.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labels exist, evaluation is one flag away. The detector never sees the labels; a strict one-to-one join computes the metrics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visualization script turns the metric outputs into charts: overall precision, recall, F1 and accuracy per benchmark on the left, detection rate by anomaly type on the right. These are the actual charts from the final validation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separate how I tested from what I found. Correctness comes first: 33 unit and property tests, and a strict examiner audit that recomputes features by hand and checks they match. Only then detection power, and deliberately on hard, held-out data, with two current-practice baselines to beat. The detector never sees the labels, so there is no leakage inflating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are from the reconciled July validation round in a clean environment. The sweep varies prevalence from five to thirty percent, recall holds at one. The stress runs overlap normal and anomalous behaviour on purpose and still clear both targets. The baseline row is the point of the project: current practice recalls 66 percent; this system recalls 84 to 100 percent depending on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Ethics matter here because the output is about people's work. Two strands. On data and privacy, all my evaluation is synthetic, and paradata by its nature holds timing and navigation, not answers or identities, so privacy risk is low; on real data, informed consent for quality-assurance analysis would be required. On responsible use, the most important point: a flag is a suspicion, not a verdict. Using these flags to punish enumerators automatically would harm people over false positives. The transparent per-flag score is designed precisely so a human reviews the reason before any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state these openly because the evaluation was built to find them. Early perfect scores were treated as a warning, not a result; the harder evaluation produced lower numbers and a more defensible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ran to the 32-week plan in my proposal. I have grouped the eleven proposal phases into five here for readability. Build actually ran ahead of schedule, which is why the middle phases finished early and the later time went into the harder validation, documentation and the report. The milestone tracker lists all eleven phases with links to the evidence and the commits.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system parses both major platforms, computes a documented forty-feature taxonomy, and flags anomalies with an explainable score, exceeding the proposal's success criteria on data it had never seen. Thank you; I welcome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core references behind the design and evaluation. The full Harvard reference list is in the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1554480"/>
            <a:ext cx="10515600" cy="1828800"/>
          </a:xfrm>
          <a:prstGeom prst="rect">
            <a:avLst/>
          </a:prstGeom>
          <a:noFill/>
          <a:ln/>
        </p:spPr>
        <p:txBody>
          <a:bodyPr wrap="square" rtlCol="0" anchor="ctr"/>
          <a:lstStyle/>
          <a:p>
            <a:pPr indent="0" marL="0">
              <a:lnSpc>
                <a:spcPct val="110000"/>
              </a:lnSpc>
              <a:buNone/>
            </a:pPr>
            <a:r>
              <a:rPr lang="en-US" sz="3400" b="1" dirty="0">
                <a:solidFill>
                  <a:srgbClr val="FFFFFF"/>
                </a:solidFill>
                <a:latin typeface="Cambria" pitchFamily="34" charset="0"/>
                <a:ea typeface="Cambria" pitchFamily="34" charset="-122"/>
                <a:cs typeface="Cambria" pitchFamily="34" charset="-120"/>
              </a:rPr>
              <a:t>Automated Extraction and Analysis of Timing-Based Paradata Features for Survey Quality Assurance</a:t>
            </a:r>
            <a:endParaRPr lang="en-US" sz="3400" dirty="0"/>
          </a:p>
        </p:txBody>
      </p:sp>
      <p:sp>
        <p:nvSpPr>
          <p:cNvPr id="3" name="Text 1"/>
          <p:cNvSpPr/>
          <p:nvPr/>
        </p:nvSpPr>
        <p:spPr>
          <a:xfrm>
            <a:off x="822960" y="3566160"/>
            <a:ext cx="10515600" cy="457200"/>
          </a:xfrm>
          <a:prstGeom prst="rect">
            <a:avLst/>
          </a:prstGeom>
          <a:noFill/>
          <a:ln/>
        </p:spPr>
        <p:txBody>
          <a:bodyPr wrap="square" rtlCol="0" anchor="ctr"/>
          <a:lstStyle/>
          <a:p>
            <a:pPr indent="0" marL="0">
              <a:buNone/>
            </a:pPr>
            <a:r>
              <a:rPr lang="en-US" sz="1800" i="1" dirty="0">
                <a:solidFill>
                  <a:srgbClr val="CADCFC"/>
                </a:solidFill>
              </a:rPr>
              <a:t>CSC 4004 Final Year Project</a:t>
            </a:r>
            <a:endParaRPr lang="en-US" sz="1800" dirty="0"/>
          </a:p>
        </p:txBody>
      </p:sp>
      <p:sp>
        <p:nvSpPr>
          <p:cNvPr id="4" name="Text 2"/>
          <p:cNvSpPr/>
          <p:nvPr/>
        </p:nvSpPr>
        <p:spPr>
          <a:xfrm>
            <a:off x="822960" y="4297680"/>
            <a:ext cx="10515600" cy="1371600"/>
          </a:xfrm>
          <a:prstGeom prst="rect">
            <a:avLst/>
          </a:prstGeom>
          <a:noFill/>
          <a:ln/>
        </p:spPr>
        <p:txBody>
          <a:bodyPr wrap="square" rtlCol="0" anchor="ctr"/>
          <a:lstStyle/>
          <a:p>
            <a:pPr indent="0" marL="0">
              <a:buNone/>
            </a:pPr>
            <a:r>
              <a:rPr lang="en-US" sz="2000" b="1" dirty="0">
                <a:solidFill>
                  <a:srgbClr val="FFFFFF"/>
                </a:solidFill>
              </a:rPr>
              <a:t>Samuel Kaoma  ·  2022016530</a:t>
            </a:r>
            <a:endParaRPr lang="en-US" sz="2000" dirty="0"/>
          </a:p>
          <a:p>
            <a:pPr indent="0" marL="0">
              <a:buNone/>
            </a:pPr>
            <a:r>
              <a:rPr lang="en-US" sz="1600" dirty="0">
                <a:solidFill>
                  <a:srgbClr val="CADCFC"/>
                </a:solidFill>
              </a:rPr>
              <a:t>Supervisor: Mr. Mofya Phiri</a:t>
            </a:r>
            <a:endParaRPr lang="en-US" sz="2000" dirty="0"/>
          </a:p>
          <a:p>
            <a:pPr indent="0" marL="0">
              <a:buNone/>
            </a:pPr>
            <a:r>
              <a:rPr lang="en-US" sz="1400" dirty="0">
                <a:solidFill>
                  <a:srgbClr val="CADCFC"/>
                </a:solidFill>
              </a:rPr>
              <a:t>Department of Computing and Informatics, The University of Zambia</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The problem: rich timing data, unused</a:t>
            </a:r>
            <a:endParaRPr lang="en-US" sz="3000" dirty="0"/>
          </a:p>
        </p:txBody>
      </p:sp>
      <p:sp>
        <p:nvSpPr>
          <p:cNvPr id="3" name="Text 1"/>
          <p:cNvSpPr/>
          <p:nvPr/>
        </p:nvSpPr>
        <p:spPr>
          <a:xfrm>
            <a:off x="640080" y="1371600"/>
            <a:ext cx="6035040" cy="4023360"/>
          </a:xfrm>
          <a:prstGeom prst="rect">
            <a:avLst/>
          </a:prstGeom>
          <a:noFill/>
          <a:ln/>
        </p:spPr>
        <p:txBody>
          <a:bodyPr wrap="square" rtlCol="0" anchor="ctr"/>
          <a:lstStyle/>
          <a:p>
            <a:pPr marL="342900" indent="-342900">
              <a:lnSpc>
                <a:spcPct val="110000"/>
              </a:lnSpc>
              <a:spcAft>
                <a:spcPts val="1000"/>
              </a:spcAft>
              <a:buSzPct val="100000"/>
              <a:buChar char="•"/>
            </a:pPr>
            <a:r>
              <a:rPr lang="en-US" sz="1700" dirty="0">
                <a:solidFill>
                  <a:srgbClr val="1A1A2E"/>
                </a:solidFill>
              </a:rPr>
              <a:t>SurveyCTO and ODK log every question event with timestamps: paradata.</a:t>
            </a:r>
            <a:endParaRPr lang="en-US" sz="1700" dirty="0"/>
          </a:p>
          <a:p>
            <a:pPr marL="342900" indent="-342900">
              <a:lnSpc>
                <a:spcPct val="110000"/>
              </a:lnSpc>
              <a:spcAft>
                <a:spcPts val="1000"/>
              </a:spcAft>
              <a:buSzPct val="100000"/>
              <a:buChar char="•"/>
            </a:pPr>
            <a:r>
              <a:rPr lang="en-US" sz="1700" dirty="0">
                <a:solidFill>
                  <a:srgbClr val="1A1A2E"/>
                </a:solidFill>
              </a:rPr>
              <a:t>Research shows fabrication, speeding and disengagement leave clear timing signatures.</a:t>
            </a:r>
            <a:endParaRPr lang="en-US" sz="1700" dirty="0"/>
          </a:p>
          <a:p>
            <a:pPr marL="342900" indent="-342900">
              <a:lnSpc>
                <a:spcPct val="110000"/>
              </a:lnSpc>
              <a:spcAft>
                <a:spcPts val="1000"/>
              </a:spcAft>
              <a:buSzPct val="100000"/>
              <a:buChar char="•"/>
            </a:pPr>
            <a:r>
              <a:rPr lang="en-US" sz="1700" dirty="0">
                <a:solidFill>
                  <a:srgbClr val="1A1A2E"/>
                </a:solidFill>
              </a:rPr>
              <a:t>Yet practice still relies on one aggregate check: total interview duration.</a:t>
            </a:r>
            <a:endParaRPr lang="en-US" sz="1700" dirty="0"/>
          </a:p>
          <a:p>
            <a:pPr marL="342900" indent="-342900">
              <a:lnSpc>
                <a:spcPct val="110000"/>
              </a:lnSpc>
              <a:buSzPct val="100000"/>
              <a:buChar char="•"/>
            </a:pPr>
            <a:r>
              <a:rPr lang="en-US" sz="1700" dirty="0">
                <a:solidFill>
                  <a:srgbClr val="1A1A2E"/>
                </a:solidFill>
              </a:rPr>
              <a:t>The logs differ across platforms and no standard tooling turns them into features.</a:t>
            </a:r>
            <a:endParaRPr lang="en-US" sz="1700" dirty="0"/>
          </a:p>
        </p:txBody>
      </p:sp>
      <p:sp>
        <p:nvSpPr>
          <p:cNvPr id="4" name="Shape 2"/>
          <p:cNvSpPr/>
          <p:nvPr/>
        </p:nvSpPr>
        <p:spPr>
          <a:xfrm>
            <a:off x="7132320" y="1463040"/>
            <a:ext cx="4389120" cy="4023360"/>
          </a:xfrm>
          <a:prstGeom prst="roundRect">
            <a:avLst>
              <a:gd name="adj" fmla="val 2727"/>
            </a:avLst>
          </a:prstGeom>
          <a:solidFill>
            <a:srgbClr val="F2F5FB"/>
          </a:solidFill>
          <a:ln/>
        </p:spPr>
      </p:sp>
      <p:sp>
        <p:nvSpPr>
          <p:cNvPr id="5" name="Text 3"/>
          <p:cNvSpPr/>
          <p:nvPr/>
        </p:nvSpPr>
        <p:spPr>
          <a:xfrm>
            <a:off x="7132320" y="1828800"/>
            <a:ext cx="4389120" cy="1097280"/>
          </a:xfrm>
          <a:prstGeom prst="rect">
            <a:avLst/>
          </a:prstGeom>
          <a:noFill/>
          <a:ln/>
        </p:spPr>
        <p:txBody>
          <a:bodyPr wrap="square" rtlCol="0" anchor="ctr"/>
          <a:lstStyle/>
          <a:p>
            <a:pPr algn="ctr" indent="0" marL="0">
              <a:buNone/>
            </a:pPr>
            <a:r>
              <a:rPr lang="en-US" sz="6000" b="1" dirty="0">
                <a:solidFill>
                  <a:srgbClr val="B85042"/>
                </a:solidFill>
              </a:rPr>
              <a:t>66%</a:t>
            </a:r>
            <a:endParaRPr lang="en-US" sz="6000" dirty="0"/>
          </a:p>
        </p:txBody>
      </p:sp>
      <p:sp>
        <p:nvSpPr>
          <p:cNvPr id="6" name="Text 4"/>
          <p:cNvSpPr/>
          <p:nvPr/>
        </p:nvSpPr>
        <p:spPr>
          <a:xfrm>
            <a:off x="7498080" y="3017520"/>
            <a:ext cx="3657600" cy="2103120"/>
          </a:xfrm>
          <a:prstGeom prst="rect">
            <a:avLst/>
          </a:prstGeom>
          <a:noFill/>
          <a:ln/>
        </p:spPr>
        <p:txBody>
          <a:bodyPr wrap="square" rtlCol="0" anchor="ctr"/>
          <a:lstStyle/>
          <a:p>
            <a:pPr algn="ctr" indent="0" marL="0">
              <a:lnSpc>
                <a:spcPct val="115000"/>
              </a:lnSpc>
              <a:buNone/>
            </a:pPr>
            <a:r>
              <a:rPr lang="en-US" sz="1400" dirty="0">
                <a:solidFill>
                  <a:srgbClr val="5A6270"/>
                </a:solidFill>
              </a:rPr>
              <a:t>of injected anomalies is all a duration-only check recalls in my evaluation. A third of bad interviews sail through the standard practice.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Aim and objectives</a:t>
            </a:r>
            <a:endParaRPr lang="en-US" sz="3000" dirty="0"/>
          </a:p>
        </p:txBody>
      </p:sp>
      <p:sp>
        <p:nvSpPr>
          <p:cNvPr id="3" name="Text 1"/>
          <p:cNvSpPr/>
          <p:nvPr/>
        </p:nvSpPr>
        <p:spPr>
          <a:xfrm>
            <a:off x="640080" y="1234440"/>
            <a:ext cx="10972800" cy="868680"/>
          </a:xfrm>
          <a:prstGeom prst="rect">
            <a:avLst/>
          </a:prstGeom>
          <a:noFill/>
          <a:ln/>
        </p:spPr>
        <p:txBody>
          <a:bodyPr wrap="square" rtlCol="0" anchor="ctr"/>
          <a:lstStyle/>
          <a:p>
            <a:pPr indent="0" marL="0">
              <a:lnSpc>
                <a:spcPct val="110000"/>
              </a:lnSpc>
              <a:buNone/>
            </a:pPr>
            <a:r>
              <a:rPr lang="en-US" sz="1600" i="1" dirty="0">
                <a:solidFill>
                  <a:srgbClr val="1E2761"/>
                </a:solidFill>
              </a:rPr>
              <a:t>Design and implement an automated pipeline that extracts, catalogues and analyses timing-based paradata features from SurveyCTO and ODK audit logs, to support scalable survey data quality assessment.</a:t>
            </a:r>
            <a:endParaRPr lang="en-US" sz="1600" dirty="0"/>
          </a:p>
        </p:txBody>
      </p:sp>
      <p:sp>
        <p:nvSpPr>
          <p:cNvPr id="4" name="Shape 2"/>
          <p:cNvSpPr/>
          <p:nvPr/>
        </p:nvSpPr>
        <p:spPr>
          <a:xfrm>
            <a:off x="640080" y="2450592"/>
            <a:ext cx="566928" cy="566928"/>
          </a:xfrm>
          <a:prstGeom prst="ellipse">
            <a:avLst/>
          </a:prstGeom>
          <a:solidFill>
            <a:srgbClr val="1E2761"/>
          </a:solidFill>
          <a:ln/>
        </p:spPr>
      </p:sp>
      <p:sp>
        <p:nvSpPr>
          <p:cNvPr id="5" name="Text 3"/>
          <p:cNvSpPr/>
          <p:nvPr/>
        </p:nvSpPr>
        <p:spPr>
          <a:xfrm>
            <a:off x="640080" y="245059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6" name="Text 4"/>
          <p:cNvSpPr/>
          <p:nvPr/>
        </p:nvSpPr>
        <p:spPr>
          <a:xfrm>
            <a:off x="1371600" y="237744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Catalogue timing-based quality indicators from the survey methodology literature</a:t>
            </a:r>
            <a:endParaRPr lang="en-US" sz="1350" dirty="0"/>
          </a:p>
        </p:txBody>
      </p:sp>
      <p:sp>
        <p:nvSpPr>
          <p:cNvPr id="7" name="Shape 5"/>
          <p:cNvSpPr/>
          <p:nvPr/>
        </p:nvSpPr>
        <p:spPr>
          <a:xfrm>
            <a:off x="6309360" y="2450592"/>
            <a:ext cx="566928" cy="566928"/>
          </a:xfrm>
          <a:prstGeom prst="ellipse">
            <a:avLst/>
          </a:prstGeom>
          <a:solidFill>
            <a:srgbClr val="1E2761"/>
          </a:solidFill>
          <a:ln/>
        </p:spPr>
      </p:sp>
      <p:sp>
        <p:nvSpPr>
          <p:cNvPr id="8" name="Text 6"/>
          <p:cNvSpPr/>
          <p:nvPr/>
        </p:nvSpPr>
        <p:spPr>
          <a:xfrm>
            <a:off x="6309360" y="245059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9" name="Text 7"/>
          <p:cNvSpPr/>
          <p:nvPr/>
        </p:nvSpPr>
        <p:spPr>
          <a:xfrm>
            <a:off x="7040880" y="237744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Build format-aware parsers producing a common intermediate representation</a:t>
            </a:r>
            <a:endParaRPr lang="en-US" sz="1350" dirty="0"/>
          </a:p>
        </p:txBody>
      </p:sp>
      <p:sp>
        <p:nvSpPr>
          <p:cNvPr id="10" name="Shape 8"/>
          <p:cNvSpPr/>
          <p:nvPr/>
        </p:nvSpPr>
        <p:spPr>
          <a:xfrm>
            <a:off x="640080" y="3776472"/>
            <a:ext cx="566928" cy="566928"/>
          </a:xfrm>
          <a:prstGeom prst="ellipse">
            <a:avLst/>
          </a:prstGeom>
          <a:solidFill>
            <a:srgbClr val="1E2761"/>
          </a:solidFill>
          <a:ln/>
        </p:spPr>
      </p:sp>
      <p:sp>
        <p:nvSpPr>
          <p:cNvPr id="11" name="Text 9"/>
          <p:cNvSpPr/>
          <p:nvPr/>
        </p:nvSpPr>
        <p:spPr>
          <a:xfrm>
            <a:off x="640080" y="3776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2" name="Text 10"/>
          <p:cNvSpPr/>
          <p:nvPr/>
        </p:nvSpPr>
        <p:spPr>
          <a:xfrm>
            <a:off x="1371600" y="370332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Implement 30 to 50 timing features across question, section and survey levels</a:t>
            </a:r>
            <a:endParaRPr lang="en-US" sz="1350" dirty="0"/>
          </a:p>
        </p:txBody>
      </p:sp>
      <p:sp>
        <p:nvSpPr>
          <p:cNvPr id="13" name="Shape 11"/>
          <p:cNvSpPr/>
          <p:nvPr/>
        </p:nvSpPr>
        <p:spPr>
          <a:xfrm>
            <a:off x="6309360" y="3776472"/>
            <a:ext cx="566928" cy="566928"/>
          </a:xfrm>
          <a:prstGeom prst="ellipse">
            <a:avLst/>
          </a:prstGeom>
          <a:solidFill>
            <a:srgbClr val="1E2761"/>
          </a:solidFill>
          <a:ln/>
        </p:spPr>
      </p:sp>
      <p:sp>
        <p:nvSpPr>
          <p:cNvPr id="14" name="Text 12"/>
          <p:cNvSpPr/>
          <p:nvPr/>
        </p:nvSpPr>
        <p:spPr>
          <a:xfrm>
            <a:off x="6309360" y="3776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4</a:t>
            </a:r>
            <a:endParaRPr lang="en-US" sz="2000" dirty="0"/>
          </a:p>
        </p:txBody>
      </p:sp>
      <p:sp>
        <p:nvSpPr>
          <p:cNvPr id="15" name="Text 13"/>
          <p:cNvSpPr/>
          <p:nvPr/>
        </p:nvSpPr>
        <p:spPr>
          <a:xfrm>
            <a:off x="7040880" y="370332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Compute statistical measures: variance, entropy, skewness, kurtosis</a:t>
            </a:r>
            <a:endParaRPr lang="en-US" sz="1350" dirty="0"/>
          </a:p>
        </p:txBody>
      </p:sp>
      <p:sp>
        <p:nvSpPr>
          <p:cNvPr id="16" name="Shape 14"/>
          <p:cNvSpPr/>
          <p:nvPr/>
        </p:nvSpPr>
        <p:spPr>
          <a:xfrm>
            <a:off x="640080" y="5102352"/>
            <a:ext cx="566928" cy="566928"/>
          </a:xfrm>
          <a:prstGeom prst="ellipse">
            <a:avLst/>
          </a:prstGeom>
          <a:solidFill>
            <a:srgbClr val="1E2761"/>
          </a:solidFill>
          <a:ln/>
        </p:spPr>
      </p:sp>
      <p:sp>
        <p:nvSpPr>
          <p:cNvPr id="17" name="Text 15"/>
          <p:cNvSpPr/>
          <p:nvPr/>
        </p:nvSpPr>
        <p:spPr>
          <a:xfrm>
            <a:off x="640080" y="51023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5</a:t>
            </a:r>
            <a:endParaRPr lang="en-US" sz="2000" dirty="0"/>
          </a:p>
        </p:txBody>
      </p:sp>
      <p:sp>
        <p:nvSpPr>
          <p:cNvPr id="18" name="Text 16"/>
          <p:cNvSpPr/>
          <p:nvPr/>
        </p:nvSpPr>
        <p:spPr>
          <a:xfrm>
            <a:off x="1371600" y="502920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Detect anomalies with IQR thresholds plus rules, validated on precision and recall</a:t>
            </a:r>
            <a:endParaRPr lang="en-US" sz="1350" dirty="0"/>
          </a:p>
        </p:txBody>
      </p:sp>
      <p:sp>
        <p:nvSpPr>
          <p:cNvPr id="19" name="Shape 17"/>
          <p:cNvSpPr/>
          <p:nvPr/>
        </p:nvSpPr>
        <p:spPr>
          <a:xfrm>
            <a:off x="6309360" y="5102352"/>
            <a:ext cx="566928" cy="566928"/>
          </a:xfrm>
          <a:prstGeom prst="ellipse">
            <a:avLst/>
          </a:prstGeom>
          <a:solidFill>
            <a:srgbClr val="1E2761"/>
          </a:solidFill>
          <a:ln/>
        </p:spPr>
      </p:sp>
      <p:sp>
        <p:nvSpPr>
          <p:cNvPr id="20" name="Text 18"/>
          <p:cNvSpPr/>
          <p:nvPr/>
        </p:nvSpPr>
        <p:spPr>
          <a:xfrm>
            <a:off x="6309360" y="51023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6</a:t>
            </a:r>
            <a:endParaRPr lang="en-US" sz="2000" dirty="0"/>
          </a:p>
        </p:txBody>
      </p:sp>
      <p:sp>
        <p:nvSpPr>
          <p:cNvPr id="21" name="Text 19"/>
          <p:cNvSpPr/>
          <p:nvPr/>
        </p:nvSpPr>
        <p:spPr>
          <a:xfrm>
            <a:off x="7040880" y="502920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Deliver structured outputs, feature documentation and a paradata format guide</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Literature review: related work</a:t>
            </a:r>
            <a:endParaRPr lang="en-US" sz="3000" dirty="0"/>
          </a:p>
        </p:txBody>
      </p:sp>
      <p:sp>
        <p:nvSpPr>
          <p:cNvPr id="3" name="Shape 1"/>
          <p:cNvSpPr/>
          <p:nvPr/>
        </p:nvSpPr>
        <p:spPr>
          <a:xfrm>
            <a:off x="658368" y="1325880"/>
            <a:ext cx="3410712" cy="2057400"/>
          </a:xfrm>
          <a:prstGeom prst="roundRect">
            <a:avLst>
              <a:gd name="adj" fmla="val 4444"/>
            </a:avLst>
          </a:prstGeom>
          <a:solidFill>
            <a:srgbClr val="F2F5FB"/>
          </a:solidFill>
          <a:ln/>
        </p:spPr>
      </p:sp>
      <p:sp>
        <p:nvSpPr>
          <p:cNvPr id="4" name="Text 2"/>
          <p:cNvSpPr/>
          <p:nvPr/>
        </p:nvSpPr>
        <p:spPr>
          <a:xfrm>
            <a:off x="859536" y="1490472"/>
            <a:ext cx="3008376" cy="640080"/>
          </a:xfrm>
          <a:prstGeom prst="rect">
            <a:avLst/>
          </a:prstGeom>
          <a:noFill/>
          <a:ln/>
        </p:spPr>
        <p:txBody>
          <a:bodyPr wrap="square" rtlCol="0" anchor="ctr"/>
          <a:lstStyle/>
          <a:p>
            <a:pPr indent="0" marL="0">
              <a:lnSpc>
                <a:spcPct val="100000"/>
              </a:lnSpc>
              <a:buNone/>
            </a:pPr>
            <a:r>
              <a:rPr lang="en-US" sz="1300" b="1" dirty="0">
                <a:solidFill>
                  <a:srgbClr val="B85042"/>
                </a:solidFill>
              </a:rPr>
              <a:t>Groves et al. (2009)</a:t>
            </a:r>
            <a:endParaRPr lang="en-US" sz="1300" dirty="0"/>
          </a:p>
        </p:txBody>
      </p:sp>
      <p:sp>
        <p:nvSpPr>
          <p:cNvPr id="5" name="Text 3"/>
          <p:cNvSpPr/>
          <p:nvPr/>
        </p:nvSpPr>
        <p:spPr>
          <a:xfrm>
            <a:off x="859536" y="2103120"/>
            <a:ext cx="3008376" cy="1143000"/>
          </a:xfrm>
          <a:prstGeom prst="rect">
            <a:avLst/>
          </a:prstGeom>
          <a:noFill/>
          <a:ln/>
        </p:spPr>
        <p:txBody>
          <a:bodyPr wrap="square" rtlCol="0" anchor="ctr"/>
          <a:lstStyle/>
          <a:p>
            <a:pPr indent="0" marL="0">
              <a:lnSpc>
                <a:spcPct val="112000"/>
              </a:lnSpc>
              <a:buNone/>
            </a:pPr>
            <a:r>
              <a:rPr lang="en-US" sz="1150" dirty="0">
                <a:solidFill>
                  <a:srgbClr val="1A1A2E"/>
                </a:solidFill>
              </a:rPr>
              <a:t>Total Survey Error framework. Paradata is a practical signal for monitoring error at the interview stage.</a:t>
            </a:r>
            <a:endParaRPr lang="en-US" sz="1150" dirty="0"/>
          </a:p>
        </p:txBody>
      </p:sp>
      <p:sp>
        <p:nvSpPr>
          <p:cNvPr id="6" name="Shape 4"/>
          <p:cNvSpPr/>
          <p:nvPr/>
        </p:nvSpPr>
        <p:spPr>
          <a:xfrm>
            <a:off x="4283964" y="1325880"/>
            <a:ext cx="3410712" cy="2057400"/>
          </a:xfrm>
          <a:prstGeom prst="roundRect">
            <a:avLst>
              <a:gd name="adj" fmla="val 4444"/>
            </a:avLst>
          </a:prstGeom>
          <a:solidFill>
            <a:srgbClr val="F2F5FB"/>
          </a:solidFill>
          <a:ln/>
        </p:spPr>
      </p:sp>
      <p:sp>
        <p:nvSpPr>
          <p:cNvPr id="7" name="Text 5"/>
          <p:cNvSpPr/>
          <p:nvPr/>
        </p:nvSpPr>
        <p:spPr>
          <a:xfrm>
            <a:off x="4485132" y="1490472"/>
            <a:ext cx="3008376" cy="640080"/>
          </a:xfrm>
          <a:prstGeom prst="rect">
            <a:avLst/>
          </a:prstGeom>
          <a:noFill/>
          <a:ln/>
        </p:spPr>
        <p:txBody>
          <a:bodyPr wrap="square" rtlCol="0" anchor="ctr"/>
          <a:lstStyle/>
          <a:p>
            <a:pPr indent="0" marL="0">
              <a:lnSpc>
                <a:spcPct val="100000"/>
              </a:lnSpc>
              <a:buNone/>
            </a:pPr>
            <a:r>
              <a:rPr lang="en-US" sz="1300" b="1" dirty="0">
                <a:solidFill>
                  <a:srgbClr val="B85042"/>
                </a:solidFill>
              </a:rPr>
              <a:t>Wenz, Kreuter &amp; Janke (2019)</a:t>
            </a:r>
            <a:endParaRPr lang="en-US" sz="1300" dirty="0"/>
          </a:p>
        </p:txBody>
      </p:sp>
      <p:sp>
        <p:nvSpPr>
          <p:cNvPr id="8" name="Text 6"/>
          <p:cNvSpPr/>
          <p:nvPr/>
        </p:nvSpPr>
        <p:spPr>
          <a:xfrm>
            <a:off x="4485132" y="2103120"/>
            <a:ext cx="3008376" cy="1143000"/>
          </a:xfrm>
          <a:prstGeom prst="rect">
            <a:avLst/>
          </a:prstGeom>
          <a:noFill/>
          <a:ln/>
        </p:spPr>
        <p:txBody>
          <a:bodyPr wrap="square" rtlCol="0" anchor="ctr"/>
          <a:lstStyle/>
          <a:p>
            <a:pPr indent="0" marL="0">
              <a:lnSpc>
                <a:spcPct val="112000"/>
              </a:lnSpc>
              <a:buNone/>
            </a:pPr>
            <a:r>
              <a:rPr lang="en-US" sz="1150" dirty="0">
                <a:solidFill>
                  <a:srgbClr val="1A1A2E"/>
                </a:solidFill>
              </a:rPr>
              <a:t>Fabrication signature: compressed response-time IQR and variance, low back-navigation. Motivates IQR detection.</a:t>
            </a:r>
            <a:endParaRPr lang="en-US" sz="1150" dirty="0"/>
          </a:p>
        </p:txBody>
      </p:sp>
      <p:sp>
        <p:nvSpPr>
          <p:cNvPr id="9" name="Shape 7"/>
          <p:cNvSpPr/>
          <p:nvPr/>
        </p:nvSpPr>
        <p:spPr>
          <a:xfrm>
            <a:off x="7909560" y="1325880"/>
            <a:ext cx="3410712" cy="2057400"/>
          </a:xfrm>
          <a:prstGeom prst="roundRect">
            <a:avLst>
              <a:gd name="adj" fmla="val 4444"/>
            </a:avLst>
          </a:prstGeom>
          <a:solidFill>
            <a:srgbClr val="F2F5FB"/>
          </a:solidFill>
          <a:ln/>
        </p:spPr>
      </p:sp>
      <p:sp>
        <p:nvSpPr>
          <p:cNvPr id="10" name="Text 8"/>
          <p:cNvSpPr/>
          <p:nvPr/>
        </p:nvSpPr>
        <p:spPr>
          <a:xfrm>
            <a:off x="8110728" y="1490472"/>
            <a:ext cx="3008376" cy="640080"/>
          </a:xfrm>
          <a:prstGeom prst="rect">
            <a:avLst/>
          </a:prstGeom>
          <a:noFill/>
          <a:ln/>
        </p:spPr>
        <p:txBody>
          <a:bodyPr wrap="square" rtlCol="0" anchor="ctr"/>
          <a:lstStyle/>
          <a:p>
            <a:pPr indent="0" marL="0">
              <a:lnSpc>
                <a:spcPct val="100000"/>
              </a:lnSpc>
              <a:buNone/>
            </a:pPr>
            <a:r>
              <a:rPr lang="en-US" sz="1300" b="1" dirty="0">
                <a:solidFill>
                  <a:srgbClr val="B85042"/>
                </a:solidFill>
              </a:rPr>
              <a:t>Yan &amp; Tourangeau (2008)</a:t>
            </a:r>
            <a:endParaRPr lang="en-US" sz="1300" dirty="0"/>
          </a:p>
        </p:txBody>
      </p:sp>
      <p:sp>
        <p:nvSpPr>
          <p:cNvPr id="11" name="Text 9"/>
          <p:cNvSpPr/>
          <p:nvPr/>
        </p:nvSpPr>
        <p:spPr>
          <a:xfrm>
            <a:off x="8110728" y="2103120"/>
            <a:ext cx="3008376" cy="1143000"/>
          </a:xfrm>
          <a:prstGeom prst="rect">
            <a:avLst/>
          </a:prstGeom>
          <a:noFill/>
          <a:ln/>
        </p:spPr>
        <p:txBody>
          <a:bodyPr wrap="square" rtlCol="0" anchor="ctr"/>
          <a:lstStyle/>
          <a:p>
            <a:pPr indent="0" marL="0">
              <a:lnSpc>
                <a:spcPct val="112000"/>
              </a:lnSpc>
              <a:buNone/>
            </a:pPr>
            <a:r>
              <a:rPr lang="en-US" sz="1150" dirty="0">
                <a:solidFill>
                  <a:srgbClr val="1A1A2E"/>
                </a:solidFill>
              </a:rPr>
              <a:t>Answers that are fast relative to question complexity signal disengagement. Motivates latency and pace features.</a:t>
            </a:r>
            <a:endParaRPr lang="en-US" sz="1150" dirty="0"/>
          </a:p>
        </p:txBody>
      </p:sp>
      <p:sp>
        <p:nvSpPr>
          <p:cNvPr id="12" name="Shape 10"/>
          <p:cNvSpPr/>
          <p:nvPr/>
        </p:nvSpPr>
        <p:spPr>
          <a:xfrm>
            <a:off x="658368" y="3566160"/>
            <a:ext cx="3410712" cy="2057400"/>
          </a:xfrm>
          <a:prstGeom prst="roundRect">
            <a:avLst>
              <a:gd name="adj" fmla="val 4444"/>
            </a:avLst>
          </a:prstGeom>
          <a:solidFill>
            <a:srgbClr val="F2F5FB"/>
          </a:solidFill>
          <a:ln/>
        </p:spPr>
      </p:sp>
      <p:sp>
        <p:nvSpPr>
          <p:cNvPr id="13" name="Text 11"/>
          <p:cNvSpPr/>
          <p:nvPr/>
        </p:nvSpPr>
        <p:spPr>
          <a:xfrm>
            <a:off x="859536" y="3730752"/>
            <a:ext cx="3008376" cy="640080"/>
          </a:xfrm>
          <a:prstGeom prst="rect">
            <a:avLst/>
          </a:prstGeom>
          <a:noFill/>
          <a:ln/>
        </p:spPr>
        <p:txBody>
          <a:bodyPr wrap="square" rtlCol="0" anchor="ctr"/>
          <a:lstStyle/>
          <a:p>
            <a:pPr indent="0" marL="0">
              <a:lnSpc>
                <a:spcPct val="100000"/>
              </a:lnSpc>
              <a:buNone/>
            </a:pPr>
            <a:r>
              <a:rPr lang="en-US" sz="1300" b="1" dirty="0">
                <a:solidFill>
                  <a:srgbClr val="B85042"/>
                </a:solidFill>
              </a:rPr>
              <a:t>Conrad, Tourangeau &amp; Couper (2013)</a:t>
            </a:r>
            <a:endParaRPr lang="en-US" sz="1300" dirty="0"/>
          </a:p>
        </p:txBody>
      </p:sp>
      <p:sp>
        <p:nvSpPr>
          <p:cNvPr id="14" name="Text 12"/>
          <p:cNvSpPr/>
          <p:nvPr/>
        </p:nvSpPr>
        <p:spPr>
          <a:xfrm>
            <a:off x="859536" y="4343400"/>
            <a:ext cx="3008376" cy="1143000"/>
          </a:xfrm>
          <a:prstGeom prst="rect">
            <a:avLst/>
          </a:prstGeom>
          <a:noFill/>
          <a:ln/>
        </p:spPr>
        <p:txBody>
          <a:bodyPr wrap="square" rtlCol="0" anchor="ctr"/>
          <a:lstStyle/>
          <a:p>
            <a:pPr indent="0" marL="0">
              <a:lnSpc>
                <a:spcPct val="112000"/>
              </a:lnSpc>
              <a:buNone/>
            </a:pPr>
            <a:r>
              <a:rPr lang="en-US" sz="1150" dirty="0">
                <a:solidFill>
                  <a:srgbClr val="1A1A2E"/>
                </a:solidFill>
              </a:rPr>
              <a:t>Pauses and repeated back-navigation reveal respondent difficulty. Motivates section pause and navigation features.</a:t>
            </a:r>
            <a:endParaRPr lang="en-US" sz="1150" dirty="0"/>
          </a:p>
        </p:txBody>
      </p:sp>
      <p:sp>
        <p:nvSpPr>
          <p:cNvPr id="15" name="Shape 13"/>
          <p:cNvSpPr/>
          <p:nvPr/>
        </p:nvSpPr>
        <p:spPr>
          <a:xfrm>
            <a:off x="4283964" y="3566160"/>
            <a:ext cx="3410712" cy="2057400"/>
          </a:xfrm>
          <a:prstGeom prst="roundRect">
            <a:avLst>
              <a:gd name="adj" fmla="val 4444"/>
            </a:avLst>
          </a:prstGeom>
          <a:solidFill>
            <a:srgbClr val="F2F5FB"/>
          </a:solidFill>
          <a:ln/>
        </p:spPr>
      </p:sp>
      <p:sp>
        <p:nvSpPr>
          <p:cNvPr id="16" name="Text 14"/>
          <p:cNvSpPr/>
          <p:nvPr/>
        </p:nvSpPr>
        <p:spPr>
          <a:xfrm>
            <a:off x="4485132" y="3730752"/>
            <a:ext cx="3008376" cy="640080"/>
          </a:xfrm>
          <a:prstGeom prst="rect">
            <a:avLst/>
          </a:prstGeom>
          <a:noFill/>
          <a:ln/>
        </p:spPr>
        <p:txBody>
          <a:bodyPr wrap="square" rtlCol="0" anchor="ctr"/>
          <a:lstStyle/>
          <a:p>
            <a:pPr indent="0" marL="0">
              <a:lnSpc>
                <a:spcPct val="100000"/>
              </a:lnSpc>
              <a:buNone/>
            </a:pPr>
            <a:r>
              <a:rPr lang="en-US" sz="1300" b="1" dirty="0">
                <a:solidFill>
                  <a:srgbClr val="B85042"/>
                </a:solidFill>
              </a:rPr>
              <a:t>Kreuter (2013)</a:t>
            </a:r>
            <a:endParaRPr lang="en-US" sz="1300" dirty="0"/>
          </a:p>
        </p:txBody>
      </p:sp>
      <p:sp>
        <p:nvSpPr>
          <p:cNvPr id="17" name="Text 15"/>
          <p:cNvSpPr/>
          <p:nvPr/>
        </p:nvSpPr>
        <p:spPr>
          <a:xfrm>
            <a:off x="4485132" y="4343400"/>
            <a:ext cx="3008376" cy="1143000"/>
          </a:xfrm>
          <a:prstGeom prst="rect">
            <a:avLst/>
          </a:prstGeom>
          <a:noFill/>
          <a:ln/>
        </p:spPr>
        <p:txBody>
          <a:bodyPr wrap="square" rtlCol="0" anchor="ctr"/>
          <a:lstStyle/>
          <a:p>
            <a:pPr indent="0" marL="0">
              <a:lnSpc>
                <a:spcPct val="112000"/>
              </a:lnSpc>
              <a:buNone/>
            </a:pPr>
            <a:r>
              <a:rPr lang="en-US" sz="1150" dirty="0">
                <a:solidFill>
                  <a:srgbClr val="1A1A2E"/>
                </a:solidFill>
              </a:rPr>
              <a:t>Survey-level timing is robust across instruments, but each platform needs its own parsing. Motivates the parser layer.</a:t>
            </a:r>
            <a:endParaRPr lang="en-US" sz="1150" dirty="0"/>
          </a:p>
        </p:txBody>
      </p:sp>
      <p:sp>
        <p:nvSpPr>
          <p:cNvPr id="18" name="Shape 16"/>
          <p:cNvSpPr/>
          <p:nvPr/>
        </p:nvSpPr>
        <p:spPr>
          <a:xfrm>
            <a:off x="7909560" y="3566160"/>
            <a:ext cx="3410712" cy="2057400"/>
          </a:xfrm>
          <a:prstGeom prst="roundRect">
            <a:avLst>
              <a:gd name="adj" fmla="val 4444"/>
            </a:avLst>
          </a:prstGeom>
          <a:solidFill>
            <a:srgbClr val="F2F5FB"/>
          </a:solidFill>
          <a:ln/>
        </p:spPr>
      </p:sp>
      <p:sp>
        <p:nvSpPr>
          <p:cNvPr id="19" name="Text 17"/>
          <p:cNvSpPr/>
          <p:nvPr/>
        </p:nvSpPr>
        <p:spPr>
          <a:xfrm>
            <a:off x="8110728" y="3730752"/>
            <a:ext cx="3008376" cy="640080"/>
          </a:xfrm>
          <a:prstGeom prst="rect">
            <a:avLst/>
          </a:prstGeom>
          <a:noFill/>
          <a:ln/>
        </p:spPr>
        <p:txBody>
          <a:bodyPr wrap="square" rtlCol="0" anchor="ctr"/>
          <a:lstStyle/>
          <a:p>
            <a:pPr indent="0" marL="0">
              <a:lnSpc>
                <a:spcPct val="100000"/>
              </a:lnSpc>
              <a:buNone/>
            </a:pPr>
            <a:r>
              <a:rPr lang="en-US" sz="1300" b="1" dirty="0">
                <a:solidFill>
                  <a:srgbClr val="B85042"/>
                </a:solidFill>
              </a:rPr>
              <a:t>Iglewicz &amp; Hoaglin (1993)</a:t>
            </a:r>
            <a:endParaRPr lang="en-US" sz="1300" dirty="0"/>
          </a:p>
        </p:txBody>
      </p:sp>
      <p:sp>
        <p:nvSpPr>
          <p:cNvPr id="20" name="Text 18"/>
          <p:cNvSpPr/>
          <p:nvPr/>
        </p:nvSpPr>
        <p:spPr>
          <a:xfrm>
            <a:off x="8110728" y="4343400"/>
            <a:ext cx="3008376" cy="1143000"/>
          </a:xfrm>
          <a:prstGeom prst="rect">
            <a:avLst/>
          </a:prstGeom>
          <a:noFill/>
          <a:ln/>
        </p:spPr>
        <p:txBody>
          <a:bodyPr wrap="square" rtlCol="0" anchor="ctr"/>
          <a:lstStyle/>
          <a:p>
            <a:pPr indent="0" marL="0">
              <a:lnSpc>
                <a:spcPct val="112000"/>
              </a:lnSpc>
              <a:buNone/>
            </a:pPr>
            <a:r>
              <a:rPr lang="en-US" sz="1150" dirty="0">
                <a:solidFill>
                  <a:srgbClr val="1A1A2E"/>
                </a:solidFill>
              </a:rPr>
              <a:t>IQR fences assume no distribution and resist the outliers they detect. Justifies IQR over z-score for skewed data.</a:t>
            </a:r>
            <a:endParaRPr lang="en-US" sz="1150" dirty="0"/>
          </a:p>
        </p:txBody>
      </p:sp>
      <p:sp>
        <p:nvSpPr>
          <p:cNvPr id="21" name="Text 19"/>
          <p:cNvSpPr/>
          <p:nvPr/>
        </p:nvSpPr>
        <p:spPr>
          <a:xfrm>
            <a:off x="640080" y="598932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Every feature and the detection method trace to a cited empirical finding, not intuition.</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Methodology: iterative, test-driven development</a:t>
            </a:r>
            <a:endParaRPr lang="en-US" sz="3000" dirty="0"/>
          </a:p>
        </p:txBody>
      </p:sp>
      <p:sp>
        <p:nvSpPr>
          <p:cNvPr id="3" name="Shape 1"/>
          <p:cNvSpPr/>
          <p:nvPr/>
        </p:nvSpPr>
        <p:spPr>
          <a:xfrm>
            <a:off x="640080" y="1463040"/>
            <a:ext cx="1965960" cy="1005840"/>
          </a:xfrm>
          <a:prstGeom prst="roundRect">
            <a:avLst>
              <a:gd name="adj" fmla="val 8182"/>
            </a:avLst>
          </a:prstGeom>
          <a:solidFill>
            <a:srgbClr val="F2F5FB"/>
          </a:solidFill>
          <a:ln/>
        </p:spPr>
      </p:sp>
      <p:sp>
        <p:nvSpPr>
          <p:cNvPr id="4" name="Text 2"/>
          <p:cNvSpPr/>
          <p:nvPr/>
        </p:nvSpPr>
        <p:spPr>
          <a:xfrm>
            <a:off x="640080" y="1463040"/>
            <a:ext cx="1965960" cy="1005840"/>
          </a:xfrm>
          <a:prstGeom prst="rect">
            <a:avLst/>
          </a:prstGeom>
          <a:noFill/>
          <a:ln/>
        </p:spPr>
        <p:txBody>
          <a:bodyPr wrap="square" lIns="0" tIns="0" rIns="0" bIns="0" rtlCol="0" anchor="ctr"/>
          <a:lstStyle/>
          <a:p>
            <a:pPr algn="ctr" indent="0" marL="0">
              <a:lnSpc>
                <a:spcPct val="100000"/>
              </a:lnSpc>
              <a:buNone/>
            </a:pPr>
            <a:r>
              <a:rPr lang="en-US" sz="1300" b="1" dirty="0">
                <a:solidFill>
                  <a:srgbClr val="1E2761"/>
                </a:solidFill>
              </a:rPr>
              <a:t>Catalogue</a:t>
            </a:r>
            <a:endParaRPr lang="en-US" sz="1300" dirty="0"/>
          </a:p>
          <a:p>
            <a:pPr algn="ctr" indent="0" marL="0">
              <a:lnSpc>
                <a:spcPct val="100000"/>
              </a:lnSpc>
              <a:buNone/>
            </a:pPr>
            <a:r>
              <a:rPr lang="en-US" sz="1300" b="1" dirty="0">
                <a:solidFill>
                  <a:srgbClr val="1E2761"/>
                </a:solidFill>
              </a:rPr>
              <a:t>features</a:t>
            </a:r>
            <a:endParaRPr lang="en-US" sz="1300" dirty="0"/>
          </a:p>
        </p:txBody>
      </p:sp>
      <p:sp>
        <p:nvSpPr>
          <p:cNvPr id="5" name="Text 3"/>
          <p:cNvSpPr/>
          <p:nvPr/>
        </p:nvSpPr>
        <p:spPr>
          <a:xfrm>
            <a:off x="2560320" y="1463040"/>
            <a:ext cx="310896" cy="10058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6" name="Shape 4"/>
          <p:cNvSpPr/>
          <p:nvPr/>
        </p:nvSpPr>
        <p:spPr>
          <a:xfrm>
            <a:off x="2871216" y="1463040"/>
            <a:ext cx="1965960" cy="1005840"/>
          </a:xfrm>
          <a:prstGeom prst="roundRect">
            <a:avLst>
              <a:gd name="adj" fmla="val 8182"/>
            </a:avLst>
          </a:prstGeom>
          <a:solidFill>
            <a:srgbClr val="F2F5FB"/>
          </a:solidFill>
          <a:ln/>
        </p:spPr>
      </p:sp>
      <p:sp>
        <p:nvSpPr>
          <p:cNvPr id="7" name="Text 5"/>
          <p:cNvSpPr/>
          <p:nvPr/>
        </p:nvSpPr>
        <p:spPr>
          <a:xfrm>
            <a:off x="2871216" y="1463040"/>
            <a:ext cx="1965960" cy="1005840"/>
          </a:xfrm>
          <a:prstGeom prst="rect">
            <a:avLst/>
          </a:prstGeom>
          <a:noFill/>
          <a:ln/>
        </p:spPr>
        <p:txBody>
          <a:bodyPr wrap="square" lIns="0" tIns="0" rIns="0" bIns="0" rtlCol="0" anchor="ctr"/>
          <a:lstStyle/>
          <a:p>
            <a:pPr algn="ctr" indent="0" marL="0">
              <a:lnSpc>
                <a:spcPct val="100000"/>
              </a:lnSpc>
              <a:buNone/>
            </a:pPr>
            <a:r>
              <a:rPr lang="en-US" sz="1300" b="1" dirty="0">
                <a:solidFill>
                  <a:srgbClr val="1E2761"/>
                </a:solidFill>
              </a:rPr>
              <a:t>Build</a:t>
            </a:r>
            <a:endParaRPr lang="en-US" sz="1300" dirty="0"/>
          </a:p>
          <a:p>
            <a:pPr algn="ctr" indent="0" marL="0">
              <a:lnSpc>
                <a:spcPct val="100000"/>
              </a:lnSpc>
              <a:buNone/>
            </a:pPr>
            <a:r>
              <a:rPr lang="en-US" sz="1300" b="1" dirty="0">
                <a:solidFill>
                  <a:srgbClr val="1E2761"/>
                </a:solidFill>
              </a:rPr>
              <a:t>a layer</a:t>
            </a:r>
            <a:endParaRPr lang="en-US" sz="1300" dirty="0"/>
          </a:p>
        </p:txBody>
      </p:sp>
      <p:sp>
        <p:nvSpPr>
          <p:cNvPr id="8" name="Text 6"/>
          <p:cNvSpPr/>
          <p:nvPr/>
        </p:nvSpPr>
        <p:spPr>
          <a:xfrm>
            <a:off x="4791456" y="1463040"/>
            <a:ext cx="310896" cy="10058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9" name="Shape 7"/>
          <p:cNvSpPr/>
          <p:nvPr/>
        </p:nvSpPr>
        <p:spPr>
          <a:xfrm>
            <a:off x="5102352" y="1463040"/>
            <a:ext cx="1965960" cy="1005840"/>
          </a:xfrm>
          <a:prstGeom prst="roundRect">
            <a:avLst>
              <a:gd name="adj" fmla="val 8182"/>
            </a:avLst>
          </a:prstGeom>
          <a:solidFill>
            <a:srgbClr val="F2F5FB"/>
          </a:solidFill>
          <a:ln/>
        </p:spPr>
      </p:sp>
      <p:sp>
        <p:nvSpPr>
          <p:cNvPr id="10" name="Text 8"/>
          <p:cNvSpPr/>
          <p:nvPr/>
        </p:nvSpPr>
        <p:spPr>
          <a:xfrm>
            <a:off x="5102352" y="1463040"/>
            <a:ext cx="1965960" cy="1005840"/>
          </a:xfrm>
          <a:prstGeom prst="rect">
            <a:avLst/>
          </a:prstGeom>
          <a:noFill/>
          <a:ln/>
        </p:spPr>
        <p:txBody>
          <a:bodyPr wrap="square" lIns="0" tIns="0" rIns="0" bIns="0" rtlCol="0" anchor="ctr"/>
          <a:lstStyle/>
          <a:p>
            <a:pPr algn="ctr" indent="0" marL="0">
              <a:lnSpc>
                <a:spcPct val="100000"/>
              </a:lnSpc>
              <a:buNone/>
            </a:pPr>
            <a:r>
              <a:rPr lang="en-US" sz="1300" b="1" dirty="0">
                <a:solidFill>
                  <a:srgbClr val="1E2761"/>
                </a:solidFill>
              </a:rPr>
              <a:t>Unit-test</a:t>
            </a:r>
            <a:endParaRPr lang="en-US" sz="1300" dirty="0"/>
          </a:p>
        </p:txBody>
      </p:sp>
      <p:sp>
        <p:nvSpPr>
          <p:cNvPr id="11" name="Text 9"/>
          <p:cNvSpPr/>
          <p:nvPr/>
        </p:nvSpPr>
        <p:spPr>
          <a:xfrm>
            <a:off x="7022592" y="1463040"/>
            <a:ext cx="310896" cy="10058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12" name="Shape 10"/>
          <p:cNvSpPr/>
          <p:nvPr/>
        </p:nvSpPr>
        <p:spPr>
          <a:xfrm>
            <a:off x="7333488" y="1463040"/>
            <a:ext cx="1965960" cy="1005840"/>
          </a:xfrm>
          <a:prstGeom prst="roundRect">
            <a:avLst>
              <a:gd name="adj" fmla="val 8182"/>
            </a:avLst>
          </a:prstGeom>
          <a:solidFill>
            <a:srgbClr val="F2F5FB"/>
          </a:solidFill>
          <a:ln/>
        </p:spPr>
      </p:sp>
      <p:sp>
        <p:nvSpPr>
          <p:cNvPr id="13" name="Text 11"/>
          <p:cNvSpPr/>
          <p:nvPr/>
        </p:nvSpPr>
        <p:spPr>
          <a:xfrm>
            <a:off x="7333488" y="1463040"/>
            <a:ext cx="1965960" cy="1005840"/>
          </a:xfrm>
          <a:prstGeom prst="rect">
            <a:avLst/>
          </a:prstGeom>
          <a:noFill/>
          <a:ln/>
        </p:spPr>
        <p:txBody>
          <a:bodyPr wrap="square" lIns="0" tIns="0" rIns="0" bIns="0" rtlCol="0" anchor="ctr"/>
          <a:lstStyle/>
          <a:p>
            <a:pPr algn="ctr" indent="0" marL="0">
              <a:lnSpc>
                <a:spcPct val="100000"/>
              </a:lnSpc>
              <a:buNone/>
            </a:pPr>
            <a:r>
              <a:rPr lang="en-US" sz="1300" b="1" dirty="0">
                <a:solidFill>
                  <a:srgbClr val="1E2761"/>
                </a:solidFill>
              </a:rPr>
              <a:t>Validate</a:t>
            </a:r>
            <a:endParaRPr lang="en-US" sz="1300" dirty="0"/>
          </a:p>
          <a:p>
            <a:pPr algn="ctr" indent="0" marL="0">
              <a:lnSpc>
                <a:spcPct val="100000"/>
              </a:lnSpc>
              <a:buNone/>
            </a:pPr>
            <a:r>
              <a:rPr lang="en-US" sz="1300" b="1" dirty="0">
                <a:solidFill>
                  <a:srgbClr val="1E2761"/>
                </a:solidFill>
              </a:rPr>
              <a:t>on labels</a:t>
            </a:r>
            <a:endParaRPr lang="en-US" sz="1300" dirty="0"/>
          </a:p>
        </p:txBody>
      </p:sp>
      <p:sp>
        <p:nvSpPr>
          <p:cNvPr id="14" name="Text 12"/>
          <p:cNvSpPr/>
          <p:nvPr/>
        </p:nvSpPr>
        <p:spPr>
          <a:xfrm>
            <a:off x="9253728" y="1463040"/>
            <a:ext cx="310896" cy="10058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15" name="Shape 13"/>
          <p:cNvSpPr/>
          <p:nvPr/>
        </p:nvSpPr>
        <p:spPr>
          <a:xfrm>
            <a:off x="9564624" y="1463040"/>
            <a:ext cx="1965960" cy="1005840"/>
          </a:xfrm>
          <a:prstGeom prst="roundRect">
            <a:avLst>
              <a:gd name="adj" fmla="val 8182"/>
            </a:avLst>
          </a:prstGeom>
          <a:solidFill>
            <a:srgbClr val="1E2761"/>
          </a:solidFill>
          <a:ln/>
        </p:spPr>
      </p:sp>
      <p:sp>
        <p:nvSpPr>
          <p:cNvPr id="16" name="Text 14"/>
          <p:cNvSpPr/>
          <p:nvPr/>
        </p:nvSpPr>
        <p:spPr>
          <a:xfrm>
            <a:off x="9564624" y="1463040"/>
            <a:ext cx="1965960" cy="1005840"/>
          </a:xfrm>
          <a:prstGeom prst="rect">
            <a:avLst/>
          </a:prstGeom>
          <a:noFill/>
          <a:ln/>
        </p:spPr>
        <p:txBody>
          <a:bodyPr wrap="square" lIns="0" tIns="0" rIns="0" bIns="0" rtlCol="0" anchor="ctr"/>
          <a:lstStyle/>
          <a:p>
            <a:pPr algn="ctr" indent="0" marL="0">
              <a:lnSpc>
                <a:spcPct val="100000"/>
              </a:lnSpc>
              <a:buNone/>
            </a:pPr>
            <a:r>
              <a:rPr lang="en-US" sz="1300" b="1" dirty="0">
                <a:solidFill>
                  <a:srgbClr val="FFFFFF"/>
                </a:solidFill>
              </a:rPr>
              <a:t>Refine</a:t>
            </a:r>
            <a:endParaRPr lang="en-US" sz="1300" dirty="0"/>
          </a:p>
        </p:txBody>
      </p:sp>
      <p:sp>
        <p:nvSpPr>
          <p:cNvPr id="17" name="Text 15"/>
          <p:cNvSpPr/>
          <p:nvPr/>
        </p:nvSpPr>
        <p:spPr>
          <a:xfrm>
            <a:off x="640080" y="2578608"/>
            <a:ext cx="10881360" cy="365760"/>
          </a:xfrm>
          <a:prstGeom prst="rect">
            <a:avLst/>
          </a:prstGeom>
          <a:noFill/>
          <a:ln/>
        </p:spPr>
        <p:txBody>
          <a:bodyPr wrap="square" rtlCol="0" anchor="ctr"/>
          <a:lstStyle/>
          <a:p>
            <a:pPr algn="ctr" indent="0" marL="0">
              <a:buNone/>
            </a:pPr>
            <a:r>
              <a:rPr lang="en-US" sz="1250" i="1" dirty="0">
                <a:solidFill>
                  <a:srgbClr val="5A6270"/>
                </a:solidFill>
              </a:rPr>
              <a:t>Each cycle repeats until validation passes on data the detector has not seen.</a:t>
            </a:r>
            <a:endParaRPr lang="en-US" sz="1250" dirty="0"/>
          </a:p>
        </p:txBody>
      </p:sp>
      <p:sp>
        <p:nvSpPr>
          <p:cNvPr id="18" name="Shape 16"/>
          <p:cNvSpPr/>
          <p:nvPr/>
        </p:nvSpPr>
        <p:spPr>
          <a:xfrm>
            <a:off x="640080" y="3108960"/>
            <a:ext cx="5257800" cy="2194560"/>
          </a:xfrm>
          <a:prstGeom prst="roundRect">
            <a:avLst>
              <a:gd name="adj" fmla="val 4167"/>
            </a:avLst>
          </a:prstGeom>
          <a:solidFill>
            <a:srgbClr val="F2F5FB"/>
          </a:solidFill>
          <a:ln/>
        </p:spPr>
      </p:sp>
      <p:sp>
        <p:nvSpPr>
          <p:cNvPr id="19" name="Text 17"/>
          <p:cNvSpPr/>
          <p:nvPr/>
        </p:nvSpPr>
        <p:spPr>
          <a:xfrm>
            <a:off x="868680" y="3291840"/>
            <a:ext cx="4846320" cy="457200"/>
          </a:xfrm>
          <a:prstGeom prst="rect">
            <a:avLst/>
          </a:prstGeom>
          <a:noFill/>
          <a:ln/>
        </p:spPr>
        <p:txBody>
          <a:bodyPr wrap="square" rtlCol="0" anchor="ctr"/>
          <a:lstStyle/>
          <a:p>
            <a:pPr indent="0" marL="0">
              <a:buNone/>
            </a:pPr>
            <a:r>
              <a:rPr lang="en-US" sz="1600" b="1" dirty="0">
                <a:solidFill>
                  <a:srgbClr val="1E2761"/>
                </a:solidFill>
              </a:rPr>
              <a:t>Iterative and incremental</a:t>
            </a:r>
            <a:endParaRPr lang="en-US" sz="1600" dirty="0"/>
          </a:p>
        </p:txBody>
      </p:sp>
      <p:sp>
        <p:nvSpPr>
          <p:cNvPr id="20" name="Text 18"/>
          <p:cNvSpPr/>
          <p:nvPr/>
        </p:nvSpPr>
        <p:spPr>
          <a:xfrm>
            <a:off x="868680" y="3749040"/>
            <a:ext cx="4846320" cy="1463040"/>
          </a:xfrm>
          <a:prstGeom prst="rect">
            <a:avLst/>
          </a:prstGeom>
          <a:noFill/>
          <a:ln/>
        </p:spPr>
        <p:txBody>
          <a:bodyPr wrap="square" rtlCol="0" anchor="ctr"/>
          <a:lstStyle/>
          <a:p>
            <a:pPr indent="0" marL="0">
              <a:lnSpc>
                <a:spcPct val="118000"/>
              </a:lnSpc>
              <a:buNone/>
            </a:pPr>
            <a:r>
              <a:rPr lang="en-US" sz="1250" dirty="0">
                <a:solidFill>
                  <a:srgbClr val="1A1A2E"/>
                </a:solidFill>
              </a:rPr>
              <a:t>Each layer (parsers, features, detector) was built, unit-tested, then validated against labelled data before the next. Pytest gated every change, so refactoring never silently broke a feature.</a:t>
            </a:r>
            <a:endParaRPr lang="en-US" sz="1250" dirty="0"/>
          </a:p>
        </p:txBody>
      </p:sp>
      <p:sp>
        <p:nvSpPr>
          <p:cNvPr id="21" name="Shape 19"/>
          <p:cNvSpPr/>
          <p:nvPr/>
        </p:nvSpPr>
        <p:spPr>
          <a:xfrm>
            <a:off x="6263640" y="3108960"/>
            <a:ext cx="5257800" cy="2194560"/>
          </a:xfrm>
          <a:prstGeom prst="roundRect">
            <a:avLst>
              <a:gd name="adj" fmla="val 4167"/>
            </a:avLst>
          </a:prstGeom>
          <a:solidFill>
            <a:srgbClr val="1E2761"/>
          </a:solidFill>
          <a:ln/>
        </p:spPr>
      </p:sp>
      <p:sp>
        <p:nvSpPr>
          <p:cNvPr id="22" name="Text 20"/>
          <p:cNvSpPr/>
          <p:nvPr/>
        </p:nvSpPr>
        <p:spPr>
          <a:xfrm>
            <a:off x="6492240" y="3291840"/>
            <a:ext cx="4846320" cy="457200"/>
          </a:xfrm>
          <a:prstGeom prst="rect">
            <a:avLst/>
          </a:prstGeom>
          <a:noFill/>
          <a:ln/>
        </p:spPr>
        <p:txBody>
          <a:bodyPr wrap="square" rtlCol="0" anchor="ctr"/>
          <a:lstStyle/>
          <a:p>
            <a:pPr indent="0" marL="0">
              <a:buNone/>
            </a:pPr>
            <a:r>
              <a:rPr lang="en-US" sz="1600" b="1" dirty="0">
                <a:solidFill>
                  <a:srgbClr val="FFFFFF"/>
                </a:solidFill>
              </a:rPr>
              <a:t>Why not waterfall</a:t>
            </a:r>
            <a:endParaRPr lang="en-US" sz="1600" dirty="0"/>
          </a:p>
        </p:txBody>
      </p:sp>
      <p:sp>
        <p:nvSpPr>
          <p:cNvPr id="23" name="Text 21"/>
          <p:cNvSpPr/>
          <p:nvPr/>
        </p:nvSpPr>
        <p:spPr>
          <a:xfrm>
            <a:off x="6492240" y="3749040"/>
            <a:ext cx="4846320" cy="1463040"/>
          </a:xfrm>
          <a:prstGeom prst="rect">
            <a:avLst/>
          </a:prstGeom>
          <a:noFill/>
          <a:ln/>
        </p:spPr>
        <p:txBody>
          <a:bodyPr wrap="square" rtlCol="0" anchor="ctr"/>
          <a:lstStyle/>
          <a:p>
            <a:pPr indent="0" marL="0">
              <a:lnSpc>
                <a:spcPct val="115000"/>
              </a:lnSpc>
              <a:buNone/>
            </a:pPr>
            <a:r>
              <a:rPr lang="en-US" sz="1250" dirty="0">
                <a:solidFill>
                  <a:srgbClr val="CADCFC"/>
                </a:solidFill>
              </a:rPr>
              <a:t>The detector's real behaviour could only be judged by running it. Early runs scored a perfect 1.00, which signalled the test was too easy, not that the system was finished. That forced a redesign of the generator and evaluation. A single linear pass could not have caught it.</a:t>
            </a:r>
            <a:endParaRPr lang="en-US" sz="1250" dirty="0"/>
          </a:p>
        </p:txBody>
      </p:sp>
      <p:sp>
        <p:nvSpPr>
          <p:cNvPr id="24" name="Text 22"/>
          <p:cNvSpPr/>
          <p:nvPr/>
        </p:nvSpPr>
        <p:spPr>
          <a:xfrm>
            <a:off x="640080" y="553212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The evaluation fed back into the design. That loop is why the final numbers are defensible, not inflated.</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System architecture</a:t>
            </a:r>
            <a:endParaRPr lang="en-US" sz="3000" dirty="0"/>
          </a:p>
        </p:txBody>
      </p:sp>
      <p:sp>
        <p:nvSpPr>
          <p:cNvPr id="3" name="Shape 1"/>
          <p:cNvSpPr/>
          <p:nvPr/>
        </p:nvSpPr>
        <p:spPr>
          <a:xfrm>
            <a:off x="457200" y="2011680"/>
            <a:ext cx="1874520" cy="2651760"/>
          </a:xfrm>
          <a:prstGeom prst="roundRect">
            <a:avLst>
              <a:gd name="adj" fmla="val 4878"/>
            </a:avLst>
          </a:prstGeom>
          <a:solidFill>
            <a:srgbClr val="F2F5FB"/>
          </a:solidFill>
          <a:ln/>
        </p:spPr>
      </p:sp>
      <p:sp>
        <p:nvSpPr>
          <p:cNvPr id="4" name="Text 2"/>
          <p:cNvSpPr/>
          <p:nvPr/>
        </p:nvSpPr>
        <p:spPr>
          <a:xfrm>
            <a:off x="457200" y="2121408"/>
            <a:ext cx="1874520" cy="457200"/>
          </a:xfrm>
          <a:prstGeom prst="rect">
            <a:avLst/>
          </a:prstGeom>
          <a:noFill/>
          <a:ln/>
        </p:spPr>
        <p:txBody>
          <a:bodyPr wrap="square" lIns="0" tIns="0" rIns="0" bIns="0" rtlCol="0" anchor="ctr"/>
          <a:lstStyle/>
          <a:p>
            <a:pPr algn="ctr" indent="0" marL="0">
              <a:lnSpc>
                <a:spcPct val="100000"/>
              </a:lnSpc>
              <a:buNone/>
            </a:pPr>
            <a:r>
              <a:rPr lang="en-US" sz="1250" b="1" dirty="0">
                <a:solidFill>
                  <a:srgbClr val="B85042"/>
                </a:solidFill>
              </a:rPr>
              <a:t>1</a:t>
            </a:r>
            <a:pPr algn="ctr" indent="0" marL="0">
              <a:lnSpc>
                <a:spcPct val="100000"/>
              </a:lnSpc>
              <a:buNone/>
            </a:pPr>
            <a:r>
              <a:rPr lang="en-US" sz="1250" b="1" dirty="0">
                <a:solidFill>
                  <a:srgbClr val="1E2761"/>
                </a:solidFill>
              </a:rPr>
              <a:t>  Raw audit logs</a:t>
            </a:r>
            <a:endParaRPr lang="en-US" sz="1250" dirty="0"/>
          </a:p>
        </p:txBody>
      </p:sp>
      <p:sp>
        <p:nvSpPr>
          <p:cNvPr id="5" name="Shape 3"/>
          <p:cNvSpPr/>
          <p:nvPr/>
        </p:nvSpPr>
        <p:spPr>
          <a:xfrm>
            <a:off x="603504" y="2606040"/>
            <a:ext cx="1581912" cy="658368"/>
          </a:xfrm>
          <a:prstGeom prst="roundRect">
            <a:avLst>
              <a:gd name="adj" fmla="val 6944"/>
            </a:avLst>
          </a:prstGeom>
          <a:solidFill>
            <a:srgbClr val="FFFFFF"/>
          </a:solidFill>
          <a:ln w="9525">
            <a:solidFill>
              <a:srgbClr val="C2CCE0"/>
            </a:solidFill>
            <a:prstDash val="solid"/>
          </a:ln>
        </p:spPr>
      </p:sp>
      <p:sp>
        <p:nvSpPr>
          <p:cNvPr id="6" name="Text 4"/>
          <p:cNvSpPr/>
          <p:nvPr/>
        </p:nvSpPr>
        <p:spPr>
          <a:xfrm>
            <a:off x="603504" y="2606040"/>
            <a:ext cx="1581912" cy="658368"/>
          </a:xfrm>
          <a:prstGeom prst="rect">
            <a:avLst/>
          </a:prstGeom>
          <a:noFill/>
          <a:ln/>
        </p:spPr>
        <p:txBody>
          <a:bodyPr wrap="square" lIns="0" tIns="0" rIns="0" bIns="0" rtlCol="0" anchor="ctr"/>
          <a:lstStyle/>
          <a:p>
            <a:pPr algn="ctr" indent="0" marL="0">
              <a:lnSpc>
                <a:spcPct val="100000"/>
              </a:lnSpc>
              <a:buNone/>
            </a:pPr>
            <a:r>
              <a:rPr lang="en-US" sz="1050" b="1" dirty="0">
                <a:solidFill>
                  <a:srgbClr val="1E2761"/>
                </a:solidFill>
              </a:rPr>
              <a:t>SurveyCTO CSV</a:t>
            </a:r>
            <a:endParaRPr lang="en-US" sz="1050" dirty="0"/>
          </a:p>
          <a:p>
            <a:pPr algn="ctr" indent="0" marL="0">
              <a:lnSpc>
                <a:spcPct val="100000"/>
              </a:lnSpc>
              <a:buNone/>
            </a:pPr>
            <a:r>
              <a:rPr lang="en-US" sz="900" dirty="0">
                <a:solidFill>
                  <a:srgbClr val="5A6270"/>
                </a:solidFill>
              </a:rPr>
              <a:t>epoch ms</a:t>
            </a:r>
            <a:endParaRPr lang="en-US" sz="1050" dirty="0"/>
          </a:p>
        </p:txBody>
      </p:sp>
      <p:sp>
        <p:nvSpPr>
          <p:cNvPr id="7" name="Shape 5"/>
          <p:cNvSpPr/>
          <p:nvPr/>
        </p:nvSpPr>
        <p:spPr>
          <a:xfrm>
            <a:off x="603504" y="3355848"/>
            <a:ext cx="1581912" cy="658368"/>
          </a:xfrm>
          <a:prstGeom prst="roundRect">
            <a:avLst>
              <a:gd name="adj" fmla="val 6944"/>
            </a:avLst>
          </a:prstGeom>
          <a:solidFill>
            <a:srgbClr val="FFFFFF"/>
          </a:solidFill>
          <a:ln w="9525">
            <a:solidFill>
              <a:srgbClr val="C2CCE0"/>
            </a:solidFill>
            <a:prstDash val="solid"/>
          </a:ln>
        </p:spPr>
      </p:sp>
      <p:sp>
        <p:nvSpPr>
          <p:cNvPr id="8" name="Text 6"/>
          <p:cNvSpPr/>
          <p:nvPr/>
        </p:nvSpPr>
        <p:spPr>
          <a:xfrm>
            <a:off x="603504" y="3355848"/>
            <a:ext cx="1581912" cy="658368"/>
          </a:xfrm>
          <a:prstGeom prst="rect">
            <a:avLst/>
          </a:prstGeom>
          <a:noFill/>
          <a:ln/>
        </p:spPr>
        <p:txBody>
          <a:bodyPr wrap="square" lIns="0" tIns="0" rIns="0" bIns="0" rtlCol="0" anchor="ctr"/>
          <a:lstStyle/>
          <a:p>
            <a:pPr algn="ctr" indent="0" marL="0">
              <a:lnSpc>
                <a:spcPct val="100000"/>
              </a:lnSpc>
              <a:buNone/>
            </a:pPr>
            <a:r>
              <a:rPr lang="en-US" sz="1050" b="1" dirty="0">
                <a:solidFill>
                  <a:srgbClr val="1E2761"/>
                </a:solidFill>
              </a:rPr>
              <a:t>ODK CSV</a:t>
            </a:r>
            <a:endParaRPr lang="en-US" sz="1050" dirty="0"/>
          </a:p>
          <a:p>
            <a:pPr algn="ctr" indent="0" marL="0">
              <a:lnSpc>
                <a:spcPct val="100000"/>
              </a:lnSpc>
              <a:buNone/>
            </a:pPr>
            <a:r>
              <a:rPr lang="en-US" sz="900" dirty="0">
                <a:solidFill>
                  <a:srgbClr val="5A6270"/>
                </a:solidFill>
              </a:rPr>
              <a:t>ISO 8601</a:t>
            </a:r>
            <a:endParaRPr lang="en-US" sz="1050" dirty="0"/>
          </a:p>
        </p:txBody>
      </p:sp>
      <p:sp>
        <p:nvSpPr>
          <p:cNvPr id="9" name="Text 7"/>
          <p:cNvSpPr/>
          <p:nvPr/>
        </p:nvSpPr>
        <p:spPr>
          <a:xfrm>
            <a:off x="475488" y="4096512"/>
            <a:ext cx="1837944" cy="502920"/>
          </a:xfrm>
          <a:prstGeom prst="rect">
            <a:avLst/>
          </a:prstGeom>
          <a:noFill/>
          <a:ln/>
        </p:spPr>
        <p:txBody>
          <a:bodyPr wrap="square" rtlCol="0" anchor="ctr"/>
          <a:lstStyle/>
          <a:p>
            <a:pPr algn="ctr" indent="0" marL="0">
              <a:lnSpc>
                <a:spcPct val="100000"/>
              </a:lnSpc>
              <a:buNone/>
            </a:pPr>
            <a:r>
              <a:rPr lang="en-US" sz="900" i="1" dirty="0">
                <a:solidFill>
                  <a:srgbClr val="5A6270"/>
                </a:solidFill>
              </a:rPr>
              <a:t>hybrid merged files</a:t>
            </a:r>
            <a:endParaRPr lang="en-US" sz="900" dirty="0"/>
          </a:p>
          <a:p>
            <a:pPr algn="ctr" indent="0" marL="0">
              <a:lnSpc>
                <a:spcPct val="100000"/>
              </a:lnSpc>
              <a:buNone/>
            </a:pPr>
            <a:r>
              <a:rPr lang="en-US" sz="900" i="1" dirty="0">
                <a:solidFill>
                  <a:srgbClr val="5A6270"/>
                </a:solidFill>
              </a:rPr>
              <a:t>auto-detected</a:t>
            </a:r>
            <a:endParaRPr lang="en-US" sz="900" dirty="0"/>
          </a:p>
        </p:txBody>
      </p:sp>
      <p:sp>
        <p:nvSpPr>
          <p:cNvPr id="10" name="Shape 8"/>
          <p:cNvSpPr/>
          <p:nvPr/>
        </p:nvSpPr>
        <p:spPr>
          <a:xfrm>
            <a:off x="2697480" y="2011680"/>
            <a:ext cx="1874520" cy="2651760"/>
          </a:xfrm>
          <a:prstGeom prst="roundRect">
            <a:avLst>
              <a:gd name="adj" fmla="val 4878"/>
            </a:avLst>
          </a:prstGeom>
          <a:solidFill>
            <a:srgbClr val="F2F5FB"/>
          </a:solidFill>
          <a:ln/>
        </p:spPr>
      </p:sp>
      <p:sp>
        <p:nvSpPr>
          <p:cNvPr id="11" name="Text 9"/>
          <p:cNvSpPr/>
          <p:nvPr/>
        </p:nvSpPr>
        <p:spPr>
          <a:xfrm>
            <a:off x="2697480" y="2121408"/>
            <a:ext cx="1874520" cy="457200"/>
          </a:xfrm>
          <a:prstGeom prst="rect">
            <a:avLst/>
          </a:prstGeom>
          <a:noFill/>
          <a:ln/>
        </p:spPr>
        <p:txBody>
          <a:bodyPr wrap="square" lIns="0" tIns="0" rIns="0" bIns="0" rtlCol="0" anchor="ctr"/>
          <a:lstStyle/>
          <a:p>
            <a:pPr algn="ctr" indent="0" marL="0">
              <a:lnSpc>
                <a:spcPct val="100000"/>
              </a:lnSpc>
              <a:buNone/>
            </a:pPr>
            <a:r>
              <a:rPr lang="en-US" sz="1250" b="1" dirty="0">
                <a:solidFill>
                  <a:srgbClr val="B85042"/>
                </a:solidFill>
              </a:rPr>
              <a:t>2</a:t>
            </a:r>
            <a:pPr algn="ctr" indent="0" marL="0">
              <a:lnSpc>
                <a:spcPct val="100000"/>
              </a:lnSpc>
              <a:buNone/>
            </a:pPr>
            <a:r>
              <a:rPr lang="en-US" sz="1250" b="1" dirty="0">
                <a:solidFill>
                  <a:srgbClr val="1E2761"/>
                </a:solidFill>
              </a:rPr>
              <a:t>  Parsers</a:t>
            </a:r>
            <a:endParaRPr lang="en-US" sz="1250" dirty="0"/>
          </a:p>
        </p:txBody>
      </p:sp>
      <p:sp>
        <p:nvSpPr>
          <p:cNvPr id="12" name="Shape 10"/>
          <p:cNvSpPr/>
          <p:nvPr/>
        </p:nvSpPr>
        <p:spPr>
          <a:xfrm>
            <a:off x="2843784" y="2606040"/>
            <a:ext cx="1581912" cy="658368"/>
          </a:xfrm>
          <a:prstGeom prst="roundRect">
            <a:avLst>
              <a:gd name="adj" fmla="val 6944"/>
            </a:avLst>
          </a:prstGeom>
          <a:solidFill>
            <a:srgbClr val="FFFFFF"/>
          </a:solidFill>
          <a:ln w="9525">
            <a:solidFill>
              <a:srgbClr val="C2CCE0"/>
            </a:solidFill>
            <a:prstDash val="solid"/>
          </a:ln>
        </p:spPr>
      </p:sp>
      <p:sp>
        <p:nvSpPr>
          <p:cNvPr id="13" name="Text 11"/>
          <p:cNvSpPr/>
          <p:nvPr/>
        </p:nvSpPr>
        <p:spPr>
          <a:xfrm>
            <a:off x="2843784" y="2606040"/>
            <a:ext cx="1581912" cy="658368"/>
          </a:xfrm>
          <a:prstGeom prst="rect">
            <a:avLst/>
          </a:prstGeom>
          <a:noFill/>
          <a:ln/>
        </p:spPr>
        <p:txBody>
          <a:bodyPr wrap="square" lIns="0" tIns="0" rIns="0" bIns="0" rtlCol="0" anchor="ctr"/>
          <a:lstStyle/>
          <a:p>
            <a:pPr algn="ctr" indent="0" marL="0">
              <a:lnSpc>
                <a:spcPct val="100000"/>
              </a:lnSpc>
              <a:buNone/>
            </a:pPr>
            <a:r>
              <a:rPr lang="en-US" sz="1050" b="1" dirty="0">
                <a:solidFill>
                  <a:srgbClr val="1E2761"/>
                </a:solidFill>
              </a:rPr>
              <a:t>SurveyCTOParser</a:t>
            </a:r>
            <a:endParaRPr lang="en-US" sz="1050" dirty="0"/>
          </a:p>
          <a:p>
            <a:pPr algn="ctr" indent="0" marL="0">
              <a:lnSpc>
                <a:spcPct val="100000"/>
              </a:lnSpc>
              <a:buNone/>
            </a:pPr>
            <a:endParaRPr lang="en-US" sz="1050" dirty="0"/>
          </a:p>
        </p:txBody>
      </p:sp>
      <p:sp>
        <p:nvSpPr>
          <p:cNvPr id="14" name="Shape 12"/>
          <p:cNvSpPr/>
          <p:nvPr/>
        </p:nvSpPr>
        <p:spPr>
          <a:xfrm>
            <a:off x="2843784" y="3355848"/>
            <a:ext cx="1581912" cy="658368"/>
          </a:xfrm>
          <a:prstGeom prst="roundRect">
            <a:avLst>
              <a:gd name="adj" fmla="val 6944"/>
            </a:avLst>
          </a:prstGeom>
          <a:solidFill>
            <a:srgbClr val="FFFFFF"/>
          </a:solidFill>
          <a:ln w="9525">
            <a:solidFill>
              <a:srgbClr val="C2CCE0"/>
            </a:solidFill>
            <a:prstDash val="solid"/>
          </a:ln>
        </p:spPr>
      </p:sp>
      <p:sp>
        <p:nvSpPr>
          <p:cNvPr id="15" name="Text 13"/>
          <p:cNvSpPr/>
          <p:nvPr/>
        </p:nvSpPr>
        <p:spPr>
          <a:xfrm>
            <a:off x="2843784" y="3355848"/>
            <a:ext cx="1581912" cy="658368"/>
          </a:xfrm>
          <a:prstGeom prst="rect">
            <a:avLst/>
          </a:prstGeom>
          <a:noFill/>
          <a:ln/>
        </p:spPr>
        <p:txBody>
          <a:bodyPr wrap="square" lIns="0" tIns="0" rIns="0" bIns="0" rtlCol="0" anchor="ctr"/>
          <a:lstStyle/>
          <a:p>
            <a:pPr algn="ctr" indent="0" marL="0">
              <a:lnSpc>
                <a:spcPct val="100000"/>
              </a:lnSpc>
              <a:buNone/>
            </a:pPr>
            <a:r>
              <a:rPr lang="en-US" sz="1050" b="1" dirty="0">
                <a:solidFill>
                  <a:srgbClr val="1E2761"/>
                </a:solidFill>
              </a:rPr>
              <a:t>ODKParser</a:t>
            </a:r>
            <a:endParaRPr lang="en-US" sz="1050" dirty="0"/>
          </a:p>
          <a:p>
            <a:pPr algn="ctr" indent="0" marL="0">
              <a:lnSpc>
                <a:spcPct val="100000"/>
              </a:lnSpc>
              <a:buNone/>
            </a:pPr>
            <a:endParaRPr lang="en-US" sz="1050" dirty="0"/>
          </a:p>
        </p:txBody>
      </p:sp>
      <p:sp>
        <p:nvSpPr>
          <p:cNvPr id="16" name="Text 14"/>
          <p:cNvSpPr/>
          <p:nvPr/>
        </p:nvSpPr>
        <p:spPr>
          <a:xfrm>
            <a:off x="2715768" y="4096512"/>
            <a:ext cx="1837944" cy="502920"/>
          </a:xfrm>
          <a:prstGeom prst="rect">
            <a:avLst/>
          </a:prstGeom>
          <a:noFill/>
          <a:ln/>
        </p:spPr>
        <p:txBody>
          <a:bodyPr wrap="square" rtlCol="0" anchor="ctr"/>
          <a:lstStyle/>
          <a:p>
            <a:pPr algn="ctr" indent="0" marL="0">
              <a:lnSpc>
                <a:spcPct val="100000"/>
              </a:lnSpc>
              <a:buNone/>
            </a:pPr>
            <a:r>
              <a:rPr lang="en-US" sz="900" i="1" dirty="0">
                <a:solidFill>
                  <a:srgbClr val="5A6270"/>
                </a:solidFill>
              </a:rPr>
              <a:t>normalise events</a:t>
            </a:r>
            <a:endParaRPr lang="en-US" sz="900" dirty="0"/>
          </a:p>
          <a:p>
            <a:pPr algn="ctr" indent="0" marL="0">
              <a:lnSpc>
                <a:spcPct val="100000"/>
              </a:lnSpc>
              <a:buNone/>
            </a:pPr>
            <a:r>
              <a:rPr lang="en-US" sz="900" i="1" dirty="0">
                <a:solidFill>
                  <a:srgbClr val="5A6270"/>
                </a:solidFill>
              </a:rPr>
              <a:t>&amp; timestamps</a:t>
            </a:r>
            <a:endParaRPr lang="en-US" sz="900" dirty="0"/>
          </a:p>
        </p:txBody>
      </p:sp>
      <p:sp>
        <p:nvSpPr>
          <p:cNvPr id="17" name="Shape 15"/>
          <p:cNvSpPr/>
          <p:nvPr/>
        </p:nvSpPr>
        <p:spPr>
          <a:xfrm>
            <a:off x="4937760" y="1737360"/>
            <a:ext cx="2468880" cy="3154680"/>
          </a:xfrm>
          <a:prstGeom prst="roundRect">
            <a:avLst>
              <a:gd name="adj" fmla="val 3704"/>
            </a:avLst>
          </a:prstGeom>
          <a:solidFill>
            <a:srgbClr val="1E2761"/>
          </a:solidFill>
          <a:ln/>
        </p:spPr>
      </p:sp>
      <p:sp>
        <p:nvSpPr>
          <p:cNvPr id="18" name="Text 16"/>
          <p:cNvSpPr/>
          <p:nvPr/>
        </p:nvSpPr>
        <p:spPr>
          <a:xfrm>
            <a:off x="5120640" y="1901952"/>
            <a:ext cx="2103120" cy="822960"/>
          </a:xfrm>
          <a:prstGeom prst="rect">
            <a:avLst/>
          </a:prstGeom>
          <a:noFill/>
          <a:ln/>
        </p:spPr>
        <p:txBody>
          <a:bodyPr wrap="square" rtlCol="0" anchor="ctr"/>
          <a:lstStyle/>
          <a:p>
            <a:pPr algn="ctr" indent="0" marL="0">
              <a:lnSpc>
                <a:spcPct val="100000"/>
              </a:lnSpc>
              <a:buNone/>
            </a:pPr>
            <a:r>
              <a:rPr lang="en-US" sz="1250" b="1" dirty="0">
                <a:solidFill>
                  <a:srgbClr val="CADCFC"/>
                </a:solidFill>
              </a:rPr>
              <a:t>3</a:t>
            </a:r>
            <a:pPr algn="ctr" indent="0" marL="0">
              <a:lnSpc>
                <a:spcPct val="100000"/>
              </a:lnSpc>
              <a:buNone/>
            </a:pPr>
            <a:r>
              <a:rPr lang="en-US" sz="1250" b="1" dirty="0">
                <a:solidFill>
                  <a:srgbClr val="FFFFFF"/>
                </a:solidFill>
              </a:rPr>
              <a:t>  Common intermediate representation</a:t>
            </a:r>
            <a:endParaRPr lang="en-US" sz="1250" dirty="0"/>
          </a:p>
        </p:txBody>
      </p:sp>
      <p:sp>
        <p:nvSpPr>
          <p:cNvPr id="19" name="Text 17"/>
          <p:cNvSpPr/>
          <p:nvPr/>
        </p:nvSpPr>
        <p:spPr>
          <a:xfrm>
            <a:off x="5120640" y="2724912"/>
            <a:ext cx="2103120" cy="320040"/>
          </a:xfrm>
          <a:prstGeom prst="rect">
            <a:avLst/>
          </a:prstGeom>
          <a:noFill/>
          <a:ln/>
        </p:spPr>
        <p:txBody>
          <a:bodyPr wrap="square" rtlCol="0" anchor="ctr"/>
          <a:lstStyle/>
          <a:p>
            <a:pPr algn="ctr" indent="0" marL="0">
              <a:buNone/>
            </a:pPr>
            <a:r>
              <a:rPr lang="en-US" sz="950" i="1" dirty="0">
                <a:solidFill>
                  <a:srgbClr val="CADCFC"/>
                </a:solidFill>
              </a:rPr>
              <a:t>one table, every stage below depends on it</a:t>
            </a:r>
            <a:endParaRPr lang="en-US" sz="950" dirty="0"/>
          </a:p>
        </p:txBody>
      </p:sp>
      <p:sp>
        <p:nvSpPr>
          <p:cNvPr id="20" name="Text 18"/>
          <p:cNvSpPr/>
          <p:nvPr/>
        </p:nvSpPr>
        <p:spPr>
          <a:xfrm>
            <a:off x="5257800" y="3090672"/>
            <a:ext cx="1828800" cy="1691640"/>
          </a:xfrm>
          <a:prstGeom prst="rect">
            <a:avLst/>
          </a:prstGeom>
          <a:noFill/>
          <a:ln/>
        </p:spPr>
        <p:txBody>
          <a:bodyPr wrap="square" rtlCol="0" anchor="ctr"/>
          <a:lstStyle/>
          <a:p>
            <a:pPr algn="ctr" indent="0" marL="0">
              <a:lnSpc>
                <a:spcPct val="112000"/>
              </a:lnSpc>
              <a:buNone/>
            </a:pPr>
            <a:r>
              <a:rPr lang="en-US" sz="1150" dirty="0">
                <a:solidFill>
                  <a:srgbClr val="CADCFC"/>
                </a:solidFill>
                <a:latin typeface="Courier New" pitchFamily="34" charset="0"/>
                <a:ea typeface="Courier New" pitchFamily="34" charset="-122"/>
                <a:cs typeface="Courier New" pitchFamily="34" charset="-120"/>
              </a:rPr>
              <a:t>interview_id</a:t>
            </a:r>
            <a:endParaRPr lang="en-US" sz="1150" dirty="0"/>
          </a:p>
          <a:p>
            <a:pPr algn="ctr" indent="0" marL="0">
              <a:lnSpc>
                <a:spcPct val="112000"/>
              </a:lnSpc>
              <a:buNone/>
            </a:pPr>
            <a:r>
              <a:rPr lang="en-US" sz="1150" dirty="0">
                <a:solidFill>
                  <a:srgbClr val="CADCFC"/>
                </a:solidFill>
                <a:latin typeface="Courier New" pitchFamily="34" charset="0"/>
                <a:ea typeface="Courier New" pitchFamily="34" charset="-122"/>
                <a:cs typeface="Courier New" pitchFamily="34" charset="-120"/>
              </a:rPr>
              <a:t>field_name</a:t>
            </a:r>
            <a:endParaRPr lang="en-US" sz="1150" dirty="0"/>
          </a:p>
          <a:p>
            <a:pPr algn="ctr" indent="0" marL="0">
              <a:lnSpc>
                <a:spcPct val="112000"/>
              </a:lnSpc>
              <a:buNone/>
            </a:pPr>
            <a:r>
              <a:rPr lang="en-US" sz="1150" dirty="0">
                <a:solidFill>
                  <a:srgbClr val="CADCFC"/>
                </a:solidFill>
                <a:latin typeface="Courier New" pitchFamily="34" charset="0"/>
                <a:ea typeface="Courier New" pitchFamily="34" charset="-122"/>
                <a:cs typeface="Courier New" pitchFamily="34" charset="-120"/>
              </a:rPr>
              <a:t>event_type</a:t>
            </a:r>
            <a:endParaRPr lang="en-US" sz="1150" dirty="0"/>
          </a:p>
          <a:p>
            <a:pPr algn="ctr" indent="0" marL="0">
              <a:lnSpc>
                <a:spcPct val="112000"/>
              </a:lnSpc>
              <a:buNone/>
            </a:pPr>
            <a:r>
              <a:rPr lang="en-US" sz="1150" dirty="0">
                <a:solidFill>
                  <a:srgbClr val="CADCFC"/>
                </a:solidFill>
                <a:latin typeface="Courier New" pitchFamily="34" charset="0"/>
                <a:ea typeface="Courier New" pitchFamily="34" charset="-122"/>
                <a:cs typeface="Courier New" pitchFamily="34" charset="-120"/>
              </a:rPr>
              <a:t>start_ms</a:t>
            </a:r>
            <a:endParaRPr lang="en-US" sz="1150" dirty="0"/>
          </a:p>
          <a:p>
            <a:pPr algn="ctr" indent="0" marL="0">
              <a:lnSpc>
                <a:spcPct val="112000"/>
              </a:lnSpc>
              <a:buNone/>
            </a:pPr>
            <a:r>
              <a:rPr lang="en-US" sz="1150" dirty="0">
                <a:solidFill>
                  <a:srgbClr val="CADCFC"/>
                </a:solidFill>
                <a:latin typeface="Courier New" pitchFamily="34" charset="0"/>
                <a:ea typeface="Courier New" pitchFamily="34" charset="-122"/>
                <a:cs typeface="Courier New" pitchFamily="34" charset="-120"/>
              </a:rPr>
              <a:t>end_ms</a:t>
            </a:r>
            <a:endParaRPr lang="en-US" sz="1150" dirty="0"/>
          </a:p>
          <a:p>
            <a:pPr algn="ctr" indent="0" marL="0">
              <a:lnSpc>
                <a:spcPct val="112000"/>
              </a:lnSpc>
              <a:buNone/>
            </a:pPr>
            <a:r>
              <a:rPr lang="en-US" sz="1150" dirty="0">
                <a:solidFill>
                  <a:srgbClr val="CADCFC"/>
                </a:solidFill>
                <a:latin typeface="Courier New" pitchFamily="34" charset="0"/>
                <a:ea typeface="Courier New" pitchFamily="34" charset="-122"/>
                <a:cs typeface="Courier New" pitchFamily="34" charset="-120"/>
              </a:rPr>
              <a:t>duration_ms</a:t>
            </a:r>
            <a:endParaRPr lang="en-US" sz="1150" dirty="0"/>
          </a:p>
        </p:txBody>
      </p:sp>
      <p:sp>
        <p:nvSpPr>
          <p:cNvPr id="21" name="Shape 19"/>
          <p:cNvSpPr/>
          <p:nvPr/>
        </p:nvSpPr>
        <p:spPr>
          <a:xfrm>
            <a:off x="7772400" y="2011680"/>
            <a:ext cx="1783080" cy="2651760"/>
          </a:xfrm>
          <a:prstGeom prst="roundRect">
            <a:avLst>
              <a:gd name="adj" fmla="val 5128"/>
            </a:avLst>
          </a:prstGeom>
          <a:solidFill>
            <a:srgbClr val="F2F5FB"/>
          </a:solidFill>
          <a:ln/>
        </p:spPr>
      </p:sp>
      <p:sp>
        <p:nvSpPr>
          <p:cNvPr id="22" name="Text 20"/>
          <p:cNvSpPr/>
          <p:nvPr/>
        </p:nvSpPr>
        <p:spPr>
          <a:xfrm>
            <a:off x="7772400" y="2121408"/>
            <a:ext cx="1783080" cy="457200"/>
          </a:xfrm>
          <a:prstGeom prst="rect">
            <a:avLst/>
          </a:prstGeom>
          <a:noFill/>
          <a:ln/>
        </p:spPr>
        <p:txBody>
          <a:bodyPr wrap="square" lIns="0" tIns="0" rIns="0" bIns="0" rtlCol="0" anchor="ctr"/>
          <a:lstStyle/>
          <a:p>
            <a:pPr algn="ctr" indent="0" marL="0">
              <a:lnSpc>
                <a:spcPct val="100000"/>
              </a:lnSpc>
              <a:buNone/>
            </a:pPr>
            <a:r>
              <a:rPr lang="en-US" sz="1250" b="1" dirty="0">
                <a:solidFill>
                  <a:srgbClr val="B85042"/>
                </a:solidFill>
              </a:rPr>
              <a:t>4</a:t>
            </a:r>
            <a:pPr algn="ctr" indent="0" marL="0">
              <a:lnSpc>
                <a:spcPct val="100000"/>
              </a:lnSpc>
              <a:buNone/>
            </a:pPr>
            <a:r>
              <a:rPr lang="en-US" sz="1250" b="1" dirty="0">
                <a:solidFill>
                  <a:srgbClr val="1E2761"/>
                </a:solidFill>
              </a:rPr>
              <a:t>  Feature extraction</a:t>
            </a:r>
            <a:endParaRPr lang="en-US" sz="1250" dirty="0"/>
          </a:p>
        </p:txBody>
      </p:sp>
      <p:sp>
        <p:nvSpPr>
          <p:cNvPr id="23" name="Text 21"/>
          <p:cNvSpPr/>
          <p:nvPr/>
        </p:nvSpPr>
        <p:spPr>
          <a:xfrm>
            <a:off x="7772400" y="2697480"/>
            <a:ext cx="1783080" cy="502920"/>
          </a:xfrm>
          <a:prstGeom prst="rect">
            <a:avLst/>
          </a:prstGeom>
          <a:noFill/>
          <a:ln/>
        </p:spPr>
        <p:txBody>
          <a:bodyPr wrap="square" rtlCol="0" anchor="ctr"/>
          <a:lstStyle/>
          <a:p>
            <a:pPr algn="ctr" indent="0" marL="0">
              <a:buNone/>
            </a:pPr>
            <a:r>
              <a:rPr lang="en-US" sz="1800" b="1" dirty="0">
                <a:solidFill>
                  <a:srgbClr val="1E2761"/>
                </a:solidFill>
              </a:rPr>
              <a:t>40 features</a:t>
            </a:r>
            <a:endParaRPr lang="en-US" sz="1800" dirty="0"/>
          </a:p>
        </p:txBody>
      </p:sp>
      <p:sp>
        <p:nvSpPr>
          <p:cNvPr id="24" name="Text 22"/>
          <p:cNvSpPr/>
          <p:nvPr/>
        </p:nvSpPr>
        <p:spPr>
          <a:xfrm>
            <a:off x="7772400" y="3246120"/>
            <a:ext cx="1783080" cy="411480"/>
          </a:xfrm>
          <a:prstGeom prst="rect">
            <a:avLst/>
          </a:prstGeom>
          <a:noFill/>
          <a:ln/>
        </p:spPr>
        <p:txBody>
          <a:bodyPr wrap="square" rtlCol="0" anchor="ctr"/>
          <a:lstStyle/>
          <a:p>
            <a:pPr algn="ctr" indent="0" marL="0">
              <a:buNone/>
            </a:pPr>
            <a:r>
              <a:rPr lang="en-US" sz="1500" b="1" dirty="0">
                <a:solidFill>
                  <a:srgbClr val="B85042"/>
                </a:solidFill>
              </a:rPr>
              <a:t>Q / S / V / T</a:t>
            </a:r>
            <a:endParaRPr lang="en-US" sz="1500" dirty="0"/>
          </a:p>
        </p:txBody>
      </p:sp>
      <p:sp>
        <p:nvSpPr>
          <p:cNvPr id="25" name="Text 23"/>
          <p:cNvSpPr/>
          <p:nvPr/>
        </p:nvSpPr>
        <p:spPr>
          <a:xfrm>
            <a:off x="7772400" y="3749040"/>
            <a:ext cx="1783080" cy="640080"/>
          </a:xfrm>
          <a:prstGeom prst="rect">
            <a:avLst/>
          </a:prstGeom>
          <a:noFill/>
          <a:ln/>
        </p:spPr>
        <p:txBody>
          <a:bodyPr wrap="square" rtlCol="0" anchor="ctr"/>
          <a:lstStyle/>
          <a:p>
            <a:pPr algn="ctr" indent="0" marL="0">
              <a:lnSpc>
                <a:spcPct val="105000"/>
              </a:lnSpc>
              <a:buNone/>
            </a:pPr>
            <a:r>
              <a:rPr lang="en-US" sz="950" i="1" dirty="0">
                <a:solidFill>
                  <a:srgbClr val="5A6270"/>
                </a:solidFill>
              </a:rPr>
              <a:t>question, section,</a:t>
            </a:r>
            <a:endParaRPr lang="en-US" sz="950" dirty="0"/>
          </a:p>
          <a:p>
            <a:pPr algn="ctr" indent="0" marL="0">
              <a:lnSpc>
                <a:spcPct val="105000"/>
              </a:lnSpc>
              <a:buNone/>
            </a:pPr>
            <a:r>
              <a:rPr lang="en-US" sz="950" i="1" dirty="0">
                <a:solidFill>
                  <a:srgbClr val="5A6270"/>
                </a:solidFill>
              </a:rPr>
              <a:t>survey, statistical</a:t>
            </a:r>
            <a:endParaRPr lang="en-US" sz="950" dirty="0"/>
          </a:p>
        </p:txBody>
      </p:sp>
      <p:sp>
        <p:nvSpPr>
          <p:cNvPr id="26" name="Shape 24"/>
          <p:cNvSpPr/>
          <p:nvPr/>
        </p:nvSpPr>
        <p:spPr>
          <a:xfrm>
            <a:off x="9829800" y="2011680"/>
            <a:ext cx="1783080" cy="2651760"/>
          </a:xfrm>
          <a:prstGeom prst="roundRect">
            <a:avLst>
              <a:gd name="adj" fmla="val 5128"/>
            </a:avLst>
          </a:prstGeom>
          <a:solidFill>
            <a:srgbClr val="F2F5FB"/>
          </a:solidFill>
          <a:ln/>
        </p:spPr>
      </p:sp>
      <p:sp>
        <p:nvSpPr>
          <p:cNvPr id="27" name="Text 25"/>
          <p:cNvSpPr/>
          <p:nvPr/>
        </p:nvSpPr>
        <p:spPr>
          <a:xfrm>
            <a:off x="9829800" y="2121408"/>
            <a:ext cx="1783080" cy="457200"/>
          </a:xfrm>
          <a:prstGeom prst="rect">
            <a:avLst/>
          </a:prstGeom>
          <a:noFill/>
          <a:ln/>
        </p:spPr>
        <p:txBody>
          <a:bodyPr wrap="square" lIns="0" tIns="0" rIns="0" bIns="0" rtlCol="0" anchor="ctr"/>
          <a:lstStyle/>
          <a:p>
            <a:pPr algn="ctr" indent="0" marL="0">
              <a:lnSpc>
                <a:spcPct val="100000"/>
              </a:lnSpc>
              <a:buNone/>
            </a:pPr>
            <a:r>
              <a:rPr lang="en-US" sz="1250" b="1" dirty="0">
                <a:solidFill>
                  <a:srgbClr val="B85042"/>
                </a:solidFill>
              </a:rPr>
              <a:t>5</a:t>
            </a:r>
            <a:pPr algn="ctr" indent="0" marL="0">
              <a:lnSpc>
                <a:spcPct val="100000"/>
              </a:lnSpc>
              <a:buNone/>
            </a:pPr>
            <a:r>
              <a:rPr lang="en-US" sz="1250" b="1" dirty="0">
                <a:solidFill>
                  <a:srgbClr val="1E2761"/>
                </a:solidFill>
              </a:rPr>
              <a:t>  Detection + reporting</a:t>
            </a:r>
            <a:endParaRPr lang="en-US" sz="1250" dirty="0"/>
          </a:p>
        </p:txBody>
      </p:sp>
      <p:sp>
        <p:nvSpPr>
          <p:cNvPr id="28" name="Text 26"/>
          <p:cNvSpPr/>
          <p:nvPr/>
        </p:nvSpPr>
        <p:spPr>
          <a:xfrm>
            <a:off x="9829800" y="2724912"/>
            <a:ext cx="1783080" cy="365760"/>
          </a:xfrm>
          <a:prstGeom prst="rect">
            <a:avLst/>
          </a:prstGeom>
          <a:noFill/>
          <a:ln/>
        </p:spPr>
        <p:txBody>
          <a:bodyPr wrap="square" rtlCol="0" anchor="ctr"/>
          <a:lstStyle/>
          <a:p>
            <a:pPr algn="ctr" indent="0" marL="0">
              <a:buNone/>
            </a:pPr>
            <a:r>
              <a:rPr lang="en-US" sz="1150" b="1" dirty="0">
                <a:solidFill>
                  <a:srgbClr val="1E2761"/>
                </a:solidFill>
              </a:rPr>
              <a:t>IQR fences + rules</a:t>
            </a:r>
            <a:endParaRPr lang="en-US" sz="1150" dirty="0"/>
          </a:p>
        </p:txBody>
      </p:sp>
      <p:sp>
        <p:nvSpPr>
          <p:cNvPr id="29" name="Text 27"/>
          <p:cNvSpPr/>
          <p:nvPr/>
        </p:nvSpPr>
        <p:spPr>
          <a:xfrm>
            <a:off x="9902952" y="3200400"/>
            <a:ext cx="1636776" cy="1188720"/>
          </a:xfrm>
          <a:prstGeom prst="rect">
            <a:avLst/>
          </a:prstGeom>
          <a:noFill/>
          <a:ln/>
        </p:spPr>
        <p:txBody>
          <a:bodyPr wrap="square" rtlCol="0" anchor="ctr"/>
          <a:lstStyle/>
          <a:p>
            <a:pPr algn="ctr" indent="0" marL="0">
              <a:lnSpc>
                <a:spcPct val="110000"/>
              </a:lnSpc>
              <a:spcAft>
                <a:spcPts val="400"/>
              </a:spcAft>
              <a:buNone/>
            </a:pPr>
            <a:r>
              <a:rPr lang="en-US" sz="1050" dirty="0">
                <a:solidFill>
                  <a:srgbClr val="1A1A2E"/>
                </a:solidFill>
              </a:rPr>
              <a:t>score, category, flags</a:t>
            </a:r>
            <a:endParaRPr lang="en-US" sz="1050" dirty="0"/>
          </a:p>
          <a:p>
            <a:pPr algn="ctr" indent="0" marL="0">
              <a:lnSpc>
                <a:spcPct val="110000"/>
              </a:lnSpc>
              <a:buNone/>
            </a:pPr>
            <a:r>
              <a:rPr lang="en-US" sz="1050" dirty="0">
                <a:solidFill>
                  <a:srgbClr val="1A1A2E"/>
                </a:solidFill>
              </a:rPr>
              <a:t>CSV reports + metrics</a:t>
            </a:r>
            <a:endParaRPr lang="en-US" sz="1050" dirty="0"/>
          </a:p>
        </p:txBody>
      </p:sp>
      <p:sp>
        <p:nvSpPr>
          <p:cNvPr id="30" name="Shape 28"/>
          <p:cNvSpPr/>
          <p:nvPr/>
        </p:nvSpPr>
        <p:spPr>
          <a:xfrm>
            <a:off x="2331720" y="2935224"/>
            <a:ext cx="365760" cy="0"/>
          </a:xfrm>
          <a:prstGeom prst="line">
            <a:avLst/>
          </a:prstGeom>
          <a:noFill/>
          <a:ln w="31750">
            <a:solidFill>
              <a:srgbClr val="B85042"/>
            </a:solidFill>
            <a:prstDash val="solid"/>
            <a:tailEnd type="triangle"/>
          </a:ln>
        </p:spPr>
      </p:sp>
      <p:sp>
        <p:nvSpPr>
          <p:cNvPr id="31" name="Shape 29"/>
          <p:cNvSpPr/>
          <p:nvPr/>
        </p:nvSpPr>
        <p:spPr>
          <a:xfrm>
            <a:off x="2331720" y="3685032"/>
            <a:ext cx="365760" cy="0"/>
          </a:xfrm>
          <a:prstGeom prst="line">
            <a:avLst/>
          </a:prstGeom>
          <a:noFill/>
          <a:ln w="31750">
            <a:solidFill>
              <a:srgbClr val="B85042"/>
            </a:solidFill>
            <a:prstDash val="solid"/>
            <a:tailEnd type="triangle"/>
          </a:ln>
        </p:spPr>
      </p:sp>
      <p:sp>
        <p:nvSpPr>
          <p:cNvPr id="32" name="Shape 30"/>
          <p:cNvSpPr/>
          <p:nvPr/>
        </p:nvSpPr>
        <p:spPr>
          <a:xfrm>
            <a:off x="4425696" y="2935224"/>
            <a:ext cx="512064" cy="219456"/>
          </a:xfrm>
          <a:prstGeom prst="line">
            <a:avLst/>
          </a:prstGeom>
          <a:noFill/>
          <a:ln w="31750">
            <a:solidFill>
              <a:srgbClr val="B85042"/>
            </a:solidFill>
            <a:prstDash val="solid"/>
            <a:tailEnd type="triangle"/>
          </a:ln>
        </p:spPr>
      </p:sp>
      <p:sp>
        <p:nvSpPr>
          <p:cNvPr id="33" name="Shape 31"/>
          <p:cNvSpPr/>
          <p:nvPr/>
        </p:nvSpPr>
        <p:spPr>
          <a:xfrm flipV="1">
            <a:off x="4425696" y="3429000"/>
            <a:ext cx="512064" cy="256032"/>
          </a:xfrm>
          <a:prstGeom prst="line">
            <a:avLst/>
          </a:prstGeom>
          <a:noFill/>
          <a:ln w="31750">
            <a:solidFill>
              <a:srgbClr val="B85042"/>
            </a:solidFill>
            <a:prstDash val="solid"/>
            <a:tailEnd type="triangle"/>
          </a:ln>
        </p:spPr>
      </p:sp>
      <p:sp>
        <p:nvSpPr>
          <p:cNvPr id="34" name="Shape 32"/>
          <p:cNvSpPr/>
          <p:nvPr/>
        </p:nvSpPr>
        <p:spPr>
          <a:xfrm>
            <a:off x="7406640" y="3310128"/>
            <a:ext cx="365760" cy="0"/>
          </a:xfrm>
          <a:prstGeom prst="line">
            <a:avLst/>
          </a:prstGeom>
          <a:noFill/>
          <a:ln w="31750">
            <a:solidFill>
              <a:srgbClr val="B85042"/>
            </a:solidFill>
            <a:prstDash val="solid"/>
            <a:tailEnd type="triangle"/>
          </a:ln>
        </p:spPr>
      </p:sp>
      <p:sp>
        <p:nvSpPr>
          <p:cNvPr id="35" name="Shape 33"/>
          <p:cNvSpPr/>
          <p:nvPr/>
        </p:nvSpPr>
        <p:spPr>
          <a:xfrm>
            <a:off x="9555480" y="3310128"/>
            <a:ext cx="274320" cy="0"/>
          </a:xfrm>
          <a:prstGeom prst="line">
            <a:avLst/>
          </a:prstGeom>
          <a:noFill/>
          <a:ln w="31750">
            <a:solidFill>
              <a:srgbClr val="B85042"/>
            </a:solidFill>
            <a:prstDash val="solid"/>
            <a:tailEnd type="triangle"/>
          </a:ln>
        </p:spPr>
      </p:sp>
      <p:sp>
        <p:nvSpPr>
          <p:cNvPr id="36" name="Text 34"/>
          <p:cNvSpPr/>
          <p:nvPr/>
        </p:nvSpPr>
        <p:spPr>
          <a:xfrm>
            <a:off x="640080" y="5212080"/>
            <a:ext cx="10972800" cy="640080"/>
          </a:xfrm>
          <a:prstGeom prst="rect">
            <a:avLst/>
          </a:prstGeom>
          <a:noFill/>
          <a:ln/>
        </p:spPr>
        <p:txBody>
          <a:bodyPr wrap="square" rtlCol="0" anchor="ctr"/>
          <a:lstStyle/>
          <a:p>
            <a:pPr algn="ctr" indent="0" marL="0">
              <a:buNone/>
            </a:pPr>
            <a:r>
              <a:rPr lang="en-US" sz="1400" i="1" dirty="0">
                <a:solidFill>
                  <a:srgbClr val="5A6270"/>
                </a:solidFill>
              </a:rPr>
              <a:t>Every downstream stage works only on the intermediate representation, so supporting a new platform means writing one parser and nothing else.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The 40-feature taxonomy</a:t>
            </a:r>
            <a:endParaRPr lang="en-US" sz="3000" dirty="0"/>
          </a:p>
        </p:txBody>
      </p:sp>
      <p:sp>
        <p:nvSpPr>
          <p:cNvPr id="3" name="Shape 1"/>
          <p:cNvSpPr/>
          <p:nvPr/>
        </p:nvSpPr>
        <p:spPr>
          <a:xfrm>
            <a:off x="640080" y="1463040"/>
            <a:ext cx="5394960" cy="2011680"/>
          </a:xfrm>
          <a:prstGeom prst="roundRect">
            <a:avLst>
              <a:gd name="adj" fmla="val 4545"/>
            </a:avLst>
          </a:prstGeom>
          <a:solidFill>
            <a:srgbClr val="F2F5FB"/>
          </a:solidFill>
          <a:ln/>
        </p:spPr>
      </p:sp>
      <p:sp>
        <p:nvSpPr>
          <p:cNvPr id="4" name="Text 2"/>
          <p:cNvSpPr/>
          <p:nvPr/>
        </p:nvSpPr>
        <p:spPr>
          <a:xfrm>
            <a:off x="914400" y="1627632"/>
            <a:ext cx="4846320" cy="411480"/>
          </a:xfrm>
          <a:prstGeom prst="rect">
            <a:avLst/>
          </a:prstGeom>
          <a:noFill/>
          <a:ln/>
        </p:spPr>
        <p:txBody>
          <a:bodyPr wrap="square" rtlCol="0" anchor="ctr"/>
          <a:lstStyle/>
          <a:p>
            <a:pPr indent="0" marL="0">
              <a:buNone/>
            </a:pPr>
            <a:r>
              <a:rPr lang="en-US" sz="1500" b="1" dirty="0">
                <a:solidFill>
                  <a:srgbClr val="B85042"/>
                </a:solidFill>
              </a:rPr>
              <a:t>Q-01 to Q-10</a:t>
            </a:r>
            <a:endParaRPr lang="en-US" sz="1500" dirty="0"/>
          </a:p>
        </p:txBody>
      </p:sp>
      <p:sp>
        <p:nvSpPr>
          <p:cNvPr id="5" name="Text 3"/>
          <p:cNvSpPr/>
          <p:nvPr/>
        </p:nvSpPr>
        <p:spPr>
          <a:xfrm>
            <a:off x="914400" y="2029968"/>
            <a:ext cx="4846320" cy="457200"/>
          </a:xfrm>
          <a:prstGeom prst="rect">
            <a:avLst/>
          </a:prstGeom>
          <a:noFill/>
          <a:ln/>
        </p:spPr>
        <p:txBody>
          <a:bodyPr wrap="square" rtlCol="0" anchor="ctr"/>
          <a:lstStyle/>
          <a:p>
            <a:pPr indent="0" marL="0">
              <a:buNone/>
            </a:pPr>
            <a:r>
              <a:rPr lang="en-US" sz="1900" b="1" dirty="0">
                <a:solidFill>
                  <a:srgbClr val="1E2761"/>
                </a:solidFill>
              </a:rPr>
              <a:t>Question level</a:t>
            </a:r>
            <a:endParaRPr lang="en-US" sz="1900" dirty="0"/>
          </a:p>
        </p:txBody>
      </p:sp>
      <p:sp>
        <p:nvSpPr>
          <p:cNvPr id="6" name="Text 4"/>
          <p:cNvSpPr/>
          <p:nvPr/>
        </p:nvSpPr>
        <p:spPr>
          <a:xfrm>
            <a:off x="914400" y="2514600"/>
            <a:ext cx="4846320" cy="868680"/>
          </a:xfrm>
          <a:prstGeom prst="rect">
            <a:avLst/>
          </a:prstGeom>
          <a:noFill/>
          <a:ln/>
        </p:spPr>
        <p:txBody>
          <a:bodyPr wrap="square" rtlCol="0" anchor="ctr"/>
          <a:lstStyle/>
          <a:p>
            <a:pPr indent="0" marL="0">
              <a:lnSpc>
                <a:spcPct val="110000"/>
              </a:lnSpc>
              <a:buNone/>
            </a:pPr>
            <a:r>
              <a:rPr lang="en-US" sz="1250" dirty="0">
                <a:solidFill>
                  <a:srgbClr val="5A6270"/>
                </a:solidFill>
              </a:rPr>
              <a:t>response time, time to first interaction, edits, revisits, idle time, constraint triggers</a:t>
            </a:r>
            <a:endParaRPr lang="en-US" sz="1250" dirty="0"/>
          </a:p>
        </p:txBody>
      </p:sp>
      <p:sp>
        <p:nvSpPr>
          <p:cNvPr id="7" name="Shape 5"/>
          <p:cNvSpPr/>
          <p:nvPr/>
        </p:nvSpPr>
        <p:spPr>
          <a:xfrm>
            <a:off x="6355080" y="1463040"/>
            <a:ext cx="5394960" cy="2011680"/>
          </a:xfrm>
          <a:prstGeom prst="roundRect">
            <a:avLst>
              <a:gd name="adj" fmla="val 4545"/>
            </a:avLst>
          </a:prstGeom>
          <a:solidFill>
            <a:srgbClr val="F2F5FB"/>
          </a:solidFill>
          <a:ln/>
        </p:spPr>
      </p:sp>
      <p:sp>
        <p:nvSpPr>
          <p:cNvPr id="8" name="Text 6"/>
          <p:cNvSpPr/>
          <p:nvPr/>
        </p:nvSpPr>
        <p:spPr>
          <a:xfrm>
            <a:off x="6629400" y="1627632"/>
            <a:ext cx="4846320" cy="411480"/>
          </a:xfrm>
          <a:prstGeom prst="rect">
            <a:avLst/>
          </a:prstGeom>
          <a:noFill/>
          <a:ln/>
        </p:spPr>
        <p:txBody>
          <a:bodyPr wrap="square" rtlCol="0" anchor="ctr"/>
          <a:lstStyle/>
          <a:p>
            <a:pPr indent="0" marL="0">
              <a:buNone/>
            </a:pPr>
            <a:r>
              <a:rPr lang="en-US" sz="1500" b="1" dirty="0">
                <a:solidFill>
                  <a:srgbClr val="B85042"/>
                </a:solidFill>
              </a:rPr>
              <a:t>S-01 to S-10</a:t>
            </a:r>
            <a:endParaRPr lang="en-US" sz="1500" dirty="0"/>
          </a:p>
        </p:txBody>
      </p:sp>
      <p:sp>
        <p:nvSpPr>
          <p:cNvPr id="9" name="Text 7"/>
          <p:cNvSpPr/>
          <p:nvPr/>
        </p:nvSpPr>
        <p:spPr>
          <a:xfrm>
            <a:off x="6629400" y="2029968"/>
            <a:ext cx="4846320" cy="457200"/>
          </a:xfrm>
          <a:prstGeom prst="rect">
            <a:avLst/>
          </a:prstGeom>
          <a:noFill/>
          <a:ln/>
        </p:spPr>
        <p:txBody>
          <a:bodyPr wrap="square" rtlCol="0" anchor="ctr"/>
          <a:lstStyle/>
          <a:p>
            <a:pPr indent="0" marL="0">
              <a:buNone/>
            </a:pPr>
            <a:r>
              <a:rPr lang="en-US" sz="1900" b="1" dirty="0">
                <a:solidFill>
                  <a:srgbClr val="1E2761"/>
                </a:solidFill>
              </a:rPr>
              <a:t>Section level</a:t>
            </a:r>
            <a:endParaRPr lang="en-US" sz="1900" dirty="0"/>
          </a:p>
        </p:txBody>
      </p:sp>
      <p:sp>
        <p:nvSpPr>
          <p:cNvPr id="10" name="Text 8"/>
          <p:cNvSpPr/>
          <p:nvPr/>
        </p:nvSpPr>
        <p:spPr>
          <a:xfrm>
            <a:off x="6629400" y="2514600"/>
            <a:ext cx="4846320" cy="868680"/>
          </a:xfrm>
          <a:prstGeom prst="rect">
            <a:avLst/>
          </a:prstGeom>
          <a:noFill/>
          <a:ln/>
        </p:spPr>
        <p:txBody>
          <a:bodyPr wrap="square" rtlCol="0" anchor="ctr"/>
          <a:lstStyle/>
          <a:p>
            <a:pPr indent="0" marL="0">
              <a:lnSpc>
                <a:spcPct val="110000"/>
              </a:lnSpc>
              <a:buNone/>
            </a:pPr>
            <a:r>
              <a:rPr lang="en-US" sz="1250" dirty="0">
                <a:solidFill>
                  <a:srgbClr val="5A6270"/>
                </a:solidFill>
              </a:rPr>
              <a:t>section pace and duration, within-section variance, pause counts and durations, back-navigation</a:t>
            </a:r>
            <a:endParaRPr lang="en-US" sz="1250" dirty="0"/>
          </a:p>
        </p:txBody>
      </p:sp>
      <p:sp>
        <p:nvSpPr>
          <p:cNvPr id="11" name="Shape 9"/>
          <p:cNvSpPr/>
          <p:nvPr/>
        </p:nvSpPr>
        <p:spPr>
          <a:xfrm>
            <a:off x="640080" y="3749040"/>
            <a:ext cx="5394960" cy="2011680"/>
          </a:xfrm>
          <a:prstGeom prst="roundRect">
            <a:avLst>
              <a:gd name="adj" fmla="val 4545"/>
            </a:avLst>
          </a:prstGeom>
          <a:solidFill>
            <a:srgbClr val="F2F5FB"/>
          </a:solidFill>
          <a:ln/>
        </p:spPr>
      </p:sp>
      <p:sp>
        <p:nvSpPr>
          <p:cNvPr id="12" name="Text 10"/>
          <p:cNvSpPr/>
          <p:nvPr/>
        </p:nvSpPr>
        <p:spPr>
          <a:xfrm>
            <a:off x="914400" y="3913632"/>
            <a:ext cx="4846320" cy="411480"/>
          </a:xfrm>
          <a:prstGeom prst="rect">
            <a:avLst/>
          </a:prstGeom>
          <a:noFill/>
          <a:ln/>
        </p:spPr>
        <p:txBody>
          <a:bodyPr wrap="square" rtlCol="0" anchor="ctr"/>
          <a:lstStyle/>
          <a:p>
            <a:pPr indent="0" marL="0">
              <a:buNone/>
            </a:pPr>
            <a:r>
              <a:rPr lang="en-US" sz="1500" b="1" dirty="0">
                <a:solidFill>
                  <a:srgbClr val="B85042"/>
                </a:solidFill>
              </a:rPr>
              <a:t>V-01 to V-10</a:t>
            </a:r>
            <a:endParaRPr lang="en-US" sz="1500" dirty="0"/>
          </a:p>
        </p:txBody>
      </p:sp>
      <p:sp>
        <p:nvSpPr>
          <p:cNvPr id="13" name="Text 11"/>
          <p:cNvSpPr/>
          <p:nvPr/>
        </p:nvSpPr>
        <p:spPr>
          <a:xfrm>
            <a:off x="914400" y="4315968"/>
            <a:ext cx="4846320" cy="457200"/>
          </a:xfrm>
          <a:prstGeom prst="rect">
            <a:avLst/>
          </a:prstGeom>
          <a:noFill/>
          <a:ln/>
        </p:spPr>
        <p:txBody>
          <a:bodyPr wrap="square" rtlCol="0" anchor="ctr"/>
          <a:lstStyle/>
          <a:p>
            <a:pPr indent="0" marL="0">
              <a:buNone/>
            </a:pPr>
            <a:r>
              <a:rPr lang="en-US" sz="1900" b="1" dirty="0">
                <a:solidFill>
                  <a:srgbClr val="1E2761"/>
                </a:solidFill>
              </a:rPr>
              <a:t>Survey level</a:t>
            </a:r>
            <a:endParaRPr lang="en-US" sz="1900" dirty="0"/>
          </a:p>
        </p:txBody>
      </p:sp>
      <p:sp>
        <p:nvSpPr>
          <p:cNvPr id="14" name="Text 12"/>
          <p:cNvSpPr/>
          <p:nvPr/>
        </p:nvSpPr>
        <p:spPr>
          <a:xfrm>
            <a:off x="914400" y="4800600"/>
            <a:ext cx="4846320" cy="868680"/>
          </a:xfrm>
          <a:prstGeom prst="rect">
            <a:avLst/>
          </a:prstGeom>
          <a:noFill/>
          <a:ln/>
        </p:spPr>
        <p:txBody>
          <a:bodyPr wrap="square" rtlCol="0" anchor="ctr"/>
          <a:lstStyle/>
          <a:p>
            <a:pPr indent="0" marL="0">
              <a:lnSpc>
                <a:spcPct val="110000"/>
              </a:lnSpc>
              <a:buNone/>
            </a:pPr>
            <a:r>
              <a:rPr lang="en-US" sz="1250" dirty="0">
                <a:solidFill>
                  <a:srgbClr val="5A6270"/>
                </a:solidFill>
              </a:rPr>
              <a:t>total duration, early vs late pace trajectory, back-navigation rate, start hour, day of week</a:t>
            </a:r>
            <a:endParaRPr lang="en-US" sz="1250" dirty="0"/>
          </a:p>
        </p:txBody>
      </p:sp>
      <p:sp>
        <p:nvSpPr>
          <p:cNvPr id="15" name="Shape 13"/>
          <p:cNvSpPr/>
          <p:nvPr/>
        </p:nvSpPr>
        <p:spPr>
          <a:xfrm>
            <a:off x="6355080" y="3749040"/>
            <a:ext cx="5394960" cy="2011680"/>
          </a:xfrm>
          <a:prstGeom prst="roundRect">
            <a:avLst>
              <a:gd name="adj" fmla="val 4545"/>
            </a:avLst>
          </a:prstGeom>
          <a:solidFill>
            <a:srgbClr val="1E2761"/>
          </a:solidFill>
          <a:ln/>
        </p:spPr>
      </p:sp>
      <p:sp>
        <p:nvSpPr>
          <p:cNvPr id="16" name="Text 14"/>
          <p:cNvSpPr/>
          <p:nvPr/>
        </p:nvSpPr>
        <p:spPr>
          <a:xfrm>
            <a:off x="6629400" y="3913632"/>
            <a:ext cx="4846320" cy="411480"/>
          </a:xfrm>
          <a:prstGeom prst="rect">
            <a:avLst/>
          </a:prstGeom>
          <a:noFill/>
          <a:ln/>
        </p:spPr>
        <p:txBody>
          <a:bodyPr wrap="square" rtlCol="0" anchor="ctr"/>
          <a:lstStyle/>
          <a:p>
            <a:pPr indent="0" marL="0">
              <a:buNone/>
            </a:pPr>
            <a:r>
              <a:rPr lang="en-US" sz="1500" b="1" dirty="0">
                <a:solidFill>
                  <a:srgbClr val="CADCFC"/>
                </a:solidFill>
              </a:rPr>
              <a:t>T-01 to T-10</a:t>
            </a:r>
            <a:endParaRPr lang="en-US" sz="1500" dirty="0"/>
          </a:p>
        </p:txBody>
      </p:sp>
      <p:sp>
        <p:nvSpPr>
          <p:cNvPr id="17" name="Text 15"/>
          <p:cNvSpPr/>
          <p:nvPr/>
        </p:nvSpPr>
        <p:spPr>
          <a:xfrm>
            <a:off x="6629400" y="4315968"/>
            <a:ext cx="4846320" cy="457200"/>
          </a:xfrm>
          <a:prstGeom prst="rect">
            <a:avLst/>
          </a:prstGeom>
          <a:noFill/>
          <a:ln/>
        </p:spPr>
        <p:txBody>
          <a:bodyPr wrap="square" rtlCol="0" anchor="ctr"/>
          <a:lstStyle/>
          <a:p>
            <a:pPr indent="0" marL="0">
              <a:buNone/>
            </a:pPr>
            <a:r>
              <a:rPr lang="en-US" sz="1900" b="1" dirty="0">
                <a:solidFill>
                  <a:srgbClr val="FFFFFF"/>
                </a:solidFill>
              </a:rPr>
              <a:t>Statistical</a:t>
            </a:r>
            <a:endParaRPr lang="en-US" sz="1900" dirty="0"/>
          </a:p>
        </p:txBody>
      </p:sp>
      <p:sp>
        <p:nvSpPr>
          <p:cNvPr id="18" name="Text 16"/>
          <p:cNvSpPr/>
          <p:nvPr/>
        </p:nvSpPr>
        <p:spPr>
          <a:xfrm>
            <a:off x="6629400" y="4800600"/>
            <a:ext cx="4846320" cy="868680"/>
          </a:xfrm>
          <a:prstGeom prst="rect">
            <a:avLst/>
          </a:prstGeom>
          <a:noFill/>
          <a:ln/>
        </p:spPr>
        <p:txBody>
          <a:bodyPr wrap="square" rtlCol="0" anchor="ctr"/>
          <a:lstStyle/>
          <a:p>
            <a:pPr indent="0" marL="0">
              <a:lnSpc>
                <a:spcPct val="110000"/>
              </a:lnSpc>
              <a:buNone/>
            </a:pPr>
            <a:r>
              <a:rPr lang="en-US" sz="1250" dirty="0">
                <a:solidFill>
                  <a:srgbClr val="CADCFC"/>
                </a:solidFill>
              </a:rPr>
              <a:t>variance, IQR, Shannon entropy, skewness, kurtosis, coefficient of variation of response times</a:t>
            </a:r>
            <a:endParaRPr lang="en-US" sz="1250" dirty="0"/>
          </a:p>
        </p:txBody>
      </p:sp>
      <p:sp>
        <p:nvSpPr>
          <p:cNvPr id="19" name="Text 17"/>
          <p:cNvSpPr/>
          <p:nvPr/>
        </p:nvSpPr>
        <p:spPr>
          <a:xfrm>
            <a:off x="640080" y="6035040"/>
            <a:ext cx="10972800" cy="457200"/>
          </a:xfrm>
          <a:prstGeom prst="rect">
            <a:avLst/>
          </a:prstGeom>
          <a:noFill/>
          <a:ln/>
        </p:spPr>
        <p:txBody>
          <a:bodyPr wrap="square" rtlCol="0" anchor="ctr"/>
          <a:lstStyle/>
          <a:p>
            <a:pPr algn="ctr" indent="0" marL="0">
              <a:buNone/>
            </a:pPr>
            <a:r>
              <a:rPr lang="en-US" sz="1300" i="1" dirty="0">
                <a:solidFill>
                  <a:srgbClr val="5A6270"/>
                </a:solidFill>
              </a:rPr>
              <a:t>Catalogued from the literature at proposal stage; all 40 implemented and exported with stable identifiers.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Technology stack</a:t>
            </a:r>
            <a:endParaRPr lang="en-US" sz="3000" dirty="0"/>
          </a:p>
        </p:txBody>
      </p:sp>
      <p:sp>
        <p:nvSpPr>
          <p:cNvPr id="3" name="Shape 1"/>
          <p:cNvSpPr/>
          <p:nvPr/>
        </p:nvSpPr>
        <p:spPr>
          <a:xfrm>
            <a:off x="640080" y="1417320"/>
            <a:ext cx="2606040" cy="1874520"/>
          </a:xfrm>
          <a:prstGeom prst="roundRect">
            <a:avLst>
              <a:gd name="adj" fmla="val 4390"/>
            </a:avLst>
          </a:prstGeom>
          <a:solidFill>
            <a:srgbClr val="F2F5FB"/>
          </a:solidFill>
          <a:ln/>
        </p:spPr>
      </p:sp>
      <p:sp>
        <p:nvSpPr>
          <p:cNvPr id="4" name="Text 2"/>
          <p:cNvSpPr/>
          <p:nvPr/>
        </p:nvSpPr>
        <p:spPr>
          <a:xfrm>
            <a:off x="804672" y="1572768"/>
            <a:ext cx="2276856" cy="457200"/>
          </a:xfrm>
          <a:prstGeom prst="rect">
            <a:avLst/>
          </a:prstGeom>
          <a:noFill/>
          <a:ln/>
        </p:spPr>
        <p:txBody>
          <a:bodyPr wrap="square" rtlCol="0" anchor="ctr"/>
          <a:lstStyle/>
          <a:p>
            <a:pPr indent="0" marL="0">
              <a:buNone/>
            </a:pPr>
            <a:r>
              <a:rPr lang="en-US" sz="1450" b="1" dirty="0">
                <a:solidFill>
                  <a:srgbClr val="1E2761"/>
                </a:solidFill>
              </a:rPr>
              <a:t>Language</a:t>
            </a:r>
            <a:endParaRPr lang="en-US" sz="1450" dirty="0"/>
          </a:p>
        </p:txBody>
      </p:sp>
      <p:sp>
        <p:nvSpPr>
          <p:cNvPr id="5" name="Text 3"/>
          <p:cNvSpPr/>
          <p:nvPr/>
        </p:nvSpPr>
        <p:spPr>
          <a:xfrm>
            <a:off x="804672" y="2029968"/>
            <a:ext cx="2276856" cy="1188720"/>
          </a:xfrm>
          <a:prstGeom prst="rect">
            <a:avLst/>
          </a:prstGeom>
          <a:noFill/>
          <a:ln/>
        </p:spPr>
        <p:txBody>
          <a:bodyPr wrap="square" rtlCol="0" anchor="ctr"/>
          <a:lstStyle/>
          <a:p>
            <a:pPr indent="0" marL="0">
              <a:lnSpc>
                <a:spcPct val="120000"/>
              </a:lnSpc>
              <a:buNone/>
            </a:pPr>
            <a:r>
              <a:rPr lang="en-US" sz="1100" dirty="0">
                <a:solidFill>
                  <a:srgbClr val="5A6270"/>
                </a:solidFill>
              </a:rPr>
              <a:t>Python 3.10+</a:t>
            </a:r>
            <a:endParaRPr lang="en-US" sz="1100" dirty="0"/>
          </a:p>
          <a:p>
            <a:pPr indent="0" marL="0">
              <a:lnSpc>
                <a:spcPct val="120000"/>
              </a:lnSpc>
              <a:buNone/>
            </a:pPr>
            <a:r>
              <a:rPr lang="en-US" sz="1100" dirty="0">
                <a:solidFill>
                  <a:srgbClr val="5A6270"/>
                </a:solidFill>
              </a:rPr>
              <a:t>(run on 3.14)</a:t>
            </a:r>
            <a:endParaRPr lang="en-US" sz="1100" dirty="0"/>
          </a:p>
        </p:txBody>
      </p:sp>
      <p:sp>
        <p:nvSpPr>
          <p:cNvPr id="6" name="Shape 4"/>
          <p:cNvSpPr/>
          <p:nvPr/>
        </p:nvSpPr>
        <p:spPr>
          <a:xfrm>
            <a:off x="3456432" y="1417320"/>
            <a:ext cx="2606040" cy="1874520"/>
          </a:xfrm>
          <a:prstGeom prst="roundRect">
            <a:avLst>
              <a:gd name="adj" fmla="val 4390"/>
            </a:avLst>
          </a:prstGeom>
          <a:solidFill>
            <a:srgbClr val="F2F5FB"/>
          </a:solidFill>
          <a:ln/>
        </p:spPr>
      </p:sp>
      <p:sp>
        <p:nvSpPr>
          <p:cNvPr id="7" name="Text 5"/>
          <p:cNvSpPr/>
          <p:nvPr/>
        </p:nvSpPr>
        <p:spPr>
          <a:xfrm>
            <a:off x="3621024" y="1572768"/>
            <a:ext cx="2276856" cy="457200"/>
          </a:xfrm>
          <a:prstGeom prst="rect">
            <a:avLst/>
          </a:prstGeom>
          <a:noFill/>
          <a:ln/>
        </p:spPr>
        <p:txBody>
          <a:bodyPr wrap="square" rtlCol="0" anchor="ctr"/>
          <a:lstStyle/>
          <a:p>
            <a:pPr indent="0" marL="0">
              <a:buNone/>
            </a:pPr>
            <a:r>
              <a:rPr lang="en-US" sz="1450" b="1" dirty="0">
                <a:solidFill>
                  <a:srgbClr val="1E2761"/>
                </a:solidFill>
              </a:rPr>
              <a:t>Data processing</a:t>
            </a:r>
            <a:endParaRPr lang="en-US" sz="1450" dirty="0"/>
          </a:p>
        </p:txBody>
      </p:sp>
      <p:sp>
        <p:nvSpPr>
          <p:cNvPr id="8" name="Text 6"/>
          <p:cNvSpPr/>
          <p:nvPr/>
        </p:nvSpPr>
        <p:spPr>
          <a:xfrm>
            <a:off x="3621024" y="2029968"/>
            <a:ext cx="2276856" cy="1188720"/>
          </a:xfrm>
          <a:prstGeom prst="rect">
            <a:avLst/>
          </a:prstGeom>
          <a:noFill/>
          <a:ln/>
        </p:spPr>
        <p:txBody>
          <a:bodyPr wrap="square" rtlCol="0" anchor="ctr"/>
          <a:lstStyle/>
          <a:p>
            <a:pPr indent="0" marL="0">
              <a:lnSpc>
                <a:spcPct val="120000"/>
              </a:lnSpc>
              <a:buNone/>
            </a:pPr>
            <a:r>
              <a:rPr lang="en-US" sz="1100" dirty="0">
                <a:solidFill>
                  <a:srgbClr val="5A6270"/>
                </a:solidFill>
              </a:rPr>
              <a:t>pandas</a:t>
            </a:r>
            <a:endParaRPr lang="en-US" sz="1100" dirty="0"/>
          </a:p>
          <a:p>
            <a:pPr indent="0" marL="0">
              <a:lnSpc>
                <a:spcPct val="120000"/>
              </a:lnSpc>
              <a:buNone/>
            </a:pPr>
            <a:r>
              <a:rPr lang="en-US" sz="1100" dirty="0">
                <a:solidFill>
                  <a:srgbClr val="5A6270"/>
                </a:solidFill>
              </a:rPr>
              <a:t>NumPy</a:t>
            </a:r>
            <a:endParaRPr lang="en-US" sz="1100" dirty="0"/>
          </a:p>
        </p:txBody>
      </p:sp>
      <p:sp>
        <p:nvSpPr>
          <p:cNvPr id="9" name="Shape 7"/>
          <p:cNvSpPr/>
          <p:nvPr/>
        </p:nvSpPr>
        <p:spPr>
          <a:xfrm>
            <a:off x="6272784" y="1417320"/>
            <a:ext cx="2606040" cy="1874520"/>
          </a:xfrm>
          <a:prstGeom prst="roundRect">
            <a:avLst>
              <a:gd name="adj" fmla="val 4390"/>
            </a:avLst>
          </a:prstGeom>
          <a:solidFill>
            <a:srgbClr val="F2F5FB"/>
          </a:solidFill>
          <a:ln/>
        </p:spPr>
      </p:sp>
      <p:sp>
        <p:nvSpPr>
          <p:cNvPr id="10" name="Text 8"/>
          <p:cNvSpPr/>
          <p:nvPr/>
        </p:nvSpPr>
        <p:spPr>
          <a:xfrm>
            <a:off x="6437376" y="1572768"/>
            <a:ext cx="2276856" cy="457200"/>
          </a:xfrm>
          <a:prstGeom prst="rect">
            <a:avLst/>
          </a:prstGeom>
          <a:noFill/>
          <a:ln/>
        </p:spPr>
        <p:txBody>
          <a:bodyPr wrap="square" rtlCol="0" anchor="ctr"/>
          <a:lstStyle/>
          <a:p>
            <a:pPr indent="0" marL="0">
              <a:buNone/>
            </a:pPr>
            <a:r>
              <a:rPr lang="en-US" sz="1450" b="1" dirty="0">
                <a:solidFill>
                  <a:srgbClr val="1E2761"/>
                </a:solidFill>
              </a:rPr>
              <a:t>Statistics</a:t>
            </a:r>
            <a:endParaRPr lang="en-US" sz="1450" dirty="0"/>
          </a:p>
        </p:txBody>
      </p:sp>
      <p:sp>
        <p:nvSpPr>
          <p:cNvPr id="11" name="Text 9"/>
          <p:cNvSpPr/>
          <p:nvPr/>
        </p:nvSpPr>
        <p:spPr>
          <a:xfrm>
            <a:off x="6437376" y="2029968"/>
            <a:ext cx="2276856" cy="1188720"/>
          </a:xfrm>
          <a:prstGeom prst="rect">
            <a:avLst/>
          </a:prstGeom>
          <a:noFill/>
          <a:ln/>
        </p:spPr>
        <p:txBody>
          <a:bodyPr wrap="square" rtlCol="0" anchor="ctr"/>
          <a:lstStyle/>
          <a:p>
            <a:pPr indent="0" marL="0">
              <a:lnSpc>
                <a:spcPct val="120000"/>
              </a:lnSpc>
              <a:buNone/>
            </a:pPr>
            <a:r>
              <a:rPr lang="en-US" sz="1100" dirty="0">
                <a:solidFill>
                  <a:srgbClr val="5A6270"/>
                </a:solidFill>
              </a:rPr>
              <a:t>SciPy: entropy, skew, kurtosis</a:t>
            </a:r>
            <a:endParaRPr lang="en-US" sz="1100" dirty="0"/>
          </a:p>
          <a:p>
            <a:pPr indent="0" marL="0">
              <a:lnSpc>
                <a:spcPct val="120000"/>
              </a:lnSpc>
              <a:buNone/>
            </a:pPr>
            <a:r>
              <a:rPr lang="en-US" sz="1100" dirty="0">
                <a:solidFill>
                  <a:srgbClr val="5A6270"/>
                </a:solidFill>
              </a:rPr>
              <a:t>statsmodels: significance</a:t>
            </a:r>
            <a:endParaRPr lang="en-US" sz="1100" dirty="0"/>
          </a:p>
          <a:p>
            <a:pPr indent="0" marL="0">
              <a:lnSpc>
                <a:spcPct val="120000"/>
              </a:lnSpc>
              <a:buNone/>
            </a:pPr>
            <a:r>
              <a:rPr lang="en-US" sz="1100" dirty="0">
                <a:solidFill>
                  <a:srgbClr val="5A6270"/>
                </a:solidFill>
              </a:rPr>
              <a:t>scikit-learn: ROC, P / R / F1</a:t>
            </a:r>
            <a:endParaRPr lang="en-US" sz="1100" dirty="0"/>
          </a:p>
        </p:txBody>
      </p:sp>
      <p:sp>
        <p:nvSpPr>
          <p:cNvPr id="12" name="Shape 10"/>
          <p:cNvSpPr/>
          <p:nvPr/>
        </p:nvSpPr>
        <p:spPr>
          <a:xfrm>
            <a:off x="9089136" y="1417320"/>
            <a:ext cx="2606040" cy="1874520"/>
          </a:xfrm>
          <a:prstGeom prst="roundRect">
            <a:avLst>
              <a:gd name="adj" fmla="val 4390"/>
            </a:avLst>
          </a:prstGeom>
          <a:solidFill>
            <a:srgbClr val="F2F5FB"/>
          </a:solidFill>
          <a:ln/>
        </p:spPr>
      </p:sp>
      <p:sp>
        <p:nvSpPr>
          <p:cNvPr id="13" name="Text 11"/>
          <p:cNvSpPr/>
          <p:nvPr/>
        </p:nvSpPr>
        <p:spPr>
          <a:xfrm>
            <a:off x="9253728" y="1572768"/>
            <a:ext cx="2276856" cy="457200"/>
          </a:xfrm>
          <a:prstGeom prst="rect">
            <a:avLst/>
          </a:prstGeom>
          <a:noFill/>
          <a:ln/>
        </p:spPr>
        <p:txBody>
          <a:bodyPr wrap="square" rtlCol="0" anchor="ctr"/>
          <a:lstStyle/>
          <a:p>
            <a:pPr indent="0" marL="0">
              <a:buNone/>
            </a:pPr>
            <a:r>
              <a:rPr lang="en-US" sz="1450" b="1" dirty="0">
                <a:solidFill>
                  <a:srgbClr val="1E2761"/>
                </a:solidFill>
              </a:rPr>
              <a:t>Visualisation</a:t>
            </a:r>
            <a:endParaRPr lang="en-US" sz="1450" dirty="0"/>
          </a:p>
        </p:txBody>
      </p:sp>
      <p:sp>
        <p:nvSpPr>
          <p:cNvPr id="14" name="Text 12"/>
          <p:cNvSpPr/>
          <p:nvPr/>
        </p:nvSpPr>
        <p:spPr>
          <a:xfrm>
            <a:off x="9253728" y="2029968"/>
            <a:ext cx="2276856" cy="1188720"/>
          </a:xfrm>
          <a:prstGeom prst="rect">
            <a:avLst/>
          </a:prstGeom>
          <a:noFill/>
          <a:ln/>
        </p:spPr>
        <p:txBody>
          <a:bodyPr wrap="square" rtlCol="0" anchor="ctr"/>
          <a:lstStyle/>
          <a:p>
            <a:pPr indent="0" marL="0">
              <a:lnSpc>
                <a:spcPct val="120000"/>
              </a:lnSpc>
              <a:buNone/>
            </a:pPr>
            <a:r>
              <a:rPr lang="en-US" sz="1100" dirty="0">
                <a:solidFill>
                  <a:srgbClr val="5A6270"/>
                </a:solidFill>
              </a:rPr>
              <a:t>Matplotlib</a:t>
            </a:r>
            <a:endParaRPr lang="en-US" sz="1100" dirty="0"/>
          </a:p>
          <a:p>
            <a:pPr indent="0" marL="0">
              <a:lnSpc>
                <a:spcPct val="120000"/>
              </a:lnSpc>
              <a:buNone/>
            </a:pPr>
            <a:r>
              <a:rPr lang="en-US" sz="1100" dirty="0">
                <a:solidFill>
                  <a:srgbClr val="5A6270"/>
                </a:solidFill>
              </a:rPr>
              <a:t>Seaborn</a:t>
            </a:r>
            <a:endParaRPr lang="en-US" sz="1100" dirty="0"/>
          </a:p>
        </p:txBody>
      </p:sp>
      <p:sp>
        <p:nvSpPr>
          <p:cNvPr id="15" name="Shape 13"/>
          <p:cNvSpPr/>
          <p:nvPr/>
        </p:nvSpPr>
        <p:spPr>
          <a:xfrm>
            <a:off x="640080" y="3474720"/>
            <a:ext cx="3520440" cy="1691640"/>
          </a:xfrm>
          <a:prstGeom prst="roundRect">
            <a:avLst>
              <a:gd name="adj" fmla="val 4865"/>
            </a:avLst>
          </a:prstGeom>
          <a:solidFill>
            <a:srgbClr val="F2F5FB"/>
          </a:solidFill>
          <a:ln/>
        </p:spPr>
      </p:sp>
      <p:sp>
        <p:nvSpPr>
          <p:cNvPr id="16" name="Text 14"/>
          <p:cNvSpPr/>
          <p:nvPr/>
        </p:nvSpPr>
        <p:spPr>
          <a:xfrm>
            <a:off x="822960" y="3639312"/>
            <a:ext cx="3154680" cy="457200"/>
          </a:xfrm>
          <a:prstGeom prst="rect">
            <a:avLst/>
          </a:prstGeom>
          <a:noFill/>
          <a:ln/>
        </p:spPr>
        <p:txBody>
          <a:bodyPr wrap="square" rtlCol="0" anchor="ctr"/>
          <a:lstStyle/>
          <a:p>
            <a:pPr indent="0" marL="0">
              <a:buNone/>
            </a:pPr>
            <a:r>
              <a:rPr lang="en-US" sz="1450" b="1" dirty="0">
                <a:solidFill>
                  <a:srgbClr val="1E2761"/>
                </a:solidFill>
              </a:rPr>
              <a:t>Testing</a:t>
            </a:r>
            <a:endParaRPr lang="en-US" sz="1450" dirty="0"/>
          </a:p>
        </p:txBody>
      </p:sp>
      <p:sp>
        <p:nvSpPr>
          <p:cNvPr id="17" name="Text 15"/>
          <p:cNvSpPr/>
          <p:nvPr/>
        </p:nvSpPr>
        <p:spPr>
          <a:xfrm>
            <a:off x="822960" y="4096512"/>
            <a:ext cx="3154680" cy="914400"/>
          </a:xfrm>
          <a:prstGeom prst="rect">
            <a:avLst/>
          </a:prstGeom>
          <a:noFill/>
          <a:ln/>
        </p:spPr>
        <p:txBody>
          <a:bodyPr wrap="square" rtlCol="0" anchor="ctr"/>
          <a:lstStyle/>
          <a:p>
            <a:pPr indent="0" marL="0">
              <a:lnSpc>
                <a:spcPct val="120000"/>
              </a:lnSpc>
              <a:buNone/>
            </a:pPr>
            <a:r>
              <a:rPr lang="en-US" sz="1150" dirty="0">
                <a:solidFill>
                  <a:srgbClr val="5A6270"/>
                </a:solidFill>
              </a:rPr>
              <a:t>pytest: 33 automated tests</a:t>
            </a:r>
            <a:endParaRPr lang="en-US" sz="1150" dirty="0"/>
          </a:p>
          <a:p>
            <a:pPr indent="0" marL="0">
              <a:lnSpc>
                <a:spcPct val="120000"/>
              </a:lnSpc>
              <a:buNone/>
            </a:pPr>
            <a:r>
              <a:rPr lang="en-US" sz="1150" dirty="0">
                <a:solidFill>
                  <a:srgbClr val="5A6270"/>
                </a:solidFill>
              </a:rPr>
              <a:t>Hypothesis: property-based tests</a:t>
            </a:r>
            <a:endParaRPr lang="en-US" sz="1150" dirty="0"/>
          </a:p>
        </p:txBody>
      </p:sp>
      <p:sp>
        <p:nvSpPr>
          <p:cNvPr id="18" name="Shape 16"/>
          <p:cNvSpPr/>
          <p:nvPr/>
        </p:nvSpPr>
        <p:spPr>
          <a:xfrm>
            <a:off x="4416552" y="3474720"/>
            <a:ext cx="3520440" cy="1691640"/>
          </a:xfrm>
          <a:prstGeom prst="roundRect">
            <a:avLst>
              <a:gd name="adj" fmla="val 4865"/>
            </a:avLst>
          </a:prstGeom>
          <a:solidFill>
            <a:srgbClr val="F2F5FB"/>
          </a:solidFill>
          <a:ln/>
        </p:spPr>
      </p:sp>
      <p:sp>
        <p:nvSpPr>
          <p:cNvPr id="19" name="Text 17"/>
          <p:cNvSpPr/>
          <p:nvPr/>
        </p:nvSpPr>
        <p:spPr>
          <a:xfrm>
            <a:off x="4599432" y="3639312"/>
            <a:ext cx="3154680" cy="457200"/>
          </a:xfrm>
          <a:prstGeom prst="rect">
            <a:avLst/>
          </a:prstGeom>
          <a:noFill/>
          <a:ln/>
        </p:spPr>
        <p:txBody>
          <a:bodyPr wrap="square" rtlCol="0" anchor="ctr"/>
          <a:lstStyle/>
          <a:p>
            <a:pPr indent="0" marL="0">
              <a:buNone/>
            </a:pPr>
            <a:r>
              <a:rPr lang="en-US" sz="1450" b="1" dirty="0">
                <a:solidFill>
                  <a:srgbClr val="1E2761"/>
                </a:solidFill>
              </a:rPr>
              <a:t>Notebook and analysis</a:t>
            </a:r>
            <a:endParaRPr lang="en-US" sz="1450" dirty="0"/>
          </a:p>
        </p:txBody>
      </p:sp>
      <p:sp>
        <p:nvSpPr>
          <p:cNvPr id="20" name="Text 18"/>
          <p:cNvSpPr/>
          <p:nvPr/>
        </p:nvSpPr>
        <p:spPr>
          <a:xfrm>
            <a:off x="4599432" y="4096512"/>
            <a:ext cx="3154680" cy="914400"/>
          </a:xfrm>
          <a:prstGeom prst="rect">
            <a:avLst/>
          </a:prstGeom>
          <a:noFill/>
          <a:ln/>
        </p:spPr>
        <p:txBody>
          <a:bodyPr wrap="square" rtlCol="0" anchor="ctr"/>
          <a:lstStyle/>
          <a:p>
            <a:pPr indent="0" marL="0">
              <a:lnSpc>
                <a:spcPct val="120000"/>
              </a:lnSpc>
              <a:buNone/>
            </a:pPr>
            <a:r>
              <a:rPr lang="en-US" sz="1150" dirty="0">
                <a:solidFill>
                  <a:srgbClr val="5A6270"/>
                </a:solidFill>
              </a:rPr>
              <a:t>Jupyter: the audit notebook</a:t>
            </a:r>
            <a:endParaRPr lang="en-US" sz="1150" dirty="0"/>
          </a:p>
          <a:p>
            <a:pPr indent="0" marL="0">
              <a:lnSpc>
                <a:spcPct val="120000"/>
              </a:lnSpc>
              <a:buNone/>
            </a:pPr>
            <a:r>
              <a:rPr lang="en-US" sz="1150" dirty="0">
                <a:solidFill>
                  <a:srgbClr val="5A6270"/>
                </a:solidFill>
              </a:rPr>
              <a:t>CSV reports for every run</a:t>
            </a:r>
            <a:endParaRPr lang="en-US" sz="1150" dirty="0"/>
          </a:p>
        </p:txBody>
      </p:sp>
      <p:sp>
        <p:nvSpPr>
          <p:cNvPr id="21" name="Shape 19"/>
          <p:cNvSpPr/>
          <p:nvPr/>
        </p:nvSpPr>
        <p:spPr>
          <a:xfrm>
            <a:off x="8193024" y="3474720"/>
            <a:ext cx="3520440" cy="1691640"/>
          </a:xfrm>
          <a:prstGeom prst="roundRect">
            <a:avLst>
              <a:gd name="adj" fmla="val 4865"/>
            </a:avLst>
          </a:prstGeom>
          <a:solidFill>
            <a:srgbClr val="F2F5FB"/>
          </a:solidFill>
          <a:ln/>
        </p:spPr>
      </p:sp>
      <p:sp>
        <p:nvSpPr>
          <p:cNvPr id="22" name="Text 20"/>
          <p:cNvSpPr/>
          <p:nvPr/>
        </p:nvSpPr>
        <p:spPr>
          <a:xfrm>
            <a:off x="8375904" y="3639312"/>
            <a:ext cx="3154680" cy="457200"/>
          </a:xfrm>
          <a:prstGeom prst="rect">
            <a:avLst/>
          </a:prstGeom>
          <a:noFill/>
          <a:ln/>
        </p:spPr>
        <p:txBody>
          <a:bodyPr wrap="square" rtlCol="0" anchor="ctr"/>
          <a:lstStyle/>
          <a:p>
            <a:pPr indent="0" marL="0">
              <a:buNone/>
            </a:pPr>
            <a:r>
              <a:rPr lang="en-US" sz="1450" b="1" dirty="0">
                <a:solidFill>
                  <a:srgbClr val="1E2761"/>
                </a:solidFill>
              </a:rPr>
              <a:t>Version control</a:t>
            </a:r>
            <a:endParaRPr lang="en-US" sz="1450" dirty="0"/>
          </a:p>
        </p:txBody>
      </p:sp>
      <p:sp>
        <p:nvSpPr>
          <p:cNvPr id="23" name="Text 21"/>
          <p:cNvSpPr/>
          <p:nvPr/>
        </p:nvSpPr>
        <p:spPr>
          <a:xfrm>
            <a:off x="8375904" y="4096512"/>
            <a:ext cx="3154680" cy="914400"/>
          </a:xfrm>
          <a:prstGeom prst="rect">
            <a:avLst/>
          </a:prstGeom>
          <a:noFill/>
          <a:ln/>
        </p:spPr>
        <p:txBody>
          <a:bodyPr wrap="square" rtlCol="0" anchor="ctr"/>
          <a:lstStyle/>
          <a:p>
            <a:pPr indent="0" marL="0">
              <a:lnSpc>
                <a:spcPct val="120000"/>
              </a:lnSpc>
              <a:buNone/>
            </a:pPr>
            <a:r>
              <a:rPr lang="en-US" sz="1150" dirty="0">
                <a:solidFill>
                  <a:srgbClr val="5A6270"/>
                </a:solidFill>
              </a:rPr>
              <a:t>Git and GitHub</a:t>
            </a:r>
            <a:endParaRPr lang="en-US" sz="1150" dirty="0"/>
          </a:p>
          <a:p>
            <a:pPr indent="0" marL="0">
              <a:lnSpc>
                <a:spcPct val="120000"/>
              </a:lnSpc>
              <a:buNone/>
            </a:pPr>
            <a:r>
              <a:rPr lang="en-US" sz="1150" dirty="0">
                <a:solidFill>
                  <a:srgbClr val="5A6270"/>
                </a:solidFill>
              </a:rPr>
              <a:t>reproducible from one clone</a:t>
            </a:r>
            <a:endParaRPr lang="en-US" sz="1150" dirty="0"/>
          </a:p>
        </p:txBody>
      </p:sp>
      <p:sp>
        <p:nvSpPr>
          <p:cNvPr id="24" name="Text 22"/>
          <p:cNvSpPr/>
          <p:nvPr/>
        </p:nvSpPr>
        <p:spPr>
          <a:xfrm>
            <a:off x="640080" y="544068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A standard open-source scientific-Python stack. Every tool is visible in the demo commands and requirements.txt.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Anomaly detection: transparent by construction</a:t>
            </a:r>
            <a:endParaRPr lang="en-US" sz="3000" dirty="0"/>
          </a:p>
        </p:txBody>
      </p:sp>
      <p:sp>
        <p:nvSpPr>
          <p:cNvPr id="3" name="Shape 1"/>
          <p:cNvSpPr/>
          <p:nvPr/>
        </p:nvSpPr>
        <p:spPr>
          <a:xfrm>
            <a:off x="640080" y="1554480"/>
            <a:ext cx="3611880" cy="3383280"/>
          </a:xfrm>
          <a:prstGeom prst="roundRect">
            <a:avLst>
              <a:gd name="adj" fmla="val 2703"/>
            </a:avLst>
          </a:prstGeom>
          <a:solidFill>
            <a:srgbClr val="F2F5FB"/>
          </a:solidFill>
          <a:ln/>
        </p:spPr>
      </p:sp>
      <p:sp>
        <p:nvSpPr>
          <p:cNvPr id="4" name="Text 2"/>
          <p:cNvSpPr/>
          <p:nvPr/>
        </p:nvSpPr>
        <p:spPr>
          <a:xfrm>
            <a:off x="868680" y="1783080"/>
            <a:ext cx="3154680" cy="731520"/>
          </a:xfrm>
          <a:prstGeom prst="rect">
            <a:avLst/>
          </a:prstGeom>
          <a:noFill/>
          <a:ln/>
        </p:spPr>
        <p:txBody>
          <a:bodyPr wrap="square" rtlCol="0" anchor="ctr"/>
          <a:lstStyle/>
          <a:p>
            <a:pPr indent="0" marL="0">
              <a:buNone/>
            </a:pPr>
            <a:r>
              <a:rPr lang="en-US" sz="1700" b="1" dirty="0">
                <a:solidFill>
                  <a:srgbClr val="1E2761"/>
                </a:solidFill>
              </a:rPr>
              <a:t>IQR fences</a:t>
            </a:r>
            <a:endParaRPr lang="en-US" sz="1700" dirty="0"/>
          </a:p>
        </p:txBody>
      </p:sp>
      <p:sp>
        <p:nvSpPr>
          <p:cNvPr id="5" name="Text 3"/>
          <p:cNvSpPr/>
          <p:nvPr/>
        </p:nvSpPr>
        <p:spPr>
          <a:xfrm>
            <a:off x="868680" y="2514600"/>
            <a:ext cx="3154680" cy="2286000"/>
          </a:xfrm>
          <a:prstGeom prst="rect">
            <a:avLst/>
          </a:prstGeom>
          <a:noFill/>
          <a:ln/>
        </p:spPr>
        <p:txBody>
          <a:bodyPr wrap="square" rtlCol="0" anchor="ctr"/>
          <a:lstStyle/>
          <a:p>
            <a:pPr indent="0" marL="0">
              <a:lnSpc>
                <a:spcPct val="118000"/>
              </a:lnSpc>
              <a:buNone/>
            </a:pPr>
            <a:r>
              <a:rPr lang="en-US" sz="1250" dirty="0">
                <a:solidFill>
                  <a:srgbClr val="333A45"/>
                </a:solidFill>
              </a:rPr>
              <a:t>Tukey fences on total duration, mean response time, entropy and variance. No distributional assumption; robust to the outliers they detect.</a:t>
            </a:r>
            <a:endParaRPr lang="en-US" sz="1250" dirty="0"/>
          </a:p>
        </p:txBody>
      </p:sp>
      <p:sp>
        <p:nvSpPr>
          <p:cNvPr id="6" name="Shape 4"/>
          <p:cNvSpPr/>
          <p:nvPr/>
        </p:nvSpPr>
        <p:spPr>
          <a:xfrm>
            <a:off x="4526280" y="1554480"/>
            <a:ext cx="3611880" cy="3383280"/>
          </a:xfrm>
          <a:prstGeom prst="roundRect">
            <a:avLst>
              <a:gd name="adj" fmla="val 2703"/>
            </a:avLst>
          </a:prstGeom>
          <a:solidFill>
            <a:srgbClr val="F2F5FB"/>
          </a:solidFill>
          <a:ln/>
        </p:spPr>
      </p:sp>
      <p:sp>
        <p:nvSpPr>
          <p:cNvPr id="7" name="Text 5"/>
          <p:cNvSpPr/>
          <p:nvPr/>
        </p:nvSpPr>
        <p:spPr>
          <a:xfrm>
            <a:off x="4754880" y="1783080"/>
            <a:ext cx="3154680" cy="731520"/>
          </a:xfrm>
          <a:prstGeom prst="rect">
            <a:avLst/>
          </a:prstGeom>
          <a:noFill/>
          <a:ln/>
        </p:spPr>
        <p:txBody>
          <a:bodyPr wrap="square" rtlCol="0" anchor="ctr"/>
          <a:lstStyle/>
          <a:p>
            <a:pPr indent="0" marL="0">
              <a:buNone/>
            </a:pPr>
            <a:r>
              <a:rPr lang="en-US" sz="1700" b="1" dirty="0">
                <a:solidFill>
                  <a:srgbClr val="1E2761"/>
                </a:solidFill>
              </a:rPr>
              <a:t>Rule-based checks</a:t>
            </a:r>
            <a:endParaRPr lang="en-US" sz="1700" dirty="0"/>
          </a:p>
        </p:txBody>
      </p:sp>
      <p:sp>
        <p:nvSpPr>
          <p:cNvPr id="8" name="Text 6"/>
          <p:cNvSpPr/>
          <p:nvPr/>
        </p:nvSpPr>
        <p:spPr>
          <a:xfrm>
            <a:off x="4754880" y="2514600"/>
            <a:ext cx="3154680" cy="2286000"/>
          </a:xfrm>
          <a:prstGeom prst="rect">
            <a:avLst/>
          </a:prstGeom>
          <a:noFill/>
          <a:ln/>
        </p:spPr>
        <p:txBody>
          <a:bodyPr wrap="square" rtlCol="0" anchor="ctr"/>
          <a:lstStyle/>
          <a:p>
            <a:pPr indent="0" marL="0">
              <a:lnSpc>
                <a:spcPct val="118000"/>
              </a:lnSpc>
              <a:buNone/>
            </a:pPr>
            <a:r>
              <a:rPr lang="en-US" sz="1250" dirty="0">
                <a:solidFill>
                  <a:srgbClr val="333A45"/>
                </a:solidFill>
              </a:rPr>
              <a:t>Minimum plausible duration, low entropy, uniform pacing (CV), compressed IQR, zero back-navigation, elevated pauses. Thresholds are median-relative and configurable.</a:t>
            </a:r>
            <a:endParaRPr lang="en-US" sz="1250" dirty="0"/>
          </a:p>
        </p:txBody>
      </p:sp>
      <p:sp>
        <p:nvSpPr>
          <p:cNvPr id="9" name="Shape 7"/>
          <p:cNvSpPr/>
          <p:nvPr/>
        </p:nvSpPr>
        <p:spPr>
          <a:xfrm>
            <a:off x="8412480" y="1554480"/>
            <a:ext cx="3611880" cy="3383280"/>
          </a:xfrm>
          <a:prstGeom prst="roundRect">
            <a:avLst>
              <a:gd name="adj" fmla="val 2703"/>
            </a:avLst>
          </a:prstGeom>
          <a:solidFill>
            <a:srgbClr val="1E2761"/>
          </a:solidFill>
          <a:ln/>
        </p:spPr>
      </p:sp>
      <p:sp>
        <p:nvSpPr>
          <p:cNvPr id="10" name="Text 8"/>
          <p:cNvSpPr/>
          <p:nvPr/>
        </p:nvSpPr>
        <p:spPr>
          <a:xfrm>
            <a:off x="8641080" y="1783080"/>
            <a:ext cx="3154680" cy="731520"/>
          </a:xfrm>
          <a:prstGeom prst="rect">
            <a:avLst/>
          </a:prstGeom>
          <a:noFill/>
          <a:ln/>
        </p:spPr>
        <p:txBody>
          <a:bodyPr wrap="square" rtlCol="0" anchor="ctr"/>
          <a:lstStyle/>
          <a:p>
            <a:pPr indent="0" marL="0">
              <a:buNone/>
            </a:pPr>
            <a:r>
              <a:rPr lang="en-US" sz="1700" b="1" dirty="0">
                <a:solidFill>
                  <a:srgbClr val="FFFFFF"/>
                </a:solidFill>
              </a:rPr>
              <a:t>Score = count of flags</a:t>
            </a:r>
            <a:endParaRPr lang="en-US" sz="1700" dirty="0"/>
          </a:p>
        </p:txBody>
      </p:sp>
      <p:sp>
        <p:nvSpPr>
          <p:cNvPr id="11" name="Text 9"/>
          <p:cNvSpPr/>
          <p:nvPr/>
        </p:nvSpPr>
        <p:spPr>
          <a:xfrm>
            <a:off x="8641080" y="2514600"/>
            <a:ext cx="3154680" cy="2286000"/>
          </a:xfrm>
          <a:prstGeom prst="rect">
            <a:avLst/>
          </a:prstGeom>
          <a:noFill/>
          <a:ln/>
        </p:spPr>
        <p:txBody>
          <a:bodyPr wrap="square" rtlCol="0" anchor="ctr"/>
          <a:lstStyle/>
          <a:p>
            <a:pPr indent="0" marL="0">
              <a:lnSpc>
                <a:spcPct val="118000"/>
              </a:lnSpc>
              <a:buNone/>
            </a:pPr>
            <a:r>
              <a:rPr lang="en-US" sz="1250" dirty="0">
                <a:solidFill>
                  <a:srgbClr val="CADCFC"/>
                </a:solidFill>
              </a:rPr>
              <a:t>Suspicious at score 2, anomalous at 5. Data-quality issues routed separately. Every flagged interview lists exactly which flags fired.</a:t>
            </a:r>
            <a:endParaRPr lang="en-US" sz="1250" dirty="0"/>
          </a:p>
        </p:txBody>
      </p:sp>
      <p:sp>
        <p:nvSpPr>
          <p:cNvPr id="12" name="Text 10"/>
          <p:cNvSpPr/>
          <p:nvPr/>
        </p:nvSpPr>
        <p:spPr>
          <a:xfrm>
            <a:off x="640080" y="525780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A field supervisor can always answer: why was this interview flagged?</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1: one command on the raw logs</a:t>
            </a:r>
            <a:endParaRPr lang="en-US" sz="3000" dirty="0"/>
          </a:p>
        </p:txBody>
      </p:sp>
      <p:pic>
        <p:nvPicPr>
          <p:cNvPr id="3" name="Image 0" descr="01_pipeline_terminal.png">    </p:cNvPr>
          <p:cNvPicPr>
            <a:picLocks noChangeAspect="1"/>
          </p:cNvPicPr>
          <p:nvPr/>
        </p:nvPicPr>
        <p:blipFill>
          <a:blip r:embed="rId1"/>
          <a:srcRect l="0" r="0" t="0" b="0"/>
          <a:stretch/>
        </p:blipFill>
        <p:spPr>
          <a:xfrm>
            <a:off x="640080" y="1234440"/>
            <a:ext cx="10881360" cy="4480560"/>
          </a:xfrm>
          <a:prstGeom prst="rect">
            <a:avLst/>
          </a:prstGeom>
        </p:spPr>
      </p:pic>
      <p:sp>
        <p:nvSpPr>
          <p:cNvPr id="4" name="Text 1"/>
          <p:cNvSpPr/>
          <p:nvPr/>
        </p:nvSpPr>
        <p:spPr>
          <a:xfrm>
            <a:off x="640080" y="5897880"/>
            <a:ext cx="10881360" cy="685800"/>
          </a:xfrm>
          <a:prstGeom prst="rect">
            <a:avLst/>
          </a:prstGeom>
          <a:noFill/>
          <a:ln/>
        </p:spPr>
        <p:txBody>
          <a:bodyPr wrap="square" rtlCol="0" anchor="ctr"/>
          <a:lstStyle/>
          <a:p>
            <a:pPr algn="ctr" indent="0" marL="0">
              <a:lnSpc>
                <a:spcPct val="105000"/>
              </a:lnSpc>
              <a:buNone/>
            </a:pPr>
            <a:r>
              <a:rPr lang="en-US" sz="1350" i="1" dirty="0">
                <a:solidFill>
                  <a:srgbClr val="5A6270"/>
                </a:solidFill>
              </a:rPr>
              <a:t>The analyst runs run_pipeline.py on the two raw exports. The pipeline auto-detects SurveyCTO and ODK formats, extracts all 24 interviews and writes five output files.</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2: the feature dataset</a:t>
            </a:r>
            <a:endParaRPr lang="en-US" sz="3000" dirty="0"/>
          </a:p>
        </p:txBody>
      </p:sp>
      <p:pic>
        <p:nvPicPr>
          <p:cNvPr id="3" name="Image 0" descr="02_feature_dataset.png">    </p:cNvPr>
          <p:cNvPicPr>
            <a:picLocks noChangeAspect="1"/>
          </p:cNvPicPr>
          <p:nvPr/>
        </p:nvPicPr>
        <p:blipFill>
          <a:blip r:embed="rId1"/>
          <a:srcRect l="0" r="0" t="0" b="0"/>
          <a:stretch/>
        </p:blipFill>
        <p:spPr>
          <a:xfrm>
            <a:off x="640080" y="1234440"/>
            <a:ext cx="10881360" cy="4480560"/>
          </a:xfrm>
          <a:prstGeom prst="rect">
            <a:avLst/>
          </a:prstGeom>
        </p:spPr>
      </p:pic>
      <p:sp>
        <p:nvSpPr>
          <p:cNvPr id="4" name="Text 1"/>
          <p:cNvSpPr/>
          <p:nvPr/>
        </p:nvSpPr>
        <p:spPr>
          <a:xfrm>
            <a:off x="640080" y="5897880"/>
            <a:ext cx="10881360" cy="685800"/>
          </a:xfrm>
          <a:prstGeom prst="rect">
            <a:avLst/>
          </a:prstGeom>
          <a:noFill/>
          <a:ln/>
        </p:spPr>
        <p:txBody>
          <a:bodyPr wrap="square" rtlCol="0" anchor="ctr"/>
          <a:lstStyle/>
          <a:p>
            <a:pPr algn="ctr" indent="0" marL="0">
              <a:lnSpc>
                <a:spcPct val="105000"/>
              </a:lnSpc>
              <a:buNone/>
            </a:pPr>
            <a:r>
              <a:rPr lang="en-US" sz="1350" i="1" dirty="0">
                <a:solidFill>
                  <a:srgbClr val="5A6270"/>
                </a:solidFill>
              </a:rPr>
              <a:t>feature_dataset.csv holds one row per interview with all 40 features. ODK402, 408 and 409 are degenerate records the generator injected; their timings are zeroed and they are routed to the data-quality path.</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3: the anomaly report</a:t>
            </a:r>
            <a:endParaRPr lang="en-US" sz="3000" dirty="0"/>
          </a:p>
        </p:txBody>
      </p:sp>
      <p:pic>
        <p:nvPicPr>
          <p:cNvPr id="3" name="Image 0" descr="03_anomaly_report.png">    </p:cNvPr>
          <p:cNvPicPr>
            <a:picLocks noChangeAspect="1"/>
          </p:cNvPicPr>
          <p:nvPr/>
        </p:nvPicPr>
        <p:blipFill>
          <a:blip r:embed="rId1"/>
          <a:srcRect l="0" r="0" t="0" b="0"/>
          <a:stretch/>
        </p:blipFill>
        <p:spPr>
          <a:xfrm>
            <a:off x="640080" y="1234440"/>
            <a:ext cx="10881360" cy="4480560"/>
          </a:xfrm>
          <a:prstGeom prst="rect">
            <a:avLst/>
          </a:prstGeom>
        </p:spPr>
      </p:pic>
      <p:sp>
        <p:nvSpPr>
          <p:cNvPr id="4" name="Text 1"/>
          <p:cNvSpPr/>
          <p:nvPr/>
        </p:nvSpPr>
        <p:spPr>
          <a:xfrm>
            <a:off x="640080" y="5897880"/>
            <a:ext cx="10881360" cy="685800"/>
          </a:xfrm>
          <a:prstGeom prst="rect">
            <a:avLst/>
          </a:prstGeom>
          <a:noFill/>
          <a:ln/>
        </p:spPr>
        <p:txBody>
          <a:bodyPr wrap="square" rtlCol="0" anchor="ctr"/>
          <a:lstStyle/>
          <a:p>
            <a:pPr algn="ctr" indent="0" marL="0">
              <a:lnSpc>
                <a:spcPct val="105000"/>
              </a:lnSpc>
              <a:buNone/>
            </a:pPr>
            <a:r>
              <a:rPr lang="en-US" sz="1350" i="1" dirty="0">
                <a:solidFill>
                  <a:srgbClr val="5A6270"/>
                </a:solidFill>
              </a:rPr>
              <a:t>Every interview gets a score, category and status. The active flags column names exactly why each interview was caught: this is the transparency the design promises.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4: explaining a single flag</a:t>
            </a:r>
            <a:endParaRPr lang="en-US" sz="3000" dirty="0"/>
          </a:p>
        </p:txBody>
      </p:sp>
      <p:pic>
        <p:nvPicPr>
          <p:cNvPr id="3" name="Image 0" descr="04_flag_explanation.png">    </p:cNvPr>
          <p:cNvPicPr>
            <a:picLocks noChangeAspect="1"/>
          </p:cNvPicPr>
          <p:nvPr/>
        </p:nvPicPr>
        <p:blipFill>
          <a:blip r:embed="rId1"/>
          <a:srcRect l="0" r="0" t="0" b="0"/>
          <a:stretch/>
        </p:blipFill>
        <p:spPr>
          <a:xfrm>
            <a:off x="640080" y="1234440"/>
            <a:ext cx="10881360" cy="4480560"/>
          </a:xfrm>
          <a:prstGeom prst="rect">
            <a:avLst/>
          </a:prstGeom>
        </p:spPr>
      </p:pic>
      <p:sp>
        <p:nvSpPr>
          <p:cNvPr id="4" name="Text 1"/>
          <p:cNvSpPr/>
          <p:nvPr/>
        </p:nvSpPr>
        <p:spPr>
          <a:xfrm>
            <a:off x="640080" y="5897880"/>
            <a:ext cx="10881360" cy="685800"/>
          </a:xfrm>
          <a:prstGeom prst="rect">
            <a:avLst/>
          </a:prstGeom>
          <a:noFill/>
          <a:ln/>
        </p:spPr>
        <p:txBody>
          <a:bodyPr wrap="square" rtlCol="0" anchor="ctr"/>
          <a:lstStyle/>
          <a:p>
            <a:pPr algn="ctr" indent="0" marL="0">
              <a:lnSpc>
                <a:spcPct val="105000"/>
              </a:lnSpc>
              <a:buNone/>
            </a:pPr>
            <a:r>
              <a:rPr lang="en-US" sz="1350" i="1" dirty="0">
                <a:solidFill>
                  <a:srgbClr val="5A6270"/>
                </a:solidFill>
              </a:rPr>
              <a:t>ODK401 scored 6: uniformly fast, low entropy, compressed IQR, no back-navigation. Ground truth confirms it was a fabricated interview.</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5: labelled evaluation in the same run</a:t>
            </a:r>
            <a:endParaRPr lang="en-US" sz="3000" dirty="0"/>
          </a:p>
        </p:txBody>
      </p:sp>
      <p:pic>
        <p:nvPicPr>
          <p:cNvPr id="3" name="Image 0" descr="05_metrics_terminal.png">    </p:cNvPr>
          <p:cNvPicPr>
            <a:picLocks noChangeAspect="1"/>
          </p:cNvPicPr>
          <p:nvPr/>
        </p:nvPicPr>
        <p:blipFill>
          <a:blip r:embed="rId1"/>
          <a:srcRect l="0" r="0" t="0" b="0"/>
          <a:stretch/>
        </p:blipFill>
        <p:spPr>
          <a:xfrm>
            <a:off x="640080" y="1234440"/>
            <a:ext cx="10881360" cy="4480560"/>
          </a:xfrm>
          <a:prstGeom prst="rect">
            <a:avLst/>
          </a:prstGeom>
        </p:spPr>
      </p:pic>
      <p:sp>
        <p:nvSpPr>
          <p:cNvPr id="4" name="Text 1"/>
          <p:cNvSpPr/>
          <p:nvPr/>
        </p:nvSpPr>
        <p:spPr>
          <a:xfrm>
            <a:off x="640080" y="5897880"/>
            <a:ext cx="10881360" cy="685800"/>
          </a:xfrm>
          <a:prstGeom prst="rect">
            <a:avLst/>
          </a:prstGeom>
          <a:noFill/>
          <a:ln/>
        </p:spPr>
        <p:txBody>
          <a:bodyPr wrap="square" rtlCol="0" anchor="ctr"/>
          <a:lstStyle/>
          <a:p>
            <a:pPr algn="ctr" indent="0" marL="0">
              <a:lnSpc>
                <a:spcPct val="105000"/>
              </a:lnSpc>
              <a:buNone/>
            </a:pPr>
            <a:r>
              <a:rPr lang="en-US" sz="1350" i="1" dirty="0">
                <a:solidFill>
                  <a:srgbClr val="5A6270"/>
                </a:solidFill>
              </a:rPr>
              <a:t>Passing a ground-truth file makes the same pipeline emit precision, recall and F1 plus acceptance checks: precision 1.00 and recall 1.00 on the 500-interview canonical benchmark.</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6: the evaluation charts</a:t>
            </a:r>
            <a:endParaRPr lang="en-US" sz="3000" dirty="0"/>
          </a:p>
        </p:txBody>
      </p:sp>
      <p:pic>
        <p:nvPicPr>
          <p:cNvPr id="3" name="Image 0" descr="synthetic_metrics_overview.png">    </p:cNvPr>
          <p:cNvPicPr>
            <a:picLocks noChangeAspect="1"/>
          </p:cNvPicPr>
          <p:nvPr/>
        </p:nvPicPr>
        <p:blipFill>
          <a:blip r:embed="rId1"/>
          <a:srcRect l="0" r="0" t="0" b="0"/>
          <a:stretch/>
        </p:blipFill>
        <p:spPr>
          <a:xfrm>
            <a:off x="502920" y="1554480"/>
            <a:ext cx="5623560" cy="2788920"/>
          </a:xfrm>
          <a:prstGeom prst="rect">
            <a:avLst/>
          </a:prstGeom>
        </p:spPr>
      </p:pic>
      <p:pic>
        <p:nvPicPr>
          <p:cNvPr id="4" name="Image 1" descr="synthetic_detection_by_type.png">    </p:cNvPr>
          <p:cNvPicPr>
            <a:picLocks noChangeAspect="1"/>
          </p:cNvPicPr>
          <p:nvPr/>
        </p:nvPicPr>
        <p:blipFill>
          <a:blip r:embed="rId2"/>
          <a:srcRect l="0" r="0" t="0" b="0"/>
          <a:stretch/>
        </p:blipFill>
        <p:spPr>
          <a:xfrm>
            <a:off x="6263640" y="1554480"/>
            <a:ext cx="5623560" cy="2788920"/>
          </a:xfrm>
          <a:prstGeom prst="rect">
            <a:avLst/>
          </a:prstGeom>
        </p:spPr>
      </p:pic>
      <p:sp>
        <p:nvSpPr>
          <p:cNvPr id="5" name="Text 1"/>
          <p:cNvSpPr/>
          <p:nvPr/>
        </p:nvSpPr>
        <p:spPr>
          <a:xfrm>
            <a:off x="640080" y="4754880"/>
            <a:ext cx="10881360" cy="731520"/>
          </a:xfrm>
          <a:prstGeom prst="rect">
            <a:avLst/>
          </a:prstGeom>
          <a:noFill/>
          <a:ln/>
        </p:spPr>
        <p:txBody>
          <a:bodyPr wrap="square" rtlCol="0" anchor="ctr"/>
          <a:lstStyle/>
          <a:p>
            <a:pPr algn="ctr" indent="0" marL="0">
              <a:lnSpc>
                <a:spcPct val="105000"/>
              </a:lnSpc>
              <a:buNone/>
            </a:pPr>
            <a:r>
              <a:rPr lang="en-US" sz="1350" i="1" dirty="0">
                <a:solidFill>
                  <a:srgbClr val="5A6270"/>
                </a:solidFill>
              </a:rPr>
              <a:t>scripts/create_visualizations.py renders the benchmark metrics and per-type detection rates straight from the metric CSVs, ready for reports and review meetings.</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Testing and validation approach</a:t>
            </a:r>
            <a:endParaRPr lang="en-US" sz="3000" dirty="0"/>
          </a:p>
        </p:txBody>
      </p:sp>
      <p:sp>
        <p:nvSpPr>
          <p:cNvPr id="3" name="Shape 1"/>
          <p:cNvSpPr/>
          <p:nvPr/>
        </p:nvSpPr>
        <p:spPr>
          <a:xfrm>
            <a:off x="640080" y="1417320"/>
            <a:ext cx="566928" cy="566928"/>
          </a:xfrm>
          <a:prstGeom prst="ellipse">
            <a:avLst/>
          </a:prstGeom>
          <a:solidFill>
            <a:srgbClr val="1E2761"/>
          </a:solidFill>
          <a:ln/>
        </p:spPr>
      </p:sp>
      <p:sp>
        <p:nvSpPr>
          <p:cNvPr id="4" name="Text 2"/>
          <p:cNvSpPr/>
          <p:nvPr/>
        </p:nvSpPr>
        <p:spPr>
          <a:xfrm>
            <a:off x="640080" y="14173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5" name="Text 3"/>
          <p:cNvSpPr/>
          <p:nvPr/>
        </p:nvSpPr>
        <p:spPr>
          <a:xfrm>
            <a:off x="1371600" y="1371600"/>
            <a:ext cx="4800600" cy="1280160"/>
          </a:xfrm>
          <a:prstGeom prst="rect">
            <a:avLst/>
          </a:prstGeom>
          <a:noFill/>
          <a:ln/>
        </p:spPr>
        <p:txBody>
          <a:bodyPr wrap="square" rtlCol="0" anchor="ctr"/>
          <a:lstStyle/>
          <a:p>
            <a:pPr indent="0" marL="0">
              <a:lnSpc>
                <a:spcPct val="108000"/>
              </a:lnSpc>
              <a:buNone/>
            </a:pPr>
            <a:r>
              <a:rPr lang="en-US" sz="1250" b="1" dirty="0">
                <a:solidFill>
                  <a:srgbClr val="1E2761"/>
                </a:solidFill>
              </a:rPr>
              <a:t>Correctness first  </a:t>
            </a:r>
            <a:pPr indent="0" marL="0">
              <a:lnSpc>
                <a:spcPct val="108000"/>
              </a:lnSpc>
              <a:buNone/>
            </a:pPr>
            <a:r>
              <a:rPr lang="en-US" sz="1250" dirty="0">
                <a:solidFill>
                  <a:srgbClr val="1A1A2E"/>
                </a:solidFill>
              </a:rPr>
              <a:t>33 pytest tests across parsers, extractors, detector, config and the end-to-end pipeline, plus Hypothesis property tests. All pass.</a:t>
            </a:r>
            <a:endParaRPr lang="en-US" sz="1250" dirty="0"/>
          </a:p>
        </p:txBody>
      </p:sp>
      <p:sp>
        <p:nvSpPr>
          <p:cNvPr id="6" name="Shape 4"/>
          <p:cNvSpPr/>
          <p:nvPr/>
        </p:nvSpPr>
        <p:spPr>
          <a:xfrm>
            <a:off x="6309360" y="1417320"/>
            <a:ext cx="566928" cy="566928"/>
          </a:xfrm>
          <a:prstGeom prst="ellipse">
            <a:avLst/>
          </a:prstGeom>
          <a:solidFill>
            <a:srgbClr val="1E2761"/>
          </a:solidFill>
          <a:ln/>
        </p:spPr>
      </p:sp>
      <p:sp>
        <p:nvSpPr>
          <p:cNvPr id="7" name="Text 5"/>
          <p:cNvSpPr/>
          <p:nvPr/>
        </p:nvSpPr>
        <p:spPr>
          <a:xfrm>
            <a:off x="6309360" y="14173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8" name="Text 6"/>
          <p:cNvSpPr/>
          <p:nvPr/>
        </p:nvSpPr>
        <p:spPr>
          <a:xfrm>
            <a:off x="7040880" y="1371600"/>
            <a:ext cx="4800600" cy="1280160"/>
          </a:xfrm>
          <a:prstGeom prst="rect">
            <a:avLst/>
          </a:prstGeom>
          <a:noFill/>
          <a:ln/>
        </p:spPr>
        <p:txBody>
          <a:bodyPr wrap="square" rtlCol="0" anchor="ctr"/>
          <a:lstStyle/>
          <a:p>
            <a:pPr indent="0" marL="0">
              <a:lnSpc>
                <a:spcPct val="108000"/>
              </a:lnSpc>
              <a:buNone/>
            </a:pPr>
            <a:r>
              <a:rPr lang="en-US" sz="1250" b="1" dirty="0">
                <a:solidFill>
                  <a:srgbClr val="1E2761"/>
                </a:solidFill>
              </a:rPr>
              <a:t>Hand-checked features  </a:t>
            </a:r>
            <a:pPr indent="0" marL="0">
              <a:lnSpc>
                <a:spcPct val="108000"/>
              </a:lnSpc>
              <a:buNone/>
            </a:pPr>
            <a:r>
              <a:rPr lang="en-US" sz="1250" dirty="0">
                <a:solidFill>
                  <a:srgbClr val="1A1A2E"/>
                </a:solidFill>
              </a:rPr>
              <a:t>The strict examiner audit recomputes features by hand from the raw logs; all 16 checks match the pipeline exactly.</a:t>
            </a:r>
            <a:endParaRPr lang="en-US" sz="1250" dirty="0"/>
          </a:p>
        </p:txBody>
      </p:sp>
      <p:sp>
        <p:nvSpPr>
          <p:cNvPr id="9" name="Shape 7"/>
          <p:cNvSpPr/>
          <p:nvPr/>
        </p:nvSpPr>
        <p:spPr>
          <a:xfrm>
            <a:off x="640080" y="2834640"/>
            <a:ext cx="566928" cy="566928"/>
          </a:xfrm>
          <a:prstGeom prst="ellipse">
            <a:avLst/>
          </a:prstGeom>
          <a:solidFill>
            <a:srgbClr val="1E2761"/>
          </a:solidFill>
          <a:ln/>
        </p:spPr>
      </p:sp>
      <p:sp>
        <p:nvSpPr>
          <p:cNvPr id="10" name="Text 8"/>
          <p:cNvSpPr/>
          <p:nvPr/>
        </p:nvSpPr>
        <p:spPr>
          <a:xfrm>
            <a:off x="640080" y="28346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1" name="Text 9"/>
          <p:cNvSpPr/>
          <p:nvPr/>
        </p:nvSpPr>
        <p:spPr>
          <a:xfrm>
            <a:off x="1371600" y="2788920"/>
            <a:ext cx="4800600" cy="1280160"/>
          </a:xfrm>
          <a:prstGeom prst="rect">
            <a:avLst/>
          </a:prstGeom>
          <a:noFill/>
          <a:ln/>
        </p:spPr>
        <p:txBody>
          <a:bodyPr wrap="square" rtlCol="0" anchor="ctr"/>
          <a:lstStyle/>
          <a:p>
            <a:pPr indent="0" marL="0">
              <a:lnSpc>
                <a:spcPct val="108000"/>
              </a:lnSpc>
              <a:buNone/>
            </a:pPr>
            <a:r>
              <a:rPr lang="en-US" sz="1250" b="1" dirty="0">
                <a:solidFill>
                  <a:srgbClr val="1E2761"/>
                </a:solidFill>
              </a:rPr>
              <a:t>Held-out evaluation  </a:t>
            </a:r>
            <a:pPr indent="0" marL="0">
              <a:lnSpc>
                <a:spcPct val="108000"/>
              </a:lnSpc>
              <a:buNone/>
            </a:pPr>
            <a:r>
              <a:rPr lang="en-US" sz="1250" dirty="0">
                <a:solidFill>
                  <a:srgbClr val="1A1A2E"/>
                </a:solidFill>
              </a:rPr>
              <a:t>Reported results use seeds never seen in development, a stress difficulty with overlapping profiles, and a 5 to 30 percent imbalance sweep.</a:t>
            </a:r>
            <a:endParaRPr lang="en-US" sz="1250" dirty="0"/>
          </a:p>
        </p:txBody>
      </p:sp>
      <p:sp>
        <p:nvSpPr>
          <p:cNvPr id="12" name="Shape 10"/>
          <p:cNvSpPr/>
          <p:nvPr/>
        </p:nvSpPr>
        <p:spPr>
          <a:xfrm>
            <a:off x="6309360" y="2834640"/>
            <a:ext cx="566928" cy="566928"/>
          </a:xfrm>
          <a:prstGeom prst="ellipse">
            <a:avLst/>
          </a:prstGeom>
          <a:solidFill>
            <a:srgbClr val="1E2761"/>
          </a:solidFill>
          <a:ln/>
        </p:spPr>
      </p:sp>
      <p:sp>
        <p:nvSpPr>
          <p:cNvPr id="13" name="Text 11"/>
          <p:cNvSpPr/>
          <p:nvPr/>
        </p:nvSpPr>
        <p:spPr>
          <a:xfrm>
            <a:off x="6309360" y="28346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4" name="Text 12"/>
          <p:cNvSpPr/>
          <p:nvPr/>
        </p:nvSpPr>
        <p:spPr>
          <a:xfrm>
            <a:off x="7040880" y="2788920"/>
            <a:ext cx="4800600" cy="1280160"/>
          </a:xfrm>
          <a:prstGeom prst="rect">
            <a:avLst/>
          </a:prstGeom>
          <a:noFill/>
          <a:ln/>
        </p:spPr>
        <p:txBody>
          <a:bodyPr wrap="square" rtlCol="0" anchor="ctr"/>
          <a:lstStyle/>
          <a:p>
            <a:pPr indent="0" marL="0">
              <a:lnSpc>
                <a:spcPct val="108000"/>
              </a:lnSpc>
              <a:buNone/>
            </a:pPr>
            <a:r>
              <a:rPr lang="en-US" sz="1250" b="1" dirty="0">
                <a:solidFill>
                  <a:srgbClr val="1E2761"/>
                </a:solidFill>
              </a:rPr>
              <a:t>Compared to practice  </a:t>
            </a:r>
            <a:pPr indent="0" marL="0">
              <a:lnSpc>
                <a:spcPct val="108000"/>
              </a:lnSpc>
              <a:buNone/>
            </a:pPr>
            <a:r>
              <a:rPr lang="en-US" sz="1250" dirty="0">
                <a:solidFill>
                  <a:srgbClr val="1A1A2E"/>
                </a:solidFill>
              </a:rPr>
              <a:t>Benchmarked against two baselines: duration-only, and zero back-navigation, the current field methods.</a:t>
            </a:r>
            <a:endParaRPr lang="en-US" sz="1250" dirty="0"/>
          </a:p>
        </p:txBody>
      </p:sp>
      <p:sp>
        <p:nvSpPr>
          <p:cNvPr id="15" name="Shape 13"/>
          <p:cNvSpPr/>
          <p:nvPr/>
        </p:nvSpPr>
        <p:spPr>
          <a:xfrm>
            <a:off x="640080" y="4251960"/>
            <a:ext cx="566928" cy="566928"/>
          </a:xfrm>
          <a:prstGeom prst="ellipse">
            <a:avLst/>
          </a:prstGeom>
          <a:solidFill>
            <a:srgbClr val="1E2761"/>
          </a:solidFill>
          <a:ln/>
        </p:spPr>
      </p:sp>
      <p:sp>
        <p:nvSpPr>
          <p:cNvPr id="16" name="Text 14"/>
          <p:cNvSpPr/>
          <p:nvPr/>
        </p:nvSpPr>
        <p:spPr>
          <a:xfrm>
            <a:off x="640080" y="42519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17" name="Text 15"/>
          <p:cNvSpPr/>
          <p:nvPr/>
        </p:nvSpPr>
        <p:spPr>
          <a:xfrm>
            <a:off x="1371600" y="4206240"/>
            <a:ext cx="4800600" cy="1280160"/>
          </a:xfrm>
          <a:prstGeom prst="rect">
            <a:avLst/>
          </a:prstGeom>
          <a:noFill/>
          <a:ln/>
        </p:spPr>
        <p:txBody>
          <a:bodyPr wrap="square" rtlCol="0" anchor="ctr"/>
          <a:lstStyle/>
          <a:p>
            <a:pPr indent="0" marL="0">
              <a:lnSpc>
                <a:spcPct val="108000"/>
              </a:lnSpc>
              <a:buNone/>
            </a:pPr>
            <a:r>
              <a:rPr lang="en-US" sz="1250" b="1" dirty="0">
                <a:solidFill>
                  <a:srgbClr val="1E2761"/>
                </a:solidFill>
              </a:rPr>
              <a:t>No label leakage  </a:t>
            </a:r>
            <a:pPr indent="0" marL="0">
              <a:lnSpc>
                <a:spcPct val="108000"/>
              </a:lnSpc>
              <a:buNone/>
            </a:pPr>
            <a:r>
              <a:rPr lang="en-US" sz="1250" dirty="0">
                <a:solidFill>
                  <a:srgbClr val="1A1A2E"/>
                </a:solidFill>
              </a:rPr>
              <a:t>The detector never sees ground truth; a strict one-to-one join computes metrics only after prediction.</a:t>
            </a:r>
            <a:endParaRPr lang="en-US" sz="1250" dirty="0"/>
          </a:p>
        </p:txBody>
      </p:sp>
      <p:sp>
        <p:nvSpPr>
          <p:cNvPr id="18" name="Text 16"/>
          <p:cNvSpPr/>
          <p:nvPr/>
        </p:nvSpPr>
        <p:spPr>
          <a:xfrm>
            <a:off x="640080" y="594360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Tested for correctness first, then for detection power on data it had never seen.</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Evaluation results against the 0.80 / 0.75 targets</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6675120" cy="914400"/>
        </p:xfrm>
        <a:graphic>
          <a:graphicData uri="http://schemas.openxmlformats.org/drawingml/2006/table">
            <a:tbl>
              <a:tblPr/>
              <a:tblGrid>
                <a:gridCol w="3931920"/>
                <a:gridCol w="1371600"/>
                <a:gridCol w="1371600"/>
              </a:tblGrid>
              <a:tr h="384048">
                <a:tc>
                  <a:txBody>
                    <a:bodyPr/>
                    <a:lstStyle/>
                    <a:p>
                      <a:pPr indent="0" marL="0">
                        <a:buNone/>
                      </a:pPr>
                      <a:r>
                        <a:rPr lang="en-US" sz="1250" b="1" dirty="0">
                          <a:solidFill>
                            <a:srgbClr val="FFFFFF"/>
                          </a:solidFill>
                        </a:rPr>
                        <a:t>Condition</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solidFill>
                      <a:srgbClr val="1E2761"/>
                    </a:solidFill>
                  </a:tcPr>
                </a:tc>
                <a:tc>
                  <a:txBody>
                    <a:bodyPr/>
                    <a:lstStyle/>
                    <a:p>
                      <a:pPr indent="0" marL="0">
                        <a:buNone/>
                      </a:pPr>
                      <a:r>
                        <a:rPr lang="en-US" sz="1250" b="1" dirty="0">
                          <a:solidFill>
                            <a:srgbClr val="FFFFFF"/>
                          </a:solidFill>
                        </a:rPr>
                        <a:t>Precision</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solidFill>
                      <a:srgbClr val="1E2761"/>
                    </a:solidFill>
                  </a:tcPr>
                </a:tc>
                <a:tc>
                  <a:txBody>
                    <a:bodyPr/>
                    <a:lstStyle/>
                    <a:p>
                      <a:pPr indent="0" marL="0">
                        <a:buNone/>
                      </a:pPr>
                      <a:r>
                        <a:rPr lang="en-US" sz="1250" b="1" dirty="0">
                          <a:solidFill>
                            <a:srgbClr val="FFFFFF"/>
                          </a:solidFill>
                        </a:rPr>
                        <a:t>Recall</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solidFill>
                      <a:srgbClr val="1E2761"/>
                    </a:solidFill>
                  </a:tcPr>
                </a:tc>
              </a:tr>
              <a:tr h="384048">
                <a:tc>
                  <a:txBody>
                    <a:bodyPr/>
                    <a:lstStyle/>
                    <a:p>
                      <a:pPr indent="0" marL="0">
                        <a:buNone/>
                      </a:pPr>
                      <a:r>
                        <a:rPr lang="en-US" sz="1250" dirty="0">
                          <a:solidFill>
                            <a:srgbClr val="1A1A2E"/>
                          </a:solidFill>
                        </a:rPr>
                        <a:t>Imbalance sweep, 5% to 30% prevalence (held-out seed 7)</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0.96 to 1.00</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1.00</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r h="384048">
                <a:tc>
                  <a:txBody>
                    <a:bodyPr/>
                    <a:lstStyle/>
                    <a:p>
                      <a:pPr indent="0" marL="0">
                        <a:buNone/>
                      </a:pPr>
                      <a:r>
                        <a:rPr lang="en-US" sz="1250" dirty="0">
                          <a:solidFill>
                            <a:srgbClr val="1A1A2E"/>
                          </a:solidFill>
                        </a:rPr>
                        <a:t>Stress, seed 7, SurveyCTO</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0.98</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0.85</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r h="384048">
                <a:tc>
                  <a:txBody>
                    <a:bodyPr/>
                    <a:lstStyle/>
                    <a:p>
                      <a:pPr indent="0" marL="0">
                        <a:buNone/>
                      </a:pPr>
                      <a:r>
                        <a:rPr lang="en-US" sz="1250" dirty="0">
                          <a:solidFill>
                            <a:srgbClr val="1A1A2E"/>
                          </a:solidFill>
                        </a:rPr>
                        <a:t>Stress, seed 7, ODK</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0.96</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0.89</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r h="384048">
                <a:tc>
                  <a:txBody>
                    <a:bodyPr/>
                    <a:lstStyle/>
                    <a:p>
                      <a:pPr indent="0" marL="0">
                        <a:buNone/>
                      </a:pPr>
                      <a:r>
                        <a:rPr lang="en-US" sz="1250" dirty="0">
                          <a:solidFill>
                            <a:srgbClr val="1A1A2E"/>
                          </a:solidFill>
                        </a:rPr>
                        <a:t>Stress, seed 99, SurveyCTO</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1.00</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0.88</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r h="384048">
                <a:tc>
                  <a:txBody>
                    <a:bodyPr/>
                    <a:lstStyle/>
                    <a:p>
                      <a:pPr indent="0" marL="0">
                        <a:buNone/>
                      </a:pPr>
                      <a:r>
                        <a:rPr lang="en-US" sz="1250" dirty="0">
                          <a:solidFill>
                            <a:srgbClr val="1A1A2E"/>
                          </a:solidFill>
                        </a:rPr>
                        <a:t>Stress, seed 99, ODK</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1.00</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0.84</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r h="384048">
                <a:tc>
                  <a:txBody>
                    <a:bodyPr/>
                    <a:lstStyle/>
                    <a:p>
                      <a:pPr indent="0" marL="0">
                        <a:buNone/>
                      </a:pPr>
                      <a:r>
                        <a:rPr lang="en-US" sz="1250" dirty="0">
                          <a:solidFill>
                            <a:srgbClr val="1A1A2E"/>
                          </a:solidFill>
                        </a:rPr>
                        <a:t>Duration-only baseline (current practice)</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0.96</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0.66</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bl>
          </a:graphicData>
        </a:graphic>
      </p:graphicFrame>
      <p:sp>
        <p:nvSpPr>
          <p:cNvPr id="4" name="Shape 1"/>
          <p:cNvSpPr/>
          <p:nvPr/>
        </p:nvSpPr>
        <p:spPr>
          <a:xfrm>
            <a:off x="7680960" y="1325880"/>
            <a:ext cx="3840480" cy="4206240"/>
          </a:xfrm>
          <a:prstGeom prst="roundRect">
            <a:avLst>
              <a:gd name="adj" fmla="val 2857"/>
            </a:avLst>
          </a:prstGeom>
          <a:solidFill>
            <a:srgbClr val="F2F5FB"/>
          </a:solidFill>
          <a:ln/>
        </p:spPr>
      </p:sp>
      <p:sp>
        <p:nvSpPr>
          <p:cNvPr id="5" name="Text 2"/>
          <p:cNvSpPr/>
          <p:nvPr/>
        </p:nvSpPr>
        <p:spPr>
          <a:xfrm>
            <a:off x="7909560" y="1508760"/>
            <a:ext cx="3383280" cy="548640"/>
          </a:xfrm>
          <a:prstGeom prst="rect">
            <a:avLst/>
          </a:prstGeom>
          <a:noFill/>
          <a:ln/>
        </p:spPr>
        <p:txBody>
          <a:bodyPr wrap="square" rtlCol="0" anchor="ctr"/>
          <a:lstStyle/>
          <a:p>
            <a:pPr indent="0" marL="0">
              <a:buNone/>
            </a:pPr>
            <a:r>
              <a:rPr lang="en-US" sz="1300" b="1" dirty="0">
                <a:solidFill>
                  <a:srgbClr val="1E2761"/>
                </a:solidFill>
              </a:rPr>
              <a:t>Per-type detection (stress, all four runs)</a:t>
            </a:r>
            <a:endParaRPr lang="en-US" sz="1300" dirty="0"/>
          </a:p>
        </p:txBody>
      </p:sp>
      <p:sp>
        <p:nvSpPr>
          <p:cNvPr id="6" name="Text 3"/>
          <p:cNvSpPr/>
          <p:nvPr/>
        </p:nvSpPr>
        <p:spPr>
          <a:xfrm>
            <a:off x="7909560" y="2103120"/>
            <a:ext cx="3383280" cy="1371600"/>
          </a:xfrm>
          <a:prstGeom prst="rect">
            <a:avLst/>
          </a:prstGeom>
          <a:noFill/>
          <a:ln/>
        </p:spPr>
        <p:txBody>
          <a:bodyPr wrap="square" rtlCol="0" anchor="ctr"/>
          <a:lstStyle/>
          <a:p>
            <a:pPr indent="0" marL="0">
              <a:spcAft>
                <a:spcPts val="600"/>
              </a:spcAft>
              <a:buNone/>
            </a:pPr>
            <a:r>
              <a:rPr lang="en-US" sz="1300" dirty="0">
                <a:solidFill>
                  <a:srgbClr val="1A1A2E"/>
                </a:solidFill>
                <a:latin typeface="Courier New" pitchFamily="34" charset="0"/>
                <a:ea typeface="Courier New" pitchFamily="34" charset="-122"/>
                <a:cs typeface="Courier New" pitchFamily="34" charset="-120"/>
              </a:rPr>
              <a:t>Speeding      132 / 132</a:t>
            </a:r>
            <a:endParaRPr lang="en-US" sz="1300" dirty="0"/>
          </a:p>
          <a:p>
            <a:pPr indent="0" marL="0">
              <a:spcAft>
                <a:spcPts val="600"/>
              </a:spcAft>
              <a:buNone/>
            </a:pPr>
            <a:r>
              <a:rPr lang="en-US" sz="1300" dirty="0">
                <a:solidFill>
                  <a:srgbClr val="1A1A2E"/>
                </a:solidFill>
                <a:latin typeface="Courier New" pitchFamily="34" charset="0"/>
                <a:ea typeface="Courier New" pitchFamily="34" charset="-122"/>
                <a:cs typeface="Courier New" pitchFamily="34" charset="-120"/>
              </a:rPr>
              <a:t>Disengaged   121 / 136  (89%)</a:t>
            </a:r>
            <a:endParaRPr lang="en-US" sz="1300" dirty="0"/>
          </a:p>
          <a:p>
            <a:pPr indent="0" marL="0">
              <a:buNone/>
            </a:pPr>
            <a:r>
              <a:rPr lang="en-US" sz="1300" dirty="0">
                <a:solidFill>
                  <a:srgbClr val="1A1A2E"/>
                </a:solidFill>
                <a:latin typeface="Courier New" pitchFamily="34" charset="0"/>
                <a:ea typeface="Courier New" pitchFamily="34" charset="-122"/>
                <a:cs typeface="Courier New" pitchFamily="34" charset="-120"/>
              </a:rPr>
              <a:t>Fabricated     93 / 132  (70%)</a:t>
            </a:r>
            <a:endParaRPr lang="en-US" sz="1300" dirty="0"/>
          </a:p>
        </p:txBody>
      </p:sp>
      <p:sp>
        <p:nvSpPr>
          <p:cNvPr id="7" name="Text 4"/>
          <p:cNvSpPr/>
          <p:nvPr/>
        </p:nvSpPr>
        <p:spPr>
          <a:xfrm>
            <a:off x="7909560" y="3566160"/>
            <a:ext cx="3383280" cy="1737360"/>
          </a:xfrm>
          <a:prstGeom prst="rect">
            <a:avLst/>
          </a:prstGeom>
          <a:noFill/>
          <a:ln/>
        </p:spPr>
        <p:txBody>
          <a:bodyPr wrap="square" rtlCol="0" anchor="ctr"/>
          <a:lstStyle/>
          <a:p>
            <a:pPr indent="0" marL="0">
              <a:lnSpc>
                <a:spcPct val="115000"/>
              </a:lnSpc>
              <a:buNone/>
            </a:pPr>
            <a:r>
              <a:rPr lang="en-US" sz="1150" dirty="0">
                <a:solidFill>
                  <a:srgbClr val="5A6270"/>
                </a:solidFill>
              </a:rPr>
              <a:t>Misses concentrate in mildly compressed fabrication. A diagnostic on development data found that response time entropy separates these from genuine interviews without overlap, so the shortfall is threshold calibration rather than absent signal.</a:t>
            </a:r>
            <a:endParaRPr lang="en-US" sz="1150" dirty="0"/>
          </a:p>
        </p:txBody>
      </p:sp>
      <p:sp>
        <p:nvSpPr>
          <p:cNvPr id="8" name="Text 5"/>
          <p:cNvSpPr/>
          <p:nvPr/>
        </p:nvSpPr>
        <p:spPr>
          <a:xfrm>
            <a:off x="640080" y="5806440"/>
            <a:ext cx="10972800" cy="548640"/>
          </a:xfrm>
          <a:prstGeom prst="rect">
            <a:avLst/>
          </a:prstGeom>
          <a:noFill/>
          <a:ln/>
        </p:spPr>
        <p:txBody>
          <a:bodyPr wrap="square" rtlCol="0" anchor="ctr"/>
          <a:lstStyle/>
          <a:p>
            <a:pPr algn="ctr" indent="0" marL="0">
              <a:buNone/>
            </a:pPr>
            <a:r>
              <a:rPr lang="en-US" sz="1350" b="1" i="1" dirty="0">
                <a:solidFill>
                  <a:srgbClr val="B85042"/>
                </a:solidFill>
              </a:rPr>
              <a:t>Every run exceeds the proposal's success criteria. Seeds 7 and 99 were never used during development.</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Ethical considerations</a:t>
            </a:r>
            <a:endParaRPr lang="en-US" sz="3000" dirty="0"/>
          </a:p>
        </p:txBody>
      </p:sp>
      <p:sp>
        <p:nvSpPr>
          <p:cNvPr id="3" name="Text 1"/>
          <p:cNvSpPr/>
          <p:nvPr/>
        </p:nvSpPr>
        <p:spPr>
          <a:xfrm>
            <a:off x="640080" y="1371600"/>
            <a:ext cx="5394960" cy="457200"/>
          </a:xfrm>
          <a:prstGeom prst="rect">
            <a:avLst/>
          </a:prstGeom>
          <a:noFill/>
          <a:ln/>
        </p:spPr>
        <p:txBody>
          <a:bodyPr wrap="square" rtlCol="0" anchor="ctr"/>
          <a:lstStyle/>
          <a:p>
            <a:pPr indent="0" marL="0">
              <a:buNone/>
            </a:pPr>
            <a:r>
              <a:rPr lang="en-US" sz="1900" b="1" dirty="0">
                <a:solidFill>
                  <a:srgbClr val="1E2761"/>
                </a:solidFill>
              </a:rPr>
              <a:t>Data and privacy</a:t>
            </a:r>
            <a:endParaRPr lang="en-US" sz="1900" dirty="0"/>
          </a:p>
        </p:txBody>
      </p:sp>
      <p:sp>
        <p:nvSpPr>
          <p:cNvPr id="4" name="Text 2"/>
          <p:cNvSpPr/>
          <p:nvPr/>
        </p:nvSpPr>
        <p:spPr>
          <a:xfrm>
            <a:off x="640080" y="1920240"/>
            <a:ext cx="5394960" cy="3291840"/>
          </a:xfrm>
          <a:prstGeom prst="rect">
            <a:avLst/>
          </a:prstGeom>
          <a:noFill/>
          <a:ln/>
        </p:spPr>
        <p:txBody>
          <a:bodyPr wrap="square" rtlCol="0" anchor="ctr"/>
          <a:lstStyle/>
          <a:p>
            <a:pPr marL="342900" indent="-342900">
              <a:lnSpc>
                <a:spcPct val="115000"/>
              </a:lnSpc>
              <a:spcAft>
                <a:spcPts val="800"/>
              </a:spcAft>
              <a:buSzPct val="100000"/>
              <a:buChar char="•"/>
            </a:pPr>
            <a:r>
              <a:rPr lang="en-US" sz="1350" dirty="0">
                <a:solidFill>
                  <a:srgbClr val="1A1A2E"/>
                </a:solidFill>
              </a:rPr>
              <a:t>All evaluation uses synthetic, simulated audit logs. No real respondent data was processed.</a:t>
            </a:r>
            <a:endParaRPr lang="en-US" sz="1350" dirty="0"/>
          </a:p>
          <a:p>
            <a:pPr marL="342900" indent="-342900">
              <a:lnSpc>
                <a:spcPct val="115000"/>
              </a:lnSpc>
              <a:spcAft>
                <a:spcPts val="800"/>
              </a:spcAft>
              <a:buSzPct val="100000"/>
              <a:buChar char="•"/>
            </a:pPr>
            <a:r>
              <a:rPr lang="en-US" sz="1350" dirty="0">
                <a:solidFill>
                  <a:srgbClr val="1A1A2E"/>
                </a:solidFill>
              </a:rPr>
              <a:t>Paradata records timing and navigation events, not answers or identifiers, so it carries no personal data by construction.</a:t>
            </a:r>
            <a:endParaRPr lang="en-US" sz="1350" dirty="0"/>
          </a:p>
          <a:p>
            <a:pPr marL="342900" indent="-342900">
              <a:lnSpc>
                <a:spcPct val="115000"/>
              </a:lnSpc>
              <a:buSzPct val="100000"/>
              <a:buChar char="•"/>
            </a:pPr>
            <a:r>
              <a:rPr lang="en-US" sz="1350" dirty="0">
                <a:solidFill>
                  <a:srgbClr val="1A1A2E"/>
                </a:solidFill>
              </a:rPr>
              <a:t>On real field data, respondents and enumerators should be informed that paradata is analysed for quality assurance.</a:t>
            </a:r>
            <a:endParaRPr lang="en-US" sz="1350" dirty="0"/>
          </a:p>
        </p:txBody>
      </p:sp>
      <p:sp>
        <p:nvSpPr>
          <p:cNvPr id="5" name="Text 3"/>
          <p:cNvSpPr/>
          <p:nvPr/>
        </p:nvSpPr>
        <p:spPr>
          <a:xfrm>
            <a:off x="6400800" y="1371600"/>
            <a:ext cx="5120640" cy="457200"/>
          </a:xfrm>
          <a:prstGeom prst="rect">
            <a:avLst/>
          </a:prstGeom>
          <a:noFill/>
          <a:ln/>
        </p:spPr>
        <p:txBody>
          <a:bodyPr wrap="square" rtlCol="0" anchor="ctr"/>
          <a:lstStyle/>
          <a:p>
            <a:pPr indent="0" marL="0">
              <a:buNone/>
            </a:pPr>
            <a:r>
              <a:rPr lang="en-US" sz="1900" b="1" dirty="0">
                <a:solidFill>
                  <a:srgbClr val="1E2761"/>
                </a:solidFill>
              </a:rPr>
              <a:t>Responsible use</a:t>
            </a:r>
            <a:endParaRPr lang="en-US" sz="1900" dirty="0"/>
          </a:p>
        </p:txBody>
      </p:sp>
      <p:sp>
        <p:nvSpPr>
          <p:cNvPr id="6" name="Text 4"/>
          <p:cNvSpPr/>
          <p:nvPr/>
        </p:nvSpPr>
        <p:spPr>
          <a:xfrm>
            <a:off x="6400800" y="1920240"/>
            <a:ext cx="5120640" cy="3291840"/>
          </a:xfrm>
          <a:prstGeom prst="rect">
            <a:avLst/>
          </a:prstGeom>
          <a:noFill/>
          <a:ln/>
        </p:spPr>
        <p:txBody>
          <a:bodyPr wrap="square" rtlCol="0" anchor="ctr"/>
          <a:lstStyle/>
          <a:p>
            <a:pPr marL="342900" indent="-342900">
              <a:lnSpc>
                <a:spcPct val="115000"/>
              </a:lnSpc>
              <a:spcAft>
                <a:spcPts val="800"/>
              </a:spcAft>
              <a:buSzPct val="100000"/>
              <a:buChar char="•"/>
            </a:pPr>
            <a:r>
              <a:rPr lang="en-US" sz="1350" dirty="0">
                <a:solidFill>
                  <a:srgbClr val="1A1A2E"/>
                </a:solidFill>
              </a:rPr>
              <a:t>Flags are signals for human review, not proof of wrongdoing.</a:t>
            </a:r>
            <a:endParaRPr lang="en-US" sz="1350" dirty="0"/>
          </a:p>
          <a:p>
            <a:pPr marL="342900" indent="-342900">
              <a:lnSpc>
                <a:spcPct val="115000"/>
              </a:lnSpc>
              <a:spcAft>
                <a:spcPts val="800"/>
              </a:spcAft>
              <a:buSzPct val="100000"/>
              <a:buChar char="•"/>
            </a:pPr>
            <a:r>
              <a:rPr lang="en-US" sz="1350" dirty="0">
                <a:solidFill>
                  <a:srgbClr val="1A1A2E"/>
                </a:solidFill>
              </a:rPr>
              <a:t>Using them to sanction enumerators without review would penalise real people for false positives.</a:t>
            </a:r>
            <a:endParaRPr lang="en-US" sz="1350" dirty="0"/>
          </a:p>
          <a:p>
            <a:pPr marL="342900" indent="-342900">
              <a:lnSpc>
                <a:spcPct val="115000"/>
              </a:lnSpc>
              <a:buSzPct val="100000"/>
              <a:buChar char="•"/>
            </a:pPr>
            <a:r>
              <a:rPr lang="en-US" sz="1350" dirty="0">
                <a:solidFill>
                  <a:srgbClr val="1A1A2E"/>
                </a:solidFill>
              </a:rPr>
              <a:t>The per-flag transparent score exists so a supervisor sees the reason and decides, keeping a human in the loop.</a:t>
            </a:r>
            <a:endParaRPr lang="en-US" sz="1350" dirty="0"/>
          </a:p>
        </p:txBody>
      </p:sp>
      <p:sp>
        <p:nvSpPr>
          <p:cNvPr id="7" name="Text 5"/>
          <p:cNvSpPr/>
          <p:nvPr/>
        </p:nvSpPr>
        <p:spPr>
          <a:xfrm>
            <a:off x="640080" y="553212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The tool flags interviews for review; it must never be the sole basis for action against a person.</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Limitations and future work</a:t>
            </a:r>
            <a:endParaRPr lang="en-US" sz="3000" dirty="0"/>
          </a:p>
        </p:txBody>
      </p:sp>
      <p:sp>
        <p:nvSpPr>
          <p:cNvPr id="3" name="Text 1"/>
          <p:cNvSpPr/>
          <p:nvPr/>
        </p:nvSpPr>
        <p:spPr>
          <a:xfrm>
            <a:off x="640080" y="1371600"/>
            <a:ext cx="5394960" cy="457200"/>
          </a:xfrm>
          <a:prstGeom prst="rect">
            <a:avLst/>
          </a:prstGeom>
          <a:noFill/>
          <a:ln/>
        </p:spPr>
        <p:txBody>
          <a:bodyPr wrap="square" rtlCol="0" anchor="ctr"/>
          <a:lstStyle/>
          <a:p>
            <a:pPr indent="0" marL="0">
              <a:buNone/>
            </a:pPr>
            <a:r>
              <a:rPr lang="en-US" sz="1900" b="1" dirty="0">
                <a:solidFill>
                  <a:srgbClr val="1E2761"/>
                </a:solidFill>
              </a:rPr>
              <a:t>Limitations</a:t>
            </a:r>
            <a:endParaRPr lang="en-US" sz="1900" dirty="0"/>
          </a:p>
        </p:txBody>
      </p:sp>
      <p:sp>
        <p:nvSpPr>
          <p:cNvPr id="4" name="Text 2"/>
          <p:cNvSpPr/>
          <p:nvPr/>
        </p:nvSpPr>
        <p:spPr>
          <a:xfrm>
            <a:off x="640080" y="1920240"/>
            <a:ext cx="5394960" cy="3200400"/>
          </a:xfrm>
          <a:prstGeom prst="rect">
            <a:avLst/>
          </a:prstGeom>
          <a:noFill/>
          <a:ln/>
        </p:spPr>
        <p:txBody>
          <a:bodyPr wrap="square" rtlCol="0" anchor="ctr"/>
          <a:lstStyle/>
          <a:p>
            <a:pPr marL="342900" indent="-342900">
              <a:lnSpc>
                <a:spcPct val="115000"/>
              </a:lnSpc>
              <a:spcAft>
                <a:spcPts val="800"/>
              </a:spcAft>
              <a:buSzPct val="100000"/>
              <a:buChar char="•"/>
            </a:pPr>
            <a:r>
              <a:rPr lang="en-US" sz="1350" dirty="0">
                <a:solidFill>
                  <a:srgbClr val="1A1A2E"/>
                </a:solidFill>
              </a:rPr>
              <a:t>Evaluation is synthetic throughout; results estimate an upper bound on field performance.</a:t>
            </a:r>
            <a:endParaRPr lang="en-US" sz="1350" dirty="0"/>
          </a:p>
          <a:p>
            <a:pPr marL="342900" indent="-342900">
              <a:lnSpc>
                <a:spcPct val="115000"/>
              </a:lnSpc>
              <a:spcAft>
                <a:spcPts val="800"/>
              </a:spcAft>
              <a:buSzPct val="100000"/>
              <a:buChar char="•"/>
            </a:pPr>
            <a:r>
              <a:rPr lang="en-US" sz="1350" dirty="0">
                <a:solidFill>
                  <a:srgbClr val="1A1A2E"/>
                </a:solidFill>
              </a:rPr>
              <a:t>Detection is univariate: anomalies visible only in joint feature patterns evade fences.</a:t>
            </a:r>
            <a:endParaRPr lang="en-US" sz="1350" dirty="0"/>
          </a:p>
          <a:p>
            <a:pPr marL="342900" indent="-342900">
              <a:lnSpc>
                <a:spcPct val="115000"/>
              </a:lnSpc>
              <a:buSzPct val="100000"/>
              <a:buChar char="•"/>
            </a:pPr>
            <a:r>
              <a:rPr lang="en-US" sz="1350" dirty="0">
                <a:solidFill>
                  <a:srgbClr val="1A1A2E"/>
                </a:solidFill>
              </a:rPr>
              <a:t>Default thresholds derive from literature and calibration data; unusual instruments should recalibrate.</a:t>
            </a:r>
            <a:endParaRPr lang="en-US" sz="1350" dirty="0"/>
          </a:p>
        </p:txBody>
      </p:sp>
      <p:sp>
        <p:nvSpPr>
          <p:cNvPr id="5" name="Text 3"/>
          <p:cNvSpPr/>
          <p:nvPr/>
        </p:nvSpPr>
        <p:spPr>
          <a:xfrm>
            <a:off x="6400800" y="1371600"/>
            <a:ext cx="5120640" cy="457200"/>
          </a:xfrm>
          <a:prstGeom prst="rect">
            <a:avLst/>
          </a:prstGeom>
          <a:noFill/>
          <a:ln/>
        </p:spPr>
        <p:txBody>
          <a:bodyPr wrap="square" rtlCol="0" anchor="ctr"/>
          <a:lstStyle/>
          <a:p>
            <a:pPr indent="0" marL="0">
              <a:buNone/>
            </a:pPr>
            <a:r>
              <a:rPr lang="en-US" sz="1900" b="1" dirty="0">
                <a:solidFill>
                  <a:srgbClr val="1E2761"/>
                </a:solidFill>
              </a:rPr>
              <a:t>Future work</a:t>
            </a:r>
            <a:endParaRPr lang="en-US" sz="1900" dirty="0"/>
          </a:p>
        </p:txBody>
      </p:sp>
      <p:sp>
        <p:nvSpPr>
          <p:cNvPr id="6" name="Text 4"/>
          <p:cNvSpPr/>
          <p:nvPr/>
        </p:nvSpPr>
        <p:spPr>
          <a:xfrm>
            <a:off x="6400800" y="1920240"/>
            <a:ext cx="5120640" cy="3200400"/>
          </a:xfrm>
          <a:prstGeom prst="rect">
            <a:avLst/>
          </a:prstGeom>
          <a:noFill/>
          <a:ln/>
        </p:spPr>
        <p:txBody>
          <a:bodyPr wrap="square" rtlCol="0" anchor="ctr"/>
          <a:lstStyle/>
          <a:p>
            <a:pPr marL="342900" indent="-342900">
              <a:lnSpc>
                <a:spcPct val="115000"/>
              </a:lnSpc>
              <a:spcAft>
                <a:spcPts val="800"/>
              </a:spcAft>
              <a:buSzPct val="100000"/>
              <a:buChar char="•"/>
            </a:pPr>
            <a:r>
              <a:rPr lang="en-US" sz="1350" dirty="0">
                <a:solidFill>
                  <a:srgbClr val="1A1A2E"/>
                </a:solidFill>
              </a:rPr>
              <a:t>Validate against real field paradata with independently verified outcomes.</a:t>
            </a:r>
            <a:endParaRPr lang="en-US" sz="1350" dirty="0"/>
          </a:p>
          <a:p>
            <a:pPr marL="342900" indent="-342900">
              <a:lnSpc>
                <a:spcPct val="115000"/>
              </a:lnSpc>
              <a:spcAft>
                <a:spcPts val="800"/>
              </a:spcAft>
              <a:buSzPct val="100000"/>
              <a:buChar char="•"/>
            </a:pPr>
            <a:r>
              <a:rPr lang="en-US" sz="1350" dirty="0">
                <a:solidFill>
                  <a:srgbClr val="1A1A2E"/>
                </a:solidFill>
              </a:rPr>
              <a:t>Add an interpretable multivariate layer to catch joint-pattern fabrication.</a:t>
            </a:r>
            <a:endParaRPr lang="en-US" sz="1350" dirty="0"/>
          </a:p>
          <a:p>
            <a:pPr marL="342900" indent="-342900">
              <a:lnSpc>
                <a:spcPct val="115000"/>
              </a:lnSpc>
              <a:buSzPct val="100000"/>
              <a:buChar char="•"/>
            </a:pPr>
            <a:r>
              <a:rPr lang="en-US" sz="1350" dirty="0">
                <a:solidFill>
                  <a:srgbClr val="1A1A2E"/>
                </a:solidFill>
              </a:rPr>
              <a:t>Add parsers for further platforms; the architecture was designed for exactly this.</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Project timeline and management</a:t>
            </a:r>
            <a:endParaRPr lang="en-US" sz="3000" dirty="0"/>
          </a:p>
        </p:txBody>
      </p:sp>
      <p:sp>
        <p:nvSpPr>
          <p:cNvPr id="3" name="Shape 1"/>
          <p:cNvSpPr/>
          <p:nvPr/>
        </p:nvSpPr>
        <p:spPr>
          <a:xfrm>
            <a:off x="594360" y="1920240"/>
            <a:ext cx="2084832" cy="2286000"/>
          </a:xfrm>
          <a:prstGeom prst="roundRect">
            <a:avLst>
              <a:gd name="adj" fmla="val 4386"/>
            </a:avLst>
          </a:prstGeom>
          <a:solidFill>
            <a:srgbClr val="F2F5FB"/>
          </a:solidFill>
          <a:ln/>
        </p:spPr>
      </p:sp>
      <p:sp>
        <p:nvSpPr>
          <p:cNvPr id="4" name="Text 2"/>
          <p:cNvSpPr/>
          <p:nvPr/>
        </p:nvSpPr>
        <p:spPr>
          <a:xfrm>
            <a:off x="685800" y="2148840"/>
            <a:ext cx="1901952" cy="914400"/>
          </a:xfrm>
          <a:prstGeom prst="rect">
            <a:avLst/>
          </a:prstGeom>
          <a:noFill/>
          <a:ln/>
        </p:spPr>
        <p:txBody>
          <a:bodyPr wrap="square" rtlCol="0" anchor="ctr"/>
          <a:lstStyle/>
          <a:p>
            <a:pPr algn="ctr" indent="0" marL="0">
              <a:lnSpc>
                <a:spcPct val="100000"/>
              </a:lnSpc>
              <a:buNone/>
            </a:pPr>
            <a:r>
              <a:rPr lang="en-US" sz="1350" b="1" dirty="0">
                <a:solidFill>
                  <a:srgbClr val="1E2761"/>
                </a:solidFill>
              </a:rPr>
              <a:t>Proposal and</a:t>
            </a:r>
            <a:endParaRPr lang="en-US" sz="1350" dirty="0"/>
          </a:p>
          <a:p>
            <a:pPr algn="ctr" indent="0" marL="0">
              <a:lnSpc>
                <a:spcPct val="100000"/>
              </a:lnSpc>
              <a:buNone/>
            </a:pPr>
            <a:r>
              <a:rPr lang="en-US" sz="1350" b="1" dirty="0">
                <a:solidFill>
                  <a:srgbClr val="1E2761"/>
                </a:solidFill>
              </a:rPr>
              <a:t>literature review</a:t>
            </a:r>
            <a:endParaRPr lang="en-US" sz="1350" dirty="0"/>
          </a:p>
        </p:txBody>
      </p:sp>
      <p:sp>
        <p:nvSpPr>
          <p:cNvPr id="5" name="Text 3"/>
          <p:cNvSpPr/>
          <p:nvPr/>
        </p:nvSpPr>
        <p:spPr>
          <a:xfrm>
            <a:off x="685800" y="3063240"/>
            <a:ext cx="1901952" cy="457200"/>
          </a:xfrm>
          <a:prstGeom prst="rect">
            <a:avLst/>
          </a:prstGeom>
          <a:noFill/>
          <a:ln/>
        </p:spPr>
        <p:txBody>
          <a:bodyPr wrap="square" rtlCol="0" anchor="ctr"/>
          <a:lstStyle/>
          <a:p>
            <a:pPr algn="ctr" indent="0" marL="0">
              <a:buNone/>
            </a:pPr>
            <a:r>
              <a:rPr lang="en-US" sz="1200" dirty="0">
                <a:solidFill>
                  <a:srgbClr val="5A6270"/>
                </a:solidFill>
              </a:rPr>
              <a:t>Weeks 1 to 7</a:t>
            </a:r>
            <a:endParaRPr lang="en-US" sz="1200" dirty="0"/>
          </a:p>
        </p:txBody>
      </p:sp>
      <p:sp>
        <p:nvSpPr>
          <p:cNvPr id="6" name="Shape 4"/>
          <p:cNvSpPr/>
          <p:nvPr/>
        </p:nvSpPr>
        <p:spPr>
          <a:xfrm>
            <a:off x="1179576" y="3611880"/>
            <a:ext cx="914400" cy="384048"/>
          </a:xfrm>
          <a:prstGeom prst="roundRect">
            <a:avLst>
              <a:gd name="adj" fmla="val 19048"/>
            </a:avLst>
          </a:prstGeom>
          <a:solidFill>
            <a:srgbClr val="1E2761"/>
          </a:solidFill>
          <a:ln/>
        </p:spPr>
      </p:sp>
      <p:sp>
        <p:nvSpPr>
          <p:cNvPr id="7" name="Text 5"/>
          <p:cNvSpPr/>
          <p:nvPr/>
        </p:nvSpPr>
        <p:spPr>
          <a:xfrm>
            <a:off x="1179576" y="3611880"/>
            <a:ext cx="914400" cy="384048"/>
          </a:xfrm>
          <a:prstGeom prst="rect">
            <a:avLst/>
          </a:prstGeom>
          <a:noFill/>
          <a:ln/>
        </p:spPr>
        <p:txBody>
          <a:bodyPr wrap="square" lIns="0" tIns="0" rIns="0" bIns="0" rtlCol="0" anchor="ctr"/>
          <a:lstStyle/>
          <a:p>
            <a:pPr algn="ctr" indent="0" marL="0">
              <a:buNone/>
            </a:pPr>
            <a:r>
              <a:rPr lang="en-US" sz="1100" b="1" dirty="0">
                <a:solidFill>
                  <a:srgbClr val="FFFFFF"/>
                </a:solidFill>
              </a:rPr>
              <a:t>Done</a:t>
            </a:r>
            <a:endParaRPr lang="en-US" sz="1100" dirty="0"/>
          </a:p>
        </p:txBody>
      </p:sp>
      <p:sp>
        <p:nvSpPr>
          <p:cNvPr id="8" name="Text 6"/>
          <p:cNvSpPr/>
          <p:nvPr/>
        </p:nvSpPr>
        <p:spPr>
          <a:xfrm>
            <a:off x="2624328" y="2743200"/>
            <a:ext cx="310896" cy="5486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9" name="Shape 7"/>
          <p:cNvSpPr/>
          <p:nvPr/>
        </p:nvSpPr>
        <p:spPr>
          <a:xfrm>
            <a:off x="2880360" y="1920240"/>
            <a:ext cx="2084832" cy="2286000"/>
          </a:xfrm>
          <a:prstGeom prst="roundRect">
            <a:avLst>
              <a:gd name="adj" fmla="val 4386"/>
            </a:avLst>
          </a:prstGeom>
          <a:solidFill>
            <a:srgbClr val="F2F5FB"/>
          </a:solidFill>
          <a:ln/>
        </p:spPr>
      </p:sp>
      <p:sp>
        <p:nvSpPr>
          <p:cNvPr id="10" name="Text 8"/>
          <p:cNvSpPr/>
          <p:nvPr/>
        </p:nvSpPr>
        <p:spPr>
          <a:xfrm>
            <a:off x="2971800" y="2148840"/>
            <a:ext cx="1901952" cy="914400"/>
          </a:xfrm>
          <a:prstGeom prst="rect">
            <a:avLst/>
          </a:prstGeom>
          <a:noFill/>
          <a:ln/>
        </p:spPr>
        <p:txBody>
          <a:bodyPr wrap="square" rtlCol="0" anchor="ctr"/>
          <a:lstStyle/>
          <a:p>
            <a:pPr algn="ctr" indent="0" marL="0">
              <a:lnSpc>
                <a:spcPct val="100000"/>
              </a:lnSpc>
              <a:buNone/>
            </a:pPr>
            <a:r>
              <a:rPr lang="en-US" sz="1350" b="1" dirty="0">
                <a:solidFill>
                  <a:srgbClr val="1E2761"/>
                </a:solidFill>
              </a:rPr>
              <a:t>Design and</a:t>
            </a:r>
            <a:endParaRPr lang="en-US" sz="1350" dirty="0"/>
          </a:p>
          <a:p>
            <a:pPr algn="ctr" indent="0" marL="0">
              <a:lnSpc>
                <a:spcPct val="100000"/>
              </a:lnSpc>
              <a:buNone/>
            </a:pPr>
            <a:r>
              <a:rPr lang="en-US" sz="1350" b="1" dirty="0">
                <a:solidFill>
                  <a:srgbClr val="1E2761"/>
                </a:solidFill>
              </a:rPr>
              <a:t>parsers</a:t>
            </a:r>
            <a:endParaRPr lang="en-US" sz="1350" dirty="0"/>
          </a:p>
        </p:txBody>
      </p:sp>
      <p:sp>
        <p:nvSpPr>
          <p:cNvPr id="11" name="Text 9"/>
          <p:cNvSpPr/>
          <p:nvPr/>
        </p:nvSpPr>
        <p:spPr>
          <a:xfrm>
            <a:off x="2971800" y="3063240"/>
            <a:ext cx="1901952" cy="457200"/>
          </a:xfrm>
          <a:prstGeom prst="rect">
            <a:avLst/>
          </a:prstGeom>
          <a:noFill/>
          <a:ln/>
        </p:spPr>
        <p:txBody>
          <a:bodyPr wrap="square" rtlCol="0" anchor="ctr"/>
          <a:lstStyle/>
          <a:p>
            <a:pPr algn="ctr" indent="0" marL="0">
              <a:buNone/>
            </a:pPr>
            <a:r>
              <a:rPr lang="en-US" sz="1200" dirty="0">
                <a:solidFill>
                  <a:srgbClr val="5A6270"/>
                </a:solidFill>
              </a:rPr>
              <a:t>Weeks 8 to 13</a:t>
            </a:r>
            <a:endParaRPr lang="en-US" sz="1200" dirty="0"/>
          </a:p>
        </p:txBody>
      </p:sp>
      <p:sp>
        <p:nvSpPr>
          <p:cNvPr id="12" name="Shape 10"/>
          <p:cNvSpPr/>
          <p:nvPr/>
        </p:nvSpPr>
        <p:spPr>
          <a:xfrm>
            <a:off x="3465576" y="3611880"/>
            <a:ext cx="914400" cy="384048"/>
          </a:xfrm>
          <a:prstGeom prst="roundRect">
            <a:avLst>
              <a:gd name="adj" fmla="val 19048"/>
            </a:avLst>
          </a:prstGeom>
          <a:solidFill>
            <a:srgbClr val="1E2761"/>
          </a:solidFill>
          <a:ln/>
        </p:spPr>
      </p:sp>
      <p:sp>
        <p:nvSpPr>
          <p:cNvPr id="13" name="Text 11"/>
          <p:cNvSpPr/>
          <p:nvPr/>
        </p:nvSpPr>
        <p:spPr>
          <a:xfrm>
            <a:off x="3465576" y="3611880"/>
            <a:ext cx="914400" cy="384048"/>
          </a:xfrm>
          <a:prstGeom prst="rect">
            <a:avLst/>
          </a:prstGeom>
          <a:noFill/>
          <a:ln/>
        </p:spPr>
        <p:txBody>
          <a:bodyPr wrap="square" lIns="0" tIns="0" rIns="0" bIns="0" rtlCol="0" anchor="ctr"/>
          <a:lstStyle/>
          <a:p>
            <a:pPr algn="ctr" indent="0" marL="0">
              <a:buNone/>
            </a:pPr>
            <a:r>
              <a:rPr lang="en-US" sz="1100" b="1" dirty="0">
                <a:solidFill>
                  <a:srgbClr val="FFFFFF"/>
                </a:solidFill>
              </a:rPr>
              <a:t>Done</a:t>
            </a:r>
            <a:endParaRPr lang="en-US" sz="1100" dirty="0"/>
          </a:p>
        </p:txBody>
      </p:sp>
      <p:sp>
        <p:nvSpPr>
          <p:cNvPr id="14" name="Text 12"/>
          <p:cNvSpPr/>
          <p:nvPr/>
        </p:nvSpPr>
        <p:spPr>
          <a:xfrm>
            <a:off x="4910328" y="2743200"/>
            <a:ext cx="310896" cy="5486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15" name="Shape 13"/>
          <p:cNvSpPr/>
          <p:nvPr/>
        </p:nvSpPr>
        <p:spPr>
          <a:xfrm>
            <a:off x="5166360" y="1920240"/>
            <a:ext cx="2084832" cy="2286000"/>
          </a:xfrm>
          <a:prstGeom prst="roundRect">
            <a:avLst>
              <a:gd name="adj" fmla="val 4386"/>
            </a:avLst>
          </a:prstGeom>
          <a:solidFill>
            <a:srgbClr val="F2F5FB"/>
          </a:solidFill>
          <a:ln/>
        </p:spPr>
      </p:sp>
      <p:sp>
        <p:nvSpPr>
          <p:cNvPr id="16" name="Text 14"/>
          <p:cNvSpPr/>
          <p:nvPr/>
        </p:nvSpPr>
        <p:spPr>
          <a:xfrm>
            <a:off x="5257800" y="2148840"/>
            <a:ext cx="1901952" cy="914400"/>
          </a:xfrm>
          <a:prstGeom prst="rect">
            <a:avLst/>
          </a:prstGeom>
          <a:noFill/>
          <a:ln/>
        </p:spPr>
        <p:txBody>
          <a:bodyPr wrap="square" rtlCol="0" anchor="ctr"/>
          <a:lstStyle/>
          <a:p>
            <a:pPr algn="ctr" indent="0" marL="0">
              <a:lnSpc>
                <a:spcPct val="100000"/>
              </a:lnSpc>
              <a:buNone/>
            </a:pPr>
            <a:r>
              <a:rPr lang="en-US" sz="1350" b="1" dirty="0">
                <a:solidFill>
                  <a:srgbClr val="1E2761"/>
                </a:solidFill>
              </a:rPr>
              <a:t>Features and</a:t>
            </a:r>
            <a:endParaRPr lang="en-US" sz="1350" dirty="0"/>
          </a:p>
          <a:p>
            <a:pPr algn="ctr" indent="0" marL="0">
              <a:lnSpc>
                <a:spcPct val="100000"/>
              </a:lnSpc>
              <a:buNone/>
            </a:pPr>
            <a:r>
              <a:rPr lang="en-US" sz="1350" b="1" dirty="0">
                <a:solidFill>
                  <a:srgbClr val="1E2761"/>
                </a:solidFill>
              </a:rPr>
              <a:t>detection</a:t>
            </a:r>
            <a:endParaRPr lang="en-US" sz="1350" dirty="0"/>
          </a:p>
        </p:txBody>
      </p:sp>
      <p:sp>
        <p:nvSpPr>
          <p:cNvPr id="17" name="Text 15"/>
          <p:cNvSpPr/>
          <p:nvPr/>
        </p:nvSpPr>
        <p:spPr>
          <a:xfrm>
            <a:off x="5257800" y="3063240"/>
            <a:ext cx="1901952" cy="457200"/>
          </a:xfrm>
          <a:prstGeom prst="rect">
            <a:avLst/>
          </a:prstGeom>
          <a:noFill/>
          <a:ln/>
        </p:spPr>
        <p:txBody>
          <a:bodyPr wrap="square" rtlCol="0" anchor="ctr"/>
          <a:lstStyle/>
          <a:p>
            <a:pPr algn="ctr" indent="0" marL="0">
              <a:buNone/>
            </a:pPr>
            <a:r>
              <a:rPr lang="en-US" sz="1200" dirty="0">
                <a:solidFill>
                  <a:srgbClr val="5A6270"/>
                </a:solidFill>
              </a:rPr>
              <a:t>Weeks 14 to 21</a:t>
            </a:r>
            <a:endParaRPr lang="en-US" sz="1200" dirty="0"/>
          </a:p>
        </p:txBody>
      </p:sp>
      <p:sp>
        <p:nvSpPr>
          <p:cNvPr id="18" name="Shape 16"/>
          <p:cNvSpPr/>
          <p:nvPr/>
        </p:nvSpPr>
        <p:spPr>
          <a:xfrm>
            <a:off x="5751576" y="3611880"/>
            <a:ext cx="914400" cy="384048"/>
          </a:xfrm>
          <a:prstGeom prst="roundRect">
            <a:avLst>
              <a:gd name="adj" fmla="val 19048"/>
            </a:avLst>
          </a:prstGeom>
          <a:solidFill>
            <a:srgbClr val="1E2761"/>
          </a:solidFill>
          <a:ln/>
        </p:spPr>
      </p:sp>
      <p:sp>
        <p:nvSpPr>
          <p:cNvPr id="19" name="Text 17"/>
          <p:cNvSpPr/>
          <p:nvPr/>
        </p:nvSpPr>
        <p:spPr>
          <a:xfrm>
            <a:off x="5751576" y="3611880"/>
            <a:ext cx="914400" cy="384048"/>
          </a:xfrm>
          <a:prstGeom prst="rect">
            <a:avLst/>
          </a:prstGeom>
          <a:noFill/>
          <a:ln/>
        </p:spPr>
        <p:txBody>
          <a:bodyPr wrap="square" lIns="0" tIns="0" rIns="0" bIns="0" rtlCol="0" anchor="ctr"/>
          <a:lstStyle/>
          <a:p>
            <a:pPr algn="ctr" indent="0" marL="0">
              <a:buNone/>
            </a:pPr>
            <a:r>
              <a:rPr lang="en-US" sz="1100" b="1" dirty="0">
                <a:solidFill>
                  <a:srgbClr val="FFFFFF"/>
                </a:solidFill>
              </a:rPr>
              <a:t>Done</a:t>
            </a:r>
            <a:endParaRPr lang="en-US" sz="1100" dirty="0"/>
          </a:p>
        </p:txBody>
      </p:sp>
      <p:sp>
        <p:nvSpPr>
          <p:cNvPr id="20" name="Text 18"/>
          <p:cNvSpPr/>
          <p:nvPr/>
        </p:nvSpPr>
        <p:spPr>
          <a:xfrm>
            <a:off x="7196328" y="2743200"/>
            <a:ext cx="310896" cy="5486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21" name="Shape 19"/>
          <p:cNvSpPr/>
          <p:nvPr/>
        </p:nvSpPr>
        <p:spPr>
          <a:xfrm>
            <a:off x="7452360" y="1920240"/>
            <a:ext cx="2084832" cy="2286000"/>
          </a:xfrm>
          <a:prstGeom prst="roundRect">
            <a:avLst>
              <a:gd name="adj" fmla="val 4386"/>
            </a:avLst>
          </a:prstGeom>
          <a:solidFill>
            <a:srgbClr val="F2F5FB"/>
          </a:solidFill>
          <a:ln/>
        </p:spPr>
      </p:sp>
      <p:sp>
        <p:nvSpPr>
          <p:cNvPr id="22" name="Text 20"/>
          <p:cNvSpPr/>
          <p:nvPr/>
        </p:nvSpPr>
        <p:spPr>
          <a:xfrm>
            <a:off x="7543800" y="2148840"/>
            <a:ext cx="1901952" cy="914400"/>
          </a:xfrm>
          <a:prstGeom prst="rect">
            <a:avLst/>
          </a:prstGeom>
          <a:noFill/>
          <a:ln/>
        </p:spPr>
        <p:txBody>
          <a:bodyPr wrap="square" rtlCol="0" anchor="ctr"/>
          <a:lstStyle/>
          <a:p>
            <a:pPr algn="ctr" indent="0" marL="0">
              <a:lnSpc>
                <a:spcPct val="100000"/>
              </a:lnSpc>
              <a:buNone/>
            </a:pPr>
            <a:r>
              <a:rPr lang="en-US" sz="1350" b="1" dirty="0">
                <a:solidFill>
                  <a:srgbClr val="1E2761"/>
                </a:solidFill>
              </a:rPr>
              <a:t>Validation and</a:t>
            </a:r>
            <a:endParaRPr lang="en-US" sz="1350" dirty="0"/>
          </a:p>
          <a:p>
            <a:pPr algn="ctr" indent="0" marL="0">
              <a:lnSpc>
                <a:spcPct val="100000"/>
              </a:lnSpc>
              <a:buNone/>
            </a:pPr>
            <a:r>
              <a:rPr lang="en-US" sz="1350" b="1" dirty="0">
                <a:solidFill>
                  <a:srgbClr val="1E2761"/>
                </a:solidFill>
              </a:rPr>
              <a:t>documentation</a:t>
            </a:r>
            <a:endParaRPr lang="en-US" sz="1350" dirty="0"/>
          </a:p>
        </p:txBody>
      </p:sp>
      <p:sp>
        <p:nvSpPr>
          <p:cNvPr id="23" name="Text 21"/>
          <p:cNvSpPr/>
          <p:nvPr/>
        </p:nvSpPr>
        <p:spPr>
          <a:xfrm>
            <a:off x="7543800" y="3063240"/>
            <a:ext cx="1901952" cy="457200"/>
          </a:xfrm>
          <a:prstGeom prst="rect">
            <a:avLst/>
          </a:prstGeom>
          <a:noFill/>
          <a:ln/>
        </p:spPr>
        <p:txBody>
          <a:bodyPr wrap="square" rtlCol="0" anchor="ctr"/>
          <a:lstStyle/>
          <a:p>
            <a:pPr algn="ctr" indent="0" marL="0">
              <a:buNone/>
            </a:pPr>
            <a:r>
              <a:rPr lang="en-US" sz="1200" dirty="0">
                <a:solidFill>
                  <a:srgbClr val="5A6270"/>
                </a:solidFill>
              </a:rPr>
              <a:t>Weeks 22 to 29</a:t>
            </a:r>
            <a:endParaRPr lang="en-US" sz="1200" dirty="0"/>
          </a:p>
        </p:txBody>
      </p:sp>
      <p:sp>
        <p:nvSpPr>
          <p:cNvPr id="24" name="Shape 22"/>
          <p:cNvSpPr/>
          <p:nvPr/>
        </p:nvSpPr>
        <p:spPr>
          <a:xfrm>
            <a:off x="8037576" y="3611880"/>
            <a:ext cx="914400" cy="384048"/>
          </a:xfrm>
          <a:prstGeom prst="roundRect">
            <a:avLst>
              <a:gd name="adj" fmla="val 19048"/>
            </a:avLst>
          </a:prstGeom>
          <a:solidFill>
            <a:srgbClr val="1E2761"/>
          </a:solidFill>
          <a:ln/>
        </p:spPr>
      </p:sp>
      <p:sp>
        <p:nvSpPr>
          <p:cNvPr id="25" name="Text 23"/>
          <p:cNvSpPr/>
          <p:nvPr/>
        </p:nvSpPr>
        <p:spPr>
          <a:xfrm>
            <a:off x="8037576" y="3611880"/>
            <a:ext cx="914400" cy="384048"/>
          </a:xfrm>
          <a:prstGeom prst="rect">
            <a:avLst/>
          </a:prstGeom>
          <a:noFill/>
          <a:ln/>
        </p:spPr>
        <p:txBody>
          <a:bodyPr wrap="square" lIns="0" tIns="0" rIns="0" bIns="0" rtlCol="0" anchor="ctr"/>
          <a:lstStyle/>
          <a:p>
            <a:pPr algn="ctr" indent="0" marL="0">
              <a:buNone/>
            </a:pPr>
            <a:r>
              <a:rPr lang="en-US" sz="1100" b="1" dirty="0">
                <a:solidFill>
                  <a:srgbClr val="FFFFFF"/>
                </a:solidFill>
              </a:rPr>
              <a:t>Done</a:t>
            </a:r>
            <a:endParaRPr lang="en-US" sz="1100" dirty="0"/>
          </a:p>
        </p:txBody>
      </p:sp>
      <p:sp>
        <p:nvSpPr>
          <p:cNvPr id="26" name="Text 24"/>
          <p:cNvSpPr/>
          <p:nvPr/>
        </p:nvSpPr>
        <p:spPr>
          <a:xfrm>
            <a:off x="9482328" y="2743200"/>
            <a:ext cx="310896" cy="5486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27" name="Shape 25"/>
          <p:cNvSpPr/>
          <p:nvPr/>
        </p:nvSpPr>
        <p:spPr>
          <a:xfrm>
            <a:off x="9738360" y="1920240"/>
            <a:ext cx="2084832" cy="2286000"/>
          </a:xfrm>
          <a:prstGeom prst="roundRect">
            <a:avLst>
              <a:gd name="adj" fmla="val 4386"/>
            </a:avLst>
          </a:prstGeom>
          <a:solidFill>
            <a:srgbClr val="F2F5FB"/>
          </a:solidFill>
          <a:ln/>
        </p:spPr>
      </p:sp>
      <p:sp>
        <p:nvSpPr>
          <p:cNvPr id="28" name="Text 26"/>
          <p:cNvSpPr/>
          <p:nvPr/>
        </p:nvSpPr>
        <p:spPr>
          <a:xfrm>
            <a:off x="9829800" y="2148840"/>
            <a:ext cx="1901952" cy="914400"/>
          </a:xfrm>
          <a:prstGeom prst="rect">
            <a:avLst/>
          </a:prstGeom>
          <a:noFill/>
          <a:ln/>
        </p:spPr>
        <p:txBody>
          <a:bodyPr wrap="square" rtlCol="0" anchor="ctr"/>
          <a:lstStyle/>
          <a:p>
            <a:pPr algn="ctr" indent="0" marL="0">
              <a:lnSpc>
                <a:spcPct val="100000"/>
              </a:lnSpc>
              <a:buNone/>
            </a:pPr>
            <a:r>
              <a:rPr lang="en-US" sz="1350" b="1" dirty="0">
                <a:solidFill>
                  <a:srgbClr val="1E2761"/>
                </a:solidFill>
              </a:rPr>
              <a:t>Report and</a:t>
            </a:r>
            <a:endParaRPr lang="en-US" sz="1350" dirty="0"/>
          </a:p>
          <a:p>
            <a:pPr algn="ctr" indent="0" marL="0">
              <a:lnSpc>
                <a:spcPct val="100000"/>
              </a:lnSpc>
              <a:buNone/>
            </a:pPr>
            <a:r>
              <a:rPr lang="en-US" sz="1350" b="1" dirty="0">
                <a:solidFill>
                  <a:srgbClr val="1E2761"/>
                </a:solidFill>
              </a:rPr>
              <a:t>submission</a:t>
            </a:r>
            <a:endParaRPr lang="en-US" sz="1350" dirty="0"/>
          </a:p>
        </p:txBody>
      </p:sp>
      <p:sp>
        <p:nvSpPr>
          <p:cNvPr id="29" name="Text 27"/>
          <p:cNvSpPr/>
          <p:nvPr/>
        </p:nvSpPr>
        <p:spPr>
          <a:xfrm>
            <a:off x="9829800" y="3063240"/>
            <a:ext cx="1901952" cy="457200"/>
          </a:xfrm>
          <a:prstGeom prst="rect">
            <a:avLst/>
          </a:prstGeom>
          <a:noFill/>
          <a:ln/>
        </p:spPr>
        <p:txBody>
          <a:bodyPr wrap="square" rtlCol="0" anchor="ctr"/>
          <a:lstStyle/>
          <a:p>
            <a:pPr algn="ctr" indent="0" marL="0">
              <a:buNone/>
            </a:pPr>
            <a:r>
              <a:rPr lang="en-US" sz="1200" dirty="0">
                <a:solidFill>
                  <a:srgbClr val="5A6270"/>
                </a:solidFill>
              </a:rPr>
              <a:t>Weeks 30 to 32</a:t>
            </a:r>
            <a:endParaRPr lang="en-US" sz="1200" dirty="0"/>
          </a:p>
        </p:txBody>
      </p:sp>
      <p:sp>
        <p:nvSpPr>
          <p:cNvPr id="30" name="Shape 28"/>
          <p:cNvSpPr/>
          <p:nvPr/>
        </p:nvSpPr>
        <p:spPr>
          <a:xfrm>
            <a:off x="10323576" y="3611880"/>
            <a:ext cx="914400" cy="384048"/>
          </a:xfrm>
          <a:prstGeom prst="roundRect">
            <a:avLst>
              <a:gd name="adj" fmla="val 19048"/>
            </a:avLst>
          </a:prstGeom>
          <a:solidFill>
            <a:srgbClr val="1E2761"/>
          </a:solidFill>
          <a:ln/>
        </p:spPr>
      </p:sp>
      <p:sp>
        <p:nvSpPr>
          <p:cNvPr id="31" name="Text 29"/>
          <p:cNvSpPr/>
          <p:nvPr/>
        </p:nvSpPr>
        <p:spPr>
          <a:xfrm>
            <a:off x="10323576" y="3611880"/>
            <a:ext cx="914400" cy="384048"/>
          </a:xfrm>
          <a:prstGeom prst="rect">
            <a:avLst/>
          </a:prstGeom>
          <a:noFill/>
          <a:ln/>
        </p:spPr>
        <p:txBody>
          <a:bodyPr wrap="square" lIns="0" tIns="0" rIns="0" bIns="0" rtlCol="0" anchor="ctr"/>
          <a:lstStyle/>
          <a:p>
            <a:pPr algn="ctr" indent="0" marL="0">
              <a:buNone/>
            </a:pPr>
            <a:r>
              <a:rPr lang="en-US" sz="1100" b="1" dirty="0">
                <a:solidFill>
                  <a:srgbClr val="FFFFFF"/>
                </a:solidFill>
              </a:rPr>
              <a:t>Done</a:t>
            </a:r>
            <a:endParaRPr lang="en-US" sz="1100" dirty="0"/>
          </a:p>
        </p:txBody>
      </p:sp>
      <p:sp>
        <p:nvSpPr>
          <p:cNvPr id="32" name="Text 30"/>
          <p:cNvSpPr/>
          <p:nvPr/>
        </p:nvSpPr>
        <p:spPr>
          <a:xfrm>
            <a:off x="640080" y="489204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Delivered against the proposal's 32-week plan. Every phase is evidenced in the milestone tracker and commit history.</a:t>
            </a:r>
            <a:endParaRPr lang="en-US" sz="13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320040"/>
            <a:ext cx="11064240" cy="7315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l"/>
            <a:r>
              <a:rPr sz="3000" b="1">
                <a:solidFill>
                  <a:srgbClr val="1E2761"/>
                </a:solidFill>
                <a:latin typeface="Calibri"/>
              </a:rPr>
              <a:t>Mapping to the course learning outcomes</a:t>
            </a:r>
          </a:p>
        </p:txBody>
      </p:sp>
      <p:sp>
        <p:nvSpPr>
          <p:cNvPr id="3" name="Rectangle 2"/>
          <p:cNvSpPr/>
          <p:nvPr/>
        </p:nvSpPr>
        <p:spPr>
          <a:xfrm>
            <a:off x="640080" y="1234440"/>
            <a:ext cx="10881360" cy="868680"/>
          </a:xfrm>
          <a:prstGeom prst="rect">
            <a:avLst/>
          </a:prstGeom>
          <a:solidFill>
            <a:srgbClr val="F2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1234440"/>
            <a:ext cx="274320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l"/>
            <a:r>
              <a:rPr sz="1300" b="1">
                <a:solidFill>
                  <a:srgbClr val="1E2761"/>
                </a:solidFill>
                <a:latin typeface="Calibri"/>
              </a:rPr>
              <a:t>i.  Concepts, applications
     and challenges</a:t>
            </a:r>
          </a:p>
        </p:txBody>
      </p:sp>
      <p:sp>
        <p:nvSpPr>
          <p:cNvPr id="5" name="Rectangle 4"/>
          <p:cNvSpPr/>
          <p:nvPr/>
        </p:nvSpPr>
        <p:spPr>
          <a:xfrm>
            <a:off x="3611880" y="1234440"/>
            <a:ext cx="777240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l"/>
            <a:r>
              <a:rPr sz="1150" b="0">
                <a:solidFill>
                  <a:srgbClr val="333A45"/>
                </a:solidFill>
                <a:latin typeface="Calibri"/>
              </a:rPr>
              <a:t>Literature review covers outlier detection theory and the univariate versus multivariate trade-off. Challenges met and documented rather than asserted: masking under contamination, sensitivity to class imbalance, and feature validity testing.</a:t>
            </a:r>
          </a:p>
        </p:txBody>
      </p:sp>
      <p:sp>
        <p:nvSpPr>
          <p:cNvPr id="6" name="Rectangle 5"/>
          <p:cNvSpPr/>
          <p:nvPr/>
        </p:nvSpPr>
        <p:spPr>
          <a:xfrm>
            <a:off x="777240" y="2139696"/>
            <a:ext cx="274320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l"/>
            <a:r>
              <a:rPr sz="1300" b="1">
                <a:solidFill>
                  <a:srgbClr val="1E2761"/>
                </a:solidFill>
                <a:latin typeface="Calibri"/>
              </a:rPr>
              <a:t>ii.  Preprocess data</a:t>
            </a:r>
          </a:p>
        </p:txBody>
      </p:sp>
      <p:sp>
        <p:nvSpPr>
          <p:cNvPr id="7" name="Rectangle 6"/>
          <p:cNvSpPr/>
          <p:nvPr/>
        </p:nvSpPr>
        <p:spPr>
          <a:xfrm>
            <a:off x="3611880" y="2139696"/>
            <a:ext cx="777240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l"/>
            <a:r>
              <a:rPr sz="1150" b="0">
                <a:solidFill>
                  <a:srgbClr val="333A45"/>
                </a:solidFill>
                <a:latin typeface="Calibri"/>
              </a:rPr>
              <a:t>Two platform parsers reduce SurveyCTO and ODK audit logs to one common intermediate representation. Timestamp normalisation across epoch milliseconds and ISO 8601, administrative form rows excluded, ~12,000 raw events reduced to 500 interview-level feature vectors.</a:t>
            </a:r>
          </a:p>
        </p:txBody>
      </p:sp>
      <p:sp>
        <p:nvSpPr>
          <p:cNvPr id="8" name="Rectangle 7"/>
          <p:cNvSpPr/>
          <p:nvPr/>
        </p:nvSpPr>
        <p:spPr>
          <a:xfrm>
            <a:off x="640080" y="3044952"/>
            <a:ext cx="10881360" cy="868680"/>
          </a:xfrm>
          <a:prstGeom prst="rect">
            <a:avLst/>
          </a:prstGeom>
          <a:solidFill>
            <a:srgbClr val="F2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3044952"/>
            <a:ext cx="274320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l"/>
            <a:r>
              <a:rPr sz="1300" b="1">
                <a:solidFill>
                  <a:srgbClr val="1E2761"/>
                </a:solidFill>
                <a:latin typeface="Calibri"/>
              </a:rPr>
              <a:t>iii.  Implement algorithms</a:t>
            </a:r>
          </a:p>
        </p:txBody>
      </p:sp>
      <p:sp>
        <p:nvSpPr>
          <p:cNvPr id="10" name="Rectangle 9"/>
          <p:cNvSpPr/>
          <p:nvPr/>
        </p:nvSpPr>
        <p:spPr>
          <a:xfrm>
            <a:off x="3611880" y="3044952"/>
            <a:ext cx="777240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l"/>
            <a:r>
              <a:rPr sz="1150" b="0">
                <a:solidFill>
                  <a:srgbClr val="333A45"/>
                </a:solidFill>
                <a:latin typeface="Calibri"/>
              </a:rPr>
              <a:t>Unsupervised anomaly detection: Tukey IQR fences combined with rule logic, evaluated as binary classification. Mann-Whitney U with Cohen's d for feature validity across all 40 features. Clustering and association rules were outside the project scope.</a:t>
            </a:r>
          </a:p>
        </p:txBody>
      </p:sp>
      <p:sp>
        <p:nvSpPr>
          <p:cNvPr id="11" name="Rectangle 10"/>
          <p:cNvSpPr/>
          <p:nvPr/>
        </p:nvSpPr>
        <p:spPr>
          <a:xfrm>
            <a:off x="777240" y="3950208"/>
            <a:ext cx="274320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l"/>
            <a:r>
              <a:rPr sz="1300" b="1">
                <a:solidFill>
                  <a:srgbClr val="1E2761"/>
                </a:solidFill>
                <a:latin typeface="Calibri"/>
              </a:rPr>
              <a:t>v.  Evaluate models</a:t>
            </a:r>
          </a:p>
        </p:txBody>
      </p:sp>
      <p:sp>
        <p:nvSpPr>
          <p:cNvPr id="12" name="Rectangle 11"/>
          <p:cNvSpPr/>
          <p:nvPr/>
        </p:nvSpPr>
        <p:spPr>
          <a:xfrm>
            <a:off x="3611880" y="3950208"/>
            <a:ext cx="777240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l"/>
            <a:r>
              <a:rPr sz="1150" b="0">
                <a:solidFill>
                  <a:srgbClr val="333A45"/>
                </a:solidFill>
                <a:latin typeface="Calibri"/>
              </a:rPr>
              <a:t>Precision, recall, F1, accuracy and specificity against labelled ground truth. Two named baselines. Class imbalance sweep from 5 to 30 percent prevalence. Scalability measured from 500 to 10,000 interviews.</a:t>
            </a:r>
          </a:p>
        </p:txBody>
      </p:sp>
      <p:sp>
        <p:nvSpPr>
          <p:cNvPr id="13" name="Rectangle 12"/>
          <p:cNvSpPr/>
          <p:nvPr/>
        </p:nvSpPr>
        <p:spPr>
          <a:xfrm>
            <a:off x="640080" y="4855464"/>
            <a:ext cx="10881360" cy="868680"/>
          </a:xfrm>
          <a:prstGeom prst="rect">
            <a:avLst/>
          </a:prstGeom>
          <a:solidFill>
            <a:srgbClr val="F2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855464"/>
            <a:ext cx="274320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l"/>
            <a:r>
              <a:rPr sz="1300" b="1">
                <a:solidFill>
                  <a:srgbClr val="1E2761"/>
                </a:solidFill>
                <a:latin typeface="Calibri"/>
              </a:rPr>
              <a:t>vi.  Apply tools</a:t>
            </a:r>
          </a:p>
        </p:txBody>
      </p:sp>
      <p:sp>
        <p:nvSpPr>
          <p:cNvPr id="15" name="Rectangle 14"/>
          <p:cNvSpPr/>
          <p:nvPr/>
        </p:nvSpPr>
        <p:spPr>
          <a:xfrm>
            <a:off x="3611880" y="4855464"/>
            <a:ext cx="777240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l"/>
            <a:r>
              <a:rPr sz="1150" b="0">
                <a:solidFill>
                  <a:srgbClr val="333A45"/>
                </a:solidFill>
                <a:latin typeface="Calibri"/>
              </a:rPr>
              <a:t>Python throughout: pandas, NumPy, SciPy, statsmodels, scikit-learn, pytest, with continuous integration on two library versions. Weka and RapidMiner were not used.</a:t>
            </a:r>
          </a:p>
        </p:txBody>
      </p:sp>
      <p:sp>
        <p:nvSpPr>
          <p:cNvPr id="16" name="Rectangle 15"/>
          <p:cNvSpPr/>
          <p:nvPr/>
        </p:nvSpPr>
        <p:spPr>
          <a:xfrm>
            <a:off x="640080" y="5870448"/>
            <a:ext cx="1088136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l"/>
            <a:r>
              <a:rPr sz="1250" b="1">
                <a:solidFill>
                  <a:srgbClr val="B85042"/>
                </a:solidFill>
                <a:latin typeface="Calibri"/>
              </a:rPr>
              <a:t>Outcome iv is addressed in part: the parser pipeline is an ETL design, though no OLAP cube or star schema was built.  Outcome vii is covered on the ethics slide.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FFFFFF"/>
                </a:solidFill>
              </a:rPr>
              <a:t>Conclusion</a:t>
            </a:r>
            <a:endParaRPr lang="en-US" sz="3000" dirty="0"/>
          </a:p>
        </p:txBody>
      </p:sp>
      <p:sp>
        <p:nvSpPr>
          <p:cNvPr id="3" name="Text 1"/>
          <p:cNvSpPr/>
          <p:nvPr/>
        </p:nvSpPr>
        <p:spPr>
          <a:xfrm>
            <a:off x="822960" y="1417320"/>
            <a:ext cx="10515600" cy="822960"/>
          </a:xfrm>
          <a:prstGeom prst="rect">
            <a:avLst/>
          </a:prstGeom>
          <a:noFill/>
          <a:ln/>
        </p:spPr>
        <p:txBody>
          <a:bodyPr wrap="square" rtlCol="0" anchor="ctr"/>
          <a:lstStyle/>
          <a:p>
            <a:pPr indent="0" marL="0">
              <a:lnSpc>
                <a:spcPct val="110000"/>
              </a:lnSpc>
              <a:buNone/>
            </a:pPr>
            <a:r>
              <a:rPr lang="en-US" sz="1700" i="1" dirty="0">
                <a:solidFill>
                  <a:srgbClr val="CADCFC"/>
                </a:solidFill>
              </a:rPr>
              <a:t>All six objectives met. Timing-based paradata analysis is practical, transparent and materially better than duration-only checking.</a:t>
            </a:r>
            <a:endParaRPr lang="en-US" sz="1700" dirty="0"/>
          </a:p>
        </p:txBody>
      </p:sp>
      <p:sp>
        <p:nvSpPr>
          <p:cNvPr id="4" name="Shape 2"/>
          <p:cNvSpPr/>
          <p:nvPr/>
        </p:nvSpPr>
        <p:spPr>
          <a:xfrm>
            <a:off x="822960" y="2514600"/>
            <a:ext cx="5257800" cy="960120"/>
          </a:xfrm>
          <a:prstGeom prst="roundRect">
            <a:avLst>
              <a:gd name="adj" fmla="val 8571"/>
            </a:avLst>
          </a:prstGeom>
          <a:solidFill>
            <a:srgbClr val="2A3572"/>
          </a:solidFill>
          <a:ln/>
        </p:spPr>
      </p:sp>
      <p:sp>
        <p:nvSpPr>
          <p:cNvPr id="5" name="Text 3"/>
          <p:cNvSpPr/>
          <p:nvPr/>
        </p:nvSpPr>
        <p:spPr>
          <a:xfrm>
            <a:off x="1051560" y="2514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Python feature library: 40 documented features</a:t>
            </a:r>
            <a:endParaRPr lang="en-US" sz="1250" dirty="0"/>
          </a:p>
        </p:txBody>
      </p:sp>
      <p:sp>
        <p:nvSpPr>
          <p:cNvPr id="6" name="Shape 4"/>
          <p:cNvSpPr/>
          <p:nvPr/>
        </p:nvSpPr>
        <p:spPr>
          <a:xfrm>
            <a:off x="6355080" y="2514600"/>
            <a:ext cx="5257800" cy="960120"/>
          </a:xfrm>
          <a:prstGeom prst="roundRect">
            <a:avLst>
              <a:gd name="adj" fmla="val 8571"/>
            </a:avLst>
          </a:prstGeom>
          <a:solidFill>
            <a:srgbClr val="2A3572"/>
          </a:solidFill>
          <a:ln/>
        </p:spPr>
      </p:sp>
      <p:sp>
        <p:nvSpPr>
          <p:cNvPr id="7" name="Text 5"/>
          <p:cNvSpPr/>
          <p:nvPr/>
        </p:nvSpPr>
        <p:spPr>
          <a:xfrm>
            <a:off x="6583680" y="2514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Paradata format guide: SurveyCTO and ODK</a:t>
            </a:r>
            <a:endParaRPr lang="en-US" sz="1250" dirty="0"/>
          </a:p>
        </p:txBody>
      </p:sp>
      <p:sp>
        <p:nvSpPr>
          <p:cNvPr id="8" name="Shape 6"/>
          <p:cNvSpPr/>
          <p:nvPr/>
        </p:nvSpPr>
        <p:spPr>
          <a:xfrm>
            <a:off x="822960" y="3657600"/>
            <a:ext cx="5257800" cy="960120"/>
          </a:xfrm>
          <a:prstGeom prst="roundRect">
            <a:avLst>
              <a:gd name="adj" fmla="val 8571"/>
            </a:avLst>
          </a:prstGeom>
          <a:solidFill>
            <a:srgbClr val="2A3572"/>
          </a:solidFill>
          <a:ln/>
        </p:spPr>
      </p:sp>
      <p:sp>
        <p:nvSpPr>
          <p:cNvPr id="9" name="Text 7"/>
          <p:cNvSpPr/>
          <p:nvPr/>
        </p:nvSpPr>
        <p:spPr>
          <a:xfrm>
            <a:off x="1051560" y="3657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Labelled synthetic validation datasets (n=500 to 10,000, both formats)</a:t>
            </a:r>
            <a:endParaRPr lang="en-US" sz="1250" dirty="0"/>
          </a:p>
        </p:txBody>
      </p:sp>
      <p:sp>
        <p:nvSpPr>
          <p:cNvPr id="10" name="Shape 8"/>
          <p:cNvSpPr/>
          <p:nvPr/>
        </p:nvSpPr>
        <p:spPr>
          <a:xfrm>
            <a:off x="6355080" y="3657600"/>
            <a:ext cx="5257800" cy="960120"/>
          </a:xfrm>
          <a:prstGeom prst="roundRect">
            <a:avLst>
              <a:gd name="adj" fmla="val 8571"/>
            </a:avLst>
          </a:prstGeom>
          <a:solidFill>
            <a:srgbClr val="2A3572"/>
          </a:solidFill>
          <a:ln/>
        </p:spPr>
      </p:sp>
      <p:sp>
        <p:nvSpPr>
          <p:cNvPr id="11" name="Text 9"/>
          <p:cNvSpPr/>
          <p:nvPr/>
        </p:nvSpPr>
        <p:spPr>
          <a:xfrm>
            <a:off x="6583680" y="3657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Validation report: precision 0.96 to 1.00, recall 0.84 to 1.00 on held-out seeds</a:t>
            </a:r>
            <a:endParaRPr lang="en-US" sz="1250" dirty="0"/>
          </a:p>
        </p:txBody>
      </p:sp>
      <p:sp>
        <p:nvSpPr>
          <p:cNvPr id="12" name="Shape 10"/>
          <p:cNvSpPr/>
          <p:nvPr/>
        </p:nvSpPr>
        <p:spPr>
          <a:xfrm>
            <a:off x="822960" y="4800600"/>
            <a:ext cx="5257800" cy="960120"/>
          </a:xfrm>
          <a:prstGeom prst="roundRect">
            <a:avLst>
              <a:gd name="adj" fmla="val 8571"/>
            </a:avLst>
          </a:prstGeom>
          <a:solidFill>
            <a:srgbClr val="2A3572"/>
          </a:solidFill>
          <a:ln/>
        </p:spPr>
      </p:sp>
      <p:sp>
        <p:nvSpPr>
          <p:cNvPr id="13" name="Text 11"/>
          <p:cNvSpPr/>
          <p:nvPr/>
        </p:nvSpPr>
        <p:spPr>
          <a:xfrm>
            <a:off x="1051560" y="4800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Final paper (within the 5,000 to 7,000 word requirement) and this presentation</a:t>
            </a:r>
            <a:endParaRPr lang="en-US" sz="1250" dirty="0"/>
          </a:p>
        </p:txBody>
      </p:sp>
      <p:sp>
        <p:nvSpPr>
          <p:cNvPr id="14" name="Shape 12"/>
          <p:cNvSpPr/>
          <p:nvPr/>
        </p:nvSpPr>
        <p:spPr>
          <a:xfrm>
            <a:off x="6355080" y="4800600"/>
            <a:ext cx="5257800" cy="960120"/>
          </a:xfrm>
          <a:prstGeom prst="roundRect">
            <a:avLst>
              <a:gd name="adj" fmla="val 8571"/>
            </a:avLst>
          </a:prstGeom>
          <a:solidFill>
            <a:srgbClr val="2A3572"/>
          </a:solidFill>
          <a:ln/>
        </p:spPr>
      </p:sp>
      <p:sp>
        <p:nvSpPr>
          <p:cNvPr id="15" name="Text 13"/>
          <p:cNvSpPr/>
          <p:nvPr/>
        </p:nvSpPr>
        <p:spPr>
          <a:xfrm>
            <a:off x="6583680" y="4800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Structured outputs: feature datasets, anomaly reports, statistical summaries, charts</a:t>
            </a:r>
            <a:endParaRPr lang="en-US" sz="1250" dirty="0"/>
          </a:p>
        </p:txBody>
      </p:sp>
      <p:sp>
        <p:nvSpPr>
          <p:cNvPr id="16" name="Text 14"/>
          <p:cNvSpPr/>
          <p:nvPr/>
        </p:nvSpPr>
        <p:spPr>
          <a:xfrm>
            <a:off x="822960" y="6126480"/>
            <a:ext cx="10515600" cy="457200"/>
          </a:xfrm>
          <a:prstGeom prst="rect">
            <a:avLst/>
          </a:prstGeom>
          <a:noFill/>
          <a:ln/>
        </p:spPr>
        <p:txBody>
          <a:bodyPr wrap="square" rtlCol="0" anchor="ctr"/>
          <a:lstStyle/>
          <a:p>
            <a:pPr algn="ctr" indent="0" marL="0">
              <a:buNone/>
            </a:pPr>
            <a:r>
              <a:rPr lang="en-US" sz="1300" dirty="0">
                <a:solidFill>
                  <a:srgbClr val="CADCFC"/>
                </a:solidFill>
              </a:rPr>
              <a:t>Repository: github.com/Samuelkaoma-eng/SKACE-TIME-DATA</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Key references</a:t>
            </a:r>
            <a:endParaRPr lang="en-US" sz="3000" dirty="0"/>
          </a:p>
        </p:txBody>
      </p:sp>
      <p:sp>
        <p:nvSpPr>
          <p:cNvPr id="3" name="Text 1"/>
          <p:cNvSpPr/>
          <p:nvPr/>
        </p:nvSpPr>
        <p:spPr>
          <a:xfrm>
            <a:off x="640080" y="1325880"/>
            <a:ext cx="5303520" cy="4937760"/>
          </a:xfrm>
          <a:prstGeom prst="rect">
            <a:avLst/>
          </a:prstGeom>
          <a:noFill/>
          <a:ln/>
        </p:spPr>
        <p:txBody>
          <a:bodyPr wrap="square" rtlCol="0" anchor="ctr"/>
          <a:lstStyle/>
          <a:p>
            <a:pPr indent="0" marL="0">
              <a:lnSpc>
                <a:spcPct val="108000"/>
              </a:lnSpc>
              <a:spcAft>
                <a:spcPts val="900"/>
              </a:spcAft>
              <a:buNone/>
            </a:pPr>
            <a:r>
              <a:rPr lang="en-US" sz="1100" dirty="0">
                <a:solidFill>
                  <a:srgbClr val="1A1A2E"/>
                </a:solidFill>
              </a:rPr>
              <a:t>Chandola, V., Banerjee, A. and Kumar, V. (2009) 'Anomaly detection: a survey', ACM Computing Surveys, 41(3).</a:t>
            </a:r>
            <a:endParaRPr lang="en-US" sz="1100" dirty="0"/>
          </a:p>
          <a:p>
            <a:pPr indent="0" marL="0">
              <a:lnSpc>
                <a:spcPct val="108000"/>
              </a:lnSpc>
              <a:spcAft>
                <a:spcPts val="900"/>
              </a:spcAft>
              <a:buNone/>
            </a:pPr>
            <a:r>
              <a:rPr lang="en-US" sz="1100" dirty="0">
                <a:solidFill>
                  <a:srgbClr val="1A1A2E"/>
                </a:solidFill>
              </a:rPr>
              <a:t>Chawla, N.V. et al. (2002) 'SMOTE: synthetic minority over-sampling technique', Journal of Artificial Intelligence Research, 16.</a:t>
            </a:r>
            <a:endParaRPr lang="en-US" sz="1100" dirty="0"/>
          </a:p>
          <a:p>
            <a:pPr indent="0" marL="0">
              <a:lnSpc>
                <a:spcPct val="108000"/>
              </a:lnSpc>
              <a:spcAft>
                <a:spcPts val="900"/>
              </a:spcAft>
              <a:buNone/>
            </a:pPr>
            <a:r>
              <a:rPr lang="en-US" sz="1100" dirty="0">
                <a:solidFill>
                  <a:srgbClr val="1A1A2E"/>
                </a:solidFill>
              </a:rPr>
              <a:t>Conrad, F.G., Tourangeau, R. and Couper, M.P. (2013) 'Adaptive survey design and paradata', Journal of Official Statistics, 29(2).</a:t>
            </a:r>
            <a:endParaRPr lang="en-US" sz="1100" dirty="0"/>
          </a:p>
          <a:p>
            <a:pPr indent="0" marL="0">
              <a:lnSpc>
                <a:spcPct val="108000"/>
              </a:lnSpc>
              <a:spcAft>
                <a:spcPts val="900"/>
              </a:spcAft>
              <a:buNone/>
            </a:pPr>
            <a:r>
              <a:rPr lang="en-US" sz="1100" dirty="0">
                <a:solidFill>
                  <a:srgbClr val="1A1A2E"/>
                </a:solidFill>
              </a:rPr>
              <a:t>Couper, M.P. (1998) 'Measuring survey quality in a CASIC environment', Proc. Survey Research Methods Section, ASA.</a:t>
            </a:r>
            <a:endParaRPr lang="en-US" sz="1100" dirty="0"/>
          </a:p>
          <a:p>
            <a:pPr indent="0" marL="0">
              <a:lnSpc>
                <a:spcPct val="108000"/>
              </a:lnSpc>
              <a:spcAft>
                <a:spcPts val="900"/>
              </a:spcAft>
              <a:buNone/>
            </a:pPr>
            <a:r>
              <a:rPr lang="en-US" sz="1100" dirty="0">
                <a:solidFill>
                  <a:srgbClr val="1A1A2E"/>
                </a:solidFill>
              </a:rPr>
              <a:t>Groves, R.M. et al. (2009) Survey Methodology. 2nd edn. Hoboken, NJ: Wiley.</a:t>
            </a:r>
            <a:endParaRPr lang="en-US" sz="1100" dirty="0"/>
          </a:p>
          <a:p>
            <a:pPr indent="0" marL="0">
              <a:lnSpc>
                <a:spcPct val="108000"/>
              </a:lnSpc>
              <a:spcAft>
                <a:spcPts val="900"/>
              </a:spcAft>
              <a:buNone/>
            </a:pPr>
            <a:r>
              <a:rPr lang="en-US" sz="1100" dirty="0">
                <a:solidFill>
                  <a:srgbClr val="1A1A2E"/>
                </a:solidFill>
              </a:rPr>
              <a:t>Iglewicz, B. and Hoaglin, D.C. (1993) How to Detect and Handle Outliers. Milwaukee, WI: ASQ Quality Press.</a:t>
            </a:r>
            <a:endParaRPr lang="en-US" sz="1100" dirty="0"/>
          </a:p>
        </p:txBody>
      </p:sp>
      <p:sp>
        <p:nvSpPr>
          <p:cNvPr id="4" name="Text 2"/>
          <p:cNvSpPr/>
          <p:nvPr/>
        </p:nvSpPr>
        <p:spPr>
          <a:xfrm>
            <a:off x="6263640" y="1325880"/>
            <a:ext cx="5303520" cy="4937760"/>
          </a:xfrm>
          <a:prstGeom prst="rect">
            <a:avLst/>
          </a:prstGeom>
          <a:noFill/>
          <a:ln/>
        </p:spPr>
        <p:txBody>
          <a:bodyPr wrap="square" rtlCol="0" anchor="ctr"/>
          <a:lstStyle/>
          <a:p>
            <a:pPr indent="0" marL="0">
              <a:lnSpc>
                <a:spcPct val="108000"/>
              </a:lnSpc>
              <a:spcAft>
                <a:spcPts val="900"/>
              </a:spcAft>
              <a:buNone/>
            </a:pPr>
            <a:r>
              <a:rPr lang="en-US" sz="1100" dirty="0">
                <a:solidFill>
                  <a:srgbClr val="1A1A2E"/>
                </a:solidFill>
              </a:rPr>
              <a:t>Japkowicz, N. and Stephen, S. (2002) 'The class imbalance problem: a systematic study', Intelligent Data Analysis, 6(5).</a:t>
            </a:r>
            <a:endParaRPr lang="en-US" sz="1100" dirty="0"/>
          </a:p>
          <a:p>
            <a:pPr indent="0" marL="0">
              <a:lnSpc>
                <a:spcPct val="108000"/>
              </a:lnSpc>
              <a:spcAft>
                <a:spcPts val="900"/>
              </a:spcAft>
              <a:buNone/>
            </a:pPr>
            <a:r>
              <a:rPr lang="en-US" sz="1100" dirty="0">
                <a:solidFill>
                  <a:srgbClr val="1A1A2E"/>
                </a:solidFill>
              </a:rPr>
              <a:t>Kreuter, F. (ed.) (2013) Improving Surveys with Paradata. Hoboken, NJ: Wiley.</a:t>
            </a:r>
            <a:endParaRPr lang="en-US" sz="1100" dirty="0"/>
          </a:p>
          <a:p>
            <a:pPr indent="0" marL="0">
              <a:lnSpc>
                <a:spcPct val="108000"/>
              </a:lnSpc>
              <a:spcAft>
                <a:spcPts val="900"/>
              </a:spcAft>
              <a:buNone/>
            </a:pPr>
            <a:r>
              <a:rPr lang="en-US" sz="1100" dirty="0">
                <a:solidFill>
                  <a:srgbClr val="1A1A2E"/>
                </a:solidFill>
              </a:rPr>
              <a:t>Krosnick, J.A. (1991) 'Response strategies for coping with the cognitive demands of attitude measures', Applied Cognitive Psychology, 5(3).</a:t>
            </a:r>
            <a:endParaRPr lang="en-US" sz="1100" dirty="0"/>
          </a:p>
          <a:p>
            <a:pPr indent="0" marL="0">
              <a:lnSpc>
                <a:spcPct val="108000"/>
              </a:lnSpc>
              <a:spcAft>
                <a:spcPts val="900"/>
              </a:spcAft>
              <a:buNone/>
            </a:pPr>
            <a:r>
              <a:rPr lang="en-US" sz="1100" dirty="0">
                <a:solidFill>
                  <a:srgbClr val="1A1A2E"/>
                </a:solidFill>
              </a:rPr>
              <a:t>McKinney, W. (2017) Python for Data Analysis. 2nd edn. Sebastopol, CA: O'Reilly.</a:t>
            </a:r>
            <a:endParaRPr lang="en-US" sz="1100" dirty="0"/>
          </a:p>
          <a:p>
            <a:pPr indent="0" marL="0">
              <a:lnSpc>
                <a:spcPct val="108000"/>
              </a:lnSpc>
              <a:spcAft>
                <a:spcPts val="900"/>
              </a:spcAft>
              <a:buNone/>
            </a:pPr>
            <a:r>
              <a:rPr lang="en-US" sz="1100" dirty="0">
                <a:solidFill>
                  <a:srgbClr val="1A1A2E"/>
                </a:solidFill>
              </a:rPr>
              <a:t>Wenz, M., Kreuter, F. and Janke, S. (2019) 'An investigation of data fabrication using paradata', Survey Research Methods, 13(1).</a:t>
            </a:r>
            <a:endParaRPr lang="en-US" sz="1100" dirty="0"/>
          </a:p>
          <a:p>
            <a:pPr indent="0" marL="0">
              <a:lnSpc>
                <a:spcPct val="108000"/>
              </a:lnSpc>
              <a:spcAft>
                <a:spcPts val="900"/>
              </a:spcAft>
              <a:buNone/>
            </a:pPr>
            <a:r>
              <a:rPr lang="en-US" sz="1100" dirty="0">
                <a:solidFill>
                  <a:srgbClr val="1A1A2E"/>
                </a:solidFill>
              </a:rPr>
              <a:t>Yan, T. and Tourangeau, R. (2008) 'Fast times and easy questions', Applied Cognitive Psychology, 22(1).</a:t>
            </a:r>
            <a:endParaRPr lang="en-US" sz="1100" dirty="0"/>
          </a:p>
        </p:txBody>
      </p:sp>
      <p:sp>
        <p:nvSpPr>
          <p:cNvPr id="5" name="Text 3"/>
          <p:cNvSpPr/>
          <p:nvPr/>
        </p:nvSpPr>
        <p:spPr>
          <a:xfrm>
            <a:off x="640080" y="6309360"/>
            <a:ext cx="10881360" cy="365760"/>
          </a:xfrm>
          <a:prstGeom prst="rect">
            <a:avLst/>
          </a:prstGeom>
          <a:noFill/>
          <a:ln/>
        </p:spPr>
        <p:txBody>
          <a:bodyPr wrap="square" rtlCol="0" anchor="ctr"/>
          <a:lstStyle/>
          <a:p>
            <a:pPr algn="ctr" indent="0" marL="0">
              <a:buNone/>
            </a:pPr>
            <a:r>
              <a:rPr lang="en-US" sz="1150" i="1" dirty="0">
                <a:solidFill>
                  <a:srgbClr val="5A6270"/>
                </a:solidFill>
              </a:rPr>
              <a:t>Full reference list in the final report (Harvard style).</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The University of Zambia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Automated Extraction and Analysis of Timing-Based Paradata Features for Survey Quality Assurance</dc:title>
  <dc:subject>CSC 4004 Final Year Project</dc:subject>
  <dc:creator>Samuel Kaoma</dc:creator>
  <cp:lastModifiedBy>Samuel Kaoma</cp:lastModifiedBy>
  <cp:revision>1</cp:revision>
  <dcterms:created xsi:type="dcterms:W3CDTF">2026-07-15T08:45:52Z</dcterms:created>
  <dcterms:modified xsi:type="dcterms:W3CDTF">2026-07-15T08:45:52Z</dcterms:modified>
</cp:coreProperties>
</file>