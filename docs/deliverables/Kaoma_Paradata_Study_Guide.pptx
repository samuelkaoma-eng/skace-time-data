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7" r:id="rId58"/>
    <p:sldId id="308" r:id="rId59"/>
    <p:sldId id="257" r:id="rId3"/>
    <p:sldId id="258" r:id="rId4"/>
    <p:sldId id="259" r:id="rId5"/>
    <p:sldId id="260" r:id="rId6"/>
    <p:sldId id="261" r:id="rId7"/>
    <p:sldId id="309" r:id="rId60"/>
    <p:sldId id="310" r:id="rId61"/>
    <p:sldId id="262" r:id="rId8"/>
    <p:sldId id="263" r:id="rId9"/>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264" r:id="rId10"/>
    <p:sldId id="265" r:id="rId11"/>
    <p:sldId id="266" r:id="rId12"/>
    <p:sldId id="267" r:id="rId13"/>
    <p:sldId id="268" r:id="rId14"/>
    <p:sldId id="269" r:id="rId15"/>
    <p:sldId id="319" r:id="rId70"/>
    <p:sldId id="320" r:id="rId71"/>
    <p:sldId id="321" r:id="rId72"/>
    <p:sldId id="322" r:id="rId73"/>
    <p:sldId id="323" r:id="rId74"/>
    <p:sldId id="324" r:id="rId75"/>
    <p:sldId id="325" r:id="rId76"/>
    <p:sldId id="326" r:id="rId77"/>
    <p:sldId id="327" r:id="rId78"/>
    <p:sldId id="270" r:id="rId16"/>
    <p:sldId id="311" r:id="rId62"/>
    <p:sldId id="312" r:id="rId63"/>
    <p:sldId id="313" r:id="rId64"/>
    <p:sldId id="271" r:id="rId17"/>
    <p:sldId id="272" r:id="rId18"/>
    <p:sldId id="314" r:id="rId65"/>
    <p:sldId id="273" r:id="rId19"/>
    <p:sldId id="315" r:id="rId66"/>
    <p:sldId id="274" r:id="rId20"/>
    <p:sldId id="301" r:id="rId52"/>
    <p:sldId id="275" r:id="rId21"/>
    <p:sldId id="276" r:id="rId22"/>
    <p:sldId id="277" r:id="rId23"/>
    <p:sldId id="278" r:id="rId24"/>
    <p:sldId id="279" r:id="rId25"/>
    <p:sldId id="280" r:id="rId26"/>
    <p:sldId id="316" r:id="rId67"/>
    <p:sldId id="281" r:id="rId27"/>
    <p:sldId id="282" r:id="rId28"/>
    <p:sldId id="283" r:id="rId29"/>
    <p:sldId id="284" r:id="rId30"/>
    <p:sldId id="285" r:id="rId31"/>
    <p:sldId id="286" r:id="rId32"/>
    <p:sldId id="317" r:id="rId68"/>
    <p:sldId id="318" r:id="rId69"/>
    <p:sldId id="302" r:id="rId53"/>
    <p:sldId id="303" r:id="rId54"/>
    <p:sldId id="304" r:id="rId55"/>
    <p:sldId id="305" r:id="rId56"/>
    <p:sldId id="306" r:id="rId57"/>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27.xml"/><Relationship Id="rId11" Type="http://schemas.openxmlformats.org/officeDocument/2006/relationships/slide" Target="slides/slide28.xml"/><Relationship Id="rId12" Type="http://schemas.openxmlformats.org/officeDocument/2006/relationships/slide" Target="slides/slide29.xml"/><Relationship Id="rId13" Type="http://schemas.openxmlformats.org/officeDocument/2006/relationships/slide" Target="slides/slide30.xml"/><Relationship Id="rId14" Type="http://schemas.openxmlformats.org/officeDocument/2006/relationships/slide" Target="slides/slide31.xml"/><Relationship Id="rId15" Type="http://schemas.openxmlformats.org/officeDocument/2006/relationships/slide" Target="slides/slide32.xml"/><Relationship Id="rId16" Type="http://schemas.openxmlformats.org/officeDocument/2006/relationships/slide" Target="slides/slide33.xml"/><Relationship Id="rId17" Type="http://schemas.openxmlformats.org/officeDocument/2006/relationships/slide" Target="slides/slide37.xml"/><Relationship Id="rId18" Type="http://schemas.openxmlformats.org/officeDocument/2006/relationships/slide" Target="slides/slide38.xml"/><Relationship Id="rId19" Type="http://schemas.openxmlformats.org/officeDocument/2006/relationships/slide" Target="slides/slide40.xml"/><Relationship Id="rId20" Type="http://schemas.openxmlformats.org/officeDocument/2006/relationships/slide" Target="slides/slide42.xml"/><Relationship Id="rId21" Type="http://schemas.openxmlformats.org/officeDocument/2006/relationships/slide" Target="slides/slide44.xml"/><Relationship Id="rId22" Type="http://schemas.openxmlformats.org/officeDocument/2006/relationships/slide" Target="slides/slide45.xml"/><Relationship Id="rId23" Type="http://schemas.openxmlformats.org/officeDocument/2006/relationships/slide" Target="slides/slide46.xml"/><Relationship Id="rId24" Type="http://schemas.openxmlformats.org/officeDocument/2006/relationships/slide" Target="slides/slide47.xml"/><Relationship Id="rId25" Type="http://schemas.openxmlformats.org/officeDocument/2006/relationships/slide" Target="slides/slide48.xml"/><Relationship Id="rId26" Type="http://schemas.openxmlformats.org/officeDocument/2006/relationships/slide" Target="slides/slide49.xml"/><Relationship Id="rId27" Type="http://schemas.openxmlformats.org/officeDocument/2006/relationships/slide" Target="slides/slide51.xml"/><Relationship Id="rId28" Type="http://schemas.openxmlformats.org/officeDocument/2006/relationships/slide" Target="slides/slide52.xml"/><Relationship Id="rId29" Type="http://schemas.openxmlformats.org/officeDocument/2006/relationships/slide" Target="slides/slide53.xml"/><Relationship Id="rId30" Type="http://schemas.openxmlformats.org/officeDocument/2006/relationships/slide" Target="slides/slide54.xml"/><Relationship Id="rId31" Type="http://schemas.openxmlformats.org/officeDocument/2006/relationships/slide" Target="slides/slide55.xml"/><Relationship Id="rId32" Type="http://schemas.openxmlformats.org/officeDocument/2006/relationships/slide" Target="slides/slide56.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43.xml"/><Relationship Id="rId53" Type="http://schemas.openxmlformats.org/officeDocument/2006/relationships/slide" Target="slides/slide59.xml"/><Relationship Id="rId54" Type="http://schemas.openxmlformats.org/officeDocument/2006/relationships/slide" Target="slides/slide60.xml"/><Relationship Id="rId55" Type="http://schemas.openxmlformats.org/officeDocument/2006/relationships/slide" Target="slides/slide61.xml"/><Relationship Id="rId56" Type="http://schemas.openxmlformats.org/officeDocument/2006/relationships/slide" Target="slides/slide62.xml"/><Relationship Id="rId57" Type="http://schemas.openxmlformats.org/officeDocument/2006/relationships/slide" Target="slides/slide63.xml"/><Relationship Id="rId58" Type="http://schemas.openxmlformats.org/officeDocument/2006/relationships/slide" Target="slides/slide2.xml"/><Relationship Id="rId59" Type="http://schemas.openxmlformats.org/officeDocument/2006/relationships/slide" Target="slides/slide3.xml"/><Relationship Id="rId60" Type="http://schemas.openxmlformats.org/officeDocument/2006/relationships/slide" Target="slides/slide9.xml"/><Relationship Id="rId61" Type="http://schemas.openxmlformats.org/officeDocument/2006/relationships/slide" Target="slides/slide10.xml"/><Relationship Id="rId62" Type="http://schemas.openxmlformats.org/officeDocument/2006/relationships/slide" Target="slides/slide34.xml"/><Relationship Id="rId63" Type="http://schemas.openxmlformats.org/officeDocument/2006/relationships/slide" Target="slides/slide35.xml"/><Relationship Id="rId64" Type="http://schemas.openxmlformats.org/officeDocument/2006/relationships/slide" Target="slides/slide36.xml"/><Relationship Id="rId65" Type="http://schemas.openxmlformats.org/officeDocument/2006/relationships/slide" Target="slides/slide39.xml"/><Relationship Id="rId66" Type="http://schemas.openxmlformats.org/officeDocument/2006/relationships/slide" Target="slides/slide41.xml"/><Relationship Id="rId67" Type="http://schemas.openxmlformats.org/officeDocument/2006/relationships/slide" Target="slides/slide50.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Normal, INT-00002</c:v>
                </c:pt>
              </c:strCache>
            </c:strRef>
          </c:tx>
          <c:spPr>
            <a:ln w="25400">
              <a:solidFill>
                <a:srgbClr val="0F766E"/>
              </a:solidFill>
            </a:ln>
          </c:spPr>
          <c:marker>
            <c:symbol val="circle"/>
            <c:size val="5"/>
            <c:spPr>
              <a:solidFill>
                <a:srgbClr val="0F766E"/>
              </a:solidFill>
              <a:ln>
                <a:solidFill>
                  <a:srgbClr val="0F766E"/>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2.69</c:v>
                </c:pt>
                <c:pt idx="1">
                  <c:v>5.98</c:v>
                </c:pt>
                <c:pt idx="2">
                  <c:v>5.72</c:v>
                </c:pt>
                <c:pt idx="3">
                  <c:v>6.43</c:v>
                </c:pt>
                <c:pt idx="4">
                  <c:v>6.08</c:v>
                </c:pt>
                <c:pt idx="5">
                  <c:v>2.52</c:v>
                </c:pt>
                <c:pt idx="6">
                  <c:v>7.81</c:v>
                </c:pt>
                <c:pt idx="7">
                  <c:v>6.95</c:v>
                </c:pt>
                <c:pt idx="8">
                  <c:v>15.64</c:v>
                </c:pt>
                <c:pt idx="9">
                  <c:v>15.91</c:v>
                </c:pt>
                <c:pt idx="10">
                  <c:v>10.71</c:v>
                </c:pt>
                <c:pt idx="11">
                  <c:v>15.79</c:v>
                </c:pt>
                <c:pt idx="12">
                  <c:v>8.97</c:v>
                </c:pt>
                <c:pt idx="13">
                  <c:v>11.99</c:v>
                </c:pt>
                <c:pt idx="14">
                  <c:v>5.06</c:v>
                </c:pt>
                <c:pt idx="15">
                  <c:v>7.68</c:v>
                </c:pt>
                <c:pt idx="16">
                  <c:v>7.06</c:v>
                </c:pt>
                <c:pt idx="17">
                  <c:v>10.25</c:v>
                </c:pt>
                <c:pt idx="18">
                  <c:v>4.93</c:v>
                </c:pt>
                <c:pt idx="19">
                  <c:v>9.34</c:v>
                </c:pt>
              </c:numCache>
            </c:numRef>
          </c:val>
          <c:smooth val="0"/>
        </c:ser>
        <c:ser>
          <c:idx val="1"/>
          <c:order val="1"/>
          <c:tx>
            <c:strRef>
              <c:f>Sheet1!$C$1</c:f>
              <c:strCache>
                <c:ptCount val="1"/>
                <c:pt idx="0">
                  <c:v>Disengaged, INT-00001</c:v>
                </c:pt>
              </c:strCache>
            </c:strRef>
          </c:tx>
          <c:spPr>
            <a:ln w="25400">
              <a:solidFill>
                <a:srgbClr val="6B7785"/>
              </a:solidFill>
            </a:ln>
          </c:spPr>
          <c:marker>
            <c:symbol val="circle"/>
            <c:size val="5"/>
            <c:spPr>
              <a:solidFill>
                <a:srgbClr val="6B7785"/>
              </a:solidFill>
              <a:ln>
                <a:solidFill>
                  <a:srgbClr val="6B7785"/>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5.88</c:v>
                </c:pt>
                <c:pt idx="1">
                  <c:v>6.12</c:v>
                </c:pt>
                <c:pt idx="2">
                  <c:v>5.68</c:v>
                </c:pt>
                <c:pt idx="3">
                  <c:v>6.29</c:v>
                </c:pt>
                <c:pt idx="4">
                  <c:v>6.07</c:v>
                </c:pt>
                <c:pt idx="5">
                  <c:v>6.17</c:v>
                </c:pt>
                <c:pt idx="6">
                  <c:v>5.88</c:v>
                </c:pt>
                <c:pt idx="7">
                  <c:v>6.16</c:v>
                </c:pt>
                <c:pt idx="8">
                  <c:v>6.21</c:v>
                </c:pt>
                <c:pt idx="9">
                  <c:v>6.05</c:v>
                </c:pt>
                <c:pt idx="10">
                  <c:v>6.05</c:v>
                </c:pt>
                <c:pt idx="11">
                  <c:v>6.05</c:v>
                </c:pt>
                <c:pt idx="12">
                  <c:v>5.83</c:v>
                </c:pt>
                <c:pt idx="13">
                  <c:v>5.97</c:v>
                </c:pt>
                <c:pt idx="14">
                  <c:v>5.97</c:v>
                </c:pt>
                <c:pt idx="15">
                  <c:v>6.08</c:v>
                </c:pt>
                <c:pt idx="16">
                  <c:v>6.2</c:v>
                </c:pt>
                <c:pt idx="17">
                  <c:v>5.79</c:v>
                </c:pt>
                <c:pt idx="18">
                  <c:v>5.97</c:v>
                </c:pt>
                <c:pt idx="19">
                  <c:v>6.3</c:v>
                </c:pt>
              </c:numCache>
            </c:numRef>
          </c:val>
          <c:smooth val="0"/>
        </c:ser>
        <c:ser>
          <c:idx val="2"/>
          <c:order val="2"/>
          <c:tx>
            <c:strRef>
              <c:f>Sheet1!$D$1</c:f>
              <c:strCache>
                <c:ptCount val="1"/>
                <c:pt idx="0">
                  <c:v>Fabricated, INT-00008</c:v>
                </c:pt>
              </c:strCache>
            </c:strRef>
          </c:tx>
          <c:spPr>
            <a:ln w="25400">
              <a:solidFill>
                <a:srgbClr val="B45309"/>
              </a:solidFill>
            </a:ln>
          </c:spPr>
          <c:marker>
            <c:symbol val="circle"/>
            <c:size val="5"/>
            <c:spPr>
              <a:solidFill>
                <a:srgbClr val="B45309"/>
              </a:solidFill>
              <a:ln>
                <a:solidFill>
                  <a:srgbClr val="B45309"/>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1.2</c:v>
                </c:pt>
                <c:pt idx="1">
                  <c:v>1.22</c:v>
                </c:pt>
                <c:pt idx="2">
                  <c:v>1.15</c:v>
                </c:pt>
                <c:pt idx="3">
                  <c:v>1.24</c:v>
                </c:pt>
                <c:pt idx="4">
                  <c:v>1.16</c:v>
                </c:pt>
                <c:pt idx="5">
                  <c:v>1.17</c:v>
                </c:pt>
                <c:pt idx="6">
                  <c:v>1.31</c:v>
                </c:pt>
                <c:pt idx="7">
                  <c:v>1.12</c:v>
                </c:pt>
                <c:pt idx="8">
                  <c:v>1.01</c:v>
                </c:pt>
                <c:pt idx="9">
                  <c:v>1.33</c:v>
                </c:pt>
                <c:pt idx="10">
                  <c:v>1.4</c:v>
                </c:pt>
                <c:pt idx="11">
                  <c:v>1.17</c:v>
                </c:pt>
                <c:pt idx="12">
                  <c:v>1.04</c:v>
                </c:pt>
                <c:pt idx="13">
                  <c:v>1.18</c:v>
                </c:pt>
                <c:pt idx="14">
                  <c:v>1.18</c:v>
                </c:pt>
                <c:pt idx="15">
                  <c:v>1.18</c:v>
                </c:pt>
                <c:pt idx="16">
                  <c:v>1.11</c:v>
                </c:pt>
                <c:pt idx="17">
                  <c:v>1.25</c:v>
                </c:pt>
                <c:pt idx="18">
                  <c:v>1.24</c:v>
                </c:pt>
                <c:pt idx="19">
                  <c:v>1.08</c:v>
                </c:pt>
              </c:numCache>
            </c:numRef>
          </c:val>
          <c:smooth val="0"/>
        </c:ser>
        <c:ser>
          <c:idx val="3"/>
          <c:order val="3"/>
          <c:tx>
            <c:strRef>
              <c:f>Sheet1!$E$1</c:f>
              <c:strCache>
                <c:ptCount val="1"/>
                <c:pt idx="0">
                  <c:v>Speeding, INT-00013</c:v>
                </c:pt>
              </c:strCache>
            </c:strRef>
          </c:tx>
          <c:spPr>
            <a:ln w="25400">
              <a:solidFill>
                <a:srgbClr val="7C3AED"/>
              </a:solidFill>
            </a:ln>
          </c:spPr>
          <c:marker>
            <c:symbol val="circle"/>
            <c:size val="5"/>
            <c:spPr>
              <a:solidFill>
                <a:srgbClr val="7C3AED"/>
              </a:solidFill>
              <a:ln>
                <a:solidFill>
                  <a:srgbClr val="7C3AED"/>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Sheet1!$E$2:$E$21</c:f>
              <c:numCache>
                <c:formatCode>General</c:formatCode>
                <c:ptCount val="20"/>
                <c:pt idx="0">
                  <c:v>0.79</c:v>
                </c:pt>
                <c:pt idx="1">
                  <c:v>0.29</c:v>
                </c:pt>
                <c:pt idx="2">
                  <c:v>0.45</c:v>
                </c:pt>
                <c:pt idx="3">
                  <c:v>0.75</c:v>
                </c:pt>
                <c:pt idx="4">
                  <c:v>0.51</c:v>
                </c:pt>
                <c:pt idx="5">
                  <c:v>0.77</c:v>
                </c:pt>
                <c:pt idx="6">
                  <c:v>0.21</c:v>
                </c:pt>
                <c:pt idx="7">
                  <c:v>0.22</c:v>
                </c:pt>
                <c:pt idx="8">
                  <c:v>0.68</c:v>
                </c:pt>
                <c:pt idx="9">
                  <c:v>0.41</c:v>
                </c:pt>
                <c:pt idx="10">
                  <c:v>0.51</c:v>
                </c:pt>
                <c:pt idx="11">
                  <c:v>0.46</c:v>
                </c:pt>
                <c:pt idx="12">
                  <c:v>0.44</c:v>
                </c:pt>
                <c:pt idx="13">
                  <c:v>0.76</c:v>
                </c:pt>
                <c:pt idx="14">
                  <c:v>0.26</c:v>
                </c:pt>
                <c:pt idx="15">
                  <c:v>0.66</c:v>
                </c:pt>
                <c:pt idx="16">
                  <c:v>0.73</c:v>
                </c:pt>
                <c:pt idx="17">
                  <c:v>0.59</c:v>
                </c:pt>
                <c:pt idx="18">
                  <c:v>0.44</c:v>
                </c:pt>
                <c:pt idx="19">
                  <c:v>0.3</c:v>
                </c:pt>
              </c:numCache>
            </c:numRef>
          </c:val>
          <c:smooth val="0"/>
        </c:ser>
        <c:marker val="1"/>
        <c:smooth val="0"/>
        <c:axId val="2118791784"/>
        <c:axId val="2140495176"/>
      </c:lineChart>
      <c:catAx>
        <c:axId val="2118791784"/>
        <c:scaling>
          <c:orientation val="minMax"/>
        </c:scaling>
        <c:delete val="0"/>
        <c:axPos val="b"/>
        <c:title>
          <c:tx>
            <c:rich>
              <a:bodyPr/>
              <a:lstStyle/>
              <a:p>
                <a:r>
                  <a:rPr sz="1050"/>
                  <a:t>Question, in instrument order (1–4 demographics … 9–12 health … 17–20 nutrition)</a:t>
                </a:r>
              </a:p>
            </c:rich>
          </c:tx>
          <c:layout/>
          <c:overlay val="0"/>
        </c:title>
        <c:majorTickMark val="out"/>
        <c:minorTickMark val="none"/>
        <c:tickLblPos val="nextTo"/>
        <c:spPr>
          <a:ln>
            <a:solidFill>
              <a:srgbClr val="D6DEE5"/>
            </a:solidFill>
          </a:ln>
        </c:spPr>
        <c:txPr>
          <a:bodyPr/>
          <a:lstStyle/>
          <a:p>
            <a:pPr>
              <a:defRPr sz="1000">
                <a:solidFill>
                  <a:srgbClr val="6B7785"/>
                </a:solidFill>
              </a:defRPr>
            </a:pPr>
          </a:p>
        </c:txPr>
        <c:crossAx val="2140495176"/>
        <c:crosses val="autoZero"/>
        <c:auto val="1"/>
        <c:lblAlgn val="ctr"/>
        <c:lblOffset val="100"/>
        <c:noMultiLvlLbl val="0"/>
      </c:catAx>
      <c:valAx>
        <c:axId val="2140495176"/>
        <c:scaling/>
        <c:delete val="0"/>
        <c:axPos val="l"/>
        <c:majorGridlines>
          <c:spPr>
            <a:ln>
              <a:solidFill>
                <a:srgbClr val="D6DEE5"/>
              </a:solidFill>
            </a:ln>
          </c:spPr>
        </c:majorGridlines>
        <c:title>
          <c:tx>
            <c:rich>
              <a:bodyPr/>
              <a:lstStyle/>
              <a:p>
                <a:r>
                  <a:rPr sz="1050"/>
                  <a:t>Response time, seconds</a:t>
                </a:r>
              </a:p>
            </c:rich>
          </c:tx>
          <c:layout/>
          <c:overlay val="0"/>
        </c:title>
        <c:majorTickMark val="out"/>
        <c:minorTickMark val="none"/>
        <c:tickLblPos val="nextTo"/>
        <c:spPr>
          <a:ln>
            <a:noFill/>
          </a:ln>
        </c:spPr>
        <c:txPr>
          <a:bodyPr/>
          <a:lstStyle/>
          <a:p>
            <a:pPr>
              <a:defRPr sz="1000">
                <a:solidFill>
                  <a:srgbClr val="6B7785"/>
                </a:solidFill>
              </a:defRPr>
            </a:pPr>
          </a:p>
        </c:txPr>
        <c:crossAx val="2118791784"/>
        <c:crosses val="autoZero"/>
      </c:valAx>
    </c:plotArea>
    <c:legend>
      <c:legendPos val="t"/>
      <c:layout/>
      <c:overlay val="0"/>
      <c:txPr>
        <a:bodyPr/>
        <a:lstStyle/>
        <a:p>
          <a:pPr>
            <a:defRPr sz="1050">
              <a:solidFill>
                <a:srgbClr val="1F2933"/>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takes the audit logs that SurveyCTO and ODK already write for every interview, and turns them into an automated check on survey data quality. Everything I report today is reproducible from the repository, and each figure names the file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starting point is that the data already exists. What is missing is tooling. And the check people do run, total duration, misses a third of the anomalies in my benchmark.</a:t>
            </a:r>
          </a:p>
          <a:p/>
          <a:p>
            <a:r>
              <a:t>STUDY NOTE: The core claim of the project in one number. A duration-only check, which is what field teams mostly run, recovers 66 of the 100 anomalies on the n500 benchmark. The 34 it misses are the disengaged interviews, whose total duration is normal. Under stress it recovers none of 400. Learn this slide cold.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six objectives as written in the proposal, unchanged. Five are met in full. The second, format-aware parsers, is met for the two synthetic layouts the evaluation ran on and only in part for the platforms' native exports: ODK's documented audit log is parsed and tested, SurveyCTO's native text audit is not yet. I say so rather than round it up.</a:t>
            </a:r>
          </a:p>
          <a:p/>
          <a:p>
            <a:r>
              <a:t>STUDY NOTE: Know the six objectives by number, because the conclusion scores them. Objective 2, format-aware parsers, is met only in part: the evaluation used synthetic layouts, ODK's documented native log is parsed and tested, SurveyCTO's native text audit is not.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row ends in a design decision. Two references in my first submission could not be located, Wenz et al. and Conrad et al. 2013, and they are withdrawn; the rows that rested on them now rest on Birnbaum et al. and Schwanhäuser et al., which I have read. Every reference was checked for existence and for whether it supports the claim it is cited for, and Appendix E records how far each was read.</a:t>
            </a:r>
          </a:p>
          <a:p/>
          <a:p>
            <a:r>
              <a:t>STUDY NOTE: Each source maps to a design decision. If asked about a source, say what it found and what it decided here. Do not cite Yan and Tourangeau for 'fast answers mean low quality': they explicitly do not study that (p. 56, p. 65).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supervisor asked me to make the contribution claim explicit. These are the four, and the fourth is the one I would defend hardest: the evaluation was built to expose weakness, not to flatter the system.</a:t>
            </a:r>
          </a:p>
          <a:p/>
          <a:p>
            <a:r>
              <a:t>STUDY NOTE: Four contributions: the six-column representation, the documented feature library, the like-for-like baseline comparison, and an evaluation designed to fail. Be ready to say which you think is strongest and why.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Figure 1 in the report. The key claim is the contract at layer 2. I test that claim by running both formats through and comparing.</a:t>
            </a:r>
          </a:p>
          <a:p/>
          <a:p>
            <a:r>
              <a:t>STUDY NOTE: Five layers: ingestion, parsing, feature extraction, validation, reporting. The only contract is the six-column representation between parsing and features. The parity result, identical features from both formats on the same history, tests that contract.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taxonomy was fixed at proposal stage and did not move. The coverage table is generated from the code, so it cannot drift.</a:t>
            </a:r>
          </a:p>
          <a:p/>
          <a:p>
            <a:r>
              <a:t>STUDY NOTE: The taxonomy overview. The deep-dive slides that follow in Part 3 give the formula for every feature.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design constraint that mattered most was explainability. A flag is an accusation about a person's work, so a supervisor must be able to see exactly which rules fired and check them.</a:t>
            </a:r>
          </a:p>
          <a:p/>
          <a:p>
            <a:r>
              <a:t>STUDY NOTE: The detector in outline. Two mechanisms, statistical fences and rule flags, combined into a count. Part 3 works one interview through every flag.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the thing working rather than describe it. This is one command against two raw exports, one from each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two parsers being selected automatically. The operator does not have to know or declare which platform a file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stress this because the feature library stands on its own. A survey team that disagrees with my thresholds can still use these forty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of data quality issues from behavioural anomalies matters in the field: a broken tablet should not put an enumerator under suspicion.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from the demonstration, this is it. Explainability was a design constraint, not a nice-to-have, and this is what it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explicit that this canonical run is easy by design. It is a contract test. The stress results later are where the real claim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part I would most want to be judged on. Perfect early scores were a signal the evaluation was wrong, and rebuilding it produced lower numbers that are actually defensible.</a:t>
            </a:r>
          </a:p>
          <a:p/>
          <a:p>
            <a:r>
              <a:t>STUDY NOTE: Three safeguards against a flattering evaluation: remove settings that mirror the generator, use held-out seeds, and add a stress difficulty. The prevalence sweep was later extended to 90 percent, which is where the method's limit appeared.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Bonferroni is the adjustment, which my supervisor asked me to state. Entropy is the standout, and the fact that it separates completely is what makes the later diagnosis possible.</a:t>
            </a:r>
          </a:p>
          <a:p/>
          <a:p>
            <a:r>
              <a:t>STUDY NOTE: Read with the statistics slide in Part 5. Thirty of forty features separate the classes after Bonferroni adjustment. Eight are constant on synthetic data. Entropy has rank-biserial 1.00: no overlap at all.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project's central claim, and it is measured rather than asserted, because all three methods run inside the same audited script.</a:t>
            </a:r>
          </a:p>
          <a:p/>
          <a:p>
            <a:r>
              <a:t>STUDY NOTE: The central result. The same raw files, features and labels go through all three methods in one script, so the comparison has no manual step. The V-10 rule was relabelled from 'zero back-navigation baseline' because it is one of the detector's own rules.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Nobody asked me for this breakdown. I think it is the most important slide in the deck, because it reports that the component my own proposal emphasised contributes least. If I will say that about my own method, the rest of my numbers are worth more.</a:t>
            </a:r>
          </a:p>
          <a:p/>
          <a:p>
            <a:r>
              <a:t>STUDY NOTE: The component breakdown. Rules alone: precision 0.9988, recall 0.9319. Fences alone: 0.6628, 0.6162. Combined: 0.9920, 0.9416. The fences add nine true positives and six false positives. Be honest that the statistical layer is the weaker half.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capacity is the scarce resource in the settings this is aimed at, so I treat the low-prevalence precision as an operational result rather than a metric artefact. This sweep stops at thirty percent. The next slide extends it to ninety, which is where the method's limit shows.</a:t>
            </a:r>
          </a:p>
          <a:p/>
          <a:p>
            <a:r>
              <a:t>STUDY NOTE: Low prevalence costs precision: one false positive among 25 anomalies is four points. The next slide extends this sweep.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Seeds 7 and 99 were generated after the detector was frozen. The stress generator deliberately blurs the line between genuine and fabricated.</a:t>
            </a:r>
          </a:p>
          <a:p/>
          <a:p>
            <a:r>
              <a:t>STUDY NOTE: The headline held-out numbers. Precision 0.9570 to 1.0000, recall 0.84 to 0.89 under stress. All above the 0.80 and 0.75 targets.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report the weakest class prominently rather than burying it, because locating where a method fails is more useful than an aggregate that hides it.</a:t>
            </a:r>
          </a:p>
          <a:p/>
          <a:p>
            <a:r>
              <a:t>STUDY NOTE: Per-class recall under stress: speeding 132 of 132, disengaged 121 of 136, fabricated 93 of 132. These are breakdowns of one detector, not separate targets.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distinction on this slide is the one I most want to get across. The univariate limit is real and I state it as a limitation. But this particular shortfall is not an instance of it, because a single feature separates the missed cases perfectly.</a:t>
            </a:r>
          </a:p>
          <a:p/>
          <a:p>
            <a:r>
              <a:t>STUDY NOTE: The diagnostic: missed fabrications are separable on entropy (highest fabricated 1.983 against lowest genuine 2.039 on development seeds). The misses are calibration, not a lack of signal.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did not decline to fix this because it was hard. I fixed it, measured it once on held-out data, and the measurement said it costs more than it earns in the condition that matters, low prevalence. So it ships switched off, as one configuration key, and I report both numbers. Two corrections to what I first wrote: the upper half of the distribution is less contaminated, not uncontaminated, and the fence does not reduce to Tukey's; under symmetry it equals a Tukey fence with multiplier 1.0.</a:t>
            </a:r>
          </a:p>
          <a:p/>
          <a:p>
            <a:r>
              <a:t>STUDY NOTE: Why the fix is off by default: at low prevalence it adds false accusations and no detection. Know the two numbers, 0.70 to 1.00 and 0.9570 to 0.8333, and the correction to the Tukey claim.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supervisor caught that two different runs give 19.05 and 18.04. Rather than pick one silently I name the source run, print its raw times, and disclose the other.</a:t>
            </a:r>
          </a:p>
          <a:p/>
          <a:p>
            <a:r>
              <a:t>STUDY NOTE: Scale: 500 to 10,000 interviews took 56.12 s to 1,068.87 s, factor 19.05, near linear. The factor varies between runs and machines; the constant cost per interview, about 0.11 s here, is the stable result. Memory grows about 34 KiB per interview.</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 of the figures I have shown require you to trust me. Each names a file, each file regenerates from a documented command, and Appendix D runs end to end from a clean environment built from the pin file. My supervisor ran it on a different Python and pandas and the robustness round reproduced exactly.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supervisor's standard is that the AI usage disclosure is a report appendix, not a file in a repository. It is now Appendix A, expanded with prompt summaries, data categories and explicit accept, modify or reject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platform asymmetry I once reported here is gone: when the same interviews are written in both formats, every feature and every decision is identical. In its place is the limitation that matters most for deployment, the prevalence envelope. Validation against real field paradata with verified outcomes remains the most important extension.</a:t>
            </a:r>
          </a:p>
          <a:p/>
          <a:p>
            <a:r>
              <a:t>STUDY NOTE: The limitations an examiner will probe. The first three are about the evidence; the batch-minority assumption is about the method.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here maps to a tag and a set of commits in the evidence index, so any claim on this slide can be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iv is the one I address only in part, and I say so rather than stretching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there is one thing to take from this, it is that I would rather report where the method is weak than show you only the aggregate that hides it: fabricated recall of 0.70 under stress, and a detector that needs anomalies to be a minority of the batch.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 references withdrawn after verification, Wenz et al. (2019) and Conrad et al. (2013), no longer appear anywhere.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live demonstration, I want to walk one interview through the whole system so that nothing in the results is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benchmark is generated, not collected, and I want to be precise about how. The instrument has twenty questions in five sections, each with a fixed complexity weight, so a genuine respondent is slower on the health recall items than on demographics. Each profile is a distribution: normal interviews are log-normal around eight seconds scaled by complexity; fabricated ones are tightly clustered around 1.2 seconds regardless of the question; speeders answer in under a second; disengaged interviews are slow, uniform and full of back-navigation. The labels come from the plan, so they are known exactly. The limitation, which I state in section 8, is that the same person wrote the generator and the detector.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profiles look like as data. The normal interview in teal climbs in the health questions, nine to twelve, because those items carry the highest complexity weights. The fabricated interview in amber is flat at about 1.2 seconds whatever the question, and the speeder is flat below one second. The disengaged interview is slow but just as flat. Flatness is what entropy and the coefficient of variation measure. The canonical profiles are cleanly separated on purpose; the stress difficulty on the right is where the profiles overlap and where the reported numbers come from.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literally the first rows of the file. Each interview opens with a form-start row with no question name, then one row per question answered. The jump row is a back-navigation: this interviewer went back after question three. I want to be clear that this is the layout my generator writes. SurveyCTO's real text audit is either a per-field summary in seconds or, with the eventlog appearance, an event log in milliseconds, and my parser does not read it yet. That is why objective 2 is only partly met.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interviews, different platform. Everything that could differ does: column names, timestamp format, event vocabulary. Note the timestamps are text here, which is where the pandas 3 defect lived: converting these strings to milliseconds silently gave durations a thousand times too small until I replaced the integer cast with timedelta arithmetic and added a regression test. The ODK and SurveyCTO rows for INT-00001 are not the same interview history in this pack; the matched-history comparison is Table 6b.</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ground truth is written from the same plan that generated the interviews, so it is exact. It is only ever read after the detector has scored every interview. The evaluation join is strict one to one: if an interview is missing or duplicated on either side the run fails rather than quietly computing metrics on a subset.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contract between parsing and everything else. Both parsers produce exactly these six columns. Constraint events keep their platform names, constraint and constraint error, and the question features match both. From here on no code knows which platform the data came from, which is how I can show later that the same interviews give identical features in both formats.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Question-level features are computed per field from the parsed rows. The important design choice is Q-01: it sums event durations and excludes navigation markers, so a back-navigation does not inflate time on a question. That was one of the defects I fixed: Q-01 was first implemented as a first-to-last span, identical to Q-10. Two features are proxies because the logs do not contain keystrokes or answers, and I document both rather than overclaim them.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features capture rhythm inside a block of related questions. The example on the right is a genuine interview: pace almost triples in the health section, because those are recall-heavy items. That variation is what a fabricator does not reproduce. Two honest caveats: S-09 matches back or backward, while the generator only emits jump, so it is zero throughout this corpus; and S-04 averages to one by construction when sections are the same size.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Survey-level features describe the interview as a whole. V-09 is special: it compares each interview with the median of the batch, so it cannot be computed one interview at a time. The same idea runs through the detector's thresholds. It is deliberate, because what counts as fast depends on the questionnaire, and it follows Goel et al.'s dynamic benchmarking. But it means the median must come from a mostly genuine batch, which is the limitation I come back to in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statistical family describes the distribution of one interview's response times. Entropy is the one to understand: binning into fixed one-second bins means identical behaviour gives identical entropy in both formats, whatever the timestamp precision. A fabricator who paces every question the same lands in one bin and scores zero. The coefficient of variation is scale-free, so it catches a uniformly slow fabricator as well as a uniformly fast one.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real rows side by side. Read across a row: the fabricated and speeding interviews are short, but so could a genuine fast respondent be. Read down a column: the fabricated interview is extreme on almost everything, the disengaged one only on variation and navigation. That is why detection counts flags across families rather than thresholding any one feature. The disengaged interview was expected to be suspicious and scored anomalous; both count as detected.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detector on one slide. Each flag is a named rule on a named feature. The conditional flags fire only once a compression flag has fired, so a genuinely fast respondent is not also penalised for low spread. The four Tukey fences share one point because they measure the same underlying pacing. The cut-off of two means no single rule can send an interviewer for review on its own; five needs agreement across duration, distribution and navigation.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writes all of these. The feature dataset is a deliverable in its own right: a survey team that never uses my detector still gets forty documented features per interview. The anomaly report is what a supervisor reads. The evaluation files only exist in evaluation, when labels are supplied, and the next slides show them from a live run.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supervisor ran the same interviews at rising prevalence and found recall falling to 0.40 and precision to 0.72. I reproduced it with a committed script, eighty runs from five to ninety percent. Both criteria hold up to fifty percent in every condition. Beyond that the thresholds are estimated from a batch that is mostly anomalous. Fabrication degrades earlier, from about thirty percent. The case this matters for is an enumerator who fabricates their whole caseload: analysed alone, it is almost all anomalous and largely undetectable. So the detector must run on batches pooled across enumerators. Removing the assumption would need thresholds from a verified reference set, which I have not built.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for the question session.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Why rules and fences, not machine learning?</a:t>
            </a:r>
          </a:p>
          <a:p>
            <a:r>
              <a:t>A: There is no labelled field data to train on, and a flag accuses a named enumerator, so every point must be explainable. No labelled field data exists for these platforms, and a flag leads to a conversation with a named enumerator, so the score has to be a list of reasons. A supervised model is the stronger design once labels exist, as Birnbaum et al. (2013) show with 96 percent accuracy on experimentally labelled data; section 7 compares the two.</a:t>
            </a:r>
          </a:p>
          <a:p/>
          <a:p>
            <a:r>
              <a:t>Q: Why a count, with cut-offs 2 and 5?</a:t>
            </a:r>
          </a:p>
          <a:p>
            <a:r>
              <a:t>A: A count makes every point a named reason. Two stops any single rule triggering review; five needs agreement across families. Section 3.4 and Table 1a. In the canonical suite every genuine interview scored at most one, so two sits above genuine behaviour. Five typically needs duration, distributional shape and navigation to agree.</a:t>
            </a:r>
          </a:p>
          <a:p/>
          <a:p>
            <a:r>
              <a:t>Q: Why cap the four fences at one point?</a:t>
            </a:r>
          </a:p>
          <a:p>
            <a:r>
              <a:t>A: Duration, mean time, entropy and variance share one underlying pacing; uncapped, one behaviour could score four. Section 3.4. The component breakdown in section 6.3 also shows the rules carry most of the detection: rules alone reach precision 0.9988 and recall 0.9319, fences alone 0.6628 and 0.6162.</a:t>
            </a:r>
          </a:p>
          <a:p/>
          <a:p>
            <a:r>
              <a:t>Q: Why median-relative thresholds?</a:t>
            </a:r>
          </a:p>
          <a:p>
            <a:r>
              <a:t>A: What counts as fast depends on the instrument. Relative thresholds adapt, as in Goel et al.'s dynamic benchmarking. Goel et al. (2022, abstract and p. 4). The cost is the prevalence envelope: relative thresholds need a mostly genuine batch. Say this before the examiner does.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You wrote the generator and the detector. Isn't that circular?</a:t>
            </a:r>
          </a:p>
          <a:p>
            <a:r>
              <a:t>A: Partly, and section 8 says so. Held-out seeds, stress overlap and removing generator-mirroring settings limit it. The evaluation measures the detector against a documented threat model, not the full range of real behaviour. Mitigations: settings that mirrored the generator were removed before the final round, reported runs use seeds 7 and 99 never used in development, and the stress difficulty overlaps genuine and anomalous profiles. The real answer is back-checked field data, which is the first item of future work.</a:t>
            </a:r>
          </a:p>
          <a:p/>
          <a:p>
            <a:r>
              <a:t>Q: Early runs scored 1.00. Why distrust that?</a:t>
            </a:r>
          </a:p>
          <a:p>
            <a:r>
              <a:t>A: The profiles were too cleanly separated and the detector was partly tuned to the generator. A perfect score meant an easy test. Section 7 and the reflection in 9.1. The evaluation was rebuilt to fail: held-out seeds, overlapping profiles, a prevalence sweep and a component breakdown that reports the weaker half of the detector.</a:t>
            </a:r>
          </a:p>
          <a:p/>
          <a:p>
            <a:r>
              <a:t>Q: Do SurveyCTO and ODK results differ?</a:t>
            </a:r>
          </a:p>
          <a:p>
            <a:r>
              <a:t>A: Not once the same interviews are written in both: all forty features and every decision are identical (Table 6b). The earlier apparent asymmetry came from the two files holding different generated interviews. scripts/run_platform_parity.py writes one history into both formats; the parser is not the cause.</a:t>
            </a:r>
          </a:p>
          <a:p/>
          <a:p>
            <a:r>
              <a:t>Q: What does the baseline comparison show?</a:t>
            </a:r>
          </a:p>
          <a:p>
            <a:r>
              <a:t>A: Duration-only checking finds 66 of 100 anomalies on the canonical benchmark and none of 400 under stress. Table 3 and Table 6a. The full detector finds all 100 on the canonical benchmark and 84 to 89 percent under stress. A V-10 rule baseline, a run of 20 events without back-navigation, finds 35 to 51 percent under stress at precision below 0.22.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What if an enumerator fabricates their whole caseload?</a:t>
            </a:r>
          </a:p>
          <a:p>
            <a:r>
              <a:t>A: Analysed alone, that batch is almost all anomalous and detection collapses. Criteria hold only up to 50 percent prevalence. Section 6.4, Table 5a and Figure 3; section 8. Pooling across enumerators keeps one caseload a minority, but fails if a whole team fabricates. Thresholds from a verified reference set, for example back-checked interviews from earlier rounds, would remove the assumption; it is future work.</a:t>
            </a:r>
          </a:p>
          <a:p/>
          <a:p>
            <a:r>
              <a:t>Q: Why did your sweep first stop at 30 percent?</a:t>
            </a:r>
          </a:p>
          <a:p>
            <a:r>
              <a:t>A: Real fabrication rates are low, so I tested low prevalence. That missed the concentrated case, which is now measured to 90. Answer directly: it was a gap, it was pointed out, and the envelope is now measured and stated. A stated limit with a figure behind it is stronger than a silent one.</a:t>
            </a:r>
          </a:p>
          <a:p/>
          <a:p>
            <a:r>
              <a:t>Q: Why is fabricated recall only 0.70 under stress?</a:t>
            </a:r>
          </a:p>
          <a:p>
            <a:r>
              <a:t>A: Mild fabrications clear median-relative thresholds by narrow margins. Entropy separates them with no overlap: calibration, not signal. Section 6.6 and the diagnostic in docs/fabricated_detection_diagnostic.md: highest fabricated entropy 1.983 against lowest genuine 2.039 on development seeds. The worked example INT-00009 clears each flag by under five percent.</a:t>
            </a:r>
          </a:p>
          <a:p/>
          <a:p>
            <a:r>
              <a:t>Q: You built a fix. Why is it off by default?</a:t>
            </a:r>
          </a:p>
          <a:p>
            <a:r>
              <a:t>A: It lifts fabricated recall to 1.00 but drops the lowest precision to 0.83, at low prevalence where real surveys are. Section 7. At five percent prevalence it adds four false accusations and no extra detection. It ships as entropy_fence_scale, unset by default. It also does not reduce to Tukey's fence as I first wrote: under symmetry it equals a multiplier of 1.0.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Two references could not be found. What did you do?</a:t>
            </a:r>
          </a:p>
          <a:p>
            <a:r>
              <a:t>A: Withdrew them, checked every reference against its source, and recorded how far each was read (Appendix E). Seventeen feature justifications rested on the two lost references and were rebuilt; Appendix F now shows 23 of 40 features with a named source and 17 as design choices. A recheck against the full texts corrected several paraphrases and page numbers.</a:t>
            </a:r>
          </a:p>
          <a:p/>
          <a:p>
            <a:r>
              <a:t>Q: What was the hardest bug?</a:t>
            </a:r>
          </a:p>
          <a:p>
            <a:r>
              <a:t>A: pandas 3 moved datetimes to microseconds, so ODK durations came out 1,000 times too small, silently. Found in a clean-environment audit, fixed with timedelta arithmetic, and covered by a regression test. Also fixed: Q-01 had been a first-to-last span identical to Q-10, not the sum of event durations the documentation describes.</a:t>
            </a:r>
          </a:p>
          <a:p/>
          <a:p>
            <a:r>
              <a:t>Q: How can an examiner reproduce your numbers?</a:t>
            </a:r>
          </a:p>
          <a:p>
            <a:r>
              <a:t>A: Appendix D, from tag v-final-release, in a fresh environment from requirements-validated.txt. An independent run on a different Python and pandas reproduced the robustness round exactly. The pin file now includes the two packages the Word and PDF rebuild needs, so every step of Appendix D runs.</a:t>
            </a:r>
          </a:p>
          <a:p/>
          <a:p>
            <a:r>
              <a:t>Q: How did you use AI, and what is yours?</a:t>
            </a:r>
          </a:p>
          <a:p>
            <a:r>
              <a:t>A: Appendix A logs every episode. The design, taxonomy, method and every judgement are mine; no number was taken on trust. Claude was used for code review, drafting and reference checking; every output was verified against a file or a source before it was used, and the log records what was accepted, modified or rejected, including a correction I declined to make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for learning the system, not presenting it. Work through it in order the first time. Each slide states facts taken from the repository or the report; the notes explain what they mean and why the design is the way it is. The separate presentation deck is the one to use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here. The platforms already record a timestamp for every event in an interview. Nobody usually looks at it beyond total duration. The three behaviours the project targets each leave a different timing pattern: fabricators are fast and uniform, speeders are implausibly fast, disengaged interviewers are slow, flat and erratic. The key idea to hold on to is that a real respondent's pace varies with the question, and the anomalies do not.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this map before the viva, because examiners often ask where something is implemented. The pipeline code is under src and is small: two parsers, four feature modules, one detector. The generator lives under tests because it began as a test fixture. Everything the evaluation claims is regenerated by a script in scripts, and its output is committed under output.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examiner asks you to show it working, these are the commands. Parser selection is automatic unless you pass --parser. The label becomes part of every output file name. Detector thresholds can be changed with --detector-config pointing at a JSON file, which is also how the entropy fence is switched on: {"anomaly_detector": {"entropy_fence_scale": 3.0}}.</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held-out seed is the synthetic equivalent of a test set: the detector's settings were fixed before any data from those seeds was generated, so it cannot have been tuned to them. When you quote a number, know which dataset it came from. The headline precision 0.96 to 1.00 and recall 0.84 to 1.00 is across the robustness round; stress recall alone is 0.84 to 0.89.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results rests on these two ratios, so be able to derive them. Precision asks: when the system points at an interview, how often is it right? Recall asks: of the interviews that are really anomalous, how many does it catch? In this setting precision protects enumerators from false accusations and recall protects the data. The proposal committed to precision at least 0.80 and recall at least 0.75 for the combined detector.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validity asks a different question from detection: does this feature, on its own, differ between genuine and anomalous interviews? The test is rank-based because timing data is skewed. Two measures of size matter: Cohen's d says how far apart the means are, the rank-biserial says how much the groups overlap. Eight features are constant on synthetic data, so the test is silent on them, not negative. Remember that separation on one feature does not mean the detector uses it well: see the fabrication diagnostic.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example through once by hand and you understand the statistical layer. Sort the 500 total durations; the first quartile is 153.3 seconds and the third 194.1, so the interquartile range is 40.8. One and a half of those below the first quartile is 92.2 seconds; 66 interviews fall below it, and those 66 are exactly the speeders and fabricators. The disengaged ones are slow but not short, so duration cannot see them. That is the whole argument for looking inside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idea for the viva. Every adaptive threshold in the detector is computed from the batch it is judging. That is good, because what counts as fast depends on the questionnaire. It is also the weakness: the anomalies are part of the batch, so they shift the threshold. At low prevalence the shift is small. Under stress, mild fabrications sit close to the genuine interviews and the shifted threshold misses them. Above half, the median is itself anomalous and the method fails outright.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examiner doubts a number, the answer is always the same: it is in a file under output, and Appendix D gives the command that regenerates it. The tags pin the exact commit for each milestone. The final release fixed the one gap the supervisor found: the pin file lacked the two packages the Word and PDF rebuild imports.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able to define each of these in one sentence without notes. Audit log / text audit: the platform's timestamped record of every event in an interview. Paradata: data about the process of an interview rather than its answers. Common intermediate representation: the six columns both parsers produce. Epoch milliseconds: time as milliseconds since 1 January 1970 UTC. Curbstoning: an interviewer fabricating an interview; the fabrication profile. Satisficing: answering with minimum effort rather than optimally (Krosnick). Canonical / stress: clean, separated profiles / deliberately overlapping ones. Held-out seed: a random seed never used while the detector was being built. Prevalence: the share of anomalous interviews in a batch.</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able to define each of these in one sentence without notes. Quartiles, IQR: the 25th and 75th percentiles; the distance between them. Tukey fence: Q1 − 1.5 IQR and Q3 + 1.5 IQR; values outside are flagged. Masking: outliers distorting the statistic meant to detect them. Shannon entropy: unpredictability of the response-time distribution, in bits. Coefficient of variation: standard deviation divided by mean; scale-free spread. Precision / recall: share of flags that are right / share of anomalies caught. Cohen's d / rank-biserial: size of a difference / degree of overlap between groups. Bonferroni: multiplying p-values by the number of tests. Prevalence envelope: the range of prevalence in which both targets hold: up to 50%.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runs from a terminal. I also put the same pipeline output behind a web page, so that a supervisor, an examiner or I can see the whole system in one place: the input data, the method, the results and the charts, for the same batch. STUDY NOTE: the site is a demonstration of the operating procedure in section 7 of the report. It is not a deployed survey system, and you should say so before anyone asks. The next eight slides give you what you need: what the site is, the pages one by one, how it is built and hosted, what it is not, and the questions you may get.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thing the site opens on. On the left is the queue, sorted by what to look at first: flagged, then review, then data quality, then clean. On the right is the selected interview: what to do with it, then each rule that fired, with the interview's value next to the batch median. The four tiles at the top are the batch summary. The cards above them are the batches, which stand for uploads received from the field. STUDY NOTE: I rebuilt the page around the supervisor's question, 'which interviews do I check and why', after the first version led with precision and recall, which only make sense when you have labels. A field team has none. The labels are used only on the Validation page. For ODK401 the page lists the same six flags as slide 31: low mean response time, never went back, same time on every question, uniform pacing, compressed spread, flat within sections.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question 'what does the input data actually look like'. The page shows the raw rows of one interview exactly as exported, then explains each column. You can change the interview and the batch. Below this section the page counts the events in the batch, then puts SurveyCTO and ODK side by side: interview id, question, timestamps, duration and event names all differ. STUDY NOTE: be ready to say what these files are. They are the layouts the generator writes and the pipeline was evaluated on. They follow the structure of the platforms' audit logs but they are not native exports. The format guide states this at the top. ODK's native audit.csv is also detected and parsed, verified against a log built from the documentation, not a real export. SurveyCTO's native text audit is not supported. That is the honest limit of objective 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same interview is shown after parsing. The six columns are the common intermediate representation. The table on the lower left shows how raw event names map to the normalised ones. The chart on the right is the interview in time: each bar is an event, taller red bars are jumps, and the gaps between bars are time the log does not account for. STUDY NOTE: this is where the platform asymmetry would show up if there were one. I tested it by writing one generated history in both formats and comparing: every feature and every decision came out identical (Table 6b). That is the evidence for 'the same detector runs unmodified on both'.</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page is the whole detector on one screen. The feature table is read from the same feature documentation file the repository ships, so it cannot drift from it. The rules table lists every flag the detector can raise, in words, with the thresholds in force, and highlights the ones that fired for the selected interview. STUDY NOTE: three things to say here. First, the score is a count of fired rules, with the four statistical fences capped at one point together, because duration, mean time, entropy and variance share one underlying pacing. Second, the thresholds that say 'compared with the batch median' are relative to the batch, which is the assumption behind the prevalence envelope: most of the batch must be genuine. Third, a broken record goes to its own Data quality lane whatever its score. In the sample batch six of the ten flagged interviews are broken records, not behaviour.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charts here, both on the harder batch, which is held-out seed 7 at stress difficulty, the same data as Table 6a. The left chart is what the profiles look like as data: flatness is what entropy and the coefficient of variation measure. The right chart is the central result. Duration-only finds 0 of 100, the V-10 rule 35 with 182 false alarms, the full detector 85 with 2 false alarms. STUDY NOTE: the reason the duration check finds nothing is not that the anomalies finish in an ordinary time. The batch's lower fence is minus 33 seconds, so no interview can ever be flagged as too short. Speeding and fabricated interviews are short; the fence just cannot see them, because the genuine spread and the many short interviews drag it below zero. The Charts page also draws the score histogram, box plots of six features by profile, the prevalence envelope and detection by type.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site gets onto the internet. A push to main on the school repository sends a webhook to Dokploy, the same platform that serves my other projects. Dokploy pulls the repository using a read-only deploy key that I added to the repository, so it can read the code and cannot change it, and builds the Dockerfile. The build runs the real pipeline on four synthetic batches, executes the audit notebook, and writes the results as JSON for the page. nginx then serves the files. A build takes a few minutes on the server. STUDY NOTE: the point to make if asked about security is that the pipeline never runs at request time. There is no upload, no login and no real data, so there is nothing for a visitor to break or leak. The name is an A record I added at name.com, and the certificate is issued by Let's Encrypt through Dokploy. The health endpoint returns the status, the data mode, which is always synthetic, and the commit the build came from, so you can check that what is live is what is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the answer to 'is this deployed?' before anyone asks it. It is a demonstration. The pipeline runs when the site is built, on synthetic batches, and the page reads the output. A survey team would run the same command on its own machine on a day's audit logs. STUDY NOTE: the limits are deliberate. I did not expose an upload because paradata is sensitive and an open upload endpoint is a security surface. I did not build saved outcomes, although section 7 says a deployment should record them, because that needs a database and an access policy, which is a pilot's work. The explanation sentences on the page are generated by the build script from the detector's own thresholds. The detector itself only emits flag names, so some of the wording, like 'together with compressed timing', is mine and would need updating if a rule changed. The report says deployment was out of scope, so do not call this a deployment. Call it a demonstration of the procedure.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Is this a deployed system? A: No. It is a demonstration of the operating procedure in section 7, built on the real pipeline output. The pipeline runs when the site is built, on synthetic batches, and the page reads the files. There is no upload, no login, no saved outcomes and no real data. The report says deployment was out of scope, and this does not change that.</a:t>
            </a:r>
          </a:p>
          <a:p/>
          <a:p>
            <a:r>
              <a:t>Q: Why can a team not upload its own log? A: Paradata is sensitive, and an open upload endpoint is a security surface I chose not to create. A team runs one command on its own machine and gets the same files; the site shows what that produces and how a supervisor would read it.</a:t>
            </a:r>
          </a:p>
          <a:p/>
          <a:p>
            <a:r>
              <a:t>Q: Where do the explanation sentences come from? A: The detector emits flag names only. The build script restates each rule as a sentence, taking the thresholds from the detector so the numbers stay in sync. Some phrases are my wording, so a changed rule would need its sentence updated.</a:t>
            </a:r>
          </a:p>
          <a:p/>
          <a:p>
            <a:r>
              <a:t>Q: Is the data real? A: No. All batches are synthetic with known labels. The harder batch is held-out seed 7 at stress difficulty, the same data as Table 6a, so its precision of 0.977 and recall of 0.850 match the report. Also be ready for: why did you build it? A: To structure the presentation and to let the panel see the input data, the method and the results for one batch in one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4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B"/>
        </a:solidFill>
      </p:bgPr>
    </p:bg>
    <p:spTree>
      <p:nvGrpSpPr>
        <p:cNvPr id="1" name=""/>
        <p:cNvGrpSpPr/>
        <p:nvPr/>
      </p:nvGrpSpPr>
      <p:grpSpPr>
        <a:xfrm>
          <a:off x="0" y="0"/>
          <a:ext cx="0" cy="0"/>
          <a:chOff x="0" y="0"/>
          <a:chExt cx="0" cy="0"/>
        </a:xfrm>
      </p:grpSpPr>
      <p:sp>
        <p:nvSpPr>
          <p:cNvPr id="2" name="Text 0"/>
          <p:cNvSpPr txBox="1"/>
          <p:nvPr/>
        </p:nvSpPr>
        <p:spPr>
          <a:xfrm>
            <a:off x="566928" y="640080"/>
            <a:ext cx="11055096" cy="274320"/>
          </a:xfrm>
          <a:prstGeom prst="rect">
            <a:avLst/>
          </a:prstGeom>
          <a:noFill/>
          <a:ln/>
        </p:spPr>
        <p:txBody>
          <a:bodyPr wrap="square" lIns="0" tIns="0" rIns="0" bIns="0" rtlCol="0" anchor="ctr"/>
          <a:lstStyle/>
          <a:p>
            <a:pPr indent="0" marL="0">
              <a:buNone/>
            </a:pPr>
            <a:r>
              <a:rPr lang="en-US" sz="1100" b="1" spc="110" kern="0" dirty="0">
                <a:solidFill>
                  <a:srgbClr val="6FA9A2"/>
                </a:solidFill>
                <a:latin typeface="Calibri" pitchFamily="34" charset="0"/>
                <a:ea typeface="Calibri" pitchFamily="34" charset="-122"/>
                <a:cs typeface="Calibri" pitchFamily="34" charset="-120"/>
              </a:rPr>
              <a:t>THE UNIVERSITY OF ZAMBIA  |  SCHOOL OF NATURAL AND APPLIED SCIENCES  |  DEPARTMENT OF COMPUTING AND INFORMATICS</a:t>
            </a:r>
            <a:endParaRPr lang="en-US" sz="1100" dirty="0"/>
          </a:p>
        </p:txBody>
      </p:sp>
      <p:sp>
        <p:nvSpPr>
          <p:cNvPr id="3" name="Text 1"/>
          <p:cNvSpPr txBox="1"/>
          <p:nvPr/>
        </p:nvSpPr>
        <p:spPr>
          <a:xfrm>
            <a:off x="566928" y="1554480"/>
            <a:ext cx="9957816" cy="192024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Automated Extraction and Analysis of Timing-Based Paradata Features for Survey Quality Assurance</a:t>
            </a:r>
            <a:endParaRPr lang="en-US" sz="3800" dirty="0"/>
          </a:p>
        </p:txBody>
      </p:sp>
      <p:sp>
        <p:nvSpPr>
          <p:cNvPr id="4" name="Text 2"/>
          <p:cNvSpPr txBox="1"/>
          <p:nvPr/>
        </p:nvSpPr>
        <p:spPr>
          <a:xfrm>
            <a:off x="566928" y="3611880"/>
            <a:ext cx="8860536" cy="731520"/>
          </a:xfrm>
          <a:prstGeom prst="rect">
            <a:avLst/>
          </a:prstGeom>
          <a:noFill/>
          <a:ln/>
        </p:spPr>
        <p:txBody>
          <a:bodyPr wrap="square" lIns="0" tIns="0" rIns="0" bIns="0" rtlCol="0" anchor="ctr"/>
          <a:lstStyle/>
          <a:p>
            <a:pPr indent="0" marL="0">
              <a:lnSpc>
                <a:spcPts val="2300"/>
              </a:lnSpc>
              <a:buNone/>
            </a:pPr>
            <a:r>
              <a:rPr lang="en-US" sz="1500" dirty="0">
                <a:solidFill>
                  <a:srgbClr val="AFC0C9"/>
                </a:solidFill>
                <a:latin typeface="Calibri" pitchFamily="34" charset="0"/>
                <a:ea typeface="Calibri" pitchFamily="34" charset="-122"/>
                <a:cs typeface="Calibri" pitchFamily="34" charset="-120"/>
              </a:rPr>
              <a:t>Study guide: the whole system, slide by slide. The speaker notes teach each slide.</a:t>
            </a:r>
          </a:p>
        </p:txBody>
      </p:sp>
      <p:sp>
        <p:nvSpPr>
          <p:cNvPr id="5" name="Shape 3"/>
          <p:cNvSpPr/>
          <p:nvPr/>
        </p:nvSpPr>
        <p:spPr>
          <a:xfrm>
            <a:off x="566928" y="4617720"/>
            <a:ext cx="91440" cy="1143000"/>
          </a:xfrm>
          <a:prstGeom prst="roundRect">
            <a:avLst>
              <a:gd name="adj" fmla="val 40000"/>
            </a:avLst>
          </a:prstGeom>
          <a:solidFill>
            <a:srgbClr val="0F766E"/>
          </a:solidFill>
          <a:ln w="12700">
            <a:solidFill>
              <a:srgbClr val="0F766E"/>
            </a:solidFill>
            <a:prstDash val="solid"/>
          </a:ln>
        </p:spPr>
        <p:txBody>
          <a:bodyPr/>
          <a:p/>
        </p:txBody>
      </p:sp>
      <p:sp>
        <p:nvSpPr>
          <p:cNvPr id="6" name="Text 4"/>
          <p:cNvSpPr txBox="1"/>
          <p:nvPr/>
        </p:nvSpPr>
        <p:spPr>
          <a:xfrm>
            <a:off x="822960" y="4590288"/>
            <a:ext cx="5943600" cy="123444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libri" pitchFamily="34" charset="0"/>
                <a:ea typeface="Calibri" pitchFamily="34" charset="-122"/>
                <a:cs typeface="Calibri" pitchFamily="34" charset="-120"/>
              </a:rPr>
              <a:t>Samuel Kaoma</a:t>
            </a:r>
            <a:endParaRPr lang="en-US" sz="1600" dirty="0"/>
          </a:p>
          <a:p>
            <a:pPr indent="0" marL="0">
              <a:lnSpc>
                <a:spcPts val="2000"/>
              </a:lnSpc>
              <a:buNone/>
            </a:pPr>
            <a:r>
              <a:rPr lang="en-US" sz="1300" dirty="0">
                <a:solidFill>
                  <a:srgbClr val="AFC0C9"/>
                </a:solidFill>
                <a:latin typeface="Calibri" pitchFamily="34" charset="0"/>
                <a:ea typeface="Calibri" pitchFamily="34" charset="-122"/>
                <a:cs typeface="Calibri" pitchFamily="34" charset="-120"/>
              </a:rPr>
              <a:t>Computer number 2022016530  |  CSC 4004</a:t>
            </a:r>
            <a:endParaRPr lang="en-US" sz="1600" dirty="0"/>
          </a:p>
          <a:p>
            <a:pPr indent="0" marL="0">
              <a:lnSpc>
                <a:spcPts val="2000"/>
              </a:lnSpc>
              <a:buNone/>
            </a:pPr>
            <a:r>
              <a:rPr lang="en-US" sz="1300" dirty="0">
                <a:solidFill>
                  <a:srgbClr val="AFC0C9"/>
                </a:solidFill>
                <a:latin typeface="Calibri" pitchFamily="34" charset="0"/>
                <a:ea typeface="Calibri" pitchFamily="34" charset="-122"/>
                <a:cs typeface="Calibri" pitchFamily="34" charset="-120"/>
              </a:rPr>
              <a:t>Supervisor: Mr. Mofya Phiri</a:t>
            </a:r>
            <a:endParaRPr lang="en-US" sz="1600" dirty="0"/>
          </a:p>
          <a:p>
            <a:pPr indent="0" marL="0">
              <a:lnSpc>
                <a:spcPts val="2000"/>
              </a:lnSpc>
              <a:buNone/>
            </a:pPr>
            <a:r>
              <a:rPr lang="en-US" sz="1300" dirty="0">
                <a:solidFill>
                  <a:srgbClr val="AFC0C9"/>
                </a:solidFill>
                <a:latin typeface="Calibri" pitchFamily="34" charset="0"/>
                <a:ea typeface="Calibri" pitchFamily="34" charset="-122"/>
                <a:cs typeface="Calibri" pitchFamily="34" charset="-120"/>
              </a:rPr>
              <a:t>September 2026</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STUDY GUIDE</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How to use this deck</a:t>
            </a:r>
          </a:p>
        </p:txBody>
      </p:sp>
      <p:sp>
        <p:nvSpPr>
          <p:cNvPr id="6" name="Rectangle 5"/>
          <p:cNvSpPr/>
          <p:nvPr/>
        </p:nvSpPr>
        <p:spPr>
          <a:xfrm>
            <a:off x="566928" y="1325880"/>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545336"/>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1</a:t>
            </a:r>
          </a:p>
        </p:txBody>
      </p:sp>
      <p:sp>
        <p:nvSpPr>
          <p:cNvPr id="9" name="TextBox 8"/>
          <p:cNvSpPr txBox="1"/>
          <p:nvPr/>
        </p:nvSpPr>
        <p:spPr>
          <a:xfrm>
            <a:off x="1353312" y="1417320"/>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The problem</a:t>
            </a:r>
          </a:p>
        </p:txBody>
      </p:sp>
      <p:sp>
        <p:nvSpPr>
          <p:cNvPr id="10" name="TextBox 9"/>
          <p:cNvSpPr txBox="1"/>
          <p:nvPr/>
        </p:nvSpPr>
        <p:spPr>
          <a:xfrm>
            <a:off x="1353312" y="1709928"/>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What paradata is, the three behaviours the system looks for, and the literature behind the design.</a:t>
            </a:r>
          </a:p>
        </p:txBody>
      </p:sp>
      <p:sp>
        <p:nvSpPr>
          <p:cNvPr id="11" name="Rectangle 10"/>
          <p:cNvSpPr/>
          <p:nvPr/>
        </p:nvSpPr>
        <p:spPr>
          <a:xfrm>
            <a:off x="6181344" y="1325880"/>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45936" y="1545336"/>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600200"/>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2</a:t>
            </a:r>
          </a:p>
        </p:txBody>
      </p:sp>
      <p:sp>
        <p:nvSpPr>
          <p:cNvPr id="14" name="TextBox 13"/>
          <p:cNvSpPr txBox="1"/>
          <p:nvPr/>
        </p:nvSpPr>
        <p:spPr>
          <a:xfrm>
            <a:off x="6967728" y="1417320"/>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The system</a:t>
            </a:r>
          </a:p>
        </p:txBody>
      </p:sp>
      <p:sp>
        <p:nvSpPr>
          <p:cNvPr id="15" name="TextBox 14"/>
          <p:cNvSpPr txBox="1"/>
          <p:nvPr/>
        </p:nvSpPr>
        <p:spPr>
          <a:xfrm>
            <a:off x="6967728" y="1709928"/>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The repository, how to run it, the forty features and the detector, in outline.</a:t>
            </a:r>
          </a:p>
        </p:txBody>
      </p:sp>
      <p:sp>
        <p:nvSpPr>
          <p:cNvPr id="16" name="Rectangle 15"/>
          <p:cNvSpPr/>
          <p:nvPr/>
        </p:nvSpPr>
        <p:spPr>
          <a:xfrm>
            <a:off x="566928" y="2350008"/>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2569464"/>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624328"/>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3</a:t>
            </a:r>
          </a:p>
        </p:txBody>
      </p:sp>
      <p:sp>
        <p:nvSpPr>
          <p:cNvPr id="19" name="TextBox 18"/>
          <p:cNvSpPr txBox="1"/>
          <p:nvPr/>
        </p:nvSpPr>
        <p:spPr>
          <a:xfrm>
            <a:off x="1353312" y="2441448"/>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The data, step by step</a:t>
            </a:r>
          </a:p>
        </p:txBody>
      </p:sp>
      <p:sp>
        <p:nvSpPr>
          <p:cNvPr id="20" name="TextBox 19"/>
          <p:cNvSpPr txBox="1"/>
          <p:nvPr/>
        </p:nvSpPr>
        <p:spPr>
          <a:xfrm>
            <a:off x="1353312" y="2734056"/>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One interview from generator to raw file to parsed rows to features, flags, score and outputs.</a:t>
            </a:r>
          </a:p>
        </p:txBody>
      </p:sp>
      <p:sp>
        <p:nvSpPr>
          <p:cNvPr id="21" name="Rectangle 20"/>
          <p:cNvSpPr/>
          <p:nvPr/>
        </p:nvSpPr>
        <p:spPr>
          <a:xfrm>
            <a:off x="6181344" y="2350008"/>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45936" y="2569464"/>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624328"/>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4</a:t>
            </a:r>
          </a:p>
        </p:txBody>
      </p:sp>
      <p:sp>
        <p:nvSpPr>
          <p:cNvPr id="24" name="TextBox 23"/>
          <p:cNvSpPr txBox="1"/>
          <p:nvPr/>
        </p:nvSpPr>
        <p:spPr>
          <a:xfrm>
            <a:off x="6967728" y="2441448"/>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A live run</a:t>
            </a:r>
          </a:p>
        </p:txBody>
      </p:sp>
      <p:sp>
        <p:nvSpPr>
          <p:cNvPr id="25" name="TextBox 24"/>
          <p:cNvSpPr txBox="1"/>
          <p:nvPr/>
        </p:nvSpPr>
        <p:spPr>
          <a:xfrm>
            <a:off x="6967728" y="2734056"/>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The demonstration slides from the talk, run on the sample data in the repository.</a:t>
            </a:r>
          </a:p>
        </p:txBody>
      </p:sp>
      <p:sp>
        <p:nvSpPr>
          <p:cNvPr id="26" name="Rectangle 25"/>
          <p:cNvSpPr/>
          <p:nvPr/>
        </p:nvSpPr>
        <p:spPr>
          <a:xfrm>
            <a:off x="566928" y="3374136"/>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1520" y="3593592"/>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648456"/>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5</a:t>
            </a:r>
          </a:p>
        </p:txBody>
      </p:sp>
      <p:sp>
        <p:nvSpPr>
          <p:cNvPr id="29" name="TextBox 28"/>
          <p:cNvSpPr txBox="1"/>
          <p:nvPr/>
        </p:nvSpPr>
        <p:spPr>
          <a:xfrm>
            <a:off x="1353312" y="3465576"/>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The evaluation</a:t>
            </a:r>
          </a:p>
        </p:txBody>
      </p:sp>
      <p:sp>
        <p:nvSpPr>
          <p:cNvPr id="30" name="TextBox 29"/>
          <p:cNvSpPr txBox="1"/>
          <p:nvPr/>
        </p:nvSpPr>
        <p:spPr>
          <a:xfrm>
            <a:off x="1353312" y="3758184"/>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Every statistic explained before it is used: metrics, effect sizes, fences, masking, the envelope.</a:t>
            </a:r>
          </a:p>
        </p:txBody>
      </p:sp>
      <p:sp>
        <p:nvSpPr>
          <p:cNvPr id="31" name="Rectangle 30"/>
          <p:cNvSpPr/>
          <p:nvPr/>
        </p:nvSpPr>
        <p:spPr>
          <a:xfrm>
            <a:off x="6181344" y="3374136"/>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345936" y="3593592"/>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45936" y="3648456"/>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6</a:t>
            </a:r>
          </a:p>
        </p:txBody>
      </p:sp>
      <p:sp>
        <p:nvSpPr>
          <p:cNvPr id="34" name="TextBox 33"/>
          <p:cNvSpPr txBox="1"/>
          <p:nvPr/>
        </p:nvSpPr>
        <p:spPr>
          <a:xfrm>
            <a:off x="6967728" y="3465576"/>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Trust and limits</a:t>
            </a:r>
          </a:p>
        </p:txBody>
      </p:sp>
      <p:sp>
        <p:nvSpPr>
          <p:cNvPr id="35" name="TextBox 34"/>
          <p:cNvSpPr txBox="1"/>
          <p:nvPr/>
        </p:nvSpPr>
        <p:spPr>
          <a:xfrm>
            <a:off x="6967728" y="3758184"/>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Tests, reproduction, ethics, limitations, and the references.</a:t>
            </a:r>
          </a:p>
        </p:txBody>
      </p:sp>
      <p:sp>
        <p:nvSpPr>
          <p:cNvPr id="36" name="Rectangle 35"/>
          <p:cNvSpPr/>
          <p:nvPr/>
        </p:nvSpPr>
        <p:spPr>
          <a:xfrm>
            <a:off x="566928" y="4398264"/>
            <a:ext cx="5440680" cy="896112"/>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31520" y="461772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672584"/>
            <a:ext cx="457200" cy="365760"/>
          </a:xfrm>
          <a:prstGeom prst="rect">
            <a:avLst/>
          </a:prstGeom>
          <a:noFill/>
        </p:spPr>
        <p:txBody>
          <a:bodyPr wrap="square" lIns="36576" rIns="36576" tIns="18288" bIns="18288" anchor="t">
            <a:spAutoFit/>
          </a:bodyPr>
          <a:lstStyle/>
          <a:p>
            <a:pPr algn="ctr">
              <a:spcAft>
                <a:spcPts val="400"/>
              </a:spcAft>
            </a:pPr>
            <a:r>
              <a:rPr sz="1400" b="1" i="0">
                <a:solidFill>
                  <a:srgbClr val="FFFFFF"/>
                </a:solidFill>
                <a:latin typeface="Calibri"/>
              </a:rPr>
              <a:t>7</a:t>
            </a:r>
          </a:p>
        </p:txBody>
      </p:sp>
      <p:sp>
        <p:nvSpPr>
          <p:cNvPr id="39" name="TextBox 38"/>
          <p:cNvSpPr txBox="1"/>
          <p:nvPr/>
        </p:nvSpPr>
        <p:spPr>
          <a:xfrm>
            <a:off x="1353312" y="4489704"/>
            <a:ext cx="4480560" cy="32004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Glossary and viva</a:t>
            </a:r>
          </a:p>
        </p:txBody>
      </p:sp>
      <p:sp>
        <p:nvSpPr>
          <p:cNvPr id="40" name="TextBox 39"/>
          <p:cNvSpPr txBox="1"/>
          <p:nvPr/>
        </p:nvSpPr>
        <p:spPr>
          <a:xfrm>
            <a:off x="1353312" y="4782312"/>
            <a:ext cx="4480560" cy="50292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Every term in one place, then sixteen likely questions with full answers in the notes.</a:t>
            </a:r>
          </a:p>
        </p:txBody>
      </p:sp>
      <p:sp>
        <p:nvSpPr>
          <p:cNvPr id="41" name="TextBox 40"/>
          <p:cNvSpPr txBox="1"/>
          <p:nvPr/>
        </p:nvSpPr>
        <p:spPr>
          <a:xfrm>
            <a:off x="6181344" y="4507992"/>
            <a:ext cx="5440680" cy="82296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Read the speaker notes on every slide: they carry the explanation. Slides give the facts; notes teach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3</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1  ·  THE PROBLEM</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What an audit log records, and what it can reveal</a:t>
            </a:r>
          </a:p>
        </p:txBody>
      </p:sp>
      <p:sp>
        <p:nvSpPr>
          <p:cNvPr id="6" name="Rectangle 5"/>
          <p:cNvSpPr/>
          <p:nvPr/>
        </p:nvSpPr>
        <p:spPr>
          <a:xfrm>
            <a:off x="566928" y="1325880"/>
            <a:ext cx="3566160" cy="35661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3236976" cy="45720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Paradata</a:t>
            </a:r>
          </a:p>
        </p:txBody>
      </p:sp>
      <p:sp>
        <p:nvSpPr>
          <p:cNvPr id="8" name="TextBox 7"/>
          <p:cNvSpPr txBox="1"/>
          <p:nvPr/>
        </p:nvSpPr>
        <p:spPr>
          <a:xfrm>
            <a:off x="731520" y="1892807"/>
            <a:ext cx="3236976" cy="2907791"/>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Data about how an interview was carried out, not what was answered: when each question opened and closed, how long the interviewer paused, when they went back. SurveyCTO calls its log a text audit; ODK calls it a form audit log.</a:t>
            </a:r>
          </a:p>
        </p:txBody>
      </p:sp>
      <p:sp>
        <p:nvSpPr>
          <p:cNvPr id="9" name="Rectangle 8"/>
          <p:cNvSpPr/>
          <p:nvPr/>
        </p:nvSpPr>
        <p:spPr>
          <a:xfrm>
            <a:off x="4343400" y="1325880"/>
            <a:ext cx="7278624" cy="109728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453895"/>
            <a:ext cx="6949440" cy="457200"/>
          </a:xfrm>
          <a:prstGeom prst="rect">
            <a:avLst/>
          </a:prstGeom>
          <a:noFill/>
        </p:spPr>
        <p:txBody>
          <a:bodyPr wrap="square" lIns="36576" rIns="36576" tIns="18288" bIns="18288" anchor="t">
            <a:spAutoFit/>
          </a:bodyPr>
          <a:lstStyle/>
          <a:p>
            <a:pPr algn="l">
              <a:spcAft>
                <a:spcPts val="400"/>
              </a:spcAft>
            </a:pPr>
            <a:r>
              <a:rPr sz="1300" b="1" i="0">
                <a:solidFill>
                  <a:srgbClr val="B45309"/>
                </a:solidFill>
                <a:latin typeface="Calibri"/>
              </a:rPr>
              <a:t>Fabrication</a:t>
            </a:r>
          </a:p>
        </p:txBody>
      </p:sp>
      <p:sp>
        <p:nvSpPr>
          <p:cNvPr id="11" name="TextBox 10"/>
          <p:cNvSpPr txBox="1"/>
          <p:nvPr/>
        </p:nvSpPr>
        <p:spPr>
          <a:xfrm>
            <a:off x="4507992" y="1892807"/>
            <a:ext cx="6949440" cy="438912"/>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The interviewer invents answers without a real interview, often called curbstoning. Timing is short and uniform: the same pace for easy and hard questions, little going back.</a:t>
            </a:r>
          </a:p>
        </p:txBody>
      </p:sp>
      <p:sp>
        <p:nvSpPr>
          <p:cNvPr id="12" name="Rectangle 11"/>
          <p:cNvSpPr/>
          <p:nvPr/>
        </p:nvSpPr>
        <p:spPr>
          <a:xfrm>
            <a:off x="4343400" y="2532888"/>
            <a:ext cx="7278624" cy="109728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2660904"/>
            <a:ext cx="6949440" cy="457200"/>
          </a:xfrm>
          <a:prstGeom prst="rect">
            <a:avLst/>
          </a:prstGeom>
          <a:noFill/>
        </p:spPr>
        <p:txBody>
          <a:bodyPr wrap="square" lIns="36576" rIns="36576" tIns="18288" bIns="18288" anchor="t">
            <a:spAutoFit/>
          </a:bodyPr>
          <a:lstStyle/>
          <a:p>
            <a:pPr algn="l">
              <a:spcAft>
                <a:spcPts val="400"/>
              </a:spcAft>
            </a:pPr>
            <a:r>
              <a:rPr sz="1300" b="1" i="0">
                <a:solidFill>
                  <a:srgbClr val="7C3AED"/>
                </a:solidFill>
                <a:latin typeface="Calibri"/>
              </a:rPr>
              <a:t>Speeding</a:t>
            </a:r>
          </a:p>
        </p:txBody>
      </p:sp>
      <p:sp>
        <p:nvSpPr>
          <p:cNvPr id="14" name="TextBox 13"/>
          <p:cNvSpPr txBox="1"/>
          <p:nvPr/>
        </p:nvSpPr>
        <p:spPr>
          <a:xfrm>
            <a:off x="4507992" y="3099816"/>
            <a:ext cx="6949440" cy="438912"/>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Answers given faster than the question could be read. Zhang and Conrad set the limit at 300 ms per word; the whole interview is implausibly short.</a:t>
            </a:r>
          </a:p>
        </p:txBody>
      </p:sp>
      <p:sp>
        <p:nvSpPr>
          <p:cNvPr id="15" name="Rectangle 14"/>
          <p:cNvSpPr/>
          <p:nvPr/>
        </p:nvSpPr>
        <p:spPr>
          <a:xfrm>
            <a:off x="4343400" y="3739896"/>
            <a:ext cx="7278624" cy="109728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3867911"/>
            <a:ext cx="6949440" cy="457200"/>
          </a:xfrm>
          <a:prstGeom prst="rect">
            <a:avLst/>
          </a:prstGeom>
          <a:noFill/>
        </p:spPr>
        <p:txBody>
          <a:bodyPr wrap="square" lIns="36576" rIns="36576" tIns="18288" bIns="18288" anchor="t">
            <a:spAutoFit/>
          </a:bodyPr>
          <a:lstStyle/>
          <a:p>
            <a:pPr algn="l">
              <a:spcAft>
                <a:spcPts val="400"/>
              </a:spcAft>
            </a:pPr>
            <a:r>
              <a:rPr sz="1300" b="1" i="0">
                <a:solidFill>
                  <a:srgbClr val="6B7785"/>
                </a:solidFill>
                <a:latin typeface="Calibri"/>
              </a:rPr>
              <a:t>Disengagement</a:t>
            </a:r>
          </a:p>
        </p:txBody>
      </p:sp>
      <p:sp>
        <p:nvSpPr>
          <p:cNvPr id="17" name="TextBox 16"/>
          <p:cNvSpPr txBox="1"/>
          <p:nvPr/>
        </p:nvSpPr>
        <p:spPr>
          <a:xfrm>
            <a:off x="4507992" y="4306824"/>
            <a:ext cx="6949440" cy="438912"/>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A slow, flat, distracted interview: uniform pacing, long pauses, going back and forth. A weaker signature, so it is expected to be suspicious rather than anomalous.</a:t>
            </a:r>
          </a:p>
        </p:txBody>
      </p:sp>
      <p:sp>
        <p:nvSpPr>
          <p:cNvPr id="18" name="Rectangle 17"/>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All three change the rhythm of an interview. The whole system measures rhythm.</a:t>
            </a:r>
          </a:p>
        </p:txBody>
      </p:sp>
      <p:sp>
        <p:nvSpPr>
          <p:cNvPr id="21" name="TextBox 20"/>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Sources: Couper (1998, p. 44); Bushery et al. (1999, p. 317); Zhang and Conrad (2014); report sections 1 and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Rich timing data, almost entirely unused</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1371600"/>
            <a:ext cx="6309360" cy="2377440"/>
          </a:xfrm>
          <a:prstGeom prst="rect">
            <a:avLst/>
          </a:prstGeom>
          <a:noFill/>
          <a:ln/>
        </p:spPr>
        <p:txBody>
          <a:bodyPr wrap="square" lIns="0" tIns="0" rIns="0" bIns="0" rtlCol="0" anchor="ctr"/>
          <a:lstStyle/>
          <a:p>
            <a:pPr indent="0" marL="0">
              <a:lnSpc>
                <a:spcPts val="2200"/>
              </a:lnSpc>
              <a:buNone/>
            </a:pPr>
            <a:r>
              <a:rPr lang="en-US" sz="1450" dirty="0">
                <a:solidFill>
                  <a:srgbClr val="1F2933"/>
                </a:solidFill>
                <a:latin typeface="Calibri" pitchFamily="34" charset="0"/>
                <a:ea typeface="Calibri" pitchFamily="34" charset="-122"/>
                <a:cs typeface="Calibri" pitchFamily="34" charset="-120"/>
              </a:rPr>
              <a:t>Every interview on SurveyCTO or ODK writes a timestamped event log: when each question opened, how long it took, when the enumerator navigated back. This is paradata, and survey methodology has shown for decades that fabrication, speeding and disengagement leave clear signatures in it.</a:t>
            </a:r>
            <a:endParaRPr lang="en-US" sz="1450" dirty="0"/>
          </a:p>
          <a:p>
            <a:pPr indent="0" marL="0">
              <a:lnSpc>
                <a:spcPts val="2200"/>
              </a:lnSpc>
              <a:buNone/>
            </a:pPr>
            <a:r>
              <a:rPr lang="en-US" sz="600" dirty="0">
                <a:solidFill>
                  <a:srgbClr val="1F2933"/>
                </a:solidFill>
                <a:latin typeface="Calibri" pitchFamily="34" charset="0"/>
                <a:ea typeface="Calibri" pitchFamily="34" charset="-122"/>
                <a:cs typeface="Calibri" pitchFamily="34" charset="-120"/>
              </a:rPr>
              <a:t> </a:t>
            </a:r>
            <a:endParaRPr lang="en-US" sz="1450" dirty="0"/>
          </a:p>
          <a:p>
            <a:pPr indent="0" marL="0">
              <a:lnSpc>
                <a:spcPts val="2200"/>
              </a:lnSpc>
              <a:buNone/>
            </a:pPr>
            <a:r>
              <a:rPr lang="en-US" sz="1450" dirty="0">
                <a:solidFill>
                  <a:srgbClr val="1F2933"/>
                </a:solidFill>
                <a:latin typeface="Calibri" pitchFamily="34" charset="0"/>
                <a:ea typeface="Calibri" pitchFamily="34" charset="-122"/>
                <a:cs typeface="Calibri" pitchFamily="34" charset="-120"/>
              </a:rPr>
              <a:t>It goes unused because the two platforms log differently, and because converting millions of raw event rows into defensible indicators is beyond most survey teams. Current practice falls back on total interview duration and manual back-checking.</a:t>
            </a:r>
            <a:endParaRPr lang="en-US" sz="1450" dirty="0"/>
          </a:p>
        </p:txBody>
      </p:sp>
      <p:sp>
        <p:nvSpPr>
          <p:cNvPr id="7" name="Shape 5"/>
          <p:cNvSpPr/>
          <p:nvPr/>
        </p:nvSpPr>
        <p:spPr>
          <a:xfrm>
            <a:off x="7178040" y="1371600"/>
            <a:ext cx="2286000" cy="1572768"/>
          </a:xfrm>
          <a:prstGeom prst="roundRect">
            <a:avLst>
              <a:gd name="adj" fmla="val 2907"/>
            </a:avLst>
          </a:prstGeom>
          <a:solidFill>
            <a:srgbClr val="EEF2F6"/>
          </a:solidFill>
          <a:ln w="12700">
            <a:solidFill>
              <a:srgbClr val="EEF2F6"/>
            </a:solidFill>
            <a:prstDash val="solid"/>
          </a:ln>
        </p:spPr>
        <p:txBody>
          <a:bodyPr/>
          <a:p/>
        </p:txBody>
      </p:sp>
      <p:sp>
        <p:nvSpPr>
          <p:cNvPr id="8" name="Text 6"/>
          <p:cNvSpPr txBox="1"/>
          <p:nvPr/>
        </p:nvSpPr>
        <p:spPr>
          <a:xfrm>
            <a:off x="7324344" y="1517904"/>
            <a:ext cx="1993392" cy="749808"/>
          </a:xfrm>
          <a:prstGeom prst="rect">
            <a:avLst/>
          </a:prstGeom>
          <a:noFill/>
          <a:ln/>
        </p:spPr>
        <p:txBody>
          <a:bodyPr wrap="square" lIns="0" tIns="0" rIns="0" bIns="0" rtlCol="0" anchor="ctr"/>
          <a:lstStyle/>
          <a:p>
            <a:pPr algn="ctr" indent="0" marL="0">
              <a:buNone/>
            </a:pPr>
            <a:r>
              <a:rPr lang="en-US" sz="3400" b="1" dirty="0">
                <a:solidFill>
                  <a:srgbClr val="B45309"/>
                </a:solidFill>
                <a:latin typeface="Cambria" pitchFamily="34" charset="0"/>
                <a:ea typeface="Cambria" pitchFamily="34" charset="-122"/>
                <a:cs typeface="Cambria" pitchFamily="34" charset="-120"/>
              </a:rPr>
              <a:t>0.66</a:t>
            </a:r>
            <a:endParaRPr lang="en-US" sz="3400" dirty="0"/>
          </a:p>
        </p:txBody>
      </p:sp>
      <p:sp>
        <p:nvSpPr>
          <p:cNvPr id="9" name="Text 7"/>
          <p:cNvSpPr txBox="1"/>
          <p:nvPr/>
        </p:nvSpPr>
        <p:spPr>
          <a:xfrm>
            <a:off x="7324344" y="2286000"/>
            <a:ext cx="1993392"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recall of a duration-only</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check on my benchmark</a:t>
            </a:r>
            <a:endParaRPr lang="en-US" sz="1150" dirty="0"/>
          </a:p>
        </p:txBody>
      </p:sp>
      <p:sp>
        <p:nvSpPr>
          <p:cNvPr id="10" name="Shape 8"/>
          <p:cNvSpPr/>
          <p:nvPr/>
        </p:nvSpPr>
        <p:spPr>
          <a:xfrm>
            <a:off x="9646920" y="1371600"/>
            <a:ext cx="1975104" cy="1572768"/>
          </a:xfrm>
          <a:prstGeom prst="roundRect">
            <a:avLst>
              <a:gd name="adj" fmla="val 2907"/>
            </a:avLst>
          </a:prstGeom>
          <a:solidFill>
            <a:srgbClr val="EEF2F6"/>
          </a:solidFill>
          <a:ln w="12700">
            <a:solidFill>
              <a:srgbClr val="EEF2F6"/>
            </a:solidFill>
            <a:prstDash val="solid"/>
          </a:ln>
        </p:spPr>
        <p:txBody>
          <a:bodyPr/>
          <a:p/>
        </p:txBody>
      </p:sp>
      <p:sp>
        <p:nvSpPr>
          <p:cNvPr id="11" name="Text 9"/>
          <p:cNvSpPr txBox="1"/>
          <p:nvPr/>
        </p:nvSpPr>
        <p:spPr>
          <a:xfrm>
            <a:off x="9793224" y="1517904"/>
            <a:ext cx="1682496" cy="749808"/>
          </a:xfrm>
          <a:prstGeom prst="rect">
            <a:avLst/>
          </a:prstGeom>
          <a:noFill/>
          <a:ln/>
        </p:spPr>
        <p:txBody>
          <a:bodyPr wrap="square" lIns="0" tIns="0" rIns="0" bIns="0" rtlCol="0" anchor="ctr"/>
          <a:lstStyle/>
          <a:p>
            <a:pPr algn="ctr" indent="0" marL="0">
              <a:buNone/>
            </a:pPr>
            <a:r>
              <a:rPr lang="en-US" sz="3400" b="1" dirty="0">
                <a:solidFill>
                  <a:srgbClr val="B45309"/>
                </a:solidFill>
                <a:latin typeface="Cambria" pitchFamily="34" charset="0"/>
                <a:ea typeface="Cambria" pitchFamily="34" charset="-122"/>
                <a:cs typeface="Cambria" pitchFamily="34" charset="-120"/>
              </a:rPr>
              <a:t>34</a:t>
            </a:r>
            <a:endParaRPr lang="en-US" sz="3400" dirty="0"/>
          </a:p>
        </p:txBody>
      </p:sp>
      <p:sp>
        <p:nvSpPr>
          <p:cNvPr id="12" name="Text 10"/>
          <p:cNvSpPr txBox="1"/>
          <p:nvPr/>
        </p:nvSpPr>
        <p:spPr>
          <a:xfrm>
            <a:off x="9793224" y="2286000"/>
            <a:ext cx="1682496"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of 100 anomalies it</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misses entirely</a:t>
            </a:r>
            <a:endParaRPr lang="en-US" sz="1150" dirty="0"/>
          </a:p>
        </p:txBody>
      </p:sp>
      <p:sp>
        <p:nvSpPr>
          <p:cNvPr id="13" name="Text 11"/>
          <p:cNvSpPr txBox="1"/>
          <p:nvPr/>
        </p:nvSpPr>
        <p:spPr>
          <a:xfrm>
            <a:off x="7178040" y="3154680"/>
            <a:ext cx="4443984" cy="822960"/>
          </a:xfrm>
          <a:prstGeom prst="rect">
            <a:avLst/>
          </a:prstGeom>
          <a:noFill/>
          <a:ln/>
        </p:spPr>
        <p:txBody>
          <a:bodyPr wrap="square" lIns="0" tIns="0" rIns="0" bIns="0" rtlCol="0" anchor="ctr"/>
          <a:lstStyle/>
          <a:p>
            <a:pPr indent="0" marL="0">
              <a:lnSpc>
                <a:spcPts val="1800"/>
              </a:lnSpc>
              <a:buNone/>
            </a:pPr>
            <a:r>
              <a:rPr lang="en-US" sz="1250" dirty="0">
                <a:solidFill>
                  <a:srgbClr val="6B7785"/>
                </a:solidFill>
                <a:latin typeface="Calibri" pitchFamily="34" charset="0"/>
                <a:ea typeface="Calibri" pitchFamily="34" charset="-122"/>
                <a:cs typeface="Calibri" pitchFamily="34" charset="-120"/>
              </a:rPr>
              <a:t>Every one of those 34 has a total duration sitting inside the Tukey fences. Aggregate duration cannot see them.</a:t>
            </a:r>
            <a:endParaRPr lang="en-US" sz="1250" dirty="0"/>
          </a:p>
        </p:txBody>
      </p:sp>
      <p:sp>
        <p:nvSpPr>
          <p:cNvPr id="14" name="Shape 12"/>
          <p:cNvSpPr/>
          <p:nvPr/>
        </p:nvSpPr>
        <p:spPr>
          <a:xfrm>
            <a:off x="566928" y="45262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5" name="Shape 13"/>
          <p:cNvSpPr/>
          <p:nvPr/>
        </p:nvSpPr>
        <p:spPr>
          <a:xfrm>
            <a:off x="694944" y="4654296"/>
            <a:ext cx="91440" cy="310896"/>
          </a:xfrm>
          <a:prstGeom prst="roundRect">
            <a:avLst>
              <a:gd name="adj" fmla="val 40000"/>
            </a:avLst>
          </a:prstGeom>
          <a:solidFill>
            <a:srgbClr val="B45309"/>
          </a:solidFill>
          <a:ln w="12700">
            <a:solidFill>
              <a:srgbClr val="B45309"/>
            </a:solidFill>
            <a:prstDash val="solid"/>
          </a:ln>
        </p:spPr>
        <p:txBody>
          <a:bodyPr/>
          <a:p/>
        </p:txBody>
      </p:sp>
      <p:sp>
        <p:nvSpPr>
          <p:cNvPr id="16" name="Text 14"/>
          <p:cNvSpPr txBox="1"/>
          <p:nvPr/>
        </p:nvSpPr>
        <p:spPr>
          <a:xfrm>
            <a:off x="932688" y="45720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A third of bad interviews pass the check that field practice actually runs.</a:t>
            </a:r>
            <a:endParaRPr lang="en-US" sz="1350" dirty="0"/>
          </a:p>
        </p:txBody>
      </p:sp>
      <p:sp>
        <p:nvSpPr>
          <p:cNvPr id="17" name="Text 15"/>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output/examiner_audit/strict_examiner_audit_report.md, n500 SurveyCTO benchmark, 100 anomalies in 500 interviews.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Aim and six objectives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11055096" cy="786384"/>
          </a:xfrm>
          <a:prstGeom prst="roundRect">
            <a:avLst>
              <a:gd name="adj" fmla="val 5814"/>
            </a:avLst>
          </a:prstGeom>
          <a:solidFill>
            <a:srgbClr val="EEF2F6"/>
          </a:solidFill>
          <a:ln w="12700">
            <a:solidFill>
              <a:srgbClr val="EEF2F6"/>
            </a:solidFill>
            <a:prstDash val="solid"/>
          </a:ln>
        </p:spPr>
        <p:txBody>
          <a:bodyPr/>
          <a:p/>
        </p:txBody>
      </p:sp>
      <p:sp>
        <p:nvSpPr>
          <p:cNvPr id="7" name="Text 5"/>
          <p:cNvSpPr txBox="1"/>
          <p:nvPr/>
        </p:nvSpPr>
        <p:spPr>
          <a:xfrm>
            <a:off x="841248" y="1444752"/>
            <a:ext cx="10506456" cy="640080"/>
          </a:xfrm>
          <a:prstGeom prst="rect">
            <a:avLst/>
          </a:prstGeom>
          <a:noFill/>
          <a:ln/>
        </p:spPr>
        <p:txBody>
          <a:bodyPr wrap="square" lIns="0" tIns="0" rIns="0" bIns="0" rtlCol="0" anchor="ctr"/>
          <a:lstStyle/>
          <a:p>
            <a:pPr indent="0" marL="0">
              <a:lnSpc>
                <a:spcPts val="1900"/>
              </a:lnSpc>
              <a:buNone/>
            </a:pPr>
            <a:r>
              <a:rPr lang="en-US" sz="1350" b="1" dirty="0">
                <a:solidFill>
                  <a:srgbClr val="0F766E"/>
                </a:solidFill>
                <a:latin typeface="Calibri" pitchFamily="34" charset="0"/>
                <a:ea typeface="Calibri" pitchFamily="34" charset="-122"/>
                <a:cs typeface="Calibri" pitchFamily="34" charset="-120"/>
              </a:rPr>
              <a:t>Aim.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Design and implement an automated pipeline that extracts, catalogues and analyses timing-based paradata features from SurveyCTO and ODK audit logs, to support scalable survey data quality assessment.</a:t>
            </a:r>
            <a:endParaRPr lang="en-US" sz="1350" dirty="0"/>
          </a:p>
        </p:txBody>
      </p:sp>
      <p:sp>
        <p:nvSpPr>
          <p:cNvPr id="8" name="Shape 6"/>
          <p:cNvSpPr/>
          <p:nvPr/>
        </p:nvSpPr>
        <p:spPr>
          <a:xfrm>
            <a:off x="566928" y="2459736"/>
            <a:ext cx="329184" cy="329184"/>
          </a:xfrm>
          <a:prstGeom prst="ellipse">
            <a:avLst/>
          </a:prstGeom>
          <a:solidFill>
            <a:srgbClr val="0F766E"/>
          </a:solidFill>
          <a:ln w="12700">
            <a:solidFill>
              <a:srgbClr val="0F766E"/>
            </a:solidFill>
            <a:prstDash val="solid"/>
          </a:ln>
        </p:spPr>
        <p:txBody>
          <a:bodyPr/>
          <a:p/>
        </p:txBody>
      </p:sp>
      <p:sp>
        <p:nvSpPr>
          <p:cNvPr id="9" name="Text 7"/>
          <p:cNvSpPr txBox="1"/>
          <p:nvPr/>
        </p:nvSpPr>
        <p:spPr>
          <a:xfrm>
            <a:off x="566928" y="2459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042416" y="2423160"/>
            <a:ext cx="4919472" cy="65836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Catalogue timing-based quality indicators from the survey methodology literature</a:t>
            </a:r>
            <a:endParaRPr lang="en-US" sz="1300" dirty="0"/>
          </a:p>
        </p:txBody>
      </p:sp>
      <p:sp>
        <p:nvSpPr>
          <p:cNvPr id="11" name="Shape 9"/>
          <p:cNvSpPr/>
          <p:nvPr/>
        </p:nvSpPr>
        <p:spPr>
          <a:xfrm>
            <a:off x="566928" y="3172968"/>
            <a:ext cx="329184" cy="329184"/>
          </a:xfrm>
          <a:prstGeom prst="ellipse">
            <a:avLst/>
          </a:prstGeom>
          <a:solidFill>
            <a:srgbClr val="0F766E"/>
          </a:solidFill>
          <a:ln w="12700">
            <a:solidFill>
              <a:srgbClr val="0F766E"/>
            </a:solidFill>
            <a:prstDash val="solid"/>
          </a:ln>
        </p:spPr>
        <p:txBody>
          <a:bodyPr/>
          <a:p/>
        </p:txBody>
      </p:sp>
      <p:sp>
        <p:nvSpPr>
          <p:cNvPr id="12" name="Text 10"/>
          <p:cNvSpPr txBox="1"/>
          <p:nvPr/>
        </p:nvSpPr>
        <p:spPr>
          <a:xfrm>
            <a:off x="566928" y="3172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42416" y="3136392"/>
            <a:ext cx="4919472" cy="65836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Build format-aware parsers producing a common intermediate representation</a:t>
            </a:r>
            <a:endParaRPr lang="en-US" sz="1300" dirty="0"/>
          </a:p>
        </p:txBody>
      </p:sp>
      <p:sp>
        <p:nvSpPr>
          <p:cNvPr id="14" name="Shape 12"/>
          <p:cNvSpPr/>
          <p:nvPr/>
        </p:nvSpPr>
        <p:spPr>
          <a:xfrm>
            <a:off x="566928" y="3886200"/>
            <a:ext cx="329184" cy="329184"/>
          </a:xfrm>
          <a:prstGeom prst="ellipse">
            <a:avLst/>
          </a:prstGeom>
          <a:solidFill>
            <a:srgbClr val="0F766E"/>
          </a:solidFill>
          <a:ln w="12700">
            <a:solidFill>
              <a:srgbClr val="0F766E"/>
            </a:solidFill>
            <a:prstDash val="solid"/>
          </a:ln>
        </p:spPr>
        <p:txBody>
          <a:bodyPr/>
          <a:p/>
        </p:txBody>
      </p:sp>
      <p:sp>
        <p:nvSpPr>
          <p:cNvPr id="15" name="Text 13"/>
          <p:cNvSpPr txBox="1"/>
          <p:nvPr/>
        </p:nvSpPr>
        <p:spPr>
          <a:xfrm>
            <a:off x="566928" y="3886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42416" y="3849624"/>
            <a:ext cx="4919472" cy="65836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Implement 30 to 50 timing features across question, section and survey levels</a:t>
            </a:r>
            <a:endParaRPr lang="en-US" sz="1300" dirty="0"/>
          </a:p>
        </p:txBody>
      </p:sp>
      <p:sp>
        <p:nvSpPr>
          <p:cNvPr id="17" name="Shape 15"/>
          <p:cNvSpPr/>
          <p:nvPr/>
        </p:nvSpPr>
        <p:spPr>
          <a:xfrm>
            <a:off x="6419088" y="2459736"/>
            <a:ext cx="329184" cy="329184"/>
          </a:xfrm>
          <a:prstGeom prst="ellipse">
            <a:avLst/>
          </a:prstGeom>
          <a:solidFill>
            <a:srgbClr val="0F766E"/>
          </a:solidFill>
          <a:ln w="12700">
            <a:solidFill>
              <a:srgbClr val="0F766E"/>
            </a:solidFill>
            <a:prstDash val="solid"/>
          </a:ln>
        </p:spPr>
        <p:txBody>
          <a:bodyPr/>
          <a:p/>
        </p:txBody>
      </p:sp>
      <p:sp>
        <p:nvSpPr>
          <p:cNvPr id="18" name="Text 16"/>
          <p:cNvSpPr txBox="1"/>
          <p:nvPr/>
        </p:nvSpPr>
        <p:spPr>
          <a:xfrm>
            <a:off x="6419088" y="2459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894576" y="2423160"/>
            <a:ext cx="4937760" cy="65836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Compute statistical measures: variance, entropy, skewness, kurtosis</a:t>
            </a:r>
            <a:endParaRPr lang="en-US" sz="1300" dirty="0"/>
          </a:p>
        </p:txBody>
      </p:sp>
      <p:sp>
        <p:nvSpPr>
          <p:cNvPr id="20" name="Shape 18"/>
          <p:cNvSpPr/>
          <p:nvPr/>
        </p:nvSpPr>
        <p:spPr>
          <a:xfrm>
            <a:off x="6419088" y="3172968"/>
            <a:ext cx="329184" cy="329184"/>
          </a:xfrm>
          <a:prstGeom prst="ellipse">
            <a:avLst/>
          </a:prstGeom>
          <a:solidFill>
            <a:srgbClr val="0F766E"/>
          </a:solidFill>
          <a:ln w="12700">
            <a:solidFill>
              <a:srgbClr val="0F766E"/>
            </a:solidFill>
            <a:prstDash val="solid"/>
          </a:ln>
        </p:spPr>
        <p:txBody>
          <a:bodyPr/>
          <a:p/>
        </p:txBody>
      </p:sp>
      <p:sp>
        <p:nvSpPr>
          <p:cNvPr id="21" name="Text 19"/>
          <p:cNvSpPr txBox="1"/>
          <p:nvPr/>
        </p:nvSpPr>
        <p:spPr>
          <a:xfrm>
            <a:off x="6419088" y="3172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6894576" y="3136392"/>
            <a:ext cx="4937760" cy="65836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Detect anomalies with IQR fences plus rules, validated on precision and recall</a:t>
            </a:r>
            <a:endParaRPr lang="en-US" sz="1300" dirty="0"/>
          </a:p>
        </p:txBody>
      </p:sp>
      <p:sp>
        <p:nvSpPr>
          <p:cNvPr id="23" name="Shape 21"/>
          <p:cNvSpPr/>
          <p:nvPr/>
        </p:nvSpPr>
        <p:spPr>
          <a:xfrm>
            <a:off x="6419088" y="3886200"/>
            <a:ext cx="329184" cy="329184"/>
          </a:xfrm>
          <a:prstGeom prst="ellipse">
            <a:avLst/>
          </a:prstGeom>
          <a:solidFill>
            <a:srgbClr val="0F766E"/>
          </a:solidFill>
          <a:ln w="12700">
            <a:solidFill>
              <a:srgbClr val="0F766E"/>
            </a:solidFill>
            <a:prstDash val="solid"/>
          </a:ln>
        </p:spPr>
        <p:txBody>
          <a:bodyPr/>
          <a:p/>
        </p:txBody>
      </p:sp>
      <p:sp>
        <p:nvSpPr>
          <p:cNvPr id="24" name="Text 22"/>
          <p:cNvSpPr txBox="1"/>
          <p:nvPr/>
        </p:nvSpPr>
        <p:spPr>
          <a:xfrm>
            <a:off x="6419088" y="3886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txBox="1"/>
          <p:nvPr/>
        </p:nvSpPr>
        <p:spPr>
          <a:xfrm>
            <a:off x="6894576" y="3849624"/>
            <a:ext cx="4937760" cy="65836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Deliver structured outputs, feature documentation and a paradata format guide</a:t>
            </a:r>
            <a:endParaRPr lang="en-US" sz="1300" dirty="0"/>
          </a:p>
        </p:txBody>
      </p:sp>
      <p:sp>
        <p:nvSpPr>
          <p:cNvPr id="26" name="Shape 24"/>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7" name="Shape 25"/>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8" name="Text 26"/>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Five of the six are met in full. Objective 2 is met for the two synthetic formats and only in part for native exports.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2</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The literature sets the design, not intuition</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6</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5096" cy="914400"/>
        </p:xfrm>
        <a:graphic>
          <a:graphicData uri="http://schemas.openxmlformats.org/drawingml/2006/table">
            <a:tbl>
              <a:tblPr/>
              <a:tblGrid>
                <a:gridCol w="2514600"/>
                <a:gridCol w="4160520"/>
                <a:gridCol w="4379976"/>
              </a:tblGrid>
              <a:tr h="40233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decided in this system</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Groves et al. (2009)</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Total Survey Error: quality is the product of error at every stage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Paradata as an interview-stage error signal</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Birnbaum et al. (2013)</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Behavioural logs from ODK Collect identify fabrication with up to 96% accuracy</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Question- and interview-level timing features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Yan &amp; Tourangeau (2008)</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Response times depend on question length, answer options and the respondent, and are positively skewed</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Complexity-relative pace; rank-based statistics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Schwanhäuser et al. (2022)</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Falsifiers score inconsistently on any single indicator, so combine many</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 score that counts flags across feature families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Iglewicz &amp; Hoaglin (1993)</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Mean and standard deviation are distorted by the outliers they are meant to find</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Tukey fences over z-score thresholding</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Bushery et al. (1999)</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Date and time stamps alone can identify suspect interviewers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The premise the whole pipeline rests on</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Finn &amp; Ranchhod (2017)</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Fabrication in a large field survey; effects uneven across estimators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Why detection beats case-by-case reasoning</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Hoogeveen &amp; Pape (2020)</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Thin supervisory capacity in fragile and low-resource settings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Explainable flags, median-relative thresholds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7" name="Shape 4"/>
          <p:cNvSpPr/>
          <p:nvPr/>
        </p:nvSpPr>
        <p:spPr>
          <a:xfrm>
            <a:off x="566928" y="5504688"/>
            <a:ext cx="11055096" cy="566928"/>
          </a:xfrm>
          <a:prstGeom prst="roundRect">
            <a:avLst>
              <a:gd name="adj" fmla="val 9677"/>
            </a:avLst>
          </a:prstGeom>
          <a:solidFill>
            <a:srgbClr val="EEF2F6"/>
          </a:solidFill>
          <a:ln w="12700">
            <a:solidFill>
              <a:srgbClr val="EEF2F6"/>
            </a:solidFill>
            <a:prstDash val="solid"/>
          </a:ln>
        </p:spPr>
        <p:txBody>
          <a:bodyPr/>
          <a:p/>
        </p:txBody>
      </p:sp>
      <p:sp>
        <p:nvSpPr>
          <p:cNvPr id="8" name="Shape 5"/>
          <p:cNvSpPr/>
          <p:nvPr/>
        </p:nvSpPr>
        <p:spPr>
          <a:xfrm>
            <a:off x="694944" y="5632704"/>
            <a:ext cx="91440" cy="310896"/>
          </a:xfrm>
          <a:prstGeom prst="roundRect">
            <a:avLst>
              <a:gd name="adj" fmla="val 40000"/>
            </a:avLst>
          </a:prstGeom>
          <a:solidFill>
            <a:srgbClr val="0F766E"/>
          </a:solidFill>
          <a:ln w="12700">
            <a:solidFill>
              <a:srgbClr val="0F766E"/>
            </a:solidFill>
            <a:prstDash val="solid"/>
          </a:ln>
        </p:spPr>
        <p:txBody>
          <a:bodyPr/>
          <a:p/>
        </p:txBody>
      </p:sp>
      <p:sp>
        <p:nvSpPr>
          <p:cNvPr id="9" name="Text 6"/>
          <p:cNvSpPr txBox="1"/>
          <p:nvPr/>
        </p:nvSpPr>
        <p:spPr>
          <a:xfrm>
            <a:off x="932688" y="5550408"/>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28 references, each checked against its source (Appendix E). Where no source supports a feature, the report calls it a design choice.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1</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What this project contributes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7</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5349240" cy="1664208"/>
          </a:xfrm>
          <a:prstGeom prst="roundRect">
            <a:avLst>
              <a:gd name="adj" fmla="val 2747"/>
            </a:avLst>
          </a:prstGeom>
          <a:solidFill>
            <a:srgbClr val="EEF2F6"/>
          </a:solidFill>
          <a:ln w="12700">
            <a:solidFill>
              <a:srgbClr val="EEF2F6"/>
            </a:solidFill>
            <a:prstDash val="solid"/>
          </a:ln>
        </p:spPr>
        <p:txBody>
          <a:bodyPr/>
          <a:p/>
        </p:txBody>
      </p:sp>
      <p:sp>
        <p:nvSpPr>
          <p:cNvPr id="7" name="Shape 5"/>
          <p:cNvSpPr/>
          <p:nvPr/>
        </p:nvSpPr>
        <p:spPr>
          <a:xfrm>
            <a:off x="804672" y="1609344"/>
            <a:ext cx="310896" cy="310896"/>
          </a:xfrm>
          <a:prstGeom prst="ellipse">
            <a:avLst/>
          </a:prstGeom>
          <a:solidFill>
            <a:srgbClr val="0F766E"/>
          </a:solidFill>
          <a:ln w="12700">
            <a:solidFill>
              <a:srgbClr val="0F766E"/>
            </a:solidFill>
            <a:prstDash val="solid"/>
          </a:ln>
        </p:spPr>
        <p:txBody>
          <a:bodyPr/>
          <a:p/>
        </p:txBody>
      </p:sp>
      <p:sp>
        <p:nvSpPr>
          <p:cNvPr id="8" name="Text 6"/>
          <p:cNvSpPr txBox="1"/>
          <p:nvPr/>
        </p:nvSpPr>
        <p:spPr>
          <a:xfrm>
            <a:off x="804672" y="16093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25296" y="1572768"/>
            <a:ext cx="44805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A format-agnostic intermediate representation</a:t>
            </a:r>
            <a:endParaRPr lang="en-US" sz="1450" dirty="0"/>
          </a:p>
        </p:txBody>
      </p:sp>
      <p:sp>
        <p:nvSpPr>
          <p:cNvPr id="10" name="Text 8"/>
          <p:cNvSpPr txBox="1"/>
          <p:nvPr/>
        </p:nvSpPr>
        <p:spPr>
          <a:xfrm>
            <a:off x="1225296" y="1993392"/>
            <a:ext cx="4480560" cy="914400"/>
          </a:xfrm>
          <a:prstGeom prst="rect">
            <a:avLst/>
          </a:prstGeom>
          <a:noFill/>
          <a:ln/>
        </p:spPr>
        <p:txBody>
          <a:bodyPr wrap="square" lIns="0" tIns="0" rIns="0" bIns="0" rtlCol="0" anchor="ctr"/>
          <a:lstStyle/>
          <a:p>
            <a:pPr indent="0" marL="0">
              <a:lnSpc>
                <a:spcPts val="1650"/>
              </a:lnSpc>
              <a:buNone/>
            </a:pPr>
            <a:r>
              <a:rPr lang="en-US" sz="1200" dirty="0">
                <a:solidFill>
                  <a:srgbClr val="3E4C55"/>
                </a:solidFill>
                <a:latin typeface="Calibri" pitchFamily="34" charset="0"/>
                <a:ea typeface="Calibri" pitchFamily="34" charset="-122"/>
                <a:cs typeface="Calibri" pitchFamily="34" charset="-120"/>
              </a:rPr>
              <a:t>Six columns that reduce SurveyCTO and ODK logs to one shape. Supporting a new platform means writing one parser and changing nothing downstream.</a:t>
            </a:r>
            <a:endParaRPr lang="en-US" sz="1200" dirty="0"/>
          </a:p>
        </p:txBody>
      </p:sp>
      <p:sp>
        <p:nvSpPr>
          <p:cNvPr id="11" name="Shape 9"/>
          <p:cNvSpPr/>
          <p:nvPr/>
        </p:nvSpPr>
        <p:spPr>
          <a:xfrm>
            <a:off x="6281928" y="1371600"/>
            <a:ext cx="5349240" cy="1664208"/>
          </a:xfrm>
          <a:prstGeom prst="roundRect">
            <a:avLst>
              <a:gd name="adj" fmla="val 2747"/>
            </a:avLst>
          </a:prstGeom>
          <a:solidFill>
            <a:srgbClr val="EEF2F6"/>
          </a:solidFill>
          <a:ln w="12700">
            <a:solidFill>
              <a:srgbClr val="EEF2F6"/>
            </a:solidFill>
            <a:prstDash val="solid"/>
          </a:ln>
        </p:spPr>
        <p:txBody>
          <a:bodyPr/>
          <a:p/>
        </p:txBody>
      </p:sp>
      <p:sp>
        <p:nvSpPr>
          <p:cNvPr id="12" name="Shape 10"/>
          <p:cNvSpPr/>
          <p:nvPr/>
        </p:nvSpPr>
        <p:spPr>
          <a:xfrm>
            <a:off x="6519672" y="1609344"/>
            <a:ext cx="310896" cy="310896"/>
          </a:xfrm>
          <a:prstGeom prst="ellipse">
            <a:avLst/>
          </a:prstGeom>
          <a:solidFill>
            <a:srgbClr val="0F766E"/>
          </a:solidFill>
          <a:ln w="12700">
            <a:solidFill>
              <a:srgbClr val="0F766E"/>
            </a:solidFill>
            <a:prstDash val="solid"/>
          </a:ln>
        </p:spPr>
        <p:txBody>
          <a:bodyPr/>
          <a:p/>
        </p:txBody>
      </p:sp>
      <p:sp>
        <p:nvSpPr>
          <p:cNvPr id="13" name="Text 11"/>
          <p:cNvSpPr txBox="1"/>
          <p:nvPr/>
        </p:nvSpPr>
        <p:spPr>
          <a:xfrm>
            <a:off x="6519672" y="16093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6940296" y="1572768"/>
            <a:ext cx="44805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A documented, tested feature library</a:t>
            </a:r>
            <a:endParaRPr lang="en-US" sz="1450" dirty="0"/>
          </a:p>
        </p:txBody>
      </p:sp>
      <p:sp>
        <p:nvSpPr>
          <p:cNvPr id="15" name="Text 13"/>
          <p:cNvSpPr txBox="1"/>
          <p:nvPr/>
        </p:nvSpPr>
        <p:spPr>
          <a:xfrm>
            <a:off x="6940296" y="1993392"/>
            <a:ext cx="4480560" cy="914400"/>
          </a:xfrm>
          <a:prstGeom prst="rect">
            <a:avLst/>
          </a:prstGeom>
          <a:noFill/>
          <a:ln/>
        </p:spPr>
        <p:txBody>
          <a:bodyPr wrap="square" lIns="0" tIns="0" rIns="0" bIns="0" rtlCol="0" anchor="ctr"/>
          <a:lstStyle/>
          <a:p>
            <a:pPr indent="0" marL="0">
              <a:lnSpc>
                <a:spcPts val="1650"/>
              </a:lnSpc>
              <a:buNone/>
            </a:pPr>
            <a:r>
              <a:rPr lang="en-US" sz="1200" dirty="0">
                <a:solidFill>
                  <a:srgbClr val="3E4C55"/>
                </a:solidFill>
                <a:latin typeface="Calibri" pitchFamily="34" charset="0"/>
                <a:ea typeface="Calibri" pitchFamily="34" charset="-122"/>
                <a:cs typeface="Calibri" pitchFamily="34" charset="-120"/>
              </a:rPr>
              <a:t>40 timing features with stable identifiers across question, section, survey and statistical families, shipped with a coverage table generated from the code.</a:t>
            </a:r>
            <a:endParaRPr lang="en-US" sz="1200" dirty="0"/>
          </a:p>
        </p:txBody>
      </p:sp>
      <p:sp>
        <p:nvSpPr>
          <p:cNvPr id="16" name="Shape 14"/>
          <p:cNvSpPr/>
          <p:nvPr/>
        </p:nvSpPr>
        <p:spPr>
          <a:xfrm>
            <a:off x="566928" y="3246120"/>
            <a:ext cx="5349240" cy="1664208"/>
          </a:xfrm>
          <a:prstGeom prst="roundRect">
            <a:avLst>
              <a:gd name="adj" fmla="val 2747"/>
            </a:avLst>
          </a:prstGeom>
          <a:solidFill>
            <a:srgbClr val="EEF2F6"/>
          </a:solidFill>
          <a:ln w="12700">
            <a:solidFill>
              <a:srgbClr val="EEF2F6"/>
            </a:solidFill>
            <a:prstDash val="solid"/>
          </a:ln>
        </p:spPr>
        <p:txBody>
          <a:bodyPr/>
          <a:p/>
        </p:txBody>
      </p:sp>
      <p:sp>
        <p:nvSpPr>
          <p:cNvPr id="17" name="Shape 15"/>
          <p:cNvSpPr/>
          <p:nvPr/>
        </p:nvSpPr>
        <p:spPr>
          <a:xfrm>
            <a:off x="804672" y="3483864"/>
            <a:ext cx="310896" cy="310896"/>
          </a:xfrm>
          <a:prstGeom prst="ellipse">
            <a:avLst/>
          </a:prstGeom>
          <a:solidFill>
            <a:srgbClr val="0F766E"/>
          </a:solidFill>
          <a:ln w="12700">
            <a:solidFill>
              <a:srgbClr val="0F766E"/>
            </a:solidFill>
            <a:prstDash val="solid"/>
          </a:ln>
        </p:spPr>
        <p:txBody>
          <a:bodyPr/>
          <a:p/>
        </p:txBody>
      </p:sp>
      <p:sp>
        <p:nvSpPr>
          <p:cNvPr id="18" name="Text 16"/>
          <p:cNvSpPr txBox="1"/>
          <p:nvPr/>
        </p:nvSpPr>
        <p:spPr>
          <a:xfrm>
            <a:off x="804672" y="34838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225296" y="3447288"/>
            <a:ext cx="44805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A like-for-like baseline comparison</a:t>
            </a:r>
            <a:endParaRPr lang="en-US" sz="1450" dirty="0"/>
          </a:p>
        </p:txBody>
      </p:sp>
      <p:sp>
        <p:nvSpPr>
          <p:cNvPr id="20" name="Text 18"/>
          <p:cNvSpPr txBox="1"/>
          <p:nvPr/>
        </p:nvSpPr>
        <p:spPr>
          <a:xfrm>
            <a:off x="1225296" y="3867912"/>
            <a:ext cx="4480560" cy="914400"/>
          </a:xfrm>
          <a:prstGeom prst="rect">
            <a:avLst/>
          </a:prstGeom>
          <a:noFill/>
          <a:ln/>
        </p:spPr>
        <p:txBody>
          <a:bodyPr wrap="square" lIns="0" tIns="0" rIns="0" bIns="0" rtlCol="0" anchor="ctr"/>
          <a:lstStyle/>
          <a:p>
            <a:pPr indent="0" marL="0">
              <a:lnSpc>
                <a:spcPts val="1650"/>
              </a:lnSpc>
              <a:buNone/>
            </a:pPr>
            <a:r>
              <a:rPr lang="en-US" sz="1200" dirty="0">
                <a:solidFill>
                  <a:srgbClr val="3E4C55"/>
                </a:solidFill>
                <a:latin typeface="Calibri" pitchFamily="34" charset="0"/>
                <a:ea typeface="Calibri" pitchFamily="34" charset="-122"/>
                <a:cs typeface="Calibri" pitchFamily="34" charset="-120"/>
              </a:rPr>
              <a:t>The full detector and two current-practice methods computed from the same files, features and labels inside one audited script.</a:t>
            </a:r>
            <a:endParaRPr lang="en-US" sz="1200" dirty="0"/>
          </a:p>
        </p:txBody>
      </p:sp>
      <p:sp>
        <p:nvSpPr>
          <p:cNvPr id="21" name="Shape 19"/>
          <p:cNvSpPr/>
          <p:nvPr/>
        </p:nvSpPr>
        <p:spPr>
          <a:xfrm>
            <a:off x="6281928" y="3246120"/>
            <a:ext cx="5349240" cy="1664208"/>
          </a:xfrm>
          <a:prstGeom prst="roundRect">
            <a:avLst>
              <a:gd name="adj" fmla="val 2747"/>
            </a:avLst>
          </a:prstGeom>
          <a:solidFill>
            <a:srgbClr val="EEF2F6"/>
          </a:solidFill>
          <a:ln w="12700">
            <a:solidFill>
              <a:srgbClr val="EEF2F6"/>
            </a:solidFill>
            <a:prstDash val="solid"/>
          </a:ln>
        </p:spPr>
        <p:txBody>
          <a:bodyPr/>
          <a:p/>
        </p:txBody>
      </p:sp>
      <p:sp>
        <p:nvSpPr>
          <p:cNvPr id="22" name="Shape 20"/>
          <p:cNvSpPr/>
          <p:nvPr/>
        </p:nvSpPr>
        <p:spPr>
          <a:xfrm>
            <a:off x="6519672" y="3483864"/>
            <a:ext cx="310896" cy="310896"/>
          </a:xfrm>
          <a:prstGeom prst="ellipse">
            <a:avLst/>
          </a:prstGeom>
          <a:solidFill>
            <a:srgbClr val="0F766E"/>
          </a:solidFill>
          <a:ln w="12700">
            <a:solidFill>
              <a:srgbClr val="0F766E"/>
            </a:solidFill>
            <a:prstDash val="solid"/>
          </a:ln>
        </p:spPr>
        <p:txBody>
          <a:bodyPr/>
          <a:p/>
        </p:txBody>
      </p:sp>
      <p:sp>
        <p:nvSpPr>
          <p:cNvPr id="23" name="Text 21"/>
          <p:cNvSpPr txBox="1"/>
          <p:nvPr/>
        </p:nvSpPr>
        <p:spPr>
          <a:xfrm>
            <a:off x="6519672" y="34838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6940296" y="3447288"/>
            <a:ext cx="44805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An evaluation designed to fail</a:t>
            </a:r>
            <a:endParaRPr lang="en-US" sz="1450" dirty="0"/>
          </a:p>
        </p:txBody>
      </p:sp>
      <p:sp>
        <p:nvSpPr>
          <p:cNvPr id="25" name="Text 23"/>
          <p:cNvSpPr txBox="1"/>
          <p:nvPr/>
        </p:nvSpPr>
        <p:spPr>
          <a:xfrm>
            <a:off x="6940296" y="3867912"/>
            <a:ext cx="4480560" cy="914400"/>
          </a:xfrm>
          <a:prstGeom prst="rect">
            <a:avLst/>
          </a:prstGeom>
          <a:noFill/>
          <a:ln/>
        </p:spPr>
        <p:txBody>
          <a:bodyPr wrap="square" lIns="0" tIns="0" rIns="0" bIns="0" rtlCol="0" anchor="ctr"/>
          <a:lstStyle/>
          <a:p>
            <a:pPr indent="0" marL="0">
              <a:lnSpc>
                <a:spcPts val="1650"/>
              </a:lnSpc>
              <a:buNone/>
            </a:pPr>
            <a:r>
              <a:rPr lang="en-US" sz="1200" dirty="0">
                <a:solidFill>
                  <a:srgbClr val="3E4C55"/>
                </a:solidFill>
                <a:latin typeface="Calibri" pitchFamily="34" charset="0"/>
                <a:ea typeface="Calibri" pitchFamily="34" charset="-122"/>
                <a:cs typeface="Calibri" pitchFamily="34" charset="-120"/>
              </a:rPr>
              <a:t>Held-out seeds, overlapping profiles, a prevalence sweep, and a breakdown that isolates and reports the weaker half of my own detector.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CHAPTERS 3 AND 4</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Five layers, one contract between them</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figure1_architecture.png">    </p:cNvPr>
          <p:cNvPicPr>
            <a:picLocks noChangeAspect="1"/>
          </p:cNvPicPr>
          <p:nvPr/>
        </p:nvPicPr>
        <p:blipFill>
          <a:blip r:embed="rId1"/>
          <a:stretch>
            <a:fillRect/>
          </a:stretch>
        </p:blipFill>
        <p:spPr>
          <a:xfrm>
            <a:off x="3877056" y="1170432"/>
            <a:ext cx="4590288" cy="3657600"/>
          </a:xfrm>
          <a:prstGeom prst="rect">
            <a:avLst/>
          </a:prstGeom>
        </p:spPr>
      </p:pic>
      <p:sp>
        <p:nvSpPr>
          <p:cNvPr id="7" name="Text 4"/>
          <p:cNvSpPr txBox="1"/>
          <p:nvPr/>
        </p:nvSpPr>
        <p:spPr>
          <a:xfrm>
            <a:off x="566928" y="1371600"/>
            <a:ext cx="3154680" cy="3566160"/>
          </a:xfrm>
          <a:prstGeom prst="rect">
            <a:avLst/>
          </a:prstGeom>
          <a:noFill/>
          <a:ln/>
        </p:spPr>
        <p:txBody>
          <a:bodyPr wrap="square" lIns="0" tIns="0" rIns="0" bIns="0" rtlCol="0" anchor="ctr"/>
          <a:lstStyle/>
          <a:p>
            <a:pPr indent="0" marL="0">
              <a:lnSpc>
                <a:spcPts val="1750"/>
              </a:lnSpc>
              <a:buNone/>
            </a:pPr>
            <a:r>
              <a:rPr lang="en-US" sz="1250" b="1" dirty="0">
                <a:solidFill>
                  <a:srgbClr val="1F2933"/>
                </a:solidFill>
                <a:latin typeface="Calibri" pitchFamily="34" charset="0"/>
                <a:ea typeface="Calibri" pitchFamily="34" charset="-122"/>
                <a:cs typeface="Calibri" pitchFamily="34" charset="-120"/>
              </a:rPr>
              <a:t>The intermediate representation is the only contract between parsing and everything above it.</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SurveyCTO exports epoch milliseconds against XPath node ids. ODK exports ISO 8601 strings against instance and name columns. Both reduce to the same six columns: interview id, field name, event type, start, end and duration in milliseconds.</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Because nothing above layer 2 knows which platform produced a row, the same detector runs unmodified on both, and adding a platform is a parser and no more.</a:t>
            </a:r>
            <a:endParaRPr lang="en-US" sz="1250" dirty="0"/>
          </a:p>
        </p:txBody>
      </p:sp>
      <p:sp>
        <p:nvSpPr>
          <p:cNvPr id="8" name="Text 5"/>
          <p:cNvSpPr txBox="1"/>
          <p:nvPr/>
        </p:nvSpPr>
        <p:spPr>
          <a:xfrm>
            <a:off x="8686800" y="1371600"/>
            <a:ext cx="2935224" cy="2377440"/>
          </a:xfrm>
          <a:prstGeom prst="rect">
            <a:avLst/>
          </a:prstGeom>
          <a:noFill/>
          <a:ln/>
        </p:spPr>
        <p:txBody>
          <a:bodyPr wrap="square" lIns="0" tIns="0" rIns="0" bIns="0" rtlCol="0" anchor="ctr"/>
          <a:lstStyle/>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Parsers mark rather than repair.  </a:t>
            </a:r>
            <a:pPr indent="0" marL="0">
              <a:lnSpc>
                <a:spcPts val="1700"/>
              </a:lnSpc>
              <a:buNone/>
            </a:pPr>
            <a:r>
              <a:rPr lang="en-US" sz="1200" dirty="0">
                <a:solidFill>
                  <a:srgbClr val="1F2933"/>
                </a:solidFill>
                <a:latin typeface="Calibri" pitchFamily="34" charset="0"/>
                <a:ea typeface="Calibri" pitchFamily="34" charset="-122"/>
                <a:cs typeface="Calibri" pitchFamily="34" charset="-120"/>
              </a:rPr>
              <a:t>Missing field names, unparseable timestamps and negative durations are flagged into a separate data-quality path, so device faults never read as behavioural anomalies.</a:t>
            </a:r>
            <a:endParaRPr lang="en-US" sz="1200" dirty="0"/>
          </a:p>
        </p:txBody>
      </p:sp>
      <p:sp>
        <p:nvSpPr>
          <p:cNvPr id="9" name="Shape 6"/>
          <p:cNvSpPr/>
          <p:nvPr/>
        </p:nvSpPr>
        <p:spPr>
          <a:xfrm>
            <a:off x="566928" y="5138928"/>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0" name="Shape 7"/>
          <p:cNvSpPr/>
          <p:nvPr/>
        </p:nvSpPr>
        <p:spPr>
          <a:xfrm>
            <a:off x="694944" y="5266944"/>
            <a:ext cx="91440" cy="310896"/>
          </a:xfrm>
          <a:prstGeom prst="roundRect">
            <a:avLst>
              <a:gd name="adj" fmla="val 40000"/>
            </a:avLst>
          </a:prstGeom>
          <a:solidFill>
            <a:srgbClr val="0F766E"/>
          </a:solidFill>
          <a:ln w="12700">
            <a:solidFill>
              <a:srgbClr val="0F766E"/>
            </a:solidFill>
            <a:prstDash val="solid"/>
          </a:ln>
        </p:spPr>
        <p:txBody>
          <a:bodyPr/>
          <a:p/>
        </p:txBody>
      </p:sp>
      <p:sp>
        <p:nvSpPr>
          <p:cNvPr id="11" name="Text 8"/>
          <p:cNvSpPr txBox="1"/>
          <p:nvPr/>
        </p:nvSpPr>
        <p:spPr>
          <a:xfrm>
            <a:off x="932688" y="5184648"/>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Cross-format parity is a result, not an assumption: the same detector scores 1.0000 / 1.0000 on both formats at n500.</a:t>
            </a:r>
            <a:endParaRPr lang="en-US" sz="135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9</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2  ·  THE SYSTEM</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Where everything lives in the repository</a:t>
            </a:r>
          </a:p>
        </p:txBody>
      </p:sp>
      <p:graphicFrame>
        <p:nvGraphicFramePr>
          <p:cNvPr id="6" name="Table 5"/>
          <p:cNvGraphicFramePr>
            <a:graphicFrameLocks noGrp="1"/>
          </p:cNvGraphicFramePr>
          <p:nvPr/>
        </p:nvGraphicFramePr>
        <p:xfrm>
          <a:off x="566928" y="1325880"/>
          <a:ext cx="11055095" cy="3657600"/>
        </p:xfrm>
        <a:graphic>
          <a:graphicData uri="http://schemas.openxmlformats.org/drawingml/2006/table">
            <a:tbl>
              <a:tblPr firstRow="0" bandRow="0"/>
              <a:tblGrid>
                <a:gridCol w="2649568"/>
                <a:gridCol w="8405527"/>
              </a:tblGrid>
              <a:tr h="365760">
                <a:tc>
                  <a:txBody>
                    <a:bodyPr wrap="square"/>
                    <a:lstStyle/>
                    <a:p>
                      <a:r>
                        <a:rPr sz="1150" b="1" i="0">
                          <a:solidFill>
                            <a:srgbClr val="FFFFFF"/>
                          </a:solidFill>
                          <a:latin typeface="Calibri"/>
                        </a:rPr>
                        <a:t>Path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What is in it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65760">
                <a:tc>
                  <a:txBody>
                    <a:bodyPr wrap="square"/>
                    <a:lstStyle/>
                    <a:p>
                      <a:r>
                        <a:rPr sz="1000" b="0" i="0">
                          <a:solidFill>
                            <a:srgbClr val="1F2933"/>
                          </a:solidFill>
                          <a:latin typeface="Courier New"/>
                        </a:rPr>
                        <a:t>run_pipeline.py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the one command: parse, extract features, detect, write outputs, and evaluate when labels are given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src/parsers/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surveycto_parser.py, odk_parser.py, base_parser.py: raw files to the six common columns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src/features/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question_, section_, survey_ and statistical_features.py: the forty features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src/validation/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anomaly_detector.py (flags and score), detector_config.py, reporting.py, statistical_tests.py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src/pipeline/controller.py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runs the stages in order and adds the batch-stage features such as V-09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tests/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44 tests, and the synthetic data generator (test_adversarial.py, generate_benchmark_datasets.py)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scripts/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the evaluation and build scripts: robustness round, envelope, baselines, parity, memory, figures, Word build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data/, output/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committed benchmark inputs, and every recorded result the report quotes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report/, docs/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the report source, figures, validation report, AI log, tracker, evidence index, Word and PDF deliverables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Every number in the report names a file under output/ and a command that regenerates it (Appendix D).</a:t>
            </a:r>
          </a:p>
        </p:txBody>
      </p:sp>
      <p:sp>
        <p:nvSpPr>
          <p:cNvPr id="10" name="TextBox 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Repository: github.com/Samuelkaoma-eng/SKACE-TIME-DATA, tag v-final-release.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10</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2  ·  THE SYSTEM</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Running it: five commands</a:t>
            </a:r>
          </a:p>
        </p:txBody>
      </p:sp>
      <p:sp>
        <p:nvSpPr>
          <p:cNvPr id="6" name="TextBox 5"/>
          <p:cNvSpPr txBox="1"/>
          <p:nvPr/>
        </p:nvSpPr>
        <p:spPr>
          <a:xfrm>
            <a:off x="566928" y="1325880"/>
            <a:ext cx="3840480" cy="548640"/>
          </a:xfrm>
          <a:prstGeom prst="rect">
            <a:avLst/>
          </a:prstGeom>
          <a:noFill/>
        </p:spPr>
        <p:txBody>
          <a:bodyPr wrap="square" lIns="36576" rIns="36576" tIns="18288" bIns="18288" anchor="ctr">
            <a:spAutoFit/>
          </a:bodyPr>
          <a:lstStyle/>
          <a:p>
            <a:pPr algn="l">
              <a:spcAft>
                <a:spcPts val="400"/>
              </a:spcAft>
            </a:pPr>
            <a:r>
              <a:rPr sz="1250" b="1" i="0">
                <a:solidFill>
                  <a:srgbClr val="1F2933"/>
                </a:solidFill>
                <a:latin typeface="Calibri"/>
              </a:rPr>
              <a:t>Install the validated environment</a:t>
            </a:r>
          </a:p>
        </p:txBody>
      </p:sp>
      <p:sp>
        <p:nvSpPr>
          <p:cNvPr id="7" name="Rectangle 6"/>
          <p:cNvSpPr/>
          <p:nvPr/>
        </p:nvSpPr>
        <p:spPr>
          <a:xfrm>
            <a:off x="4480560" y="1362456"/>
            <a:ext cx="7141464" cy="512064"/>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399032"/>
            <a:ext cx="6903720" cy="438912"/>
          </a:xfrm>
          <a:prstGeom prst="rect">
            <a:avLst/>
          </a:prstGeom>
          <a:noFill/>
        </p:spPr>
        <p:txBody>
          <a:bodyPr wrap="square" lIns="36576" rIns="36576" tIns="18288" bIns="18288" anchor="ctr">
            <a:spAutoFit/>
          </a:bodyPr>
          <a:lstStyle/>
          <a:p>
            <a:pPr algn="l">
              <a:spcAft>
                <a:spcPts val="400"/>
              </a:spcAft>
            </a:pPr>
            <a:r>
              <a:rPr sz="1100" b="0" i="0">
                <a:solidFill>
                  <a:srgbClr val="E6EDF3"/>
                </a:solidFill>
                <a:latin typeface="Courier New"/>
              </a:rPr>
              <a:t>python -m pip install -r requirements-validated.txt</a:t>
            </a:r>
          </a:p>
        </p:txBody>
      </p:sp>
      <p:sp>
        <p:nvSpPr>
          <p:cNvPr id="9" name="TextBox 8"/>
          <p:cNvSpPr txBox="1"/>
          <p:nvPr/>
        </p:nvSpPr>
        <p:spPr>
          <a:xfrm>
            <a:off x="566928" y="2039112"/>
            <a:ext cx="3840480" cy="548640"/>
          </a:xfrm>
          <a:prstGeom prst="rect">
            <a:avLst/>
          </a:prstGeom>
          <a:noFill/>
        </p:spPr>
        <p:txBody>
          <a:bodyPr wrap="square" lIns="36576" rIns="36576" tIns="18288" bIns="18288" anchor="ctr">
            <a:spAutoFit/>
          </a:bodyPr>
          <a:lstStyle/>
          <a:p>
            <a:pPr algn="l">
              <a:spcAft>
                <a:spcPts val="400"/>
              </a:spcAft>
            </a:pPr>
            <a:r>
              <a:rPr sz="1250" b="1" i="0">
                <a:solidFill>
                  <a:srgbClr val="1F2933"/>
                </a:solidFill>
                <a:latin typeface="Calibri"/>
              </a:rPr>
              <a:t>Run the tests</a:t>
            </a:r>
          </a:p>
        </p:txBody>
      </p:sp>
      <p:sp>
        <p:nvSpPr>
          <p:cNvPr id="10" name="Rectangle 9"/>
          <p:cNvSpPr/>
          <p:nvPr/>
        </p:nvSpPr>
        <p:spPr>
          <a:xfrm>
            <a:off x="4480560" y="2075688"/>
            <a:ext cx="7141464" cy="512064"/>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12264"/>
            <a:ext cx="6903720" cy="438912"/>
          </a:xfrm>
          <a:prstGeom prst="rect">
            <a:avLst/>
          </a:prstGeom>
          <a:noFill/>
        </p:spPr>
        <p:txBody>
          <a:bodyPr wrap="square" lIns="36576" rIns="36576" tIns="18288" bIns="18288" anchor="ctr">
            <a:spAutoFit/>
          </a:bodyPr>
          <a:lstStyle/>
          <a:p>
            <a:pPr algn="l">
              <a:spcAft>
                <a:spcPts val="400"/>
              </a:spcAft>
            </a:pPr>
            <a:r>
              <a:rPr sz="1100" b="0" i="0">
                <a:solidFill>
                  <a:srgbClr val="E6EDF3"/>
                </a:solidFill>
                <a:latin typeface="Courier New"/>
              </a:rPr>
              <a:t>python -m pytest -q          # 44 passed</a:t>
            </a:r>
          </a:p>
        </p:txBody>
      </p:sp>
      <p:sp>
        <p:nvSpPr>
          <p:cNvPr id="12" name="TextBox 11"/>
          <p:cNvSpPr txBox="1"/>
          <p:nvPr/>
        </p:nvSpPr>
        <p:spPr>
          <a:xfrm>
            <a:off x="566928" y="2752344"/>
            <a:ext cx="3840480" cy="548640"/>
          </a:xfrm>
          <a:prstGeom prst="rect">
            <a:avLst/>
          </a:prstGeom>
          <a:noFill/>
        </p:spPr>
        <p:txBody>
          <a:bodyPr wrap="square" lIns="36576" rIns="36576" tIns="18288" bIns="18288" anchor="ctr">
            <a:spAutoFit/>
          </a:bodyPr>
          <a:lstStyle/>
          <a:p>
            <a:pPr algn="l">
              <a:spcAft>
                <a:spcPts val="400"/>
              </a:spcAft>
            </a:pPr>
            <a:r>
              <a:rPr sz="1250" b="1" i="0">
                <a:solidFill>
                  <a:srgbClr val="1F2933"/>
                </a:solidFill>
                <a:latin typeface="Calibri"/>
              </a:rPr>
              <a:t>Run the pipeline on a file, with labels</a:t>
            </a:r>
          </a:p>
        </p:txBody>
      </p:sp>
      <p:sp>
        <p:nvSpPr>
          <p:cNvPr id="13" name="Rectangle 12"/>
          <p:cNvSpPr/>
          <p:nvPr/>
        </p:nvSpPr>
        <p:spPr>
          <a:xfrm>
            <a:off x="4480560" y="2788920"/>
            <a:ext cx="7141464" cy="512064"/>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825496"/>
            <a:ext cx="6903720" cy="438912"/>
          </a:xfrm>
          <a:prstGeom prst="rect">
            <a:avLst/>
          </a:prstGeom>
          <a:noFill/>
        </p:spPr>
        <p:txBody>
          <a:bodyPr wrap="square" lIns="36576" rIns="36576" tIns="18288" bIns="18288" anchor="ctr">
            <a:spAutoFit/>
          </a:bodyPr>
          <a:lstStyle/>
          <a:p>
            <a:pPr algn="l">
              <a:spcAft>
                <a:spcPts val="400"/>
              </a:spcAft>
            </a:pPr>
            <a:r>
              <a:rPr sz="1100" b="0" i="0">
                <a:solidFill>
                  <a:srgbClr val="E6EDF3"/>
                </a:solidFill>
                <a:latin typeface="Courier New"/>
              </a:rPr>
              <a:t>python run_pipeline.py --inputs &lt;audit_log.csv&gt; --ground-truth &lt;labels.csv&gt; --label demo --output-dir output</a:t>
            </a:r>
          </a:p>
        </p:txBody>
      </p:sp>
      <p:sp>
        <p:nvSpPr>
          <p:cNvPr id="15" name="TextBox 14"/>
          <p:cNvSpPr txBox="1"/>
          <p:nvPr/>
        </p:nvSpPr>
        <p:spPr>
          <a:xfrm>
            <a:off x="566928" y="3465576"/>
            <a:ext cx="3840480" cy="548640"/>
          </a:xfrm>
          <a:prstGeom prst="rect">
            <a:avLst/>
          </a:prstGeom>
          <a:noFill/>
        </p:spPr>
        <p:txBody>
          <a:bodyPr wrap="square" lIns="36576" rIns="36576" tIns="18288" bIns="18288" anchor="ctr">
            <a:spAutoFit/>
          </a:bodyPr>
          <a:lstStyle/>
          <a:p>
            <a:pPr algn="l">
              <a:spcAft>
                <a:spcPts val="400"/>
              </a:spcAft>
            </a:pPr>
            <a:r>
              <a:rPr sz="1250" b="1" i="0">
                <a:solidFill>
                  <a:srgbClr val="1F2933"/>
                </a:solidFill>
                <a:latin typeface="Calibri"/>
              </a:rPr>
              <a:t>Reproduce the robustness round</a:t>
            </a:r>
          </a:p>
        </p:txBody>
      </p:sp>
      <p:sp>
        <p:nvSpPr>
          <p:cNvPr id="16" name="Rectangle 15"/>
          <p:cNvSpPr/>
          <p:nvPr/>
        </p:nvSpPr>
        <p:spPr>
          <a:xfrm>
            <a:off x="4480560" y="3502152"/>
            <a:ext cx="7141464" cy="512064"/>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538728"/>
            <a:ext cx="6903720" cy="438912"/>
          </a:xfrm>
          <a:prstGeom prst="rect">
            <a:avLst/>
          </a:prstGeom>
          <a:noFill/>
        </p:spPr>
        <p:txBody>
          <a:bodyPr wrap="square" lIns="36576" rIns="36576" tIns="18288" bIns="18288" anchor="ctr">
            <a:spAutoFit/>
          </a:bodyPr>
          <a:lstStyle/>
          <a:p>
            <a:pPr algn="l">
              <a:spcAft>
                <a:spcPts val="400"/>
              </a:spcAft>
            </a:pPr>
            <a:r>
              <a:rPr sz="1100" b="0" i="0">
                <a:solidFill>
                  <a:srgbClr val="E6EDF3"/>
                </a:solidFill>
                <a:latin typeface="Courier New"/>
              </a:rPr>
              <a:t>python scripts/run_robustness_validation.py</a:t>
            </a:r>
          </a:p>
        </p:txBody>
      </p:sp>
      <p:sp>
        <p:nvSpPr>
          <p:cNvPr id="18" name="TextBox 17"/>
          <p:cNvSpPr txBox="1"/>
          <p:nvPr/>
        </p:nvSpPr>
        <p:spPr>
          <a:xfrm>
            <a:off x="566928" y="4178808"/>
            <a:ext cx="3840480" cy="548640"/>
          </a:xfrm>
          <a:prstGeom prst="rect">
            <a:avLst/>
          </a:prstGeom>
          <a:noFill/>
        </p:spPr>
        <p:txBody>
          <a:bodyPr wrap="square" lIns="36576" rIns="36576" tIns="18288" bIns="18288" anchor="ctr">
            <a:spAutoFit/>
          </a:bodyPr>
          <a:lstStyle/>
          <a:p>
            <a:pPr algn="l">
              <a:spcAft>
                <a:spcPts val="400"/>
              </a:spcAft>
            </a:pPr>
            <a:r>
              <a:rPr sz="1250" b="1" i="0">
                <a:solidFill>
                  <a:srgbClr val="1F2933"/>
                </a:solidFill>
                <a:latin typeface="Calibri"/>
              </a:rPr>
              <a:t>Reproduce the prevalence envelope</a:t>
            </a:r>
          </a:p>
        </p:txBody>
      </p:sp>
      <p:sp>
        <p:nvSpPr>
          <p:cNvPr id="19" name="Rectangle 18"/>
          <p:cNvSpPr/>
          <p:nvPr/>
        </p:nvSpPr>
        <p:spPr>
          <a:xfrm>
            <a:off x="4480560" y="4215384"/>
            <a:ext cx="7141464" cy="512064"/>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4251960"/>
            <a:ext cx="6903720" cy="438912"/>
          </a:xfrm>
          <a:prstGeom prst="rect">
            <a:avLst/>
          </a:prstGeom>
          <a:noFill/>
        </p:spPr>
        <p:txBody>
          <a:bodyPr wrap="square" lIns="36576" rIns="36576" tIns="18288" bIns="18288" anchor="ctr">
            <a:spAutoFit/>
          </a:bodyPr>
          <a:lstStyle/>
          <a:p>
            <a:pPr algn="l">
              <a:spcAft>
                <a:spcPts val="400"/>
              </a:spcAft>
            </a:pPr>
            <a:r>
              <a:rPr sz="1100" b="0" i="0">
                <a:solidFill>
                  <a:srgbClr val="E6EDF3"/>
                </a:solidFill>
                <a:latin typeface="Courier New"/>
              </a:rPr>
              <a:t>python scripts/run_prevalence_envelope.py     # about 45 minutes</a:t>
            </a:r>
          </a:p>
        </p:txBody>
      </p:sp>
      <p:sp>
        <p:nvSpPr>
          <p:cNvPr id="21" name="Rectangle 20"/>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Without --ground-truth the run stops at the anomaly report, which is how it would be used on real data.</a:t>
            </a:r>
          </a:p>
        </p:txBody>
      </p:sp>
      <p:sp>
        <p:nvSpPr>
          <p:cNvPr id="24" name="TextBox 23"/>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Appendix D of the report lists every command in order; D.11 rebuilds the Word and PDF files and needs pandoc and Microsoft Word.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3</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Forty features in four families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11</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2670048" cy="2788920"/>
          </a:xfrm>
          <a:prstGeom prst="roundRect">
            <a:avLst>
              <a:gd name="adj" fmla="val 1712"/>
            </a:avLst>
          </a:prstGeom>
          <a:solidFill>
            <a:srgbClr val="EEF2F6"/>
          </a:solidFill>
          <a:ln w="12700">
            <a:solidFill>
              <a:srgbClr val="EEF2F6"/>
            </a:solidFill>
            <a:prstDash val="solid"/>
          </a:ln>
        </p:spPr>
        <p:txBody>
          <a:bodyPr/>
          <a:p/>
        </p:txBody>
      </p:sp>
      <p:sp>
        <p:nvSpPr>
          <p:cNvPr id="7" name="Text 5"/>
          <p:cNvSpPr txBox="1"/>
          <p:nvPr/>
        </p:nvSpPr>
        <p:spPr>
          <a:xfrm>
            <a:off x="768096" y="1554480"/>
            <a:ext cx="2286000" cy="310896"/>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Q-01 to Q-10</a:t>
            </a:r>
            <a:endParaRPr lang="en-US" sz="1500" dirty="0"/>
          </a:p>
        </p:txBody>
      </p:sp>
      <p:sp>
        <p:nvSpPr>
          <p:cNvPr id="8" name="Text 6"/>
          <p:cNvSpPr txBox="1"/>
          <p:nvPr/>
        </p:nvSpPr>
        <p:spPr>
          <a:xfrm>
            <a:off x="768096" y="1883664"/>
            <a:ext cx="228600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Question level</a:t>
            </a:r>
            <a:endParaRPr lang="en-US" sz="1200" dirty="0"/>
          </a:p>
        </p:txBody>
      </p:sp>
      <p:sp>
        <p:nvSpPr>
          <p:cNvPr id="9" name="Text 7"/>
          <p:cNvSpPr txBox="1"/>
          <p:nvPr/>
        </p:nvSpPr>
        <p:spPr>
          <a:xfrm>
            <a:off x="768096" y="2212848"/>
            <a:ext cx="2286000" cy="178308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Response time, time to first interaction, edit count, revisits, completion ratio, idle time, event count, constraint triggers</a:t>
            </a:r>
            <a:endParaRPr lang="en-US" sz="1150" dirty="0"/>
          </a:p>
        </p:txBody>
      </p:sp>
      <p:sp>
        <p:nvSpPr>
          <p:cNvPr id="10" name="Shape 8"/>
          <p:cNvSpPr/>
          <p:nvPr/>
        </p:nvSpPr>
        <p:spPr>
          <a:xfrm>
            <a:off x="3410712" y="1371600"/>
            <a:ext cx="2670048" cy="2788920"/>
          </a:xfrm>
          <a:prstGeom prst="roundRect">
            <a:avLst>
              <a:gd name="adj" fmla="val 1712"/>
            </a:avLst>
          </a:prstGeom>
          <a:solidFill>
            <a:srgbClr val="EEF2F6"/>
          </a:solidFill>
          <a:ln w="12700">
            <a:solidFill>
              <a:srgbClr val="EEF2F6"/>
            </a:solidFill>
            <a:prstDash val="solid"/>
          </a:ln>
        </p:spPr>
        <p:txBody>
          <a:bodyPr/>
          <a:p/>
        </p:txBody>
      </p:sp>
      <p:sp>
        <p:nvSpPr>
          <p:cNvPr id="11" name="Text 9"/>
          <p:cNvSpPr txBox="1"/>
          <p:nvPr/>
        </p:nvSpPr>
        <p:spPr>
          <a:xfrm>
            <a:off x="3611880" y="1554480"/>
            <a:ext cx="2286000" cy="310896"/>
          </a:xfrm>
          <a:prstGeom prst="rect">
            <a:avLst/>
          </a:prstGeom>
          <a:noFill/>
          <a:ln/>
        </p:spPr>
        <p:txBody>
          <a:bodyPr wrap="square" lIns="0" tIns="0" rIns="0" bIns="0" rtlCol="0" anchor="ctr"/>
          <a:lstStyle/>
          <a:p>
            <a:pPr indent="0" marL="0">
              <a:buNone/>
            </a:pPr>
            <a:r>
              <a:rPr lang="en-US" sz="1500" b="1" dirty="0">
                <a:solidFill>
                  <a:srgbClr val="7C3AED"/>
                </a:solidFill>
                <a:latin typeface="Cambria" pitchFamily="34" charset="0"/>
                <a:ea typeface="Cambria" pitchFamily="34" charset="-122"/>
                <a:cs typeface="Cambria" pitchFamily="34" charset="-120"/>
              </a:rPr>
              <a:t>S-01 to S-10</a:t>
            </a:r>
            <a:endParaRPr lang="en-US" sz="1500" dirty="0"/>
          </a:p>
        </p:txBody>
      </p:sp>
      <p:sp>
        <p:nvSpPr>
          <p:cNvPr id="12" name="Text 10"/>
          <p:cNvSpPr txBox="1"/>
          <p:nvPr/>
        </p:nvSpPr>
        <p:spPr>
          <a:xfrm>
            <a:off x="3611880" y="1883664"/>
            <a:ext cx="228600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Section level</a:t>
            </a:r>
            <a:endParaRPr lang="en-US" sz="1200" dirty="0"/>
          </a:p>
        </p:txBody>
      </p:sp>
      <p:sp>
        <p:nvSpPr>
          <p:cNvPr id="13" name="Text 11"/>
          <p:cNvSpPr txBox="1"/>
          <p:nvPr/>
        </p:nvSpPr>
        <p:spPr>
          <a:xfrm>
            <a:off x="3611880" y="2212848"/>
            <a:ext cx="2286000" cy="178308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Mean section pace, section duration, within-section variance, pace ratio, pause counts and durations, back-navigation</a:t>
            </a:r>
            <a:endParaRPr lang="en-US" sz="1150" dirty="0"/>
          </a:p>
        </p:txBody>
      </p:sp>
      <p:sp>
        <p:nvSpPr>
          <p:cNvPr id="14" name="Shape 12"/>
          <p:cNvSpPr/>
          <p:nvPr/>
        </p:nvSpPr>
        <p:spPr>
          <a:xfrm>
            <a:off x="6254496" y="1371600"/>
            <a:ext cx="2670048" cy="2788920"/>
          </a:xfrm>
          <a:prstGeom prst="roundRect">
            <a:avLst>
              <a:gd name="adj" fmla="val 1712"/>
            </a:avLst>
          </a:prstGeom>
          <a:solidFill>
            <a:srgbClr val="EEF2F6"/>
          </a:solidFill>
          <a:ln w="12700">
            <a:solidFill>
              <a:srgbClr val="EEF2F6"/>
            </a:solidFill>
            <a:prstDash val="solid"/>
          </a:ln>
        </p:spPr>
        <p:txBody>
          <a:bodyPr/>
          <a:p/>
        </p:txBody>
      </p:sp>
      <p:sp>
        <p:nvSpPr>
          <p:cNvPr id="15" name="Text 13"/>
          <p:cNvSpPr txBox="1"/>
          <p:nvPr/>
        </p:nvSpPr>
        <p:spPr>
          <a:xfrm>
            <a:off x="6455664" y="1554480"/>
            <a:ext cx="2286000" cy="310896"/>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V-01 to V-10</a:t>
            </a:r>
            <a:endParaRPr lang="en-US" sz="1500" dirty="0"/>
          </a:p>
        </p:txBody>
      </p:sp>
      <p:sp>
        <p:nvSpPr>
          <p:cNvPr id="16" name="Text 14"/>
          <p:cNvSpPr txBox="1"/>
          <p:nvPr/>
        </p:nvSpPr>
        <p:spPr>
          <a:xfrm>
            <a:off x="6455664" y="1883664"/>
            <a:ext cx="228600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Survey level</a:t>
            </a:r>
            <a:endParaRPr lang="en-US" sz="1200" dirty="0"/>
          </a:p>
        </p:txBody>
      </p:sp>
      <p:sp>
        <p:nvSpPr>
          <p:cNvPr id="17" name="Text 15"/>
          <p:cNvSpPr txBox="1"/>
          <p:nvPr/>
        </p:nvSpPr>
        <p:spPr>
          <a:xfrm>
            <a:off x="6455664" y="2212848"/>
            <a:ext cx="2286000" cy="178308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Total duration, early and late pace, trajectory ratio, back-navigation rate, start hour, day of week, duration vs median</a:t>
            </a:r>
            <a:endParaRPr lang="en-US" sz="1150" dirty="0"/>
          </a:p>
        </p:txBody>
      </p:sp>
      <p:sp>
        <p:nvSpPr>
          <p:cNvPr id="18" name="Shape 16"/>
          <p:cNvSpPr/>
          <p:nvPr/>
        </p:nvSpPr>
        <p:spPr>
          <a:xfrm>
            <a:off x="9098280" y="1371600"/>
            <a:ext cx="2670048" cy="2788920"/>
          </a:xfrm>
          <a:prstGeom prst="roundRect">
            <a:avLst>
              <a:gd name="adj" fmla="val 1712"/>
            </a:avLst>
          </a:prstGeom>
          <a:solidFill>
            <a:srgbClr val="EEF2F6"/>
          </a:solidFill>
          <a:ln w="12700">
            <a:solidFill>
              <a:srgbClr val="EEF2F6"/>
            </a:solidFill>
            <a:prstDash val="solid"/>
          </a:ln>
        </p:spPr>
        <p:txBody>
          <a:bodyPr/>
          <a:p/>
        </p:txBody>
      </p:sp>
      <p:sp>
        <p:nvSpPr>
          <p:cNvPr id="19" name="Text 17"/>
          <p:cNvSpPr txBox="1"/>
          <p:nvPr/>
        </p:nvSpPr>
        <p:spPr>
          <a:xfrm>
            <a:off x="9299448" y="1554480"/>
            <a:ext cx="2286000" cy="310896"/>
          </a:xfrm>
          <a:prstGeom prst="rect">
            <a:avLst/>
          </a:prstGeom>
          <a:noFill/>
          <a:ln/>
        </p:spPr>
        <p:txBody>
          <a:bodyPr wrap="square" lIns="0" tIns="0" rIns="0" bIns="0" rtlCol="0" anchor="ctr"/>
          <a:lstStyle/>
          <a:p>
            <a:pPr indent="0" marL="0">
              <a:buNone/>
            </a:pPr>
            <a:r>
              <a:rPr lang="en-US" sz="1500" b="1" dirty="0">
                <a:solidFill>
                  <a:srgbClr val="0E7490"/>
                </a:solidFill>
                <a:latin typeface="Cambria" pitchFamily="34" charset="0"/>
                <a:ea typeface="Cambria" pitchFamily="34" charset="-122"/>
                <a:cs typeface="Cambria" pitchFamily="34" charset="-120"/>
              </a:rPr>
              <a:t>T-01 to T-10</a:t>
            </a:r>
            <a:endParaRPr lang="en-US" sz="1500" dirty="0"/>
          </a:p>
        </p:txBody>
      </p:sp>
      <p:sp>
        <p:nvSpPr>
          <p:cNvPr id="20" name="Text 18"/>
          <p:cNvSpPr txBox="1"/>
          <p:nvPr/>
        </p:nvSpPr>
        <p:spPr>
          <a:xfrm>
            <a:off x="9299448" y="1883664"/>
            <a:ext cx="228600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Statistical</a:t>
            </a:r>
            <a:endParaRPr lang="en-US" sz="1200" dirty="0"/>
          </a:p>
        </p:txBody>
      </p:sp>
      <p:sp>
        <p:nvSpPr>
          <p:cNvPr id="21" name="Text 19"/>
          <p:cNvSpPr txBox="1"/>
          <p:nvPr/>
        </p:nvSpPr>
        <p:spPr>
          <a:xfrm>
            <a:off x="9299448" y="2212848"/>
            <a:ext cx="2286000" cy="178308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Variance, interquartile range, Shannon entropy, skewness, excess kurtosis, mean, median, coefficient of variation, min, max</a:t>
            </a:r>
            <a:endParaRPr lang="en-US" sz="1150" dirty="0"/>
          </a:p>
        </p:txBody>
      </p:sp>
      <p:sp>
        <p:nvSpPr>
          <p:cNvPr id="22" name="Text 20"/>
          <p:cNvSpPr txBox="1"/>
          <p:nvPr/>
        </p:nvSpPr>
        <p:spPr>
          <a:xfrm>
            <a:off x="566928" y="4389120"/>
            <a:ext cx="11055096" cy="658368"/>
          </a:xfrm>
          <a:prstGeom prst="rect">
            <a:avLst/>
          </a:prstGeom>
          <a:noFill/>
          <a:ln/>
        </p:spPr>
        <p:txBody>
          <a:bodyPr wrap="square" lIns="0" tIns="0" rIns="0" bIns="0" rtlCol="0" anchor="ctr"/>
          <a:lstStyle/>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Two features are proxies forced by the source data: event count stands in for keystroke count, and field completion ratio is derived from measurable time on field, because neither platform logs keystrokes or answer content. Both are documented as proxies so they are not over-read.</a:t>
            </a:r>
            <a:endParaRPr lang="en-US" sz="1200" dirty="0"/>
          </a:p>
        </p:txBody>
      </p:sp>
      <p:sp>
        <p:nvSpPr>
          <p:cNvPr id="23" name="Shape 21"/>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4" name="Shape 22"/>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5" name="Text 23"/>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40 catalogued, 40 implemented, 40 exported, 40 exercised end to end. 34 have a direct naming test.</a:t>
            </a:r>
            <a:endParaRPr lang="en-US" sz="1350" dirty="0"/>
          </a:p>
        </p:txBody>
      </p:sp>
      <p:sp>
        <p:nvSpPr>
          <p:cNvPr id="26" name="Text 24"/>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docs/feature_coverage.md, regenerated by scripts/build_feature_coverage.py rather than maintained by hand.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3</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Detection that a supervisor can argue with</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12</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3566160" cy="2743200"/>
          </a:xfrm>
          <a:prstGeom prst="roundRect">
            <a:avLst>
              <a:gd name="adj" fmla="val 1667"/>
            </a:avLst>
          </a:prstGeom>
          <a:solidFill>
            <a:srgbClr val="FFFFFF"/>
          </a:solidFill>
          <a:ln w="12700">
            <a:solidFill>
              <a:srgbClr val="D6DEE5"/>
            </a:solidFill>
            <a:prstDash val="solid"/>
          </a:ln>
        </p:spPr>
        <p:txBody>
          <a:bodyPr/>
          <a:p/>
        </p:txBody>
      </p:sp>
      <p:sp>
        <p:nvSpPr>
          <p:cNvPr id="7" name="Shape 5"/>
          <p:cNvSpPr/>
          <p:nvPr/>
        </p:nvSpPr>
        <p:spPr>
          <a:xfrm>
            <a:off x="786384" y="1591056"/>
            <a:ext cx="365760" cy="365760"/>
          </a:xfrm>
          <a:prstGeom prst="ellipse">
            <a:avLst/>
          </a:prstGeom>
          <a:solidFill>
            <a:srgbClr val="0F766E"/>
          </a:solidFill>
          <a:ln w="12700">
            <a:solidFill>
              <a:srgbClr val="0F766E"/>
            </a:solidFill>
            <a:prstDash val="solid"/>
          </a:ln>
        </p:spPr>
        <p:txBody>
          <a:bodyPr/>
          <a:p/>
        </p:txBody>
      </p:sp>
      <p:sp>
        <p:nvSpPr>
          <p:cNvPr id="8" name="Text 6"/>
          <p:cNvSpPr txBox="1"/>
          <p:nvPr/>
        </p:nvSpPr>
        <p:spPr>
          <a:xfrm>
            <a:off x="786384" y="1591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61872" y="1591056"/>
            <a:ext cx="26517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Statistical fences</a:t>
            </a:r>
            <a:endParaRPr lang="en-US" sz="1450" dirty="0"/>
          </a:p>
        </p:txBody>
      </p:sp>
      <p:sp>
        <p:nvSpPr>
          <p:cNvPr id="10" name="Text 8"/>
          <p:cNvSpPr txBox="1"/>
          <p:nvPr/>
        </p:nvSpPr>
        <p:spPr>
          <a:xfrm>
            <a:off x="786384" y="2148840"/>
            <a:ext cx="3127248" cy="182880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Tukey fences on total duration, mean response time, entropy and variance. No distributional assumption, and resistant to the outliers they are meant to find. Capped at one point jointly, so correlated timing outliers cannot stack.</a:t>
            </a:r>
            <a:endParaRPr lang="en-US" sz="1150" dirty="0"/>
          </a:p>
        </p:txBody>
      </p:sp>
      <p:sp>
        <p:nvSpPr>
          <p:cNvPr id="11" name="Shape 9"/>
          <p:cNvSpPr/>
          <p:nvPr/>
        </p:nvSpPr>
        <p:spPr>
          <a:xfrm>
            <a:off x="4306824" y="1371600"/>
            <a:ext cx="3566160" cy="2743200"/>
          </a:xfrm>
          <a:prstGeom prst="roundRect">
            <a:avLst>
              <a:gd name="adj" fmla="val 1667"/>
            </a:avLst>
          </a:prstGeom>
          <a:solidFill>
            <a:srgbClr val="FFFFFF"/>
          </a:solidFill>
          <a:ln w="12700">
            <a:solidFill>
              <a:srgbClr val="D6DEE5"/>
            </a:solidFill>
            <a:prstDash val="solid"/>
          </a:ln>
        </p:spPr>
        <p:txBody>
          <a:bodyPr/>
          <a:p/>
        </p:txBody>
      </p:sp>
      <p:sp>
        <p:nvSpPr>
          <p:cNvPr id="12" name="Shape 10"/>
          <p:cNvSpPr/>
          <p:nvPr/>
        </p:nvSpPr>
        <p:spPr>
          <a:xfrm>
            <a:off x="4526280" y="1591056"/>
            <a:ext cx="365760" cy="365760"/>
          </a:xfrm>
          <a:prstGeom prst="ellipse">
            <a:avLst/>
          </a:prstGeom>
          <a:solidFill>
            <a:srgbClr val="7C3AED"/>
          </a:solidFill>
          <a:ln w="12700">
            <a:solidFill>
              <a:srgbClr val="7C3AED"/>
            </a:solidFill>
            <a:prstDash val="solid"/>
          </a:ln>
        </p:spPr>
        <p:txBody>
          <a:bodyPr/>
          <a:p/>
        </p:txBody>
      </p:sp>
      <p:sp>
        <p:nvSpPr>
          <p:cNvPr id="13" name="Text 11"/>
          <p:cNvSpPr txBox="1"/>
          <p:nvPr/>
        </p:nvSpPr>
        <p:spPr>
          <a:xfrm>
            <a:off x="4526280" y="1591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001768" y="1591056"/>
            <a:ext cx="26517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Rule flags</a:t>
            </a:r>
            <a:endParaRPr lang="en-US" sz="1450" dirty="0"/>
          </a:p>
        </p:txBody>
      </p:sp>
      <p:sp>
        <p:nvSpPr>
          <p:cNvPr id="15" name="Text 13"/>
          <p:cNvSpPr txBox="1"/>
          <p:nvPr/>
        </p:nvSpPr>
        <p:spPr>
          <a:xfrm>
            <a:off x="4526280" y="2148840"/>
            <a:ext cx="3127248" cy="182880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Implausible session length, low mean response time against the sample median, low entropy, uniform pacing by coefficient of variation, compressed spread, absent or excessive back-navigation, elevated pauses. Median-relative and configurable.</a:t>
            </a:r>
            <a:endParaRPr lang="en-US" sz="1150" dirty="0"/>
          </a:p>
        </p:txBody>
      </p:sp>
      <p:sp>
        <p:nvSpPr>
          <p:cNvPr id="16" name="Shape 14"/>
          <p:cNvSpPr/>
          <p:nvPr/>
        </p:nvSpPr>
        <p:spPr>
          <a:xfrm>
            <a:off x="8046720" y="1371600"/>
            <a:ext cx="3566160" cy="2743200"/>
          </a:xfrm>
          <a:prstGeom prst="roundRect">
            <a:avLst>
              <a:gd name="adj" fmla="val 1667"/>
            </a:avLst>
          </a:prstGeom>
          <a:solidFill>
            <a:srgbClr val="FFFFFF"/>
          </a:solidFill>
          <a:ln w="12700">
            <a:solidFill>
              <a:srgbClr val="D6DEE5"/>
            </a:solidFill>
            <a:prstDash val="solid"/>
          </a:ln>
        </p:spPr>
        <p:txBody>
          <a:bodyPr/>
          <a:p/>
        </p:txBody>
      </p:sp>
      <p:sp>
        <p:nvSpPr>
          <p:cNvPr id="17" name="Shape 15"/>
          <p:cNvSpPr/>
          <p:nvPr/>
        </p:nvSpPr>
        <p:spPr>
          <a:xfrm>
            <a:off x="8266176" y="1591056"/>
            <a:ext cx="365760" cy="365760"/>
          </a:xfrm>
          <a:prstGeom prst="ellipse">
            <a:avLst/>
          </a:prstGeom>
          <a:solidFill>
            <a:srgbClr val="B45309"/>
          </a:solidFill>
          <a:ln w="12700">
            <a:solidFill>
              <a:srgbClr val="B45309"/>
            </a:solidFill>
            <a:prstDash val="solid"/>
          </a:ln>
        </p:spPr>
        <p:txBody>
          <a:bodyPr/>
          <a:p/>
        </p:txBody>
      </p:sp>
      <p:sp>
        <p:nvSpPr>
          <p:cNvPr id="18" name="Text 16"/>
          <p:cNvSpPr txBox="1"/>
          <p:nvPr/>
        </p:nvSpPr>
        <p:spPr>
          <a:xfrm>
            <a:off x="8266176" y="1591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741664" y="1591056"/>
            <a:ext cx="26517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Score = count of flags</a:t>
            </a:r>
            <a:endParaRPr lang="en-US" sz="1450" dirty="0"/>
          </a:p>
        </p:txBody>
      </p:sp>
      <p:sp>
        <p:nvSpPr>
          <p:cNvPr id="20" name="Text 18"/>
          <p:cNvSpPr txBox="1"/>
          <p:nvPr/>
        </p:nvSpPr>
        <p:spPr>
          <a:xfrm>
            <a:off x="8266176" y="2148840"/>
            <a:ext cx="3127248" cy="182880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Suspicious at 2, anomalous at 5. Data-quality faults route to their own category. Every flagged interview lists exactly which named flags fired.</a:t>
            </a:r>
            <a:endParaRPr lang="en-US" sz="1150" dirty="0"/>
          </a:p>
        </p:txBody>
      </p:sp>
      <p:sp>
        <p:nvSpPr>
          <p:cNvPr id="21" name="Shape 19"/>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2" name="Shape 20"/>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3" name="Text 21"/>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A flag leads to a conversation with a named enumerator, so it has to be explainable. That is why the score is a count, not a model output.</a:t>
            </a:r>
            <a:endParaRPr lang="en-US" sz="135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32B"/>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7C8B95"/>
                </a:solidFill>
                <a:latin typeface="Calibri"/>
              </a:rPr>
              <a:t>13</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7C8B95"/>
                </a:solidFill>
                <a:latin typeface="Calibri"/>
              </a:rPr>
              <a:t>Samuel Kaoma  |  2022016530  |  CSC 4004</a:t>
            </a:r>
          </a:p>
        </p:txBody>
      </p:sp>
      <p:sp>
        <p:nvSpPr>
          <p:cNvPr id="4" name="TextBox 3"/>
          <p:cNvSpPr txBox="1"/>
          <p:nvPr/>
        </p:nvSpPr>
        <p:spPr>
          <a:xfrm>
            <a:off x="566928" y="2286000"/>
            <a:ext cx="9774936" cy="1280160"/>
          </a:xfrm>
          <a:prstGeom prst="rect">
            <a:avLst/>
          </a:prstGeom>
          <a:noFill/>
        </p:spPr>
        <p:txBody>
          <a:bodyPr wrap="square" lIns="36576" rIns="36576" tIns="18288" bIns="18288" anchor="t">
            <a:spAutoFit/>
          </a:bodyPr>
          <a:lstStyle/>
          <a:p>
            <a:pPr algn="l">
              <a:spcAft>
                <a:spcPts val="400"/>
              </a:spcAft>
            </a:pPr>
            <a:r>
              <a:rPr sz="4000" b="1" i="0">
                <a:solidFill>
                  <a:srgbClr val="FFFFFF"/>
                </a:solidFill>
                <a:latin typeface="Cambria"/>
              </a:rPr>
              <a:t>Inside the pipeline, one step at a time.</a:t>
            </a:r>
          </a:p>
        </p:txBody>
      </p:sp>
      <p:sp>
        <p:nvSpPr>
          <p:cNvPr id="5" name="TextBox 4"/>
          <p:cNvSpPr txBox="1"/>
          <p:nvPr/>
        </p:nvSpPr>
        <p:spPr>
          <a:xfrm>
            <a:off x="566928" y="3657600"/>
            <a:ext cx="9509760" cy="1188720"/>
          </a:xfrm>
          <a:prstGeom prst="rect">
            <a:avLst/>
          </a:prstGeom>
          <a:noFill/>
        </p:spPr>
        <p:txBody>
          <a:bodyPr wrap="square" lIns="36576" rIns="36576" tIns="18288" bIns="18288" anchor="t">
            <a:spAutoFit/>
          </a:bodyPr>
          <a:lstStyle/>
          <a:p>
            <a:pPr algn="l">
              <a:spcAft>
                <a:spcPts val="400"/>
              </a:spcAft>
            </a:pPr>
            <a:r>
              <a:rPr sz="1500" b="0" i="0">
                <a:solidFill>
                  <a:srgbClr val="AFC0C9"/>
                </a:solidFill>
                <a:latin typeface="Calibri"/>
              </a:rPr>
              <a:t>The next thirteen slides follow the data: how the benchmark is generated, what the raw exports look like, how they are parsed, how each of the forty features is computed, how flags become a score, and what the pipeline writes. Every example is a real row from the committed n500 benchmark, seed 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14</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CHAPTER 5.1  ·  SYNTHETIC DATA</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A labelled benchmark, generated from a seed</a:t>
            </a:r>
          </a:p>
        </p:txBody>
      </p:sp>
      <p:sp>
        <p:nvSpPr>
          <p:cNvPr id="6" name="Rectangle 5"/>
          <p:cNvSpPr/>
          <p:nvPr/>
        </p:nvSpPr>
        <p:spPr>
          <a:xfrm>
            <a:off x="566928" y="1371600"/>
            <a:ext cx="3931920" cy="111556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99616"/>
            <a:ext cx="3602736" cy="45720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20 questions in 5 sections</a:t>
            </a:r>
          </a:p>
        </p:txBody>
      </p:sp>
      <p:sp>
        <p:nvSpPr>
          <p:cNvPr id="8" name="TextBox 7"/>
          <p:cNvSpPr txBox="1"/>
          <p:nvPr/>
        </p:nvSpPr>
        <p:spPr>
          <a:xfrm>
            <a:off x="731520" y="1938528"/>
            <a:ext cx="3602736" cy="457200"/>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Demographics, household, health, economic, nutrition. Each question has a complexity weight from 0.50 to 1.40, so genuine times rise and fall with the question.</a:t>
            </a:r>
          </a:p>
        </p:txBody>
      </p:sp>
      <p:sp>
        <p:nvSpPr>
          <p:cNvPr id="9" name="Rectangle 8"/>
          <p:cNvSpPr/>
          <p:nvPr/>
        </p:nvSpPr>
        <p:spPr>
          <a:xfrm>
            <a:off x="566928" y="2596896"/>
            <a:ext cx="3931920" cy="100584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724912"/>
            <a:ext cx="3602736" cy="45720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One plan, two formats</a:t>
            </a:r>
          </a:p>
        </p:txBody>
      </p:sp>
      <p:sp>
        <p:nvSpPr>
          <p:cNvPr id="11" name="TextBox 10"/>
          <p:cNvSpPr txBox="1"/>
          <p:nvPr/>
        </p:nvSpPr>
        <p:spPr>
          <a:xfrm>
            <a:off x="731520" y="3163824"/>
            <a:ext cx="3602736" cy="347472"/>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A seeded plan fixes each interview's profile and start time. The same plan is written as a SurveyCTO file and an ODK file.</a:t>
            </a:r>
          </a:p>
        </p:txBody>
      </p:sp>
      <p:sp>
        <p:nvSpPr>
          <p:cNvPr id="12" name="Rectangle 11"/>
          <p:cNvSpPr/>
          <p:nvPr/>
        </p:nvSpPr>
        <p:spPr>
          <a:xfrm>
            <a:off x="566928" y="3712463"/>
            <a:ext cx="3931920" cy="111556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40479"/>
            <a:ext cx="3602736" cy="45720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n500, seed 42</a:t>
            </a:r>
          </a:p>
        </p:txBody>
      </p:sp>
      <p:sp>
        <p:nvSpPr>
          <p:cNvPr id="14" name="TextBox 13"/>
          <p:cNvSpPr txBox="1"/>
          <p:nvPr/>
        </p:nvSpPr>
        <p:spPr>
          <a:xfrm>
            <a:off x="731520" y="4279392"/>
            <a:ext cx="3602736" cy="457200"/>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400 normal, 33 fabricated, 33 speeding, 34 disengaged: 20 percent prevalence. 12,286 SurveyCTO rows, 12,298 ODK rows.</a:t>
            </a:r>
          </a:p>
        </p:txBody>
      </p:sp>
      <p:graphicFrame>
        <p:nvGraphicFramePr>
          <p:cNvPr id="15" name="Table 14"/>
          <p:cNvGraphicFramePr>
            <a:graphicFrameLocks noGrp="1"/>
          </p:cNvGraphicFramePr>
          <p:nvPr/>
        </p:nvGraphicFramePr>
        <p:xfrm>
          <a:off x="4709160" y="1371600"/>
          <a:ext cx="6912861" cy="3291840"/>
        </p:xfrm>
        <a:graphic>
          <a:graphicData uri="http://schemas.openxmlformats.org/drawingml/2006/table">
            <a:tbl>
              <a:tblPr firstRow="0" bandRow="0"/>
              <a:tblGrid>
                <a:gridCol w="1100774"/>
                <a:gridCol w="2729920"/>
                <a:gridCol w="1276898"/>
                <a:gridCol w="924650"/>
                <a:gridCol w="880619"/>
              </a:tblGrid>
              <a:tr h="548640">
                <a:tc>
                  <a:txBody>
                    <a:bodyPr wrap="square"/>
                    <a:lstStyle/>
                    <a:p>
                      <a:r>
                        <a:rPr sz="1100" b="1" i="0">
                          <a:solidFill>
                            <a:srgbClr val="FFFFFF"/>
                          </a:solidFill>
                          <a:latin typeface="Calibri"/>
                        </a:rPr>
                        <a:t>Profile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00" b="1" i="0">
                          <a:solidFill>
                            <a:srgbClr val="FFFFFF"/>
                          </a:solidFill>
                          <a:latin typeface="Calibri"/>
                        </a:rPr>
                        <a:t>Response time per question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00" b="1" i="0">
                          <a:solidFill>
                            <a:srgbClr val="FFFFFF"/>
                          </a:solidFill>
                          <a:latin typeface="Calibri"/>
                        </a:rPr>
                        <a:t>Back-navigation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00" b="1" i="0">
                          <a:solidFill>
                            <a:srgbClr val="FFFFFF"/>
                          </a:solidFill>
                          <a:latin typeface="Calibri"/>
                        </a:rPr>
                        <a:t>Pause after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00" b="1" i="0">
                          <a:solidFill>
                            <a:srgbClr val="FFFFFF"/>
                          </a:solidFill>
                          <a:latin typeface="Calibri"/>
                        </a:rPr>
                        <a:t>Expected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548640">
                <a:tc>
                  <a:txBody>
                    <a:bodyPr wrap="square"/>
                    <a:lstStyle/>
                    <a:p>
                      <a:r>
                        <a:rPr sz="1050" b="0" i="0">
                          <a:solidFill>
                            <a:srgbClr val="1F2933"/>
                          </a:solidFill>
                          <a:latin typeface="Calibri"/>
                        </a:rPr>
                        <a:t>Normal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log-normal, median 8.0 s, σ 0.5, × complexity weight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Poisson, mean 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0.15–0.6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normal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548640">
                <a:tc>
                  <a:txBody>
                    <a:bodyPr wrap="square"/>
                    <a:lstStyle/>
                    <a:p>
                      <a:r>
                        <a:rPr sz="1050" b="0" i="0">
                          <a:solidFill>
                            <a:srgbClr val="1F2933"/>
                          </a:solidFill>
                          <a:latin typeface="Calibri"/>
                        </a:rPr>
                        <a:t>Fabricated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1.2 s ± 0.08 s, every question alike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none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0.05–0.2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548640">
                <a:tc>
                  <a:txBody>
                    <a:bodyPr wrap="square"/>
                    <a:lstStyle/>
                    <a:p>
                      <a:r>
                        <a:rPr sz="1050" b="0" i="0">
                          <a:solidFill>
                            <a:srgbClr val="1F2933"/>
                          </a:solidFill>
                          <a:latin typeface="Calibri"/>
                        </a:rPr>
                        <a:t>Speeding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uniform, 0.2–0.8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none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0.03–0.15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548640">
                <a:tc>
                  <a:txBody>
                    <a:bodyPr wrap="square"/>
                    <a:lstStyle/>
                    <a:p>
                      <a:r>
                        <a:rPr sz="1050" b="0" i="0">
                          <a:solidFill>
                            <a:srgbClr val="1F2933"/>
                          </a:solidFill>
                          <a:latin typeface="Calibri"/>
                        </a:rPr>
                        <a:t>Disengaged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6.0 s ± 0.2 s, every question alike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⅓ to ½ of questions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0.4–1.2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suspicious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548640">
                <a:tc>
                  <a:txBody>
                    <a:bodyPr wrap="square"/>
                    <a:lstStyle/>
                    <a:p>
                      <a:r>
                        <a:rPr sz="1050" b="0" i="0">
                          <a:solidFill>
                            <a:srgbClr val="1F2933"/>
                          </a:solidFill>
                          <a:latin typeface="Calibri"/>
                        </a:rPr>
                        <a:t>Data quality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one zero-duration record (canonical suite only)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dq_issue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16" name="TextBox 15"/>
          <p:cNvSpPr txBox="1"/>
          <p:nvPr/>
        </p:nvSpPr>
        <p:spPr>
          <a:xfrm>
            <a:off x="4709160" y="4754880"/>
            <a:ext cx="6912864"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Canonical difficulty. Normal interviews also trip a validation constraint now and then (Poisson, mean 0.6).</a:t>
            </a:r>
          </a:p>
        </p:txBody>
      </p:sp>
      <p:sp>
        <p:nvSpPr>
          <p:cNvPr id="17" name="Rectangle 1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Fabricated and speeding interviews ignore question complexity. That complexity-blind pacing is the signal the features look for.</a:t>
            </a:r>
          </a:p>
        </p:txBody>
      </p:sp>
      <p:sp>
        <p:nvSpPr>
          <p:cNvPr id="20" name="TextBox 1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tests/test_adversarial.py (AdversarialDataGenerator) and data/synthetic_datasets/n500/dataset_summary.json.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15</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CHAPTER 5.1  ·  SYNTHETIC DATA</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What the four profiles look like</a:t>
            </a:r>
          </a:p>
        </p:txBody>
      </p:sp>
      <p:graphicFrame>
        <p:nvGraphicFramePr>
          <p:cNvPr id="6" name="Chart 5"/>
          <p:cNvGraphicFramePr>
            <a:graphicFrameLocks noGrp="1"/>
          </p:cNvGraphicFramePr>
          <p:nvPr/>
        </p:nvGraphicFramePr>
        <p:xfrm>
          <a:off x="566928" y="1325880"/>
          <a:ext cx="7040880" cy="3611880"/>
        </p:xfrm>
        <a:graphic>
          <a:graphicData uri="http://schemas.openxmlformats.org/drawingml/2006/chart">
            <c:chart xmlns:c="http://schemas.openxmlformats.org/drawingml/2006/chart" r:id="rId2"/>
          </a:graphicData>
        </a:graphic>
      </p:graphicFrame>
      <p:sp>
        <p:nvSpPr>
          <p:cNvPr id="7" name="TextBox 6"/>
          <p:cNvSpPr txBox="1"/>
          <p:nvPr/>
        </p:nvSpPr>
        <p:spPr>
          <a:xfrm>
            <a:off x="7863840" y="1371600"/>
            <a:ext cx="3758184" cy="365760"/>
          </a:xfrm>
          <a:prstGeom prst="rect">
            <a:avLst/>
          </a:prstGeom>
          <a:noFill/>
        </p:spPr>
        <p:txBody>
          <a:bodyPr wrap="square" lIns="36576" rIns="36576" tIns="18288" bIns="18288" anchor="t">
            <a:spAutoFit/>
          </a:bodyPr>
          <a:lstStyle/>
          <a:p>
            <a:pPr algn="l">
              <a:spcAft>
                <a:spcPts val="400"/>
              </a:spcAft>
            </a:pPr>
            <a:r>
              <a:rPr sz="1400" b="1" i="0">
                <a:solidFill>
                  <a:srgbClr val="1F2933"/>
                </a:solidFill>
                <a:latin typeface="Calibri"/>
              </a:rPr>
              <a:t>Stress difficulty makes them overlap</a:t>
            </a:r>
          </a:p>
        </p:txBody>
      </p:sp>
      <p:sp>
        <p:nvSpPr>
          <p:cNvPr id="8" name="TextBox 7"/>
          <p:cNvSpPr txBox="1"/>
          <p:nvPr/>
        </p:nvSpPr>
        <p:spPr>
          <a:xfrm>
            <a:off x="7863840" y="1783080"/>
            <a:ext cx="3758184" cy="3200400"/>
          </a:xfrm>
          <a:prstGeom prst="rect">
            <a:avLst/>
          </a:prstGeom>
          <a:noFill/>
        </p:spPr>
        <p:txBody>
          <a:bodyPr wrap="square" lIns="36576" rIns="36576" tIns="18288" bIns="18288" anchor="t">
            <a:spAutoFit/>
          </a:bodyPr>
          <a:lstStyle/>
          <a:p>
            <a:pPr algn="l">
              <a:spcAft>
                <a:spcPts val="800"/>
              </a:spcAft>
            </a:pPr>
            <a:r>
              <a:rPr sz="1150" b="0" i="0">
                <a:solidFill>
                  <a:srgbClr val="1F2933"/>
                </a:solidFill>
                <a:latin typeface="Calibri"/>
              </a:rPr>
              <a:t>Genuine interviews come from four sub-types, including fast but valid (median 4.5 s) and low navigation.</a:t>
            </a:r>
          </a:p>
          <a:p>
            <a:pPr algn="l">
              <a:spcAft>
                <a:spcPts val="800"/>
              </a:spcAft>
            </a:pPr>
            <a:r>
              <a:rPr sz="1150" b="0" i="0">
                <a:solidFill>
                  <a:srgbClr val="1F2933"/>
                </a:solidFill>
                <a:latin typeface="Calibri"/>
              </a:rPr>
              <a:t>Fabrications are only mildly compressed: 45 percent at 1.8 s ± 0.18 s, the rest at 3.8 s ± 0.65 s with up to one back-navigation.</a:t>
            </a:r>
          </a:p>
          <a:p>
            <a:pPr algn="l">
              <a:spcAft>
                <a:spcPts val="800"/>
              </a:spcAft>
            </a:pPr>
            <a:r>
              <a:rPr sz="1150" b="0" i="0">
                <a:solidFill>
                  <a:srgbClr val="1F2933"/>
                </a:solidFill>
                <a:latin typeface="Calibri"/>
              </a:rPr>
              <a:t>Speeders answer in 1.2 to 3.6 s, not under a second.</a:t>
            </a:r>
          </a:p>
          <a:p>
            <a:pPr algn="l">
              <a:spcAft>
                <a:spcPts val="800"/>
              </a:spcAft>
            </a:pPr>
            <a:r>
              <a:rPr sz="1150" b="0" i="0">
                <a:solidFill>
                  <a:srgbClr val="1F2933"/>
                </a:solidFill>
                <a:latin typeface="Calibri"/>
              </a:rPr>
              <a:t>Disengaged interviews get four to eight back-navigations, and a third of them one pause of 30 to 90 s.</a:t>
            </a:r>
          </a:p>
        </p:txBody>
      </p:sp>
      <p:sp>
        <p:nvSpPr>
          <p:cNvPr id="9" name="Rectangle 8"/>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Canonical data checks that the pipeline works. The reported results come from stress data on held-out seeds 7 and 99.</a:t>
            </a:r>
          </a:p>
        </p:txBody>
      </p:sp>
      <p:sp>
        <p:nvSpPr>
          <p:cNvPr id="12" name="TextBox 11"/>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Chart: Q-01 per question for four real interviews, output/robustness_validation/question_features_benchmark_n500_surveycto.csv.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16</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RAW INPUT 1  ·  SURVEYCTO</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The SurveyCTO file the pipeline reads</a:t>
            </a:r>
          </a:p>
        </p:txBody>
      </p:sp>
      <p:graphicFrame>
        <p:nvGraphicFramePr>
          <p:cNvPr id="6" name="Table 5"/>
          <p:cNvGraphicFramePr>
            <a:graphicFrameLocks noGrp="1"/>
          </p:cNvGraphicFramePr>
          <p:nvPr/>
        </p:nvGraphicFramePr>
        <p:xfrm>
          <a:off x="566928" y="1371600"/>
          <a:ext cx="7498074" cy="2688336"/>
        </p:xfrm>
        <a:graphic>
          <a:graphicData uri="http://schemas.openxmlformats.org/drawingml/2006/table">
            <a:tbl>
              <a:tblPr firstRow="0" bandRow="0"/>
              <a:tblGrid>
                <a:gridCol w="1005839"/>
                <a:gridCol w="1600199"/>
                <a:gridCol w="1097279"/>
                <a:gridCol w="1417319"/>
                <a:gridCol w="1417319"/>
                <a:gridCol w="960119"/>
              </a:tblGrid>
              <a:tr h="384048">
                <a:tc>
                  <a:txBody>
                    <a:bodyPr wrap="square"/>
                    <a:lstStyle/>
                    <a:p>
                      <a:r>
                        <a:rPr sz="1150" b="1" i="0">
                          <a:solidFill>
                            <a:srgbClr val="FFFFFF"/>
                          </a:solidFill>
                          <a:latin typeface="Calibri"/>
                        </a:rPr>
                        <a:t>interview_id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node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event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start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duration_ms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84048">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form-start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1672646400000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1672646401020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1020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1672646401312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1672646407193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5881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1672646408353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1672646414471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6118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1672646415210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1672646420893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5683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jump</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1672646421387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1672646421687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300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1672646421787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1672646428082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6295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TextBox 6"/>
          <p:cNvSpPr txBox="1"/>
          <p:nvPr/>
        </p:nvSpPr>
        <p:spPr>
          <a:xfrm>
            <a:off x="8321040" y="1371600"/>
            <a:ext cx="3300984" cy="3291840"/>
          </a:xfrm>
          <a:prstGeom prst="rect">
            <a:avLst/>
          </a:prstGeom>
          <a:noFill/>
        </p:spPr>
        <p:txBody>
          <a:bodyPr wrap="square" lIns="36576" rIns="36576" tIns="18288" bIns="18288" anchor="t">
            <a:spAutoFit/>
          </a:bodyPr>
          <a:lstStyle/>
          <a:p>
            <a:pPr algn="l">
              <a:spcAft>
                <a:spcPts val="1000"/>
              </a:spcAft>
            </a:pPr>
            <a:r>
              <a:rPr sz="1200" b="1" i="0">
                <a:solidFill>
                  <a:srgbClr val="1F2933"/>
                </a:solidFill>
                <a:latin typeface="Calibri"/>
              </a:rPr>
              <a:t>One row per event, </a:t>
            </a:r>
            <a:r>
              <a:rPr sz="1200" b="0" i="0">
                <a:solidFill>
                  <a:srgbClr val="1F2933"/>
                </a:solidFill>
                <a:latin typeface="Calibri"/>
              </a:rPr>
              <a:t>about 25 per interview.</a:t>
            </a:r>
          </a:p>
          <a:p>
            <a:pPr algn="l">
              <a:spcAft>
                <a:spcPts val="1000"/>
              </a:spcAft>
            </a:pPr>
            <a:r>
              <a:rPr sz="1200" b="1" i="0">
                <a:solidFill>
                  <a:srgbClr val="1F2933"/>
                </a:solidFill>
                <a:latin typeface="Calibri"/>
              </a:rPr>
              <a:t>start and end </a:t>
            </a:r>
            <a:r>
              <a:rPr sz="1200" b="0" i="0">
                <a:solidFill>
                  <a:srgbClr val="1F2933"/>
                </a:solidFill>
                <a:latin typeface="Calibri"/>
              </a:rPr>
              <a:t>are epoch milliseconds: 1672646401312 is 2 January 2023, 08:00:01.312 UTC.</a:t>
            </a:r>
          </a:p>
          <a:p>
            <a:pPr algn="l">
              <a:spcAft>
                <a:spcPts val="1000"/>
              </a:spcAft>
            </a:pPr>
            <a:r>
              <a:rPr sz="1200" b="1" i="0">
                <a:solidFill>
                  <a:srgbClr val="1F2933"/>
                </a:solidFill>
                <a:latin typeface="Calibri"/>
              </a:rPr>
              <a:t>Events: </a:t>
            </a:r>
            <a:r>
              <a:rPr sz="1200" b="0" i="0">
                <a:solidFill>
                  <a:srgbClr val="1F2933"/>
                </a:solidFill>
                <a:latin typeface="Calibri"/>
              </a:rPr>
              <a:t>form-start, question-end, constraint, jump, end. Form rows have a blank node.</a:t>
            </a:r>
          </a:p>
          <a:p>
            <a:pPr algn="l">
              <a:spcAft>
                <a:spcPts val="1000"/>
              </a:spcAft>
            </a:pPr>
            <a:r>
              <a:rPr sz="1200" b="1" i="0">
                <a:solidFill>
                  <a:srgbClr val="1F2933"/>
                </a:solidFill>
                <a:latin typeface="Calibri"/>
              </a:rPr>
              <a:t>duration_ms </a:t>
            </a:r>
            <a:r>
              <a:rPr sz="1200" b="0" i="0">
                <a:solidFill>
                  <a:srgbClr val="1F2933"/>
                </a:solidFill>
                <a:latin typeface="Calibri"/>
              </a:rPr>
              <a:t>is end minus start.</a:t>
            </a:r>
          </a:p>
        </p:txBody>
      </p:sp>
      <p:sp>
        <p:nvSpPr>
          <p:cNvPr id="8" name="Rectangle 7"/>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4944" y="5248655"/>
            <a:ext cx="91440" cy="3108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This is the project's synthetic layout. SurveyCTO's native text audit is documented but not yet parsed (report section 3.1).</a:t>
            </a:r>
          </a:p>
        </p:txBody>
      </p:sp>
      <p:sp>
        <p:nvSpPr>
          <p:cNvPr id="11" name="TextBox 10"/>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data/synthetic_datasets/n500/audit_logs_surveycto.csv, the first rows of INT-00001. 12,286 rows in 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17</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RAW INPUT 2  ·  ODK</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The ODK file: same interviews, different shape</a:t>
            </a:r>
          </a:p>
        </p:txBody>
      </p:sp>
      <p:graphicFrame>
        <p:nvGraphicFramePr>
          <p:cNvPr id="6" name="Table 5"/>
          <p:cNvGraphicFramePr>
            <a:graphicFrameLocks noGrp="1"/>
          </p:cNvGraphicFramePr>
          <p:nvPr/>
        </p:nvGraphicFramePr>
        <p:xfrm>
          <a:off x="566928" y="1371600"/>
          <a:ext cx="7863837" cy="2523744"/>
        </p:xfrm>
        <a:graphic>
          <a:graphicData uri="http://schemas.openxmlformats.org/drawingml/2006/table">
            <a:tbl>
              <a:tblPr firstRow="0" bandRow="0"/>
              <a:tblGrid>
                <a:gridCol w="889362"/>
                <a:gridCol w="1357448"/>
                <a:gridCol w="936171"/>
                <a:gridCol w="2340428"/>
                <a:gridCol w="2340428"/>
              </a:tblGrid>
              <a:tr h="420624">
                <a:tc>
                  <a:txBody>
                    <a:bodyPr wrap="square"/>
                    <a:lstStyle/>
                    <a:p>
                      <a:r>
                        <a:rPr sz="1150" b="1" i="0">
                          <a:solidFill>
                            <a:srgbClr val="FFFFFF"/>
                          </a:solidFill>
                          <a:latin typeface="Calibri"/>
                        </a:rPr>
                        <a:t>instance_id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name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event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start_time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end_time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420624">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form start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2023-01-02T08:00:00.000+00:00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2023-01-02T08:00:02.449+00:00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2023-01-02T08:00:02.569+00:00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2023-01-02T08:00:08.642+00:00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jump</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2023-01-02T08:00:09.831+00:00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2023-01-02T08:00:10.131+00:00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2023-01-02T08:00:10.231+00:00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2023-01-02T08:00:16.342+00:00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0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demographics_q03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2023-01-02T08:00:16.979+00:00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50" b="0" i="0">
                          <a:solidFill>
                            <a:srgbClr val="1F2933"/>
                          </a:solidFill>
                          <a:latin typeface="Courier New"/>
                        </a:rPr>
                        <a:t>2023-01-02T08:00:23.229+00:00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TextBox 6"/>
          <p:cNvSpPr txBox="1"/>
          <p:nvPr/>
        </p:nvSpPr>
        <p:spPr>
          <a:xfrm>
            <a:off x="8503920" y="1371600"/>
            <a:ext cx="3118104" cy="3291840"/>
          </a:xfrm>
          <a:prstGeom prst="rect">
            <a:avLst/>
          </a:prstGeom>
          <a:noFill/>
        </p:spPr>
        <p:txBody>
          <a:bodyPr wrap="square" lIns="36576" rIns="36576" tIns="18288" bIns="18288" anchor="t">
            <a:spAutoFit/>
          </a:bodyPr>
          <a:lstStyle/>
          <a:p>
            <a:pPr algn="l">
              <a:spcAft>
                <a:spcPts val="1000"/>
              </a:spcAft>
            </a:pPr>
            <a:r>
              <a:rPr sz="1200" b="1" i="0">
                <a:solidFill>
                  <a:srgbClr val="1F2933"/>
                </a:solidFill>
                <a:latin typeface="Calibri"/>
              </a:rPr>
              <a:t>Different column names: </a:t>
            </a:r>
            <a:r>
              <a:rPr sz="1200" b="0" i="0">
                <a:solidFill>
                  <a:srgbClr val="1F2933"/>
                </a:solidFill>
                <a:latin typeface="Calibri"/>
              </a:rPr>
              <a:t>instance_id and name.</a:t>
            </a:r>
          </a:p>
          <a:p>
            <a:pPr algn="l">
              <a:spcAft>
                <a:spcPts val="1000"/>
              </a:spcAft>
            </a:pPr>
            <a:r>
              <a:rPr sz="1200" b="1" i="0">
                <a:solidFill>
                  <a:srgbClr val="1F2933"/>
                </a:solidFill>
                <a:latin typeface="Calibri"/>
              </a:rPr>
              <a:t>Times are text, </a:t>
            </a:r>
            <a:r>
              <a:rPr sz="1200" b="0" i="0">
                <a:solidFill>
                  <a:srgbClr val="1F2933"/>
                </a:solidFill>
                <a:latin typeface="Calibri"/>
              </a:rPr>
              <a:t>ISO 8601 with a UTC offset, and there is no duration column.</a:t>
            </a:r>
          </a:p>
          <a:p>
            <a:pPr algn="l">
              <a:spcAft>
                <a:spcPts val="1000"/>
              </a:spcAft>
            </a:pPr>
            <a:r>
              <a:rPr sz="1200" b="1" i="0">
                <a:solidFill>
                  <a:srgbClr val="1F2933"/>
                </a:solidFill>
                <a:latin typeface="Calibri"/>
              </a:rPr>
              <a:t>Different event names: </a:t>
            </a:r>
            <a:r>
              <a:rPr sz="1200" b="0" i="0">
                <a:solidFill>
                  <a:srgbClr val="1F2933"/>
                </a:solidFill>
                <a:latin typeface="Calibri"/>
              </a:rPr>
              <a:t>form start, question-end, constraint error, jump, end screen.</a:t>
            </a:r>
          </a:p>
          <a:p>
            <a:pPr algn="l">
              <a:spcAft>
                <a:spcPts val="1000"/>
              </a:spcAft>
            </a:pPr>
            <a:r>
              <a:rPr sz="1200" b="1" i="0">
                <a:solidFill>
                  <a:srgbClr val="1F2933"/>
                </a:solidFill>
                <a:latin typeface="Calibri"/>
              </a:rPr>
              <a:t>12,298 rows </a:t>
            </a:r>
            <a:r>
              <a:rPr sz="1200" b="0" i="0">
                <a:solidFill>
                  <a:srgbClr val="1F2933"/>
                </a:solidFill>
                <a:latin typeface="Calibri"/>
              </a:rPr>
              <a:t>for the same 500 interviews.</a:t>
            </a:r>
          </a:p>
        </p:txBody>
      </p:sp>
      <p:sp>
        <p:nvSpPr>
          <p:cNvPr id="8" name="Rectangle 7"/>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4944" y="5248655"/>
            <a:ext cx="91440" cy="3108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ODK's documented audit log (event, node, start, end in epoch ms) is also parsed and tested; the evaluation ran on this layout.</a:t>
            </a:r>
          </a:p>
        </p:txBody>
      </p:sp>
      <p:sp>
        <p:nvSpPr>
          <p:cNvPr id="11" name="TextBox 10"/>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data/synthetic_datasets/n500/audit_logs_odk.csv, the first rows of INT-00001.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18</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RAW INPUT 3  ·  GROUND TRUTH</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The labels, kept apart from the detector</a:t>
            </a:r>
          </a:p>
        </p:txBody>
      </p:sp>
      <p:graphicFrame>
        <p:nvGraphicFramePr>
          <p:cNvPr id="6" name="Table 5"/>
          <p:cNvGraphicFramePr>
            <a:graphicFrameLocks noGrp="1"/>
          </p:cNvGraphicFramePr>
          <p:nvPr/>
        </p:nvGraphicFramePr>
        <p:xfrm>
          <a:off x="566928" y="1371600"/>
          <a:ext cx="6035039" cy="2011680"/>
        </p:xfrm>
        <a:graphic>
          <a:graphicData uri="http://schemas.openxmlformats.org/drawingml/2006/table">
            <a:tbl>
              <a:tblPr firstRow="0" bandRow="0"/>
              <a:tblGrid>
                <a:gridCol w="1385091"/>
                <a:gridCol w="1484026"/>
                <a:gridCol w="1879766"/>
                <a:gridCol w="1286156"/>
              </a:tblGrid>
              <a:tr h="402336">
                <a:tc>
                  <a:txBody>
                    <a:bodyPr wrap="square"/>
                    <a:lstStyle/>
                    <a:p>
                      <a:r>
                        <a:rPr sz="1150" b="1" i="0">
                          <a:solidFill>
                            <a:srgbClr val="FFFFFF"/>
                          </a:solidFill>
                          <a:latin typeface="Calibri"/>
                        </a:rPr>
                        <a:t>interview_id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anomaly_type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expected_category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is_anomalous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402336">
                <a:tc>
                  <a:txBody>
                    <a:bodyPr wrap="square"/>
                    <a:lstStyle/>
                    <a:p>
                      <a:r>
                        <a:rPr sz="1150" b="0" i="0">
                          <a:solidFill>
                            <a:srgbClr val="1F2933"/>
                          </a:solidFill>
                          <a:latin typeface="Calibri"/>
                        </a:rPr>
                        <a:t>INT-00001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disengaged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suspicious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02336">
                <a:tc>
                  <a:txBody>
                    <a:bodyPr wrap="square"/>
                    <a:lstStyle/>
                    <a:p>
                      <a:r>
                        <a:rPr sz="1150" b="0" i="0">
                          <a:solidFill>
                            <a:srgbClr val="1F2933"/>
                          </a:solidFill>
                          <a:latin typeface="Calibri"/>
                        </a:rPr>
                        <a:t>INT-00002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normal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normal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02336">
                <a:tc>
                  <a:txBody>
                    <a:bodyPr wrap="square"/>
                    <a:lstStyle/>
                    <a:p>
                      <a:r>
                        <a:rPr sz="1150" b="0" i="0">
                          <a:solidFill>
                            <a:srgbClr val="1F2933"/>
                          </a:solidFill>
                          <a:latin typeface="Calibri"/>
                        </a:rPr>
                        <a:t>INT-00008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fabricated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02336">
                <a:tc>
                  <a:txBody>
                    <a:bodyPr wrap="square"/>
                    <a:lstStyle/>
                    <a:p>
                      <a:r>
                        <a:rPr sz="1150" b="0" i="0">
                          <a:solidFill>
                            <a:srgbClr val="1F2933"/>
                          </a:solidFill>
                          <a:latin typeface="Calibri"/>
                        </a:rPr>
                        <a:t>INT-00013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speeding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50" b="0" i="0">
                          <a:solidFill>
                            <a:srgbClr val="1F2933"/>
                          </a:solidFill>
                          <a:latin typeface="Calibri"/>
                        </a:rPr>
                        <a:t>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6903720" y="1371600"/>
            <a:ext cx="2240280" cy="146304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50024" y="1481328"/>
            <a:ext cx="1947672" cy="658368"/>
          </a:xfrm>
          <a:prstGeom prst="rect">
            <a:avLst/>
          </a:prstGeom>
          <a:noFill/>
        </p:spPr>
        <p:txBody>
          <a:bodyPr wrap="square" lIns="36576" rIns="36576" tIns="18288" bIns="18288" anchor="t">
            <a:spAutoFit/>
          </a:bodyPr>
          <a:lstStyle/>
          <a:p>
            <a:pPr algn="l">
              <a:spcAft>
                <a:spcPts val="400"/>
              </a:spcAft>
            </a:pPr>
            <a:r>
              <a:rPr sz="3000" b="1" i="0">
                <a:solidFill>
                  <a:srgbClr val="0F766E"/>
                </a:solidFill>
                <a:latin typeface="Cambria"/>
              </a:rPr>
              <a:t>500</a:t>
            </a:r>
          </a:p>
        </p:txBody>
      </p:sp>
      <p:sp>
        <p:nvSpPr>
          <p:cNvPr id="9" name="TextBox 8"/>
          <p:cNvSpPr txBox="1"/>
          <p:nvPr/>
        </p:nvSpPr>
        <p:spPr>
          <a:xfrm>
            <a:off x="7050024" y="2121408"/>
            <a:ext cx="1947672" cy="640080"/>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labels in the n500 file</a:t>
            </a:r>
          </a:p>
        </p:txBody>
      </p:sp>
      <p:sp>
        <p:nvSpPr>
          <p:cNvPr id="10" name="Rectangle 9"/>
          <p:cNvSpPr/>
          <p:nvPr/>
        </p:nvSpPr>
        <p:spPr>
          <a:xfrm>
            <a:off x="9381744" y="1371600"/>
            <a:ext cx="2240280" cy="146304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8048" y="1481328"/>
            <a:ext cx="1947672" cy="658368"/>
          </a:xfrm>
          <a:prstGeom prst="rect">
            <a:avLst/>
          </a:prstGeom>
          <a:noFill/>
        </p:spPr>
        <p:txBody>
          <a:bodyPr wrap="square" lIns="36576" rIns="36576" tIns="18288" bIns="18288" anchor="t">
            <a:spAutoFit/>
          </a:bodyPr>
          <a:lstStyle/>
          <a:p>
            <a:pPr algn="l">
              <a:spcAft>
                <a:spcPts val="400"/>
              </a:spcAft>
            </a:pPr>
            <a:r>
              <a:rPr sz="3000" b="1" i="0">
                <a:solidFill>
                  <a:srgbClr val="0F766E"/>
                </a:solidFill>
                <a:latin typeface="Cambria"/>
              </a:rPr>
              <a:t>100</a:t>
            </a:r>
          </a:p>
        </p:txBody>
      </p:sp>
      <p:sp>
        <p:nvSpPr>
          <p:cNvPr id="12" name="TextBox 11"/>
          <p:cNvSpPr txBox="1"/>
          <p:nvPr/>
        </p:nvSpPr>
        <p:spPr>
          <a:xfrm>
            <a:off x="9528048" y="2121408"/>
            <a:ext cx="1947672" cy="640080"/>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of them anomalous: 20 percent</a:t>
            </a:r>
          </a:p>
        </p:txBody>
      </p:sp>
      <p:sp>
        <p:nvSpPr>
          <p:cNvPr id="13" name="TextBox 12"/>
          <p:cNvSpPr txBox="1"/>
          <p:nvPr/>
        </p:nvSpPr>
        <p:spPr>
          <a:xfrm>
            <a:off x="6903720" y="3017520"/>
            <a:ext cx="4718304" cy="1828800"/>
          </a:xfrm>
          <a:prstGeom prst="rect">
            <a:avLst/>
          </a:prstGeom>
          <a:noFill/>
        </p:spPr>
        <p:txBody>
          <a:bodyPr wrap="square" lIns="36576" rIns="36576" tIns="18288" bIns="18288" anchor="t">
            <a:spAutoFit/>
          </a:bodyPr>
          <a:lstStyle/>
          <a:p>
            <a:pPr algn="l">
              <a:spcAft>
                <a:spcPts val="800"/>
              </a:spcAft>
            </a:pPr>
            <a:r>
              <a:rPr sz="1200" b="1" i="0">
                <a:solidFill>
                  <a:srgbClr val="1F2933"/>
                </a:solidFill>
                <a:latin typeface="Calibri"/>
              </a:rPr>
              <a:t>anomaly_type </a:t>
            </a:r>
            <a:r>
              <a:rPr sz="1200" b="0" i="0">
                <a:solidFill>
                  <a:srgbClr val="1F2933"/>
                </a:solidFill>
                <a:latin typeface="Calibri"/>
              </a:rPr>
              <a:t>is the profile the generator injected. </a:t>
            </a:r>
            <a:r>
              <a:rPr sz="1200" b="1" i="0">
                <a:solidFill>
                  <a:srgbClr val="1F2933"/>
                </a:solidFill>
                <a:latin typeface="Calibri"/>
              </a:rPr>
              <a:t>expected_category </a:t>
            </a:r>
            <a:r>
              <a:rPr sz="1200" b="0" i="0">
                <a:solidFill>
                  <a:srgbClr val="1F2933"/>
                </a:solidFill>
                <a:latin typeface="Calibri"/>
              </a:rPr>
              <a:t>is what the detector should output. </a:t>
            </a:r>
            <a:r>
              <a:rPr sz="1200" b="1" i="0">
                <a:solidFill>
                  <a:srgbClr val="1F2933"/>
                </a:solidFill>
                <a:latin typeface="Calibri"/>
              </a:rPr>
              <a:t>is_anomalous </a:t>
            </a:r>
            <a:r>
              <a:rPr sz="1200" b="0" i="0">
                <a:solidFill>
                  <a:srgbClr val="1F2933"/>
                </a:solidFill>
                <a:latin typeface="Calibri"/>
              </a:rPr>
              <a:t>is the binary label behind precision and recall.</a:t>
            </a:r>
          </a:p>
          <a:p>
            <a:pPr algn="l">
              <a:spcAft>
                <a:spcPts val="800"/>
              </a:spcAft>
            </a:pPr>
            <a:r>
              <a:rPr sz="1200" b="0" i="0">
                <a:solidFill>
                  <a:srgbClr val="1F2933"/>
                </a:solidFill>
                <a:latin typeface="Calibri"/>
              </a:rPr>
              <a:t>Disengaged interviews are expected to be suspicious, not anomalous: their signature is weaker by design.</a:t>
            </a:r>
          </a:p>
        </p:txBody>
      </p:sp>
      <p:sp>
        <p:nvSpPr>
          <p:cNvPr id="14" name="TextBox 13"/>
          <p:cNvSpPr txBox="1"/>
          <p:nvPr/>
        </p:nvSpPr>
        <p:spPr>
          <a:xfrm>
            <a:off x="566928" y="3566160"/>
            <a:ext cx="6035040" cy="1097280"/>
          </a:xfrm>
          <a:prstGeom prst="rect">
            <a:avLst/>
          </a:prstGeom>
          <a:noFill/>
        </p:spPr>
        <p:txBody>
          <a:bodyPr wrap="square" lIns="36576" rIns="36576" tIns="18288" bIns="18288" anchor="t">
            <a:spAutoFit/>
          </a:bodyPr>
          <a:lstStyle/>
          <a:p>
            <a:pPr algn="l">
              <a:spcAft>
                <a:spcPts val="400"/>
              </a:spcAft>
            </a:pPr>
            <a:r>
              <a:rPr sz="1200" b="0" i="0">
                <a:solidFill>
                  <a:srgbClr val="6B7785"/>
                </a:solidFill>
                <a:latin typeface="Calibri"/>
              </a:rPr>
              <a:t>A dataset_summary.json beside each pack records its size, seed, difficulty and class counts, so any pack can be regenerated exactly.</a:t>
            </a:r>
          </a:p>
        </p:txBody>
      </p:sp>
      <p:sp>
        <p:nvSpPr>
          <p:cNvPr id="15" name="Rectangle 14"/>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The detector never reads this file. Labels are joined to predictions one to one after scoring, and a missing id fails loudly.</a:t>
            </a:r>
          </a:p>
        </p:txBody>
      </p:sp>
      <p:sp>
        <p:nvSpPr>
          <p:cNvPr id="18" name="TextBox 17"/>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data/synthetic_datasets/n500/ground_truth_labels.csv and dataset_summary.json.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19</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PARSING  ·  CHAPTER 3.1</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Both formats become the same six columns</a:t>
            </a:r>
          </a:p>
        </p:txBody>
      </p:sp>
      <p:graphicFrame>
        <p:nvGraphicFramePr>
          <p:cNvPr id="6" name="Table 5"/>
          <p:cNvGraphicFramePr>
            <a:graphicFrameLocks noGrp="1"/>
          </p:cNvGraphicFramePr>
          <p:nvPr/>
        </p:nvGraphicFramePr>
        <p:xfrm>
          <a:off x="566928" y="1325880"/>
          <a:ext cx="6309360" cy="2743200"/>
        </p:xfrm>
        <a:graphic>
          <a:graphicData uri="http://schemas.openxmlformats.org/drawingml/2006/table">
            <a:tbl>
              <a:tblPr firstRow="0" bandRow="0"/>
              <a:tblGrid>
                <a:gridCol w="1234440"/>
                <a:gridCol w="2514600"/>
                <a:gridCol w="2560320"/>
              </a:tblGrid>
              <a:tr h="457200">
                <a:tc>
                  <a:txBody>
                    <a:bodyPr wrap="square"/>
                    <a:lstStyle/>
                    <a:p>
                      <a:r>
                        <a:rPr sz="1150" b="1" i="0">
                          <a:solidFill>
                            <a:srgbClr val="FFFFFF"/>
                          </a:solidFill>
                          <a:latin typeface="Calibri"/>
                        </a:rPr>
                        <a:t>Common column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From SurveyCTO</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From ODK</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457200">
                <a:tc>
                  <a:txBody>
                    <a:bodyPr wrap="square"/>
                    <a:lstStyle/>
                    <a:p>
                      <a:r>
                        <a:rPr sz="1050" b="0" i="0">
                          <a:solidFill>
                            <a:srgbClr val="1F2933"/>
                          </a:solidFill>
                          <a:latin typeface="Calibri"/>
                        </a:rPr>
                        <a:t>interview_id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interview_id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instance_id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57200">
                <a:tc>
                  <a:txBody>
                    <a:bodyPr wrap="square"/>
                    <a:lstStyle/>
                    <a:p>
                      <a:r>
                        <a:rPr sz="1050" b="0" i="0">
                          <a:solidFill>
                            <a:srgbClr val="1F2933"/>
                          </a:solidFill>
                          <a:latin typeface="Calibri"/>
                        </a:rPr>
                        <a:t>field_name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node (blank → unknown_field)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name (blank → unknown_field)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57200">
                <a:tc>
                  <a:txBody>
                    <a:bodyPr wrap="square"/>
                    <a:lstStyle/>
                    <a:p>
                      <a:r>
                        <a:rPr sz="1050" b="0" i="0">
                          <a:solidFill>
                            <a:srgbClr val="1F2933"/>
                          </a:solidFill>
                          <a:latin typeface="Calibri"/>
                        </a:rPr>
                        <a:t>event_type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 → field_end, form-start → form_start, end → form_end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question-end → field_end, form start → form_start, end screen → form_end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57200">
                <a:tc>
                  <a:txBody>
                    <a:bodyPr wrap="square"/>
                    <a:lstStyle/>
                    <a:p>
                      <a:r>
                        <a:rPr sz="1050" b="0" i="0">
                          <a:solidFill>
                            <a:srgbClr val="1F2933"/>
                          </a:solidFill>
                          <a:latin typeface="Calibri"/>
                        </a:rPr>
                        <a:t>start_ms, end_ms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epoch ms, as read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ISO 8601 → epoch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57200">
                <a:tc>
                  <a:txBody>
                    <a:bodyPr wrap="square"/>
                    <a:lstStyle/>
                    <a:p>
                      <a:r>
                        <a:rPr sz="1050" b="0" i="0">
                          <a:solidFill>
                            <a:srgbClr val="1F2933"/>
                          </a:solidFill>
                          <a:latin typeface="Calibri"/>
                        </a:rPr>
                        <a:t>duration_ms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as read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end_ms − start_ms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graphicFrame>
        <p:nvGraphicFramePr>
          <p:cNvPr id="7" name="Table 6"/>
          <p:cNvGraphicFramePr>
            <a:graphicFrameLocks noGrp="1"/>
          </p:cNvGraphicFramePr>
          <p:nvPr/>
        </p:nvGraphicFramePr>
        <p:xfrm>
          <a:off x="7132320" y="1325880"/>
          <a:ext cx="4489702" cy="2304288"/>
        </p:xfrm>
        <a:graphic>
          <a:graphicData uri="http://schemas.openxmlformats.org/drawingml/2006/table">
            <a:tbl>
              <a:tblPr firstRow="0" bandRow="0"/>
              <a:tblGrid>
                <a:gridCol w="1356264"/>
                <a:gridCol w="888587"/>
                <a:gridCol w="1356264"/>
                <a:gridCol w="888587"/>
              </a:tblGrid>
              <a:tr h="384048">
                <a:tc>
                  <a:txBody>
                    <a:bodyPr wrap="square"/>
                    <a:lstStyle/>
                    <a:p>
                      <a:r>
                        <a:rPr sz="1050" b="1" i="0">
                          <a:solidFill>
                            <a:srgbClr val="FFFFFF"/>
                          </a:solidFill>
                          <a:latin typeface="Calibri"/>
                        </a:rPr>
                        <a:t>field_name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050" b="1" i="0">
                          <a:solidFill>
                            <a:srgbClr val="FFFFFF"/>
                          </a:solidFill>
                          <a:latin typeface="Calibri"/>
                        </a:rPr>
                        <a:t>event_type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050" b="1" i="0">
                          <a:solidFill>
                            <a:srgbClr val="FFFFFF"/>
                          </a:solidFill>
                          <a:latin typeface="Calibri"/>
                        </a:rPr>
                        <a:t>start_ms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050" b="1" i="0">
                          <a:solidFill>
                            <a:srgbClr val="FFFFFF"/>
                          </a:solidFill>
                          <a:latin typeface="Calibri"/>
                        </a:rPr>
                        <a:t>duration_ms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84048">
                <a:tc>
                  <a:txBody>
                    <a:bodyPr wrap="square"/>
                    <a:lstStyle/>
                    <a:p>
                      <a:r>
                        <a:rPr sz="1000" b="0" i="0">
                          <a:solidFill>
                            <a:srgbClr val="1F2933"/>
                          </a:solidFill>
                          <a:latin typeface="Calibri"/>
                        </a:rPr>
                        <a:t>unknown_field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00" b="0" i="0">
                          <a:solidFill>
                            <a:srgbClr val="1F2933"/>
                          </a:solidFill>
                          <a:latin typeface="Calibri"/>
                        </a:rPr>
                        <a:t>form_start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1672646400000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1020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00" b="0" i="0">
                          <a:solidFill>
                            <a:srgbClr val="1F2933"/>
                          </a:solidFill>
                          <a:latin typeface="Calibri"/>
                        </a:rPr>
                        <a:t>demographics_q01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00" b="0" i="0">
                          <a:solidFill>
                            <a:srgbClr val="1F2933"/>
                          </a:solidFill>
                          <a:latin typeface="Calibri"/>
                        </a:rPr>
                        <a:t>field_end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1672646401312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5881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00" b="0" i="0">
                          <a:solidFill>
                            <a:srgbClr val="1F2933"/>
                          </a:solidFill>
                          <a:latin typeface="Calibri"/>
                        </a:rPr>
                        <a:t>demographics_q02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00" b="0" i="0">
                          <a:solidFill>
                            <a:srgbClr val="1F2933"/>
                          </a:solidFill>
                          <a:latin typeface="Calibri"/>
                        </a:rPr>
                        <a:t>field_end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1672646408353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6118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00" b="0" i="0">
                          <a:solidFill>
                            <a:srgbClr val="1F2933"/>
                          </a:solidFill>
                          <a:latin typeface="Calibri"/>
                        </a:rPr>
                        <a:t>demographics_q03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00" b="0" i="0">
                          <a:solidFill>
                            <a:srgbClr val="1F2933"/>
                          </a:solidFill>
                          <a:latin typeface="Calibri"/>
                        </a:rPr>
                        <a:t>field_end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1672646415210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5683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000" b="0" i="0">
                          <a:solidFill>
                            <a:srgbClr val="1F2933"/>
                          </a:solidFill>
                          <a:latin typeface="Calibri"/>
                        </a:rPr>
                        <a:t>demographics_q03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00" b="0" i="0">
                          <a:solidFill>
                            <a:srgbClr val="1F2933"/>
                          </a:solidFill>
                          <a:latin typeface="Calibri"/>
                        </a:rPr>
                        <a:t>jump</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1672646421387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900" b="0" i="0">
                          <a:solidFill>
                            <a:srgbClr val="1F2933"/>
                          </a:solidFill>
                          <a:latin typeface="Courier New"/>
                        </a:rPr>
                        <a:t>300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8" name="TextBox 7"/>
          <p:cNvSpPr txBox="1"/>
          <p:nvPr/>
        </p:nvSpPr>
        <p:spPr>
          <a:xfrm>
            <a:off x="7132320" y="3749039"/>
            <a:ext cx="4489704" cy="109728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INT-00001 after parsing (interview_id and end_ms columns omitted for space). The same rows come out of the ODK file.</a:t>
            </a:r>
          </a:p>
        </p:txBody>
      </p:sp>
      <p:sp>
        <p:nvSpPr>
          <p:cNvPr id="9" name="TextBox 8"/>
          <p:cNvSpPr txBox="1"/>
          <p:nvPr/>
        </p:nvSpPr>
        <p:spPr>
          <a:xfrm>
            <a:off x="566928" y="4206240"/>
            <a:ext cx="6309360" cy="731520"/>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Parsers mark rather than repair: blank names, unparseable times and negative durations are flagged into a separate data-quality path.</a:t>
            </a:r>
          </a:p>
        </p:txBody>
      </p:sp>
      <p:sp>
        <p:nvSpPr>
          <p:cNvPr id="10" name="Rectangle 9"/>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Everything after this point reads only these six columns, which is why a new platform needs only a new parser.</a:t>
            </a:r>
          </a:p>
        </p:txBody>
      </p:sp>
      <p:sp>
        <p:nvSpPr>
          <p:cNvPr id="13" name="TextBox 12"/>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src/parsers/surveycto_parser.py and odk_parser.py; format detection is automatic (--parser auto).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20</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FEATURES 1  ·  QUESTION LEVEL</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Q-01 to Q-10: one row per question</a:t>
            </a:r>
          </a:p>
        </p:txBody>
      </p:sp>
      <p:graphicFrame>
        <p:nvGraphicFramePr>
          <p:cNvPr id="6" name="Table 5"/>
          <p:cNvGraphicFramePr>
            <a:graphicFrameLocks noGrp="1"/>
          </p:cNvGraphicFramePr>
          <p:nvPr/>
        </p:nvGraphicFramePr>
        <p:xfrm>
          <a:off x="566928" y="1325880"/>
          <a:ext cx="7589520" cy="3621024"/>
        </p:xfrm>
        <a:graphic>
          <a:graphicData uri="http://schemas.openxmlformats.org/drawingml/2006/table">
            <a:tbl>
              <a:tblPr firstRow="0" bandRow="0"/>
              <a:tblGrid>
                <a:gridCol w="548640"/>
                <a:gridCol w="1737360"/>
                <a:gridCol w="5303520"/>
              </a:tblGrid>
              <a:tr h="329184">
                <a:tc>
                  <a:txBody>
                    <a:bodyPr wrap="square"/>
                    <a:lstStyle/>
                    <a:p>
                      <a:r>
                        <a:rPr sz="1150" b="1" i="0">
                          <a:solidFill>
                            <a:srgbClr val="FFFFFF"/>
                          </a:solidFill>
                          <a:latin typeface="Calibri"/>
                        </a:rPr>
                        <a:t>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Feature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How it is computed from the six columns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29184">
                <a:tc>
                  <a:txBody>
                    <a:bodyPr wrap="square"/>
                    <a:lstStyle/>
                    <a:p>
                      <a:r>
                        <a:rPr sz="1050" b="0" i="0">
                          <a:solidFill>
                            <a:srgbClr val="1F2933"/>
                          </a:solidFill>
                          <a:latin typeface="Calibri"/>
                        </a:rPr>
                        <a:t>Q-01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Response time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sum of event durations on the field, navigation events excluded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Time to first interaction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field start to first answer if the log marks both; otherwise the first event's duration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Edit count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events on the field minus one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Revisit flag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1 if the field was returned to after leaving it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Revisit count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number of returns to the field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Completion ratio</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1 if measurable time was spent on the field (answers are not in the log)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Idle time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sum of gaps between consecutive events on the field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Event count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events on the field: a stand-in for keystrokes, which neither platform logs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Constraint triggers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events whose type contains constraint or error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Q-10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First-to-last span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last event end minus first event start, navigation excluded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8366760" y="1325880"/>
            <a:ext cx="3255264" cy="210312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1352" y="1453895"/>
            <a:ext cx="2926080" cy="45720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libri"/>
              </a:rPr>
              <a:t>INT-00002, first question</a:t>
            </a:r>
          </a:p>
        </p:txBody>
      </p:sp>
      <p:sp>
        <p:nvSpPr>
          <p:cNvPr id="9" name="TextBox 8"/>
          <p:cNvSpPr txBox="1"/>
          <p:nvPr/>
        </p:nvSpPr>
        <p:spPr>
          <a:xfrm>
            <a:off x="8531352" y="1892807"/>
            <a:ext cx="2926080" cy="1444751"/>
          </a:xfrm>
          <a:prstGeom prst="rect">
            <a:avLst/>
          </a:prstGeom>
          <a:noFill/>
        </p:spPr>
        <p:txBody>
          <a:bodyPr wrap="square" lIns="36576" rIns="36576" tIns="18288" bIns="18288" anchor="t">
            <a:spAutoFit/>
          </a:bodyPr>
          <a:lstStyle/>
          <a:p>
            <a:pPr algn="l">
              <a:spcAft>
                <a:spcPts val="600"/>
              </a:spcAft>
            </a:pPr>
            <a:r>
              <a:rPr sz="1100" b="0" i="0">
                <a:solidFill>
                  <a:srgbClr val="1F2933"/>
                </a:solidFill>
                <a:latin typeface="Calibri"/>
              </a:rPr>
              <a:t>demographics_q01: Q-01 = 2,689 ms, one event, no revisit, no constraint. The row for every question has these ten values.</a:t>
            </a:r>
          </a:p>
        </p:txBody>
      </p:sp>
      <p:sp>
        <p:nvSpPr>
          <p:cNvPr id="10" name="Rectangle 9"/>
          <p:cNvSpPr/>
          <p:nvPr/>
        </p:nvSpPr>
        <p:spPr>
          <a:xfrm>
            <a:off x="8366760" y="3611880"/>
            <a:ext cx="3255264" cy="12801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13064" y="3721608"/>
            <a:ext cx="2962656" cy="658368"/>
          </a:xfrm>
          <a:prstGeom prst="rect">
            <a:avLst/>
          </a:prstGeom>
          <a:noFill/>
        </p:spPr>
        <p:txBody>
          <a:bodyPr wrap="square" lIns="36576" rIns="36576" tIns="18288" bIns="18288" anchor="t">
            <a:spAutoFit/>
          </a:bodyPr>
          <a:lstStyle/>
          <a:p>
            <a:pPr algn="l">
              <a:spcAft>
                <a:spcPts val="400"/>
              </a:spcAft>
            </a:pPr>
            <a:r>
              <a:rPr sz="3000" b="1" i="0">
                <a:solidFill>
                  <a:srgbClr val="0F766E"/>
                </a:solidFill>
                <a:latin typeface="Cambria"/>
              </a:rPr>
              <a:t>10,000</a:t>
            </a:r>
          </a:p>
        </p:txBody>
      </p:sp>
      <p:sp>
        <p:nvSpPr>
          <p:cNvPr id="12" name="TextBox 11"/>
          <p:cNvSpPr txBox="1"/>
          <p:nvPr/>
        </p:nvSpPr>
        <p:spPr>
          <a:xfrm>
            <a:off x="8513064" y="4361688"/>
            <a:ext cx="2962656" cy="457199"/>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question rows for n500: 20 × 500</a:t>
            </a:r>
          </a:p>
        </p:txBody>
      </p:sp>
      <p:sp>
        <p:nvSpPr>
          <p:cNvPr id="13" name="Rectangle 12"/>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The interview row averages these over its questions. Q-03 and Q-08 carry the same information on these logs; the report says so.</a:t>
            </a:r>
          </a:p>
        </p:txBody>
      </p:sp>
      <p:sp>
        <p:nvSpPr>
          <p:cNvPr id="16" name="TextBox 15"/>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src/features/question_features.py; output/robustness_validation/question_features_benchmark_n500_surveycto.csv.</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21</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FEATURES 2  ·  SECTION LEVEL</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S-01 to S-10: pace and pauses inside each section</a:t>
            </a:r>
          </a:p>
        </p:txBody>
      </p:sp>
      <p:graphicFrame>
        <p:nvGraphicFramePr>
          <p:cNvPr id="6" name="Table 5"/>
          <p:cNvGraphicFramePr>
            <a:graphicFrameLocks noGrp="1"/>
          </p:cNvGraphicFramePr>
          <p:nvPr/>
        </p:nvGraphicFramePr>
        <p:xfrm>
          <a:off x="566928" y="1325880"/>
          <a:ext cx="7223760" cy="3621024"/>
        </p:xfrm>
        <a:graphic>
          <a:graphicData uri="http://schemas.openxmlformats.org/drawingml/2006/table">
            <a:tbl>
              <a:tblPr firstRow="0" bandRow="0"/>
              <a:tblGrid>
                <a:gridCol w="548640"/>
                <a:gridCol w="1828800"/>
                <a:gridCol w="4846320"/>
              </a:tblGrid>
              <a:tr h="329184">
                <a:tc>
                  <a:txBody>
                    <a:bodyPr wrap="square"/>
                    <a:lstStyle/>
                    <a:p>
                      <a:r>
                        <a:rPr sz="1150" b="1" i="0">
                          <a:solidFill>
                            <a:srgbClr val="FFFFFF"/>
                          </a:solidFill>
                          <a:latin typeface="Calibri"/>
                        </a:rPr>
                        <a:t>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Feature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How it is computed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29184">
                <a:tc>
                  <a:txBody>
                    <a:bodyPr wrap="square"/>
                    <a:lstStyle/>
                    <a:p>
                      <a:r>
                        <a:rPr sz="1050" b="0" i="0">
                          <a:solidFill>
                            <a:srgbClr val="1F2933"/>
                          </a:solidFill>
                          <a:latin typeface="Calibri"/>
                        </a:rPr>
                        <a:t>S-01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Mean section pace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mean Q-01 of the section's questions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Section duration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last event end minus first event start in the section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Within-section variance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variance of Q-01 across the section's questions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Pace ratio</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S-01 divided by the interview's mean pace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Pauses over 5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gaps between consecutive events longer than 5,000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Pauses over 30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gaps longer than 30,000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Mean pause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mean of the positive gaps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Longest pause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largest gap</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Section back-navigation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events named back or backward (zero here: the generator emits jump)</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S-10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Completion rate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questions visited over the most seen in any section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graphicFrame>
        <p:nvGraphicFramePr>
          <p:cNvPr id="7" name="Table 6"/>
          <p:cNvGraphicFramePr>
            <a:graphicFrameLocks noGrp="1"/>
          </p:cNvGraphicFramePr>
          <p:nvPr/>
        </p:nvGraphicFramePr>
        <p:xfrm>
          <a:off x="8001000" y="1325880"/>
          <a:ext cx="3621022" cy="2194560"/>
        </p:xfrm>
        <a:graphic>
          <a:graphicData uri="http://schemas.openxmlformats.org/drawingml/2006/table">
            <a:tbl>
              <a:tblPr firstRow="0" bandRow="0"/>
              <a:tblGrid>
                <a:gridCol w="1375072"/>
                <a:gridCol w="1145893"/>
                <a:gridCol w="1100057"/>
              </a:tblGrid>
              <a:tr h="365760">
                <a:tc>
                  <a:txBody>
                    <a:bodyPr wrap="square"/>
                    <a:lstStyle/>
                    <a:p>
                      <a:r>
                        <a:rPr sz="1150" b="1" i="0">
                          <a:solidFill>
                            <a:srgbClr val="FFFFFF"/>
                          </a:solidFill>
                          <a:latin typeface="Calibri"/>
                        </a:rPr>
                        <a:t>INT-00002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S-01 pace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S-07 pause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65760">
                <a:tc>
                  <a:txBody>
                    <a:bodyPr wrap="square"/>
                    <a:lstStyle/>
                    <a:p>
                      <a:r>
                        <a:rPr sz="1050" b="0" i="0">
                          <a:solidFill>
                            <a:srgbClr val="1F2933"/>
                          </a:solidFill>
                          <a:latin typeface="Calibri"/>
                        </a:rPr>
                        <a:t>demographics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5,204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175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50" b="0" i="0">
                          <a:solidFill>
                            <a:srgbClr val="1F2933"/>
                          </a:solidFill>
                          <a:latin typeface="Calibri"/>
                        </a:rPr>
                        <a:t>household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5,840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446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50" b="0" i="0">
                          <a:solidFill>
                            <a:srgbClr val="1F2933"/>
                          </a:solidFill>
                          <a:latin typeface="Calibri"/>
                        </a:rPr>
                        <a:t>health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1" i="0">
                          <a:solidFill>
                            <a:srgbClr val="0F766E"/>
                          </a:solidFill>
                          <a:latin typeface="Calibri"/>
                        </a:rPr>
                        <a:t>14,514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361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50" b="0" i="0">
                          <a:solidFill>
                            <a:srgbClr val="1F2933"/>
                          </a:solidFill>
                          <a:latin typeface="Calibri"/>
                        </a:rPr>
                        <a:t>economic</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8,425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295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50" b="0" i="0">
                          <a:solidFill>
                            <a:srgbClr val="1F2933"/>
                          </a:solidFill>
                          <a:latin typeface="Calibri"/>
                        </a:rPr>
                        <a:t>nutrition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7,895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452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8" name="TextBox 7"/>
          <p:cNvSpPr txBox="1"/>
          <p:nvPr/>
        </p:nvSpPr>
        <p:spPr>
          <a:xfrm>
            <a:off x="8001000" y="3657600"/>
            <a:ext cx="3621024" cy="11887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Section names come from the question name prefix; 2,500 section rows for n500.</a:t>
            </a:r>
          </a:p>
        </p:txBody>
      </p:sp>
      <p:sp>
        <p:nvSpPr>
          <p:cNvPr id="9" name="Rectangle 8"/>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INT-00002 is slowest in health, whose questions carry the highest complexity weights. A fabricator's sections all look alike.</a:t>
            </a:r>
          </a:p>
        </p:txBody>
      </p:sp>
      <p:sp>
        <p:nvSpPr>
          <p:cNvPr id="12" name="TextBox 11"/>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src/features/section_features.py; output/robustness_validation/section_features_benchmark_n500_surveycto.csv.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22</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FEATURES 3  ·  SURVEY LEVEL AND BATCH STAGE</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V-01 to V-10: the whole interview, and its place in the batch</a:t>
            </a:r>
          </a:p>
        </p:txBody>
      </p:sp>
      <p:graphicFrame>
        <p:nvGraphicFramePr>
          <p:cNvPr id="6" name="Table 5"/>
          <p:cNvGraphicFramePr>
            <a:graphicFrameLocks noGrp="1"/>
          </p:cNvGraphicFramePr>
          <p:nvPr/>
        </p:nvGraphicFramePr>
        <p:xfrm>
          <a:off x="566928" y="1325880"/>
          <a:ext cx="6949440" cy="3621024"/>
        </p:xfrm>
        <a:graphic>
          <a:graphicData uri="http://schemas.openxmlformats.org/drawingml/2006/table">
            <a:tbl>
              <a:tblPr firstRow="0" bandRow="0"/>
              <a:tblGrid>
                <a:gridCol w="548640"/>
                <a:gridCol w="1737360"/>
                <a:gridCol w="4663440"/>
              </a:tblGrid>
              <a:tr h="329184">
                <a:tc>
                  <a:txBody>
                    <a:bodyPr wrap="square"/>
                    <a:lstStyle/>
                    <a:p>
                      <a:r>
                        <a:rPr sz="1150" b="1" i="0">
                          <a:solidFill>
                            <a:srgbClr val="FFFFFF"/>
                          </a:solidFill>
                          <a:latin typeface="Calibri"/>
                        </a:rPr>
                        <a:t>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Feature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How it is computed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29184">
                <a:tc>
                  <a:txBody>
                    <a:bodyPr wrap="square"/>
                    <a:lstStyle/>
                    <a:p>
                      <a:r>
                        <a:rPr sz="1050" b="0" i="0">
                          <a:solidFill>
                            <a:srgbClr val="1F2933"/>
                          </a:solidFill>
                          <a:latin typeface="Calibri"/>
                        </a:rPr>
                        <a:t>V-01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Total duration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last event end minus first event start, form rows included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Early pace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milliseconds per question over the first third of events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Late pace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the same over the last third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Pace trajectory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V-03 divided by V-02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Back-navigation rate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jump or back events over the other events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Back-navigation total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count of jump or back events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Start hour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hour of the first event, UTC</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Day of week</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day of the first event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1" i="0">
                          <a:solidFill>
                            <a:srgbClr val="B45309"/>
                          </a:solidFill>
                          <a:latin typeface="Calibri"/>
                        </a:rPr>
                        <a:t>V-09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1" i="0">
                          <a:solidFill>
                            <a:srgbClr val="B45309"/>
                          </a:solidFill>
                          <a:latin typeface="Calibri"/>
                        </a:rPr>
                        <a:t>Relative duration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1" i="0">
                          <a:solidFill>
                            <a:srgbClr val="B45309"/>
                          </a:solidFill>
                          <a:latin typeface="Calibri"/>
                        </a:rPr>
                        <a:t>V-01 divided by the median V-01 of the batch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V-10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No-navigation run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1 if 20 or more consecutive events without navigation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7772400" y="1325880"/>
            <a:ext cx="3849624" cy="3621024"/>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463040"/>
            <a:ext cx="3520440" cy="365760"/>
          </a:xfrm>
          <a:prstGeom prst="rect">
            <a:avLst/>
          </a:prstGeom>
          <a:noFill/>
        </p:spPr>
        <p:txBody>
          <a:bodyPr wrap="square" lIns="36576" rIns="36576" tIns="18288" bIns="18288" anchor="t">
            <a:spAutoFit/>
          </a:bodyPr>
          <a:lstStyle/>
          <a:p>
            <a:pPr algn="l">
              <a:spcAft>
                <a:spcPts val="400"/>
              </a:spcAft>
            </a:pPr>
            <a:r>
              <a:rPr sz="1400" b="1" i="0">
                <a:solidFill>
                  <a:srgbClr val="B45309"/>
                </a:solidFill>
                <a:latin typeface="Calibri"/>
              </a:rPr>
              <a:t>The batch stage</a:t>
            </a:r>
          </a:p>
        </p:txBody>
      </p:sp>
      <p:sp>
        <p:nvSpPr>
          <p:cNvPr id="9" name="TextBox 8"/>
          <p:cNvSpPr txBox="1"/>
          <p:nvPr/>
        </p:nvSpPr>
        <p:spPr>
          <a:xfrm>
            <a:off x="7955279" y="1874519"/>
            <a:ext cx="3520440" cy="3017520"/>
          </a:xfrm>
          <a:prstGeom prst="rect">
            <a:avLst/>
          </a:prstGeom>
          <a:noFill/>
        </p:spPr>
        <p:txBody>
          <a:bodyPr wrap="square" lIns="36576" rIns="36576" tIns="18288" bIns="18288" anchor="t">
            <a:spAutoFit/>
          </a:bodyPr>
          <a:lstStyle/>
          <a:p>
            <a:pPr algn="l">
              <a:spcAft>
                <a:spcPts val="800"/>
              </a:spcAft>
            </a:pPr>
            <a:r>
              <a:rPr sz="1150" b="0" i="0">
                <a:solidFill>
                  <a:srgbClr val="1F2933"/>
                </a:solidFill>
                <a:latin typeface="Calibri"/>
              </a:rPr>
              <a:t>V-09 is computed only after every interview in the batch has been processed. INT-00002 scores 1.01; the fabricated INT-00008 scores 0.16.</a:t>
            </a:r>
          </a:p>
          <a:p>
            <a:pPr algn="l">
              <a:spcAft>
                <a:spcPts val="800"/>
              </a:spcAft>
            </a:pPr>
            <a:r>
              <a:rPr sz="1150" b="0" i="0">
                <a:solidFill>
                  <a:srgbClr val="1F2933"/>
                </a:solidFill>
                <a:latin typeface="Calibri"/>
              </a:rPr>
              <a:t>Several flags are batch-relative in the same way: half the median mean response time, twice the median pause.</a:t>
            </a:r>
          </a:p>
          <a:p>
            <a:pPr algn="l">
              <a:spcAft>
                <a:spcPts val="800"/>
              </a:spcAft>
            </a:pPr>
            <a:r>
              <a:rPr sz="1150" b="0" i="0">
                <a:solidFill>
                  <a:srgbClr val="1F2933"/>
                </a:solidFill>
                <a:latin typeface="Calibri"/>
              </a:rPr>
              <a:t>That lets the method adapt to the instrument. It is also why it needs anomalies to be a minority of the batch.</a:t>
            </a:r>
          </a:p>
        </p:txBody>
      </p:sp>
      <p:sp>
        <p:nvSpPr>
          <p:cNvPr id="10" name="Rectangle 9"/>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Batch-relative thresholds are the method's strength and its limit: results 6.4 measures where the limit falls.</a:t>
            </a:r>
          </a:p>
        </p:txBody>
      </p:sp>
      <p:sp>
        <p:nvSpPr>
          <p:cNvPr id="13" name="TextBox 12"/>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src/features/survey_features.py; src/pipeline/controller.py for V-09.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23</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FEATURES 4  ·  STATISTICAL</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T-01 to T-10: the shape of the response-time distribution</a:t>
            </a:r>
          </a:p>
        </p:txBody>
      </p:sp>
      <p:graphicFrame>
        <p:nvGraphicFramePr>
          <p:cNvPr id="6" name="Table 5"/>
          <p:cNvGraphicFramePr>
            <a:graphicFrameLocks noGrp="1"/>
          </p:cNvGraphicFramePr>
          <p:nvPr/>
        </p:nvGraphicFramePr>
        <p:xfrm>
          <a:off x="566928" y="1325880"/>
          <a:ext cx="5852160" cy="3621024"/>
        </p:xfrm>
        <a:graphic>
          <a:graphicData uri="http://schemas.openxmlformats.org/drawingml/2006/table">
            <a:tbl>
              <a:tblPr firstRow="0" bandRow="0"/>
              <a:tblGrid>
                <a:gridCol w="548640"/>
                <a:gridCol w="1828800"/>
                <a:gridCol w="3474720"/>
              </a:tblGrid>
              <a:tr h="329184">
                <a:tc>
                  <a:txBody>
                    <a:bodyPr wrap="square"/>
                    <a:lstStyle/>
                    <a:p>
                      <a:r>
                        <a:rPr sz="1150" b="1" i="0">
                          <a:solidFill>
                            <a:srgbClr val="FFFFFF"/>
                          </a:solidFill>
                          <a:latin typeface="Calibri"/>
                        </a:rPr>
                        <a:t>ID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Feature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Of the interview's 20 Q-01 values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29184">
                <a:tc>
                  <a:txBody>
                    <a:bodyPr wrap="square"/>
                    <a:lstStyle/>
                    <a:p>
                      <a:r>
                        <a:rPr sz="1050" b="0" i="0">
                          <a:solidFill>
                            <a:srgbClr val="1F2933"/>
                          </a:solidFill>
                          <a:latin typeface="Calibri"/>
                        </a:rPr>
                        <a:t>T-01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Variance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sample variance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Interquartile range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Q3 − Q1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1" i="0">
                          <a:solidFill>
                            <a:srgbClr val="0F766E"/>
                          </a:solidFill>
                          <a:latin typeface="Calibri"/>
                        </a:rPr>
                        <a:t>T-03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1" i="0">
                          <a:solidFill>
                            <a:srgbClr val="0F766E"/>
                          </a:solidFill>
                          <a:latin typeface="Calibri"/>
                        </a:rPr>
                        <a:t>Entropy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Shannon entropy in one-second bins, in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T-04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Skewness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third standardised moment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T-05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Excess kurtosis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fourth standardised moment − 3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Mean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arithmetic mean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T-07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Median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middle value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1" i="0">
                          <a:solidFill>
                            <a:srgbClr val="0F766E"/>
                          </a:solidFill>
                          <a:latin typeface="Calibri"/>
                        </a:rPr>
                        <a:t>T-08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1" i="0">
                          <a:solidFill>
                            <a:srgbClr val="0F766E"/>
                          </a:solidFill>
                          <a:latin typeface="Calibri"/>
                        </a:rPr>
                        <a:t>Coefficient of variation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standard deviation ÷ mean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Minimum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fastest answer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Maximum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slowest answer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6675120" y="1325880"/>
            <a:ext cx="4946904" cy="3621024"/>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463040"/>
            <a:ext cx="4617720" cy="365760"/>
          </a:xfrm>
          <a:prstGeom prst="rect">
            <a:avLst/>
          </a:prstGeom>
          <a:noFill/>
        </p:spPr>
        <p:txBody>
          <a:bodyPr wrap="square" lIns="36576" rIns="36576" tIns="18288" bIns="18288" anchor="t">
            <a:spAutoFit/>
          </a:bodyPr>
          <a:lstStyle/>
          <a:p>
            <a:pPr algn="l">
              <a:spcAft>
                <a:spcPts val="400"/>
              </a:spcAft>
            </a:pPr>
            <a:r>
              <a:rPr sz="1400" b="1" i="0">
                <a:solidFill>
                  <a:srgbClr val="0F766E"/>
                </a:solidFill>
                <a:latin typeface="Calibri"/>
              </a:rPr>
              <a:t>Entropy, worked</a:t>
            </a:r>
          </a:p>
        </p:txBody>
      </p:sp>
      <p:sp>
        <p:nvSpPr>
          <p:cNvPr id="9" name="TextBox 8"/>
          <p:cNvSpPr txBox="1"/>
          <p:nvPr/>
        </p:nvSpPr>
        <p:spPr>
          <a:xfrm>
            <a:off x="6858000" y="1874519"/>
            <a:ext cx="4617720" cy="457200"/>
          </a:xfrm>
          <a:prstGeom prst="rect">
            <a:avLst/>
          </a:prstGeom>
          <a:noFill/>
        </p:spPr>
        <p:txBody>
          <a:bodyPr wrap="square" lIns="36576" rIns="36576" tIns="18288" bIns="18288" anchor="t">
            <a:spAutoFit/>
          </a:bodyPr>
          <a:lstStyle/>
          <a:p>
            <a:pPr algn="l">
              <a:spcAft>
                <a:spcPts val="400"/>
              </a:spcAft>
            </a:pPr>
            <a:r>
              <a:rPr sz="1800" b="1" i="0">
                <a:solidFill>
                  <a:srgbClr val="1F2933"/>
                </a:solidFill>
                <a:latin typeface="Cambria"/>
              </a:rPr>
              <a:t>H = − Σ pᵢ log₂ pᵢ</a:t>
            </a:r>
          </a:p>
        </p:txBody>
      </p:sp>
      <p:sp>
        <p:nvSpPr>
          <p:cNvPr id="10" name="TextBox 9"/>
          <p:cNvSpPr txBox="1"/>
          <p:nvPr/>
        </p:nvSpPr>
        <p:spPr>
          <a:xfrm>
            <a:off x="6858000" y="2377440"/>
            <a:ext cx="4617720" cy="2560320"/>
          </a:xfrm>
          <a:prstGeom prst="rect">
            <a:avLst/>
          </a:prstGeom>
          <a:noFill/>
        </p:spPr>
        <p:txBody>
          <a:bodyPr wrap="square" lIns="36576" rIns="36576" tIns="18288" bIns="18288" anchor="t">
            <a:spAutoFit/>
          </a:bodyPr>
          <a:lstStyle/>
          <a:p>
            <a:pPr algn="l">
              <a:spcAft>
                <a:spcPts val="800"/>
              </a:spcAft>
            </a:pPr>
            <a:r>
              <a:rPr sz="1150" b="0" i="0">
                <a:solidFill>
                  <a:srgbClr val="1F2933"/>
                </a:solidFill>
                <a:latin typeface="Calibri"/>
              </a:rPr>
              <a:t>pᵢ is the share of the 20 response times in one-second bin i.</a:t>
            </a:r>
          </a:p>
          <a:p>
            <a:pPr algn="l">
              <a:spcAft>
                <a:spcPts val="800"/>
              </a:spcAft>
            </a:pPr>
            <a:r>
              <a:rPr sz="1150" b="1" i="0">
                <a:solidFill>
                  <a:srgbClr val="1F2933"/>
                </a:solidFill>
                <a:latin typeface="Calibri"/>
              </a:rPr>
              <a:t>INT-00002, normal: </a:t>
            </a:r>
            <a:r>
              <a:rPr sz="1150" b="0" i="0">
                <a:solidFill>
                  <a:srgbClr val="1F2933"/>
                </a:solidFill>
                <a:latin typeface="Calibri"/>
              </a:rPr>
              <a:t>times spread over many bins, H = 3.17 bits.</a:t>
            </a:r>
          </a:p>
          <a:p>
            <a:pPr algn="l">
              <a:spcAft>
                <a:spcPts val="800"/>
              </a:spcAft>
            </a:pPr>
            <a:r>
              <a:rPr sz="1150" b="1" i="0">
                <a:solidFill>
                  <a:srgbClr val="1F2933"/>
                </a:solidFill>
                <a:latin typeface="Calibri"/>
              </a:rPr>
              <a:t>INT-00008, fabricated: </a:t>
            </a:r>
            <a:r>
              <a:rPr sz="1150" b="0" i="0">
                <a:solidFill>
                  <a:srgbClr val="1F2933"/>
                </a:solidFill>
                <a:latin typeface="Calibri"/>
              </a:rPr>
              <a:t>all 20 times fall between 1 and 2 s, one bin, H = 0 bits.</a:t>
            </a:r>
          </a:p>
          <a:p>
            <a:pPr algn="l">
              <a:spcAft>
                <a:spcPts val="800"/>
              </a:spcAft>
            </a:pPr>
            <a:r>
              <a:rPr sz="1150" b="1" i="0">
                <a:solidFill>
                  <a:srgbClr val="1F2933"/>
                </a:solidFill>
                <a:latin typeface="Calibri"/>
              </a:rPr>
              <a:t>Coefficient of variation: </a:t>
            </a:r>
            <a:r>
              <a:rPr sz="1150" b="0" i="0">
                <a:solidFill>
                  <a:srgbClr val="1F2933"/>
                </a:solidFill>
                <a:latin typeface="Calibri"/>
              </a:rPr>
              <a:t>0.48 normal against 0.08 fabricated; below 0.10 fires the uniform-timing flag.</a:t>
            </a:r>
          </a:p>
        </p:txBody>
      </p:sp>
      <p:sp>
        <p:nvSpPr>
          <p:cNvPr id="11" name="Rectangle 10"/>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Entropy separates the classes most strongly of all forty features: Cohen's d −10.57, rank-biserial 1.00 on n500 (Table 2).</a:t>
            </a:r>
          </a:p>
        </p:txBody>
      </p:sp>
      <p:sp>
        <p:nvSpPr>
          <p:cNvPr id="14" name="TextBox 13"/>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src/features/statistical_features.py; output/feature_validation_results.csv.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24</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FEATURES 5  ·  FOUR REAL INTERVIEWS</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The same features, four behaviours</a:t>
            </a:r>
          </a:p>
        </p:txBody>
      </p:sp>
      <p:graphicFrame>
        <p:nvGraphicFramePr>
          <p:cNvPr id="6" name="Table 5"/>
          <p:cNvGraphicFramePr>
            <a:graphicFrameLocks noGrp="1"/>
          </p:cNvGraphicFramePr>
          <p:nvPr/>
        </p:nvGraphicFramePr>
        <p:xfrm>
          <a:off x="566928" y="1325880"/>
          <a:ext cx="11055093" cy="3621024"/>
        </p:xfrm>
        <a:graphic>
          <a:graphicData uri="http://schemas.openxmlformats.org/drawingml/2006/table">
            <a:tbl>
              <a:tblPr firstRow="0" bandRow="0"/>
              <a:tblGrid>
                <a:gridCol w="2740932"/>
                <a:gridCol w="2010017"/>
                <a:gridCol w="2101381"/>
                <a:gridCol w="2010017"/>
                <a:gridCol w="2192746"/>
              </a:tblGrid>
              <a:tr h="329184">
                <a:tc>
                  <a:txBody>
                    <a:bodyPr wrap="square"/>
                    <a:lstStyle/>
                    <a:p>
                      <a:r>
                        <a:rPr sz="1150" b="1" i="0">
                          <a:solidFill>
                            <a:srgbClr val="FFFFFF"/>
                          </a:solidFill>
                          <a:latin typeface="Calibri"/>
                        </a:rPr>
                        <a:t>Feature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INT-00002  normal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INT-00008  fabricated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INT-00013  speeding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INT-00001  disengaged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29184">
                <a:tc>
                  <a:txBody>
                    <a:bodyPr wrap="square"/>
                    <a:lstStyle/>
                    <a:p>
                      <a:r>
                        <a:rPr sz="1100" b="0" i="0">
                          <a:solidFill>
                            <a:srgbClr val="1F2933"/>
                          </a:solidFill>
                          <a:latin typeface="Calibri"/>
                        </a:rPr>
                        <a:t>Total duration (V-01)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177.6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28.5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15.3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141.4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Relative duration (V-09)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0.16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0.09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0.80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Mean response time (T-06)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8,376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1,186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512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6,036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Response-time IQR (T-02)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4,451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97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306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216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Entropy (T-03)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3.17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0.00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0.00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0.97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Coefficient of variation (T-08)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0.48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0.08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0.38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0.03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Back-navigations (V-06)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Mean pause (S-07)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346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127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95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635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Anomaly score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8</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100" b="0" i="0">
                          <a:solidFill>
                            <a:srgbClr val="1F2933"/>
                          </a:solidFill>
                          <a:latin typeface="Calibri"/>
                        </a:rPr>
                        <a:t>Category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normal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No single feature separates them all: speeding has a normal-looking CV, disengagement a normal-looking duration. Hence the score.</a:t>
            </a:r>
          </a:p>
        </p:txBody>
      </p:sp>
      <p:sp>
        <p:nvSpPr>
          <p:cNvPr id="10" name="TextBox 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output/robustness_validation/feature_dataset_ and anomaly_report_benchmark_n500_surveycto.csv. Amber marks values that fired a flag or drove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25</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DETECTION  ·  CHAPTER 3.4</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From features to flags to a score</a:t>
            </a:r>
          </a:p>
        </p:txBody>
      </p:sp>
      <p:graphicFrame>
        <p:nvGraphicFramePr>
          <p:cNvPr id="6" name="Table 5"/>
          <p:cNvGraphicFramePr>
            <a:graphicFrameLocks noGrp="1"/>
          </p:cNvGraphicFramePr>
          <p:nvPr/>
        </p:nvGraphicFramePr>
        <p:xfrm>
          <a:off x="566928" y="1325880"/>
          <a:ext cx="7040880" cy="3621024"/>
        </p:xfrm>
        <a:graphic>
          <a:graphicData uri="http://schemas.openxmlformats.org/drawingml/2006/table">
            <a:tbl>
              <a:tblPr firstRow="0" bandRow="0"/>
              <a:tblGrid>
                <a:gridCol w="2103120"/>
                <a:gridCol w="3566160"/>
                <a:gridCol w="1371600"/>
              </a:tblGrid>
              <a:tr h="329184">
                <a:tc>
                  <a:txBody>
                    <a:bodyPr wrap="square"/>
                    <a:lstStyle/>
                    <a:p>
                      <a:r>
                        <a:rPr sz="1150" b="1" i="0">
                          <a:solidFill>
                            <a:srgbClr val="FFFFFF"/>
                          </a:solidFill>
                          <a:latin typeface="Calibri"/>
                        </a:rPr>
                        <a:t>Flag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Fires when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Form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29184">
                <a:tc>
                  <a:txBody>
                    <a:bodyPr wrap="square"/>
                    <a:lstStyle/>
                    <a:p>
                      <a:r>
                        <a:rPr sz="1050" b="0" i="0">
                          <a:solidFill>
                            <a:srgbClr val="1F2933"/>
                          </a:solidFill>
                          <a:latin typeface="Calibri"/>
                        </a:rPr>
                        <a:t>Short relative duration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V-09 &lt; 0.5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batch-relative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Low mean response time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T-06 &lt; 0.5 × batch median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batch-relative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Low entropy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T-03 &lt; 0.5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absolute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Uniform timing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CV &lt; 0.1, or variance &lt; 10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absolute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Low response-time IQR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T-02 ≤ 0.5 × median, after a compression flag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conditional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Low within-section variance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S-03 ≤ 0.25 × median, after a compression flag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conditional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No back-navigation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V-10 = 1 or V-06 = 0, after a compression flag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conditional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Back-navigation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V-05 ≥ 0.25 moderate, ≥ 0.5 high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absolute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Long / elevated pause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S-08 ≥ 2 × median; S-07 ≥ 2.5 × median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batch-relative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29184">
                <a:tc>
                  <a:txBody>
                    <a:bodyPr wrap="square"/>
                    <a:lstStyle/>
                    <a:p>
                      <a:r>
                        <a:rPr sz="1050" b="0" i="0">
                          <a:solidFill>
                            <a:srgbClr val="1F2933"/>
                          </a:solidFill>
                          <a:latin typeface="Calibri"/>
                        </a:rPr>
                        <a:t>Tukey fences × 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V-01, T-06, T-03, T-01 outside Q1 − 1.5 IQR, Q3 + 1.5 IQR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one point jointly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7818120" y="1325880"/>
            <a:ext cx="3803904" cy="3621024"/>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463040"/>
            <a:ext cx="3474720" cy="365760"/>
          </a:xfrm>
          <a:prstGeom prst="rect">
            <a:avLst/>
          </a:prstGeom>
          <a:noFill/>
        </p:spPr>
        <p:txBody>
          <a:bodyPr wrap="square" lIns="36576" rIns="36576" tIns="18288" bIns="18288" anchor="t">
            <a:spAutoFit/>
          </a:bodyPr>
          <a:lstStyle/>
          <a:p>
            <a:pPr algn="l">
              <a:spcAft>
                <a:spcPts val="400"/>
              </a:spcAft>
            </a:pPr>
            <a:r>
              <a:rPr sz="1400" b="1" i="0">
                <a:solidFill>
                  <a:srgbClr val="B45309"/>
                </a:solidFill>
                <a:latin typeface="Calibri"/>
              </a:rPr>
              <a:t>INT-00008, fabricated</a:t>
            </a:r>
          </a:p>
        </p:txBody>
      </p:sp>
      <p:sp>
        <p:nvSpPr>
          <p:cNvPr id="9" name="TextBox 8"/>
          <p:cNvSpPr txBox="1"/>
          <p:nvPr/>
        </p:nvSpPr>
        <p:spPr>
          <a:xfrm>
            <a:off x="8001000" y="1874519"/>
            <a:ext cx="3474720" cy="2103120"/>
          </a:xfrm>
          <a:prstGeom prst="rect">
            <a:avLst/>
          </a:prstGeom>
          <a:noFill/>
        </p:spPr>
        <p:txBody>
          <a:bodyPr wrap="square" lIns="36576" rIns="36576" tIns="18288" bIns="18288" anchor="t">
            <a:spAutoFit/>
          </a:bodyPr>
          <a:lstStyle/>
          <a:p>
            <a:pPr algn="l">
              <a:spcAft>
                <a:spcPts val="800"/>
              </a:spcAft>
            </a:pPr>
            <a:r>
              <a:rPr sz="1100" b="0" i="0">
                <a:solidFill>
                  <a:srgbClr val="1F2933"/>
                </a:solidFill>
                <a:latin typeface="Calibri"/>
              </a:rPr>
              <a:t>7 rule flags: short relative duration, low mean response time, no back-navigation, low entropy, uniform timing, low IQR, low section variance.</a:t>
            </a:r>
          </a:p>
          <a:p>
            <a:pPr algn="l">
              <a:spcAft>
                <a:spcPts val="800"/>
              </a:spcAft>
            </a:pPr>
            <a:r>
              <a:rPr sz="1100" b="0" i="0">
                <a:solidFill>
                  <a:srgbClr val="1F2933"/>
                </a:solidFill>
                <a:latin typeface="Calibri"/>
              </a:rPr>
              <a:t>3 fences fired: duration, mean response time, entropy, capped at 1 point.</a:t>
            </a:r>
          </a:p>
        </p:txBody>
      </p:sp>
      <p:sp>
        <p:nvSpPr>
          <p:cNvPr id="10" name="TextBox 9"/>
          <p:cNvSpPr txBox="1"/>
          <p:nvPr/>
        </p:nvSpPr>
        <p:spPr>
          <a:xfrm>
            <a:off x="8001000" y="3886200"/>
            <a:ext cx="3474720" cy="457200"/>
          </a:xfrm>
          <a:prstGeom prst="rect">
            <a:avLst/>
          </a:prstGeom>
          <a:noFill/>
        </p:spPr>
        <p:txBody>
          <a:bodyPr wrap="square" lIns="36576" rIns="36576" tIns="18288" bIns="18288" anchor="t">
            <a:spAutoFit/>
          </a:bodyPr>
          <a:lstStyle/>
          <a:p>
            <a:pPr algn="l">
              <a:spcAft>
                <a:spcPts val="400"/>
              </a:spcAft>
            </a:pPr>
            <a:r>
              <a:rPr sz="1800" b="1" i="0">
                <a:solidFill>
                  <a:srgbClr val="B45309"/>
                </a:solidFill>
                <a:latin typeface="Cambria"/>
              </a:rPr>
              <a:t>7 + 1 = 8  →  anomalous</a:t>
            </a:r>
          </a:p>
        </p:txBody>
      </p:sp>
      <p:sp>
        <p:nvSpPr>
          <p:cNvPr id="11" name="TextBox 10"/>
          <p:cNvSpPr txBox="1"/>
          <p:nvPr/>
        </p:nvSpPr>
        <p:spPr>
          <a:xfrm>
            <a:off x="8001000" y="4389120"/>
            <a:ext cx="3474720" cy="457200"/>
          </a:xfrm>
          <a:prstGeom prst="rect">
            <a:avLst/>
          </a:prstGeom>
          <a:noFill/>
        </p:spPr>
        <p:txBody>
          <a:bodyPr wrap="square" lIns="36576" rIns="36576" tIns="18288" bIns="18288" anchor="t">
            <a:spAutoFit/>
          </a:bodyPr>
          <a:lstStyle/>
          <a:p>
            <a:pPr algn="l">
              <a:spcAft>
                <a:spcPts val="400"/>
              </a:spcAft>
            </a:pPr>
            <a:r>
              <a:rPr sz="1150" b="0" i="0">
                <a:solidFill>
                  <a:srgbClr val="6B7785"/>
                </a:solidFill>
                <a:latin typeface="Calibri"/>
              </a:rPr>
              <a:t>Score ≥ 2 suspicious, ≥ 5 anomalous.</a:t>
            </a:r>
          </a:p>
        </p:txBody>
      </p:sp>
      <p:sp>
        <p:nvSpPr>
          <p:cNvPr id="12" name="Rectangle 11"/>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Every point in the score is a named flag, so the report can say exactly why an interview was flagged.</a:t>
            </a:r>
          </a:p>
        </p:txBody>
      </p:sp>
      <p:sp>
        <p:nvSpPr>
          <p:cNvPr id="15" name="TextBox 14"/>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src/validation/anomaly_detector.py; Table 1a of the report lists every flag and default.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26</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OUTPUTS</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What one run writes</a:t>
            </a:r>
          </a:p>
        </p:txBody>
      </p:sp>
      <p:graphicFrame>
        <p:nvGraphicFramePr>
          <p:cNvPr id="6" name="Table 5"/>
          <p:cNvGraphicFramePr>
            <a:graphicFrameLocks noGrp="1"/>
          </p:cNvGraphicFramePr>
          <p:nvPr/>
        </p:nvGraphicFramePr>
        <p:xfrm>
          <a:off x="566928" y="1325880"/>
          <a:ext cx="11055095" cy="3291840"/>
        </p:xfrm>
        <a:graphic>
          <a:graphicData uri="http://schemas.openxmlformats.org/drawingml/2006/table">
            <a:tbl>
              <a:tblPr firstRow="0" bandRow="0"/>
              <a:tblGrid>
                <a:gridCol w="3015026"/>
                <a:gridCol w="1279102"/>
                <a:gridCol w="1096373"/>
                <a:gridCol w="5664594"/>
              </a:tblGrid>
              <a:tr h="365760">
                <a:tc>
                  <a:txBody>
                    <a:bodyPr wrap="square"/>
                    <a:lstStyle/>
                    <a:p>
                      <a:r>
                        <a:rPr sz="1150" b="1" i="0">
                          <a:solidFill>
                            <a:srgbClr val="FFFFFF"/>
                          </a:solidFill>
                          <a:latin typeface="Calibri"/>
                        </a:rPr>
                        <a:t>File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One row per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Rows, n500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What it is for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65760">
                <a:tc>
                  <a:txBody>
                    <a:bodyPr wrap="square"/>
                    <a:lstStyle/>
                    <a:p>
                      <a:r>
                        <a:rPr sz="1000" b="0" i="0">
                          <a:solidFill>
                            <a:srgbClr val="1F2933"/>
                          </a:solidFill>
                          <a:latin typeface="Courier New"/>
                        </a:rPr>
                        <a:t>pipeline_output_&lt;label&gt;.csv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interview</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all 40 features plus every flag, the score and the category: 72 columns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feature_dataset_&lt;label&gt;.csv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interview</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the 40 features alone: the analyst's dataset, usable without the detector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question_features_&lt;label&gt;.csv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question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10,000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Q-01 to Q-10 for every question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section_features_&lt;label&gt;.csv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section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2,500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S-01 to S-10 for every section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anomaly_report_&lt;label&gt;.csv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interview</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score, category, status (REVIEW, FLAGGED, CLEAN) and the named flags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predictions_&lt;label&gt;.csv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interview</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the anomaly report joined to ground truth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metrics_&lt;label&gt;.csv / .json / .md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run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precision, recall, F1, confusion counts and the acceptance checks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65760">
                <a:tc>
                  <a:txBody>
                    <a:bodyPr wrap="square"/>
                    <a:lstStyle/>
                    <a:p>
                      <a:r>
                        <a:rPr sz="1000" b="0" i="0">
                          <a:solidFill>
                            <a:srgbClr val="1F2933"/>
                          </a:solidFill>
                          <a:latin typeface="Courier New"/>
                        </a:rPr>
                        <a:t>detection_by_type_&lt;label&gt;.csv</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anomaly type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per-class recall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The last three files appear only when a ground truth file is supplied. On real data the run ends at the anomaly report.</a:t>
            </a:r>
          </a:p>
        </p:txBody>
      </p:sp>
      <p:sp>
        <p:nvSpPr>
          <p:cNvPr id="10" name="TextBox 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output/robustness_validation/*_benchmark_n500_surveycto.*; label set with --label.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16232B"/>
        </a:solidFill>
      </p:bgPr>
    </p:bg>
    <p:spTree>
      <p:nvGrpSpPr>
        <p:cNvPr id="1" name=""/>
        <p:cNvGrpSpPr/>
        <p:nvPr/>
      </p:nvGrpSpPr>
      <p:grpSpPr>
        <a:xfrm>
          <a:off x="0" y="0"/>
          <a:ext cx="0" cy="0"/>
          <a:chOff x="0" y="0"/>
          <a:chExt cx="0" cy="0"/>
        </a:xfrm>
      </p:grpSpPr>
      <p:sp>
        <p:nvSpPr>
          <p:cNvPr id="2" name="Text 0"/>
          <p:cNvSpPr txBox="1"/>
          <p:nvPr/>
        </p:nvSpPr>
        <p:spPr>
          <a:xfrm>
            <a:off x="566928" y="2286000"/>
            <a:ext cx="9774936"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system, running.</a:t>
            </a:r>
            <a:endParaRPr lang="en-US" sz="4000" dirty="0"/>
          </a:p>
        </p:txBody>
      </p:sp>
      <p:sp>
        <p:nvSpPr>
          <p:cNvPr id="3" name="Text 1"/>
          <p:cNvSpPr txBox="1"/>
          <p:nvPr/>
        </p:nvSpPr>
        <p:spPr>
          <a:xfrm>
            <a:off x="566928" y="3657600"/>
            <a:ext cx="9043416" cy="914400"/>
          </a:xfrm>
          <a:prstGeom prst="rect">
            <a:avLst/>
          </a:prstGeom>
          <a:noFill/>
          <a:ln/>
        </p:spPr>
        <p:txBody>
          <a:bodyPr wrap="square" lIns="0" tIns="0" rIns="0" bIns="0" rtlCol="0" anchor="ctr"/>
          <a:lstStyle/>
          <a:p>
            <a:pPr indent="0" marL="0">
              <a:lnSpc>
                <a:spcPts val="2400"/>
              </a:lnSpc>
              <a:buNone/>
            </a:pPr>
            <a:r>
              <a:rPr lang="en-US" sz="1500" dirty="0">
                <a:solidFill>
                  <a:srgbClr val="AFC0C9"/>
                </a:solidFill>
                <a:latin typeface="Calibri" pitchFamily="34" charset="0"/>
                <a:ea typeface="Calibri" pitchFamily="34" charset="-122"/>
                <a:cs typeface="Calibri" pitchFamily="34" charset="-120"/>
              </a:rPr>
              <a:t>Everything on the next five slides is a live run of the pipeline on the sample data in the repository, using the command as documented. No figure here is a stored capture.</a:t>
            </a:r>
            <a:endParaRPr lang="en-US" sz="15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7C8B95"/>
                </a:solidFill>
                <a:latin typeface="Calibri" pitchFamily="34" charset="0"/>
                <a:ea typeface="Calibri" pitchFamily="34" charset="-122"/>
                <a:cs typeface="Calibri" pitchFamily="34" charset="-120"/>
              </a:rPr>
              <a:t>27</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7C8B95"/>
                </a:solidFill>
                <a:latin typeface="Calibri" pitchFamily="34" charset="0"/>
                <a:ea typeface="Calibri" pitchFamily="34" charset="-122"/>
                <a:cs typeface="Calibri" pitchFamily="34" charset="-120"/>
              </a:rPr>
              <a:t>Samuel Kaoma  |  2022016530  |  CSC 4004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DEMONSTRATION 1</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One command, two platforms, five outputs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demo1_run.png">    </p:cNvPr>
          <p:cNvPicPr>
            <a:picLocks noChangeAspect="1"/>
          </p:cNvPicPr>
          <p:nvPr/>
        </p:nvPicPr>
        <p:blipFill>
          <a:blip r:embed="rId1"/>
          <a:stretch>
            <a:fillRect/>
          </a:stretch>
        </p:blipFill>
        <p:spPr>
          <a:xfrm>
            <a:off x="566928" y="1325880"/>
            <a:ext cx="8549640" cy="2907792"/>
          </a:xfrm>
          <a:prstGeom prst="rect">
            <a:avLst/>
          </a:prstGeom>
        </p:spPr>
      </p:pic>
      <p:sp>
        <p:nvSpPr>
          <p:cNvPr id="7" name="Text 4"/>
          <p:cNvSpPr txBox="1"/>
          <p:nvPr/>
        </p:nvSpPr>
        <p:spPr>
          <a:xfrm>
            <a:off x="9281160" y="1371600"/>
            <a:ext cx="2350008" cy="3108960"/>
          </a:xfrm>
          <a:prstGeom prst="rect">
            <a:avLst/>
          </a:prstGeom>
          <a:noFill/>
          <a:ln/>
        </p:spPr>
        <p:txBody>
          <a:bodyPr wrap="square" lIns="0" tIns="0" rIns="0" bIns="0" rtlCol="0" anchor="ctr"/>
          <a:lstStyle/>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The analyst points the pipeline at the raw exports and nothing else.</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Format detection is automatic: it recognises the ODK file by its ISO 8601 timestamps and instance columns, and the SurveyCTO file by its epoch milliseconds and XPath node ids, then routes each to its own parser.</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Both land in the same intermediate representation, so from that point on the twenty-four interviews are processed identically regardless of which platform produced them.</a:t>
            </a:r>
            <a:endParaRPr lang="en-US" sz="1200" dirty="0"/>
          </a:p>
        </p:txBody>
      </p:sp>
      <p:sp>
        <p:nvSpPr>
          <p:cNvPr id="8"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Granular question-level and section-level exports come out of the same run, not a separate step.</a:t>
            </a:r>
            <a:endParaRPr lang="en-US" sz="1350" dirty="0"/>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Live run: python run_pipeline.py --inputs data/odk.csv data/surveycto.csv --parser auto --output-dir output --label demo</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DEMONSTRATION 2</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The feature dataset: one row per interview</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29</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demo2_features.png">    </p:cNvPr>
          <p:cNvPicPr>
            <a:picLocks noChangeAspect="1"/>
          </p:cNvPicPr>
          <p:nvPr/>
        </p:nvPicPr>
        <p:blipFill>
          <a:blip r:embed="rId1"/>
          <a:stretch>
            <a:fillRect/>
          </a:stretch>
        </p:blipFill>
        <p:spPr>
          <a:xfrm>
            <a:off x="566928" y="1737360"/>
            <a:ext cx="8458200" cy="1975104"/>
          </a:xfrm>
          <a:prstGeom prst="rect">
            <a:avLst/>
          </a:prstGeom>
        </p:spPr>
      </p:pic>
      <p:sp>
        <p:nvSpPr>
          <p:cNvPr id="7" name="Text 4"/>
          <p:cNvSpPr txBox="1"/>
          <p:nvPr/>
        </p:nvSpPr>
        <p:spPr>
          <a:xfrm>
            <a:off x="9189720" y="1554480"/>
            <a:ext cx="2441448" cy="3017520"/>
          </a:xfrm>
          <a:prstGeom prst="rect">
            <a:avLst/>
          </a:prstGeom>
          <a:noFill/>
          <a:ln/>
        </p:spPr>
        <p:txBody>
          <a:bodyPr wrap="square" lIns="0" tIns="0" rIns="0" bIns="0" rtlCol="0" anchor="ctr"/>
          <a:lstStyle/>
          <a:p>
            <a:pPr indent="0" marL="0">
              <a:lnSpc>
                <a:spcPts val="1600"/>
              </a:lnSpc>
              <a:buNone/>
            </a:pPr>
            <a:r>
              <a:rPr lang="en-US" sz="1150" b="1" dirty="0">
                <a:solidFill>
                  <a:srgbClr val="1F2933"/>
                </a:solidFill>
                <a:latin typeface="Calibri" pitchFamily="34" charset="0"/>
                <a:ea typeface="Calibri" pitchFamily="34" charset="-122"/>
                <a:cs typeface="Calibri" pitchFamily="34" charset="-120"/>
              </a:rPr>
              <a:t>Forty columns, six shown.</a:t>
            </a:r>
            <a:endParaRPr lang="en-US" sz="1150" dirty="0"/>
          </a:p>
          <a:p>
            <a:pPr indent="0" marL="0">
              <a:lnSpc>
                <a:spcPts val="1600"/>
              </a:lnSpc>
              <a:buNone/>
            </a:pPr>
            <a:r>
              <a:rPr lang="en-US" sz="600" dirty="0">
                <a:solidFill>
                  <a:srgbClr val="1F2933"/>
                </a:solidFill>
                <a:latin typeface="Calibri" pitchFamily="34" charset="0"/>
                <a:ea typeface="Calibri" pitchFamily="34" charset="-122"/>
                <a:cs typeface="Calibri" pitchFamily="34" charset="-120"/>
              </a:rPr>
              <a:t> </a:t>
            </a:r>
            <a:endParaRPr lang="en-US" sz="1150" dirty="0"/>
          </a:p>
          <a:p>
            <a:pPr indent="0" marL="0">
              <a:lnSpc>
                <a:spcPts val="1600"/>
              </a:lnSpc>
              <a:buNone/>
            </a:pPr>
            <a:r>
              <a:rPr lang="en-US" sz="1150" dirty="0">
                <a:solidFill>
                  <a:srgbClr val="1F2933"/>
                </a:solidFill>
                <a:latin typeface="Calibri" pitchFamily="34" charset="0"/>
                <a:ea typeface="Calibri" pitchFamily="34" charset="-122"/>
                <a:cs typeface="Calibri" pitchFamily="34" charset="-120"/>
              </a:rPr>
              <a:t>Every column carries its catalogue identifier, so a number in this file traces back to a definition in the feature documentation and to a citation in the literature review.</a:t>
            </a:r>
            <a:endParaRPr lang="en-US" sz="1150" dirty="0"/>
          </a:p>
          <a:p>
            <a:pPr indent="0" marL="0">
              <a:lnSpc>
                <a:spcPts val="1600"/>
              </a:lnSpc>
              <a:buNone/>
            </a:pPr>
            <a:r>
              <a:rPr lang="en-US" sz="600" dirty="0">
                <a:solidFill>
                  <a:srgbClr val="1F2933"/>
                </a:solidFill>
                <a:latin typeface="Calibri" pitchFamily="34" charset="0"/>
                <a:ea typeface="Calibri" pitchFamily="34" charset="-122"/>
                <a:cs typeface="Calibri" pitchFamily="34" charset="-120"/>
              </a:rPr>
              <a:t> </a:t>
            </a:r>
            <a:endParaRPr lang="en-US" sz="1150" dirty="0"/>
          </a:p>
          <a:p>
            <a:pPr indent="0" marL="0">
              <a:lnSpc>
                <a:spcPts val="1600"/>
              </a:lnSpc>
              <a:buNone/>
            </a:pPr>
            <a:r>
              <a:rPr lang="en-US" sz="1150" dirty="0">
                <a:solidFill>
                  <a:srgbClr val="1F2933"/>
                </a:solidFill>
                <a:latin typeface="Calibri" pitchFamily="34" charset="0"/>
                <a:ea typeface="Calibri" pitchFamily="34" charset="-122"/>
                <a:cs typeface="Calibri" pitchFamily="34" charset="-120"/>
              </a:rPr>
              <a:t>ODK401 is already visible as unusual: entropy of exactly zero and a response time IQR under 100 ms against a genuine interview at 7,316 ms.</a:t>
            </a:r>
            <a:endParaRPr lang="en-US" sz="1150" dirty="0"/>
          </a:p>
        </p:txBody>
      </p:sp>
      <p:sp>
        <p:nvSpPr>
          <p:cNvPr id="8"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file is the analyst's deliverable whether or not they ever use the detector.</a:t>
            </a:r>
            <a:endParaRPr lang="en-US" sz="1350" dirty="0"/>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output/feature_dataset_demo.csv, written by the run on the previous slide.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DEMONSTRATION 3</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The anomaly report: a score you can argue with</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30</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demo3_report.png">    </p:cNvPr>
          <p:cNvPicPr>
            <a:picLocks noChangeAspect="1"/>
          </p:cNvPicPr>
          <p:nvPr/>
        </p:nvPicPr>
        <p:blipFill>
          <a:blip r:embed="rId1"/>
          <a:stretch>
            <a:fillRect/>
          </a:stretch>
        </p:blipFill>
        <p:spPr>
          <a:xfrm>
            <a:off x="566928" y="1691640"/>
            <a:ext cx="9464040" cy="2112264"/>
          </a:xfrm>
          <a:prstGeom prst="rect">
            <a:avLst/>
          </a:prstGeom>
        </p:spPr>
      </p:pic>
      <p:sp>
        <p:nvSpPr>
          <p:cNvPr id="7" name="Text 4"/>
          <p:cNvSpPr txBox="1"/>
          <p:nvPr/>
        </p:nvSpPr>
        <p:spPr>
          <a:xfrm>
            <a:off x="10195560" y="1691640"/>
            <a:ext cx="1435608" cy="2743200"/>
          </a:xfrm>
          <a:prstGeom prst="rect">
            <a:avLst/>
          </a:prstGeom>
          <a:noFill/>
          <a:ln/>
        </p:spPr>
        <p:txBody>
          <a:bodyPr wrap="square" lIns="0" tIns="0" rIns="0" bIns="0" rtlCol="0" anchor="ctr"/>
          <a:lstStyle/>
          <a:p>
            <a:pPr indent="0" marL="0">
              <a:lnSpc>
                <a:spcPts val="1550"/>
              </a:lnSpc>
              <a:buNone/>
            </a:pPr>
            <a:r>
              <a:rPr lang="en-US" sz="1100" b="1" dirty="0">
                <a:solidFill>
                  <a:srgbClr val="1F2933"/>
                </a:solidFill>
                <a:latin typeface="Calibri" pitchFamily="34" charset="0"/>
                <a:ea typeface="Calibri" pitchFamily="34" charset="-122"/>
                <a:cs typeface="Calibri" pitchFamily="34" charset="-120"/>
              </a:rPr>
              <a:t>Both formats, one report.</a:t>
            </a:r>
            <a:endParaRPr lang="en-US" sz="1100" dirty="0"/>
          </a:p>
          <a:p>
            <a:pPr indent="0" marL="0">
              <a:lnSpc>
                <a:spcPts val="1550"/>
              </a:lnSpc>
              <a:buNone/>
            </a:pPr>
            <a:r>
              <a:rPr lang="en-US" sz="600" dirty="0">
                <a:solidFill>
                  <a:srgbClr val="1F2933"/>
                </a:solidFill>
                <a:latin typeface="Calibri" pitchFamily="34" charset="0"/>
                <a:ea typeface="Calibri" pitchFamily="34" charset="-122"/>
                <a:cs typeface="Calibri" pitchFamily="34" charset="-120"/>
              </a:rPr>
              <a:t> </a:t>
            </a:r>
            <a:endParaRPr lang="en-US" sz="1100" dirty="0"/>
          </a:p>
          <a:p>
            <a:pPr indent="0" marL="0">
              <a:lnSpc>
                <a:spcPts val="1550"/>
              </a:lnSpc>
              <a:buNone/>
            </a:pPr>
            <a:r>
              <a:rPr lang="en-US" sz="1100" dirty="0">
                <a:solidFill>
                  <a:srgbClr val="1F2933"/>
                </a:solidFill>
                <a:latin typeface="Calibri" pitchFamily="34" charset="0"/>
                <a:ea typeface="Calibri" pitchFamily="34" charset="-122"/>
                <a:cs typeface="Calibri" pitchFamily="34" charset="-120"/>
              </a:rPr>
              <a:t>Each interview carries a score, a category, a status and the named flags that fired.</a:t>
            </a:r>
            <a:endParaRPr lang="en-US" sz="1100" dirty="0"/>
          </a:p>
          <a:p>
            <a:pPr indent="0" marL="0">
              <a:lnSpc>
                <a:spcPts val="1550"/>
              </a:lnSpc>
              <a:buNone/>
            </a:pPr>
            <a:r>
              <a:rPr lang="en-US" sz="600" dirty="0">
                <a:solidFill>
                  <a:srgbClr val="1F2933"/>
                </a:solidFill>
                <a:latin typeface="Calibri" pitchFamily="34" charset="0"/>
                <a:ea typeface="Calibri" pitchFamily="34" charset="-122"/>
                <a:cs typeface="Calibri" pitchFamily="34" charset="-120"/>
              </a:rPr>
              <a:t> </a:t>
            </a:r>
            <a:endParaRPr lang="en-US" sz="1100" dirty="0"/>
          </a:p>
          <a:p>
            <a:pPr indent="0" marL="0">
              <a:lnSpc>
                <a:spcPts val="1550"/>
              </a:lnSpc>
              <a:buNone/>
            </a:pPr>
            <a:r>
              <a:rPr lang="en-US" sz="1100" dirty="0">
                <a:solidFill>
                  <a:srgbClr val="1F2933"/>
                </a:solidFill>
                <a:latin typeface="Calibri" pitchFamily="34" charset="0"/>
                <a:ea typeface="Calibri" pitchFamily="34" charset="-122"/>
                <a:cs typeface="Calibri" pitchFamily="34" charset="-120"/>
              </a:rPr>
              <a:t>ODK402 is routed to dq_issue rather than scored behaviourally: it is a corrupt record, not a suspicious enumerator.</a:t>
            </a:r>
            <a:endParaRPr lang="en-US" sz="1100" dirty="0"/>
          </a:p>
        </p:txBody>
      </p:sp>
      <p:sp>
        <p:nvSpPr>
          <p:cNvPr id="8"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Device faults never read as behavioural anomalies, because they have their own category.</a:t>
            </a:r>
            <a:endParaRPr lang="en-US" sz="1350" dirty="0"/>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output/anomaly_report_demo.csv, from the same run.</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DEMONSTRATION 4</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Why was this interview flagged?</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31</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demo4_explained.png">    </p:cNvPr>
          <p:cNvPicPr>
            <a:picLocks noChangeAspect="1"/>
          </p:cNvPicPr>
          <p:nvPr/>
        </p:nvPicPr>
        <p:blipFill>
          <a:blip r:embed="rId1"/>
          <a:stretch>
            <a:fillRect/>
          </a:stretch>
        </p:blipFill>
        <p:spPr>
          <a:xfrm>
            <a:off x="566928" y="1508760"/>
            <a:ext cx="7086600" cy="2916936"/>
          </a:xfrm>
          <a:prstGeom prst="rect">
            <a:avLst/>
          </a:prstGeom>
        </p:spPr>
      </p:pic>
      <p:sp>
        <p:nvSpPr>
          <p:cNvPr id="7" name="Text 4"/>
          <p:cNvSpPr txBox="1"/>
          <p:nvPr/>
        </p:nvSpPr>
        <p:spPr>
          <a:xfrm>
            <a:off x="7818120" y="1508760"/>
            <a:ext cx="3813048" cy="3017520"/>
          </a:xfrm>
          <a:prstGeom prst="rect">
            <a:avLst/>
          </a:prstGeom>
          <a:noFill/>
          <a:ln/>
        </p:spPr>
        <p:txBody>
          <a:bodyPr wrap="square" lIns="0" tIns="0" rIns="0" bIns="0" rtlCol="0" anchor="ctr"/>
          <a:lstStyle/>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ODK401 scored 6 and was categorised anomalous.</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Six flags fired: low mean response time, zero back navigation, low entropy, uniform timing, compressed response time IQR, and low within-section variance.</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Entropy of exactly 0.000 means every response time fell in a single one-second bin. A human answering twenty questions of varying difficulty does not produce that.</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b="1" dirty="0">
                <a:solidFill>
                  <a:srgbClr val="B45309"/>
                </a:solidFill>
                <a:latin typeface="Calibri" pitchFamily="34" charset="0"/>
                <a:ea typeface="Calibri" pitchFamily="34" charset="-122"/>
                <a:cs typeface="Calibri" pitchFamily="34" charset="-120"/>
              </a:rPr>
              <a:t>Ground truth confirms it: fabricated.</a:t>
            </a:r>
            <a:endParaRPr lang="en-US" sz="1200" dirty="0"/>
          </a:p>
        </p:txBody>
      </p:sp>
      <p:sp>
        <p:nvSpPr>
          <p:cNvPr id="8"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the sentence a field supervisor can take to an enumerator. An opaque model score is not.</a:t>
            </a:r>
            <a:endParaRPr lang="en-US" sz="1350" dirty="0"/>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output/feature_dataset_demo.csv and output/anomaly_report_demo.csv, same run.</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DEMONSTRATION 5</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Evaluation happens in the same run</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32</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demo5_evaluation.png">    </p:cNvPr>
          <p:cNvPicPr>
            <a:picLocks noChangeAspect="1"/>
          </p:cNvPicPr>
          <p:nvPr/>
        </p:nvPicPr>
        <p:blipFill>
          <a:blip r:embed="rId1"/>
          <a:stretch>
            <a:fillRect/>
          </a:stretch>
        </p:blipFill>
        <p:spPr>
          <a:xfrm>
            <a:off x="566928" y="1463040"/>
            <a:ext cx="8001000" cy="2441448"/>
          </a:xfrm>
          <a:prstGeom prst="rect">
            <a:avLst/>
          </a:prstGeom>
        </p:spPr>
      </p:pic>
      <p:sp>
        <p:nvSpPr>
          <p:cNvPr id="7" name="Text 4"/>
          <p:cNvSpPr txBox="1"/>
          <p:nvPr/>
        </p:nvSpPr>
        <p:spPr>
          <a:xfrm>
            <a:off x="8732520" y="1463040"/>
            <a:ext cx="2898648" cy="3017520"/>
          </a:xfrm>
          <a:prstGeom prst="rect">
            <a:avLst/>
          </a:prstGeom>
          <a:noFill/>
          <a:ln/>
        </p:spPr>
        <p:txBody>
          <a:bodyPr wrap="square" lIns="0" tIns="0" rIns="0" bIns="0" rtlCol="0" anchor="ctr"/>
          <a:lstStyle/>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Supply a ground truth file and the same command emits precision, recall, F1 and the acceptance checks.</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The detector never sees the labels. Predictions are made first, then joined to ground truth one to one, and the join fails loudly on any duplicate or missing interview id.</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That separation is what makes every number in the rest of this presentation trustworthy.</a:t>
            </a:r>
            <a:endParaRPr lang="en-US" sz="1200" dirty="0"/>
          </a:p>
        </p:txBody>
      </p:sp>
      <p:sp>
        <p:nvSpPr>
          <p:cNvPr id="8"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the canonical suite: deliberately easy, so it verifies the intended mapping rather than proving field performance.</a:t>
            </a:r>
            <a:endParaRPr lang="en-US" sz="1350" dirty="0"/>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output/metrics_demo.md and output/predictions_demo.csv, same run. The harder conditions start on the next slide.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5</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An evaluation built to fail</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33</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1371600"/>
            <a:ext cx="11055096" cy="38404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Early runs scored 1.00 everywhere. I read that as a warning that the test was too easy, not as a result. Three changes followed.</a:t>
            </a:r>
            <a:endParaRPr lang="en-US" sz="1400" dirty="0"/>
          </a:p>
        </p:txBody>
      </p:sp>
      <p:sp>
        <p:nvSpPr>
          <p:cNvPr id="7" name="Shape 5"/>
          <p:cNvSpPr/>
          <p:nvPr/>
        </p:nvSpPr>
        <p:spPr>
          <a:xfrm>
            <a:off x="566928" y="1975104"/>
            <a:ext cx="329184" cy="329184"/>
          </a:xfrm>
          <a:prstGeom prst="ellipse">
            <a:avLst/>
          </a:prstGeom>
          <a:solidFill>
            <a:srgbClr val="0F766E"/>
          </a:solidFill>
          <a:ln w="12700">
            <a:solidFill>
              <a:srgbClr val="0F766E"/>
            </a:solidFill>
            <a:prstDash val="solid"/>
          </a:ln>
        </p:spPr>
        <p:txBody>
          <a:bodyPr/>
          <a:p/>
        </p:txBody>
      </p:sp>
      <p:sp>
        <p:nvSpPr>
          <p:cNvPr id="8" name="Text 6"/>
          <p:cNvSpPr txBox="1"/>
          <p:nvPr/>
        </p:nvSpPr>
        <p:spPr>
          <a:xfrm>
            <a:off x="566928" y="19751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42416" y="1938528"/>
            <a:ext cx="10305288" cy="74980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Detector settings that mirrored the generator were removed or generalised. A coupling between two flags was deleted, fixed pause constants became configuration, and the disengagement rule was made median-relative.</a:t>
            </a:r>
            <a:endParaRPr lang="en-US" sz="1300" dirty="0"/>
          </a:p>
        </p:txBody>
      </p:sp>
      <p:sp>
        <p:nvSpPr>
          <p:cNvPr id="10" name="Shape 8"/>
          <p:cNvSpPr/>
          <p:nvPr/>
        </p:nvSpPr>
        <p:spPr>
          <a:xfrm>
            <a:off x="566928" y="2779776"/>
            <a:ext cx="329184" cy="329184"/>
          </a:xfrm>
          <a:prstGeom prst="ellipse">
            <a:avLst/>
          </a:prstGeom>
          <a:solidFill>
            <a:srgbClr val="0F766E"/>
          </a:solidFill>
          <a:ln w="12700">
            <a:solidFill>
              <a:srgbClr val="0F766E"/>
            </a:solidFill>
            <a:prstDash val="solid"/>
          </a:ln>
        </p:spPr>
        <p:txBody>
          <a:bodyPr/>
          <a:p/>
        </p:txBody>
      </p:sp>
      <p:sp>
        <p:nvSpPr>
          <p:cNvPr id="11" name="Text 9"/>
          <p:cNvSpPr txBox="1"/>
          <p:nvPr/>
        </p:nvSpPr>
        <p:spPr>
          <a:xfrm>
            <a:off x="566928" y="27797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42416" y="2743200"/>
            <a:ext cx="10305288" cy="74980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Every reported run uses random seeds never touched during development or calibration: seeds 7 and 99.</a:t>
            </a:r>
            <a:endParaRPr lang="en-US" sz="1300" dirty="0"/>
          </a:p>
        </p:txBody>
      </p:sp>
      <p:sp>
        <p:nvSpPr>
          <p:cNvPr id="13" name="Shape 11"/>
          <p:cNvSpPr/>
          <p:nvPr/>
        </p:nvSpPr>
        <p:spPr>
          <a:xfrm>
            <a:off x="566928" y="3584448"/>
            <a:ext cx="329184" cy="329184"/>
          </a:xfrm>
          <a:prstGeom prst="ellipse">
            <a:avLst/>
          </a:prstGeom>
          <a:solidFill>
            <a:srgbClr val="0F766E"/>
          </a:solidFill>
          <a:ln w="12700">
            <a:solidFill>
              <a:srgbClr val="0F766E"/>
            </a:solidFill>
            <a:prstDash val="solid"/>
          </a:ln>
        </p:spPr>
        <p:txBody>
          <a:bodyPr/>
          <a:p/>
        </p:txBody>
      </p:sp>
      <p:sp>
        <p:nvSpPr>
          <p:cNvPr id="14" name="Text 12"/>
          <p:cNvSpPr txBox="1"/>
          <p:nvPr/>
        </p:nvSpPr>
        <p:spPr>
          <a:xfrm>
            <a:off x="566928" y="3584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42416" y="3547872"/>
            <a:ext cx="10305288" cy="74980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A stress difficulty was added where genuine respondents can be fast with little navigation and fabricated interviews can be only mildly compressed, so the profiles overlap by construction.</a:t>
            </a:r>
            <a:endParaRPr lang="en-US" sz="1300" dirty="0"/>
          </a:p>
        </p:txBody>
      </p:sp>
      <p:sp>
        <p:nvSpPr>
          <p:cNvPr id="16" name="Shape 14"/>
          <p:cNvSpPr/>
          <p:nvPr/>
        </p:nvSpPr>
        <p:spPr>
          <a:xfrm>
            <a:off x="566928" y="4389120"/>
            <a:ext cx="329184" cy="329184"/>
          </a:xfrm>
          <a:prstGeom prst="ellipse">
            <a:avLst/>
          </a:prstGeom>
          <a:solidFill>
            <a:srgbClr val="0F766E"/>
          </a:solidFill>
          <a:ln w="12700">
            <a:solidFill>
              <a:srgbClr val="0F766E"/>
            </a:solidFill>
            <a:prstDash val="solid"/>
          </a:ln>
        </p:spPr>
        <p:txBody>
          <a:bodyPr/>
          <a:p/>
        </p:txBody>
      </p:sp>
      <p:sp>
        <p:nvSpPr>
          <p:cNvPr id="17" name="Text 15"/>
          <p:cNvSpPr txBox="1"/>
          <p:nvPr/>
        </p:nvSpPr>
        <p:spPr>
          <a:xfrm>
            <a:off x="566928"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42416" y="4352544"/>
            <a:ext cx="10305288" cy="74980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A class prevalence sweep from 5 to 30 percent, later extended to 90 percent, because performance at one anomaly rate does not carry over to others.</a:t>
            </a:r>
          </a:p>
        </p:txBody>
      </p:sp>
      <p:sp>
        <p:nvSpPr>
          <p:cNvPr id="19" name="Shape 17"/>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0" name="Shape 18"/>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1" name="Text 19"/>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The detector never sees ground truth. A strict one-to-one join computes metrics only after prediction, and fails loudly on any duplicate or missing id.</a:t>
            </a:r>
            <a:endParaRPr lang="en-US" sz="13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34</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5  ·  THE EVALUATION</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Which data answers which question</a:t>
            </a:r>
          </a:p>
        </p:txBody>
      </p:sp>
      <p:graphicFrame>
        <p:nvGraphicFramePr>
          <p:cNvPr id="6" name="Table 5"/>
          <p:cNvGraphicFramePr>
            <a:graphicFrameLocks noGrp="1"/>
          </p:cNvGraphicFramePr>
          <p:nvPr/>
        </p:nvGraphicFramePr>
        <p:xfrm>
          <a:off x="566928" y="1325880"/>
          <a:ext cx="11055094" cy="2944368"/>
        </p:xfrm>
        <a:graphic>
          <a:graphicData uri="http://schemas.openxmlformats.org/drawingml/2006/table">
            <a:tbl>
              <a:tblPr firstRow="0" bandRow="0"/>
              <a:tblGrid>
                <a:gridCol w="1918653"/>
                <a:gridCol w="2375475"/>
                <a:gridCol w="1187737"/>
                <a:gridCol w="1553195"/>
                <a:gridCol w="4020034"/>
              </a:tblGrid>
              <a:tr h="420624">
                <a:tc>
                  <a:txBody>
                    <a:bodyPr wrap="square"/>
                    <a:lstStyle/>
                    <a:p>
                      <a:r>
                        <a:rPr sz="1150" b="1" i="0">
                          <a:solidFill>
                            <a:srgbClr val="FFFFFF"/>
                          </a:solidFill>
                          <a:latin typeface="Calibri"/>
                        </a:rPr>
                        <a:t>Dataset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Size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Difficulty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Seeds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Used for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420624">
                <a:tc>
                  <a:txBody>
                    <a:bodyPr wrap="square"/>
                    <a:lstStyle/>
                    <a:p>
                      <a:r>
                        <a:rPr sz="1100" b="0" i="0">
                          <a:solidFill>
                            <a:srgbClr val="1F2933"/>
                          </a:solidFill>
                          <a:latin typeface="Calibri"/>
                        </a:rPr>
                        <a:t>Canonical suite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24 interviews, 12 per format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canonical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fixed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contract test: every profile mapped to its expected category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Benchmark packs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120 to 10,000 at 20%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canonical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42 (and 11)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baselines, feature validity, scale and memory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Imbalance sweep</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 at 5, 10, 20, 30%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canonical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7, held out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precision against prevalence (Table 5)</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Stress runs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 each, both formats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stress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7 and 99, held out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the headline results (Tables 6 and 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Platform parity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500, one history, both formats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both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42, 7, 99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are the parsers equivalent? (Table 6b)</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Prevalence envelope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100 and 500 at 5 to 90%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both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7 and 99, held out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where the method stops working (Table 5a)</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Seeds 11 and 42 were used in development. Seeds 7 and 99 were only opened after the detector was frozen.</a:t>
            </a:r>
          </a:p>
        </p:txBody>
      </p:sp>
      <p:sp>
        <p:nvSpPr>
          <p:cNvPr id="10" name="TextBox 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Report section 5.3; the robustness round is scripts/run_robustness_validation.py.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35</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5  ·  THE EVALUATION</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Precision, recall and F1, from a confusion matrix</a:t>
            </a:r>
          </a:p>
        </p:txBody>
      </p:sp>
      <p:graphicFrame>
        <p:nvGraphicFramePr>
          <p:cNvPr id="6" name="Table 5"/>
          <p:cNvGraphicFramePr>
            <a:graphicFrameLocks noGrp="1"/>
          </p:cNvGraphicFramePr>
          <p:nvPr/>
        </p:nvGraphicFramePr>
        <p:xfrm>
          <a:off x="566928" y="1417320"/>
          <a:ext cx="4937760" cy="1700784"/>
        </p:xfrm>
        <a:graphic>
          <a:graphicData uri="http://schemas.openxmlformats.org/drawingml/2006/table">
            <a:tbl>
              <a:tblPr firstRow="0" bandRow="0"/>
              <a:tblGrid>
                <a:gridCol w="1463040"/>
                <a:gridCol w="1737360"/>
                <a:gridCol w="1737360"/>
              </a:tblGrid>
              <a:tr h="566928">
                <a:tc>
                  <a:txBody>
                    <a:bodyPr wrap="square"/>
                    <a:lstStyle/>
                    <a:p>
                      <a:r>
                        <a:rPr sz="1200" b="1" i="0">
                          <a:solidFill>
                            <a:srgbClr val="FFFFFF"/>
                          </a:solidFill>
                          <a:latin typeface="Calibri"/>
                        </a:rPr>
                        <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200" b="1" i="0">
                          <a:solidFill>
                            <a:srgbClr val="FFFFFF"/>
                          </a:solidFill>
                          <a:latin typeface="Calibri"/>
                        </a:rPr>
                        <a:t>Truly anomalous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200" b="1" i="0">
                          <a:solidFill>
                            <a:srgbClr val="FFFFFF"/>
                          </a:solidFill>
                          <a:latin typeface="Calibri"/>
                        </a:rPr>
                        <a:t>Truly genuine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566928">
                <a:tc>
                  <a:txBody>
                    <a:bodyPr wrap="square"/>
                    <a:lstStyle/>
                    <a:p>
                      <a:r>
                        <a:rPr sz="1400" b="0" i="0">
                          <a:solidFill>
                            <a:srgbClr val="1F2933"/>
                          </a:solidFill>
                          <a:latin typeface="Calibri"/>
                        </a:rPr>
                        <a:t>Flagged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400" b="1" i="0">
                          <a:solidFill>
                            <a:srgbClr val="0F766E"/>
                          </a:solidFill>
                          <a:latin typeface="Calibri"/>
                        </a:rPr>
                        <a:t>TP  871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400" b="1" i="0">
                          <a:solidFill>
                            <a:srgbClr val="B45309"/>
                          </a:solidFill>
                          <a:latin typeface="Calibri"/>
                        </a:rPr>
                        <a:t>FP  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566928">
                <a:tc>
                  <a:txBody>
                    <a:bodyPr wrap="square"/>
                    <a:lstStyle/>
                    <a:p>
                      <a:r>
                        <a:rPr sz="1400" b="0" i="0">
                          <a:solidFill>
                            <a:srgbClr val="1F2933"/>
                          </a:solidFill>
                          <a:latin typeface="Calibri"/>
                        </a:rPr>
                        <a:t>Not flagged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400" b="1" i="0">
                          <a:solidFill>
                            <a:srgbClr val="B45309"/>
                          </a:solidFill>
                          <a:latin typeface="Calibri"/>
                        </a:rPr>
                        <a:t>FN  54</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400" b="0" i="0">
                          <a:solidFill>
                            <a:srgbClr val="1F2933"/>
                          </a:solidFill>
                          <a:latin typeface="Calibri"/>
                        </a:rPr>
                        <a:t>TN  —</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TextBox 6"/>
          <p:cNvSpPr txBox="1"/>
          <p:nvPr/>
        </p:nvSpPr>
        <p:spPr>
          <a:xfrm>
            <a:off x="566928" y="3246120"/>
            <a:ext cx="4937760" cy="1645920"/>
          </a:xfrm>
          <a:prstGeom prst="rect">
            <a:avLst/>
          </a:prstGeom>
          <a:noFill/>
        </p:spPr>
        <p:txBody>
          <a:bodyPr wrap="square" lIns="36576" rIns="36576" tIns="18288" bIns="18288" anchor="t">
            <a:spAutoFit/>
          </a:bodyPr>
          <a:lstStyle/>
          <a:p>
            <a:pPr algn="l">
              <a:spcAft>
                <a:spcPts val="400"/>
              </a:spcAft>
            </a:pPr>
            <a:r>
              <a:rPr sz="1100" b="0" i="0">
                <a:solidFill>
                  <a:srgbClr val="6B7785"/>
                </a:solidFill>
                <a:latin typeface="Calibri"/>
              </a:rPr>
              <a:t>Aggregated over the ten runs of the robustness round, combined detector (Table 4). TN is not needed for the three measures.</a:t>
            </a:r>
          </a:p>
        </p:txBody>
      </p:sp>
      <p:sp>
        <p:nvSpPr>
          <p:cNvPr id="8" name="Rectangle 7"/>
          <p:cNvSpPr/>
          <p:nvPr/>
        </p:nvSpPr>
        <p:spPr>
          <a:xfrm>
            <a:off x="5760720" y="1417320"/>
            <a:ext cx="5861304" cy="1042415"/>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25312" y="1508760"/>
            <a:ext cx="3566160" cy="36576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mbria"/>
              </a:rPr>
              <a:t>Precision  =  TP / (TP + FP)</a:t>
            </a:r>
          </a:p>
        </p:txBody>
      </p:sp>
      <p:sp>
        <p:nvSpPr>
          <p:cNvPr id="10" name="TextBox 9"/>
          <p:cNvSpPr txBox="1"/>
          <p:nvPr/>
        </p:nvSpPr>
        <p:spPr>
          <a:xfrm>
            <a:off x="9418320" y="1508760"/>
            <a:ext cx="2103120" cy="365760"/>
          </a:xfrm>
          <a:prstGeom prst="rect">
            <a:avLst/>
          </a:prstGeom>
          <a:noFill/>
        </p:spPr>
        <p:txBody>
          <a:bodyPr wrap="square" lIns="36576" rIns="36576" tIns="18288" bIns="18288" anchor="t">
            <a:spAutoFit/>
          </a:bodyPr>
          <a:lstStyle/>
          <a:p>
            <a:pPr algn="r">
              <a:spcAft>
                <a:spcPts val="400"/>
              </a:spcAft>
            </a:pPr>
            <a:r>
              <a:rPr sz="1300" b="1" i="0">
                <a:solidFill>
                  <a:srgbClr val="0F766E"/>
                </a:solidFill>
                <a:latin typeface="Calibri"/>
              </a:rPr>
              <a:t>871 / 878 = 0.9920</a:t>
            </a:r>
          </a:p>
        </p:txBody>
      </p:sp>
      <p:sp>
        <p:nvSpPr>
          <p:cNvPr id="11" name="TextBox 10"/>
          <p:cNvSpPr txBox="1"/>
          <p:nvPr/>
        </p:nvSpPr>
        <p:spPr>
          <a:xfrm>
            <a:off x="5925312" y="1892808"/>
            <a:ext cx="5532120" cy="54864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Of the interviews flagged, how many were really anomalous. Low precision means false accusations.</a:t>
            </a:r>
          </a:p>
        </p:txBody>
      </p:sp>
      <p:sp>
        <p:nvSpPr>
          <p:cNvPr id="12" name="Rectangle 11"/>
          <p:cNvSpPr/>
          <p:nvPr/>
        </p:nvSpPr>
        <p:spPr>
          <a:xfrm>
            <a:off x="5760720" y="2587752"/>
            <a:ext cx="5861304" cy="1042415"/>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25312" y="2679192"/>
            <a:ext cx="3566160" cy="36576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mbria"/>
              </a:rPr>
              <a:t>Recall  =  TP / (TP + FN)</a:t>
            </a:r>
          </a:p>
        </p:txBody>
      </p:sp>
      <p:sp>
        <p:nvSpPr>
          <p:cNvPr id="14" name="TextBox 13"/>
          <p:cNvSpPr txBox="1"/>
          <p:nvPr/>
        </p:nvSpPr>
        <p:spPr>
          <a:xfrm>
            <a:off x="9418320" y="2679192"/>
            <a:ext cx="2103120" cy="365760"/>
          </a:xfrm>
          <a:prstGeom prst="rect">
            <a:avLst/>
          </a:prstGeom>
          <a:noFill/>
        </p:spPr>
        <p:txBody>
          <a:bodyPr wrap="square" lIns="36576" rIns="36576" tIns="18288" bIns="18288" anchor="t">
            <a:spAutoFit/>
          </a:bodyPr>
          <a:lstStyle/>
          <a:p>
            <a:pPr algn="r">
              <a:spcAft>
                <a:spcPts val="400"/>
              </a:spcAft>
            </a:pPr>
            <a:r>
              <a:rPr sz="1300" b="1" i="0">
                <a:solidFill>
                  <a:srgbClr val="0F766E"/>
                </a:solidFill>
                <a:latin typeface="Calibri"/>
              </a:rPr>
              <a:t>871 / 925 = 0.9416</a:t>
            </a:r>
          </a:p>
        </p:txBody>
      </p:sp>
      <p:sp>
        <p:nvSpPr>
          <p:cNvPr id="15" name="TextBox 14"/>
          <p:cNvSpPr txBox="1"/>
          <p:nvPr/>
        </p:nvSpPr>
        <p:spPr>
          <a:xfrm>
            <a:off x="5925312" y="3063240"/>
            <a:ext cx="5532120" cy="54864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Of the anomalies present, how many were flagged. Low recall means fabrication gets through.</a:t>
            </a:r>
          </a:p>
        </p:txBody>
      </p:sp>
      <p:sp>
        <p:nvSpPr>
          <p:cNvPr id="16" name="Rectangle 15"/>
          <p:cNvSpPr/>
          <p:nvPr/>
        </p:nvSpPr>
        <p:spPr>
          <a:xfrm>
            <a:off x="5760720" y="3758184"/>
            <a:ext cx="5861304" cy="1042415"/>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25312" y="3849624"/>
            <a:ext cx="3566160" cy="365760"/>
          </a:xfrm>
          <a:prstGeom prst="rect">
            <a:avLst/>
          </a:prstGeom>
          <a:noFill/>
        </p:spPr>
        <p:txBody>
          <a:bodyPr wrap="square" lIns="36576" rIns="36576" tIns="18288" bIns="18288" anchor="t">
            <a:spAutoFit/>
          </a:bodyPr>
          <a:lstStyle/>
          <a:p>
            <a:pPr algn="l">
              <a:spcAft>
                <a:spcPts val="400"/>
              </a:spcAft>
            </a:pPr>
            <a:r>
              <a:rPr sz="1300" b="1" i="0">
                <a:solidFill>
                  <a:srgbClr val="1F2933"/>
                </a:solidFill>
                <a:latin typeface="Cambria"/>
              </a:rPr>
              <a:t>F1  =  2PR / (P + R)</a:t>
            </a:r>
          </a:p>
        </p:txBody>
      </p:sp>
      <p:sp>
        <p:nvSpPr>
          <p:cNvPr id="18" name="TextBox 17"/>
          <p:cNvSpPr txBox="1"/>
          <p:nvPr/>
        </p:nvSpPr>
        <p:spPr>
          <a:xfrm>
            <a:off x="9418320" y="3849624"/>
            <a:ext cx="2103120" cy="365760"/>
          </a:xfrm>
          <a:prstGeom prst="rect">
            <a:avLst/>
          </a:prstGeom>
          <a:noFill/>
        </p:spPr>
        <p:txBody>
          <a:bodyPr wrap="square" lIns="36576" rIns="36576" tIns="18288" bIns="18288" anchor="t">
            <a:spAutoFit/>
          </a:bodyPr>
          <a:lstStyle/>
          <a:p>
            <a:pPr algn="r">
              <a:spcAft>
                <a:spcPts val="400"/>
              </a:spcAft>
            </a:pPr>
            <a:r>
              <a:rPr sz="1300" b="1" i="0">
                <a:solidFill>
                  <a:srgbClr val="0F766E"/>
                </a:solidFill>
                <a:latin typeface="Calibri"/>
              </a:rPr>
              <a:t>0.9662</a:t>
            </a:r>
          </a:p>
        </p:txBody>
      </p:sp>
      <p:sp>
        <p:nvSpPr>
          <p:cNvPr id="19" name="TextBox 18"/>
          <p:cNvSpPr txBox="1"/>
          <p:nvPr/>
        </p:nvSpPr>
        <p:spPr>
          <a:xfrm>
            <a:off x="5925312" y="4233672"/>
            <a:ext cx="5532120" cy="54864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One number balancing the two. Targets were set on precision (0.80) and recall (0.75) separately.</a:t>
            </a:r>
          </a:p>
        </p:txBody>
      </p:sp>
      <p:sp>
        <p:nvSpPr>
          <p:cNvPr id="20" name="Rectangle 19"/>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Precision depends on prevalence: with few anomalies, one false positive costs a lot. That is why prevalence is swept.</a:t>
            </a:r>
          </a:p>
        </p:txBody>
      </p:sp>
      <p:sp>
        <p:nvSpPr>
          <p:cNvPr id="23" name="TextBox 22"/>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output/robustness_validation/component_breakdown.csv; report Table 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36</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5  ·  THE EVALUATION</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How feature validity is tested</a:t>
            </a:r>
          </a:p>
        </p:txBody>
      </p:sp>
      <p:sp>
        <p:nvSpPr>
          <p:cNvPr id="6" name="Rectangle 5"/>
          <p:cNvSpPr/>
          <p:nvPr/>
        </p:nvSpPr>
        <p:spPr>
          <a:xfrm>
            <a:off x="566928" y="1325880"/>
            <a:ext cx="5440680" cy="168249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300" b="1" i="0">
                <a:solidFill>
                  <a:srgbClr val="0F766E"/>
                </a:solidFill>
                <a:latin typeface="Calibri"/>
              </a:rPr>
              <a:t>Mann-Whitney U</a:t>
            </a:r>
          </a:p>
        </p:txBody>
      </p:sp>
      <p:sp>
        <p:nvSpPr>
          <p:cNvPr id="8" name="TextBox 7"/>
          <p:cNvSpPr txBox="1"/>
          <p:nvPr/>
        </p:nvSpPr>
        <p:spPr>
          <a:xfrm>
            <a:off x="731520" y="1892807"/>
            <a:ext cx="5111496" cy="1024128"/>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Compares normal and anomalous interviews by ranks, not means, so it makes no assumption about the distribution. Chosen because response times are strongly right-skewed.</a:t>
            </a:r>
          </a:p>
        </p:txBody>
      </p:sp>
      <p:sp>
        <p:nvSpPr>
          <p:cNvPr id="9" name="Rectangle 8"/>
          <p:cNvSpPr/>
          <p:nvPr/>
        </p:nvSpPr>
        <p:spPr>
          <a:xfrm>
            <a:off x="6181344" y="1325880"/>
            <a:ext cx="5440680" cy="168249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300" b="1" i="0">
                <a:solidFill>
                  <a:srgbClr val="0F766E"/>
                </a:solidFill>
                <a:latin typeface="Calibri"/>
              </a:rPr>
              <a:t>Bonferroni adjustment</a:t>
            </a:r>
          </a:p>
        </p:txBody>
      </p:sp>
      <p:sp>
        <p:nvSpPr>
          <p:cNvPr id="11" name="TextBox 10"/>
          <p:cNvSpPr txBox="1"/>
          <p:nvPr/>
        </p:nvSpPr>
        <p:spPr>
          <a:xfrm>
            <a:off x="6345936" y="1892807"/>
            <a:ext cx="5111496" cy="1024128"/>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Forty features are tested on the same data, so each p-value is multiplied by 40 to keep the chance of any false discovery at 5 percent. Benjamini-Hochberg would select the same thirty.</a:t>
            </a:r>
          </a:p>
        </p:txBody>
      </p:sp>
      <p:sp>
        <p:nvSpPr>
          <p:cNvPr id="12" name="Rectangle 11"/>
          <p:cNvSpPr/>
          <p:nvPr/>
        </p:nvSpPr>
        <p:spPr>
          <a:xfrm>
            <a:off x="566928" y="3136391"/>
            <a:ext cx="5440680" cy="168249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64408"/>
            <a:ext cx="5111496" cy="457200"/>
          </a:xfrm>
          <a:prstGeom prst="rect">
            <a:avLst/>
          </a:prstGeom>
          <a:noFill/>
        </p:spPr>
        <p:txBody>
          <a:bodyPr wrap="square" lIns="36576" rIns="36576" tIns="18288" bIns="18288" anchor="t">
            <a:spAutoFit/>
          </a:bodyPr>
          <a:lstStyle/>
          <a:p>
            <a:pPr algn="l">
              <a:spcAft>
                <a:spcPts val="400"/>
              </a:spcAft>
            </a:pPr>
            <a:r>
              <a:rPr sz="1300" b="1" i="0">
                <a:solidFill>
                  <a:srgbClr val="0F766E"/>
                </a:solidFill>
                <a:latin typeface="Calibri"/>
              </a:rPr>
              <a:t>Cohen's d</a:t>
            </a:r>
          </a:p>
        </p:txBody>
      </p:sp>
      <p:sp>
        <p:nvSpPr>
          <p:cNvPr id="14" name="TextBox 13"/>
          <p:cNvSpPr txBox="1"/>
          <p:nvPr/>
        </p:nvSpPr>
        <p:spPr>
          <a:xfrm>
            <a:off x="731520" y="3703320"/>
            <a:ext cx="5111496" cy="1024128"/>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The difference in means in units of pooled standard deviation. Around 0.8 is conventionally large; entropy scores −10.57.</a:t>
            </a:r>
          </a:p>
        </p:txBody>
      </p:sp>
      <p:sp>
        <p:nvSpPr>
          <p:cNvPr id="15" name="Rectangle 14"/>
          <p:cNvSpPr/>
          <p:nvPr/>
        </p:nvSpPr>
        <p:spPr>
          <a:xfrm>
            <a:off x="6181344" y="3136391"/>
            <a:ext cx="5440680" cy="168249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264408"/>
            <a:ext cx="5111496" cy="457200"/>
          </a:xfrm>
          <a:prstGeom prst="rect">
            <a:avLst/>
          </a:prstGeom>
          <a:noFill/>
        </p:spPr>
        <p:txBody>
          <a:bodyPr wrap="square" lIns="36576" rIns="36576" tIns="18288" bIns="18288" anchor="t">
            <a:spAutoFit/>
          </a:bodyPr>
          <a:lstStyle/>
          <a:p>
            <a:pPr algn="l">
              <a:spcAft>
                <a:spcPts val="400"/>
              </a:spcAft>
            </a:pPr>
            <a:r>
              <a:rPr sz="1300" b="1" i="0">
                <a:solidFill>
                  <a:srgbClr val="0F766E"/>
                </a:solidFill>
                <a:latin typeface="Calibri"/>
              </a:rPr>
              <a:t>Rank-biserial correlation</a:t>
            </a:r>
          </a:p>
        </p:txBody>
      </p:sp>
      <p:sp>
        <p:nvSpPr>
          <p:cNvPr id="17" name="TextBox 16"/>
          <p:cNvSpPr txBox="1"/>
          <p:nvPr/>
        </p:nvSpPr>
        <p:spPr>
          <a:xfrm>
            <a:off x="6345936" y="3703320"/>
            <a:ext cx="5111496" cy="1024128"/>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From the U statistic: the share of normal-anomalous pairs ordered one way minus the share ordered the other. 1.00 means the two groups do not overlap at all.</a:t>
            </a:r>
          </a:p>
        </p:txBody>
      </p:sp>
      <p:sp>
        <p:nvSpPr>
          <p:cNvPr id="18" name="Rectangle 17"/>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30 of 40 features separate the classes after adjustment. Entropy separates them completely on n500 (Table 2).</a:t>
            </a:r>
          </a:p>
        </p:txBody>
      </p:sp>
      <p:sp>
        <p:nvSpPr>
          <p:cNvPr id="21" name="TextBox 20"/>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Report section 6.2 and Appendix C; scripts/feature_validation.py; Cohen (1988), Kerby (2014), Benjamini and Hochberg (1995).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6.2</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Which features actually separate the classes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37</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6949440" cy="914400"/>
        </p:xfrm>
        <a:graphic>
          <a:graphicData uri="http://schemas.openxmlformats.org/drawingml/2006/table">
            <a:tbl>
              <a:tblPr/>
              <a:tblGrid>
                <a:gridCol w="3108960"/>
                <a:gridCol w="1280160"/>
                <a:gridCol w="1371600"/>
                <a:gridCol w="118872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Cohen's d</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Rank-biserial</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Adjusted p</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347472">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T-03 response time entropy</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-10.57</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1.6e-52</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47472">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Q-10 first to last interaction duration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-4.14</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0.9983</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3.0e-52</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47472">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T-06 response time mean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-4.14</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0.9983</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3.0e-52</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47472">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S-01 mean section pace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-4.14</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0.9983</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3.0e-52</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47472">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V-01 total interview duration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-3.79</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0.9930</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1.1e-51</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47472">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T-02 response time interquartile range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-3.51</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2.0e-52</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7" name="Shape 4"/>
          <p:cNvSpPr/>
          <p:nvPr/>
        </p:nvSpPr>
        <p:spPr>
          <a:xfrm>
            <a:off x="7772400" y="1371600"/>
            <a:ext cx="3858768" cy="2432304"/>
          </a:xfrm>
          <a:prstGeom prst="roundRect">
            <a:avLst>
              <a:gd name="adj" fmla="val 1880"/>
            </a:avLst>
          </a:prstGeom>
          <a:solidFill>
            <a:srgbClr val="EEF2F6"/>
          </a:solidFill>
          <a:ln w="12700">
            <a:solidFill>
              <a:srgbClr val="EEF2F6"/>
            </a:solidFill>
            <a:prstDash val="solid"/>
          </a:ln>
        </p:spPr>
        <p:txBody>
          <a:bodyPr/>
          <a:p/>
        </p:txBody>
      </p:sp>
      <p:sp>
        <p:nvSpPr>
          <p:cNvPr id="8" name="Text 5"/>
          <p:cNvSpPr txBox="1"/>
          <p:nvPr/>
        </p:nvSpPr>
        <p:spPr>
          <a:xfrm>
            <a:off x="7991856" y="1554480"/>
            <a:ext cx="3419856" cy="2103120"/>
          </a:xfrm>
          <a:prstGeom prst="rect">
            <a:avLst/>
          </a:prstGeom>
          <a:noFill/>
          <a:ln/>
        </p:spPr>
        <p:txBody>
          <a:bodyPr wrap="square" lIns="0" tIns="0" rIns="0" bIns="0" rtlCol="0" anchor="ctr"/>
          <a:lstStyle/>
          <a:p>
            <a:pPr indent="0" marL="0">
              <a:lnSpc>
                <a:spcPts val="1600"/>
              </a:lnSpc>
              <a:buNone/>
            </a:pPr>
            <a:r>
              <a:rPr lang="en-US" sz="1600" b="1" dirty="0">
                <a:solidFill>
                  <a:srgbClr val="0F766E"/>
                </a:solidFill>
                <a:latin typeface="Cambria" pitchFamily="34" charset="0"/>
                <a:ea typeface="Cambria" pitchFamily="34" charset="-122"/>
                <a:cs typeface="Cambria" pitchFamily="34" charset="-120"/>
              </a:rPr>
              <a:t>30 of 40 significant</a:t>
            </a:r>
            <a:endParaRPr lang="en-US" sz="1150" dirty="0"/>
          </a:p>
          <a:p>
            <a:pPr indent="0" marL="0">
              <a:lnSpc>
                <a:spcPts val="1600"/>
              </a:lnSpc>
              <a:buNone/>
            </a:pPr>
            <a:r>
              <a:rPr lang="en-US" sz="500" dirty="0">
                <a:solidFill>
                  <a:srgbClr val="1F2933"/>
                </a:solidFill>
                <a:latin typeface="Calibri" pitchFamily="34" charset="0"/>
                <a:ea typeface="Calibri" pitchFamily="34" charset="-122"/>
                <a:cs typeface="Calibri" pitchFamily="34" charset="-120"/>
              </a:rPr>
              <a:t> </a:t>
            </a:r>
            <a:endParaRPr lang="en-US" sz="1150" dirty="0"/>
          </a:p>
          <a:p>
            <a:pPr indent="0" marL="0">
              <a:lnSpc>
                <a:spcPts val="1600"/>
              </a:lnSpc>
              <a:buNone/>
            </a:pPr>
            <a:r>
              <a:rPr lang="en-US" sz="1150" dirty="0">
                <a:solidFill>
                  <a:srgbClr val="1F2933"/>
                </a:solidFill>
                <a:latin typeface="Calibri" pitchFamily="34" charset="0"/>
                <a:ea typeface="Calibri" pitchFamily="34" charset="-122"/>
                <a:cs typeface="Calibri" pitchFamily="34" charset="-120"/>
              </a:rPr>
              <a:t>Mann-Whitney U, because response times are right-skewed. p-values Bonferroni-adjusted at a family-wise alpha of 0.05 across all forty tests.</a:t>
            </a:r>
            <a:endParaRPr lang="en-US" sz="1150" dirty="0"/>
          </a:p>
          <a:p>
            <a:pPr indent="0" marL="0">
              <a:lnSpc>
                <a:spcPts val="1600"/>
              </a:lnSpc>
              <a:buNone/>
            </a:pPr>
            <a:r>
              <a:rPr lang="en-US" sz="500" dirty="0">
                <a:solidFill>
                  <a:srgbClr val="1F2933"/>
                </a:solidFill>
                <a:latin typeface="Calibri" pitchFamily="34" charset="0"/>
                <a:ea typeface="Calibri" pitchFamily="34" charset="-122"/>
                <a:cs typeface="Calibri" pitchFamily="34" charset="-120"/>
              </a:rPr>
              <a:t> </a:t>
            </a:r>
            <a:endParaRPr lang="en-US" sz="1150" dirty="0"/>
          </a:p>
          <a:p>
            <a:pPr indent="0" marL="0">
              <a:lnSpc>
                <a:spcPts val="1600"/>
              </a:lnSpc>
              <a:buNone/>
            </a:pPr>
            <a:r>
              <a:rPr lang="en-US" sz="1150" dirty="0">
                <a:solidFill>
                  <a:srgbClr val="1F2933"/>
                </a:solidFill>
                <a:latin typeface="Calibri" pitchFamily="34" charset="0"/>
                <a:ea typeface="Calibri" pitchFamily="34" charset="-122"/>
                <a:cs typeface="Calibri" pitchFamily="34" charset="-120"/>
              </a:rPr>
              <a:t>Ten do not discriminate. Two are contextual, start hour and day of week. Eight are constant across the synthetic corpus, so the evaluation is silent on them rather than negative.</a:t>
            </a:r>
            <a:endParaRPr lang="en-US" sz="1150" dirty="0"/>
          </a:p>
        </p:txBody>
      </p:sp>
      <p:sp>
        <p:nvSpPr>
          <p:cNvPr id="9" name="Shape 6"/>
          <p:cNvSpPr/>
          <p:nvPr/>
        </p:nvSpPr>
        <p:spPr>
          <a:xfrm>
            <a:off x="566928" y="489204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0" name="Shape 7"/>
          <p:cNvSpPr/>
          <p:nvPr/>
        </p:nvSpPr>
        <p:spPr>
          <a:xfrm>
            <a:off x="694944" y="5020056"/>
            <a:ext cx="91440" cy="310896"/>
          </a:xfrm>
          <a:prstGeom prst="roundRect">
            <a:avLst>
              <a:gd name="adj" fmla="val 40000"/>
            </a:avLst>
          </a:prstGeom>
          <a:solidFill>
            <a:srgbClr val="0F766E"/>
          </a:solidFill>
          <a:ln w="12700">
            <a:solidFill>
              <a:srgbClr val="0F766E"/>
            </a:solidFill>
            <a:prstDash val="solid"/>
          </a:ln>
        </p:spPr>
        <p:txBody>
          <a:bodyPr/>
          <a:p/>
        </p:txBody>
      </p:sp>
      <p:sp>
        <p:nvSpPr>
          <p:cNvPr id="11" name="Text 8"/>
          <p:cNvSpPr txBox="1"/>
          <p:nvPr/>
        </p:nvSpPr>
        <p:spPr>
          <a:xfrm>
            <a:off x="932688" y="493776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Entropy has a rank-biserial of exactly 1.0000: on this dataset the two groups do not overlap at all. Remember that: it matters for the fabrication diagnostic.</a:t>
            </a:r>
            <a:endParaRPr lang="en-US" sz="1350" dirty="0"/>
          </a:p>
        </p:txBody>
      </p:sp>
      <p:sp>
        <p:nvSpPr>
          <p:cNvPr id="12" name="Text 9"/>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output/feature_validation_results.csv. Full forty-feature table is Appendix C of the report.</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6.3</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Against the methods field practice actually uses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38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7406640" cy="914400"/>
        </p:xfrm>
        <a:graphic>
          <a:graphicData uri="http://schemas.openxmlformats.org/drawingml/2006/table">
            <a:tbl>
              <a:tblPr/>
              <a:tblGrid>
                <a:gridCol w="3291840"/>
                <a:gridCol w="1371600"/>
                <a:gridCol w="1371600"/>
                <a:gridCol w="137160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384048">
                <a:tc>
                  <a:txBody>
                    <a:bodyPr/>
                    <a:lstStyle/>
                    <a:p>
                      <a:pPr algn="l" indent="0" marL="0">
                        <a:buNone/>
                      </a:pPr>
                      <a:r>
                        <a:rPr lang="en-US" sz="1300" b="1" dirty="0">
                          <a:solidFill>
                            <a:srgbClr val="1F2933"/>
                          </a:solidFill>
                          <a:latin typeface="Calibri" pitchFamily="34" charset="0"/>
                          <a:ea typeface="Calibri" pitchFamily="34" charset="-122"/>
                          <a:cs typeface="Calibri" pitchFamily="34" charset="-120"/>
                        </a:rPr>
                        <a:t>Full detector</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Duration-only IQR baseline</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0.9565</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0.6600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0.7811</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V-10 rule, 20+ events without going back</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0.4648</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0.6600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0.5455</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7" name="Text 4"/>
          <p:cNvSpPr txBox="1"/>
          <p:nvPr/>
        </p:nvSpPr>
        <p:spPr>
          <a:xfrm>
            <a:off x="566928" y="3246120"/>
            <a:ext cx="7406640" cy="1097280"/>
          </a:xfrm>
          <a:prstGeom prst="rect">
            <a:avLst/>
          </a:prstGeom>
          <a:noFill/>
          <a:ln/>
        </p:spPr>
        <p:txBody>
          <a:bodyPr wrap="square" lIns="0" tIns="0" rIns="0" bIns="0" rtlCol="0" anchor="ctr"/>
          <a:lstStyle/>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The duration-only baseline misses 34 of the 100 anomalies, every one with a total duration inside the fences.</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The V-10 rule flags 142 interviews to find the same 66, giving 76 false positives. Neither meets the 0.75 recall threshold.</a:t>
            </a:r>
            <a:endParaRPr lang="en-US" sz="1250" dirty="0"/>
          </a:p>
        </p:txBody>
      </p:sp>
      <p:sp>
        <p:nvSpPr>
          <p:cNvPr id="8" name="Shape 5"/>
          <p:cNvSpPr/>
          <p:nvPr/>
        </p:nvSpPr>
        <p:spPr>
          <a:xfrm>
            <a:off x="8229600" y="1371600"/>
            <a:ext cx="3401568" cy="1572768"/>
          </a:xfrm>
          <a:prstGeom prst="roundRect">
            <a:avLst>
              <a:gd name="adj" fmla="val 2907"/>
            </a:avLst>
          </a:prstGeom>
          <a:solidFill>
            <a:srgbClr val="EEF2F6"/>
          </a:solidFill>
          <a:ln w="12700">
            <a:solidFill>
              <a:srgbClr val="EEF2F6"/>
            </a:solidFill>
            <a:prstDash val="solid"/>
          </a:ln>
        </p:spPr>
        <p:txBody>
          <a:bodyPr/>
          <a:p/>
        </p:txBody>
      </p:sp>
      <p:sp>
        <p:nvSpPr>
          <p:cNvPr id="9" name="Text 6"/>
          <p:cNvSpPr txBox="1"/>
          <p:nvPr/>
        </p:nvSpPr>
        <p:spPr>
          <a:xfrm>
            <a:off x="8375904" y="1517904"/>
            <a:ext cx="3108960" cy="749808"/>
          </a:xfrm>
          <a:prstGeom prst="rect">
            <a:avLst/>
          </a:prstGeom>
          <a:noFill/>
          <a:ln/>
        </p:spPr>
        <p:txBody>
          <a:bodyPr wrap="square" lIns="0" tIns="0" rIns="0" bIns="0" rtlCol="0" anchor="ctr"/>
          <a:lstStyle/>
          <a:p>
            <a:pPr algn="ctr" indent="0" marL="0">
              <a:buNone/>
            </a:pPr>
            <a:r>
              <a:rPr lang="en-US" sz="3400" b="1" dirty="0">
                <a:solidFill>
                  <a:srgbClr val="0F766E"/>
                </a:solidFill>
                <a:latin typeface="Cambria" pitchFamily="34" charset="0"/>
                <a:ea typeface="Cambria" pitchFamily="34" charset="-122"/>
                <a:cs typeface="Cambria" pitchFamily="34" charset="-120"/>
              </a:rPr>
              <a:t>+34%</a:t>
            </a:r>
            <a:endParaRPr lang="en-US" sz="3400" dirty="0"/>
          </a:p>
        </p:txBody>
      </p:sp>
      <p:sp>
        <p:nvSpPr>
          <p:cNvPr id="10" name="Text 7"/>
          <p:cNvSpPr txBox="1"/>
          <p:nvPr/>
        </p:nvSpPr>
        <p:spPr>
          <a:xfrm>
            <a:off x="8375904" y="2286000"/>
            <a:ext cx="3108960"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recall over the check</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field teams actually run</a:t>
            </a:r>
            <a:endParaRPr lang="en-US" sz="1150" dirty="0"/>
          </a:p>
        </p:txBody>
      </p:sp>
      <p:sp>
        <p:nvSpPr>
          <p:cNvPr id="11" name="Text 8"/>
          <p:cNvSpPr txBox="1"/>
          <p:nvPr/>
        </p:nvSpPr>
        <p:spPr>
          <a:xfrm>
            <a:off x="8229600" y="3154680"/>
            <a:ext cx="3401568" cy="1097280"/>
          </a:xfrm>
          <a:prstGeom prst="rect">
            <a:avLst/>
          </a:prstGeom>
          <a:noFill/>
          <a:ln/>
        </p:spPr>
        <p:txBody>
          <a:bodyPr wrap="square" lIns="0" tIns="0" rIns="0" bIns="0" rtlCol="0" anchor="ctr"/>
          <a:lstStyle/>
          <a:p>
            <a:pPr indent="0" marL="0">
              <a:lnSpc>
                <a:spcPts val="1600"/>
              </a:lnSpc>
              <a:buNone/>
            </a:pPr>
            <a:r>
              <a:rPr lang="en-US" sz="1150" dirty="0">
                <a:solidFill>
                  <a:srgbClr val="6B7785"/>
                </a:solidFill>
                <a:latin typeface="Calibri" pitchFamily="34" charset="0"/>
                <a:ea typeface="Calibri" pitchFamily="34" charset="-122"/>
                <a:cs typeface="Calibri" pitchFamily="34" charset="-120"/>
              </a:rPr>
              <a:t>All three methods are computed from the same raw files, the same features and the same labels inside one script, so the comparison involves no manual step.</a:t>
            </a:r>
            <a:endParaRPr lang="en-US" sz="1150" dirty="0"/>
          </a:p>
        </p:txBody>
      </p:sp>
      <p:sp>
        <p:nvSpPr>
          <p:cNvPr id="12" name="Shape 9"/>
          <p:cNvSpPr/>
          <p:nvPr/>
        </p:nvSpPr>
        <p:spPr>
          <a:xfrm>
            <a:off x="566928" y="502920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3" name="Shape 10"/>
          <p:cNvSpPr/>
          <p:nvPr/>
        </p:nvSpPr>
        <p:spPr>
          <a:xfrm>
            <a:off x="694944" y="5157216"/>
            <a:ext cx="91440" cy="310896"/>
          </a:xfrm>
          <a:prstGeom prst="roundRect">
            <a:avLst>
              <a:gd name="adj" fmla="val 40000"/>
            </a:avLst>
          </a:prstGeom>
          <a:solidFill>
            <a:srgbClr val="0F766E"/>
          </a:solidFill>
          <a:ln w="12700">
            <a:solidFill>
              <a:srgbClr val="0F766E"/>
            </a:solidFill>
            <a:prstDash val="solid"/>
          </a:ln>
        </p:spPr>
        <p:txBody>
          <a:bodyPr/>
          <a:p/>
        </p:txBody>
      </p:sp>
      <p:sp>
        <p:nvSpPr>
          <p:cNvPr id="14" name="Text 11"/>
          <p:cNvSpPr txBox="1"/>
          <p:nvPr/>
        </p:nvSpPr>
        <p:spPr>
          <a:xfrm>
            <a:off x="932688" y="507492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the central result: multi-feature timing analysis captures about a third of anomalies that aggregate duration cannot see.</a:t>
            </a:r>
            <a:endParaRPr lang="en-US" sz="1350" dirty="0"/>
          </a:p>
        </p:txBody>
      </p:sp>
      <p:sp>
        <p:nvSpPr>
          <p:cNvPr id="15" name="Text 12"/>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output/examiner_audit/strict_examiner_audit_report.md, n500 SurveyCTO benchmark.</a:t>
            </a:r>
            <a:endParaRPr lang="en-US" sz="105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39</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5  ·  THE EVALUATION</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A Tukey fence, computed on real data</a:t>
            </a:r>
          </a:p>
        </p:txBody>
      </p:sp>
      <p:graphicFrame>
        <p:nvGraphicFramePr>
          <p:cNvPr id="6" name="Table 5"/>
          <p:cNvGraphicFramePr>
            <a:graphicFrameLocks noGrp="1"/>
          </p:cNvGraphicFramePr>
          <p:nvPr/>
        </p:nvGraphicFramePr>
        <p:xfrm>
          <a:off x="566928" y="1325880"/>
          <a:ext cx="6675120" cy="1682496"/>
        </p:xfrm>
        <a:graphic>
          <a:graphicData uri="http://schemas.openxmlformats.org/drawingml/2006/table">
            <a:tbl>
              <a:tblPr firstRow="0" bandRow="0"/>
              <a:tblGrid>
                <a:gridCol w="2103120"/>
                <a:gridCol w="914400"/>
                <a:gridCol w="914400"/>
                <a:gridCol w="914400"/>
                <a:gridCol w="1097280"/>
                <a:gridCol w="731520"/>
              </a:tblGrid>
              <a:tr h="420624">
                <a:tc>
                  <a:txBody>
                    <a:bodyPr wrap="square"/>
                    <a:lstStyle/>
                    <a:p>
                      <a:r>
                        <a:rPr sz="1150" b="1" i="0">
                          <a:solidFill>
                            <a:srgbClr val="FFFFFF"/>
                          </a:solidFill>
                          <a:latin typeface="Calibri"/>
                        </a:rPr>
                        <a:t>n500 canonical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Q1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Q3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IQR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Lower fence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Below it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420624">
                <a:tc>
                  <a:txBody>
                    <a:bodyPr wrap="square"/>
                    <a:lstStyle/>
                    <a:p>
                      <a:r>
                        <a:rPr sz="1100" b="0" i="0">
                          <a:solidFill>
                            <a:srgbClr val="1F2933"/>
                          </a:solidFill>
                          <a:latin typeface="Calibri"/>
                        </a:rPr>
                        <a:t>Total duration, V-01</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153.3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194.1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40.8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92.2 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B45309"/>
                          </a:solidFill>
                          <a:latin typeface="Calibri"/>
                        </a:rPr>
                        <a:t>66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Mean response time, T-06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7,129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9,124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1,995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4,137 ms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66</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420624">
                <a:tc>
                  <a:txBody>
                    <a:bodyPr wrap="square"/>
                    <a:lstStyle/>
                    <a:p>
                      <a:r>
                        <a:rPr sz="1100" b="0" i="0">
                          <a:solidFill>
                            <a:srgbClr val="1F2933"/>
                          </a:solidFill>
                          <a:latin typeface="Calibri"/>
                        </a:rPr>
                        <a:t>Entropy, T-03</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3.00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3.41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0.41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0" i="0">
                          <a:solidFill>
                            <a:srgbClr val="1F2933"/>
                          </a:solidFill>
                          <a:latin typeface="Calibri"/>
                        </a:rPr>
                        <a:t>2.38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100" b="1" i="0">
                          <a:solidFill>
                            <a:srgbClr val="0F766E"/>
                          </a:solidFill>
                          <a:latin typeface="Calibri"/>
                        </a:rPr>
                        <a:t>100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7" name="Rectangle 6"/>
          <p:cNvSpPr/>
          <p:nvPr/>
        </p:nvSpPr>
        <p:spPr>
          <a:xfrm>
            <a:off x="7498079" y="1325880"/>
            <a:ext cx="4123944" cy="361188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463040"/>
            <a:ext cx="3794760" cy="411480"/>
          </a:xfrm>
          <a:prstGeom prst="rect">
            <a:avLst/>
          </a:prstGeom>
          <a:noFill/>
        </p:spPr>
        <p:txBody>
          <a:bodyPr wrap="square" lIns="36576" rIns="36576" tIns="18288" bIns="18288" anchor="t">
            <a:spAutoFit/>
          </a:bodyPr>
          <a:lstStyle/>
          <a:p>
            <a:pPr algn="l">
              <a:spcAft>
                <a:spcPts val="400"/>
              </a:spcAft>
            </a:pPr>
            <a:r>
              <a:rPr sz="1600" b="1" i="0">
                <a:solidFill>
                  <a:srgbClr val="1F2933"/>
                </a:solidFill>
                <a:latin typeface="Cambria"/>
              </a:rPr>
              <a:t>lower = Q1 − 1.5 × IQR</a:t>
            </a:r>
          </a:p>
        </p:txBody>
      </p:sp>
      <p:sp>
        <p:nvSpPr>
          <p:cNvPr id="9" name="TextBox 8"/>
          <p:cNvSpPr txBox="1"/>
          <p:nvPr/>
        </p:nvSpPr>
        <p:spPr>
          <a:xfrm>
            <a:off x="7680960" y="1920240"/>
            <a:ext cx="3794760" cy="411480"/>
          </a:xfrm>
          <a:prstGeom prst="rect">
            <a:avLst/>
          </a:prstGeom>
          <a:noFill/>
        </p:spPr>
        <p:txBody>
          <a:bodyPr wrap="square" lIns="36576" rIns="36576" tIns="18288" bIns="18288" anchor="t">
            <a:spAutoFit/>
          </a:bodyPr>
          <a:lstStyle/>
          <a:p>
            <a:pPr algn="l">
              <a:spcAft>
                <a:spcPts val="400"/>
              </a:spcAft>
            </a:pPr>
            <a:r>
              <a:rPr sz="1600" b="1" i="0">
                <a:solidFill>
                  <a:srgbClr val="1F2933"/>
                </a:solidFill>
                <a:latin typeface="Cambria"/>
              </a:rPr>
              <a:t>upper = Q3 + 1.5 × IQR</a:t>
            </a:r>
          </a:p>
        </p:txBody>
      </p:sp>
      <p:sp>
        <p:nvSpPr>
          <p:cNvPr id="10" name="TextBox 9"/>
          <p:cNvSpPr txBox="1"/>
          <p:nvPr/>
        </p:nvSpPr>
        <p:spPr>
          <a:xfrm>
            <a:off x="7680960" y="2468880"/>
            <a:ext cx="3794760" cy="2377440"/>
          </a:xfrm>
          <a:prstGeom prst="rect">
            <a:avLst/>
          </a:prstGeom>
          <a:noFill/>
        </p:spPr>
        <p:txBody>
          <a:bodyPr wrap="square" lIns="36576" rIns="36576" tIns="18288" bIns="18288" anchor="t">
            <a:spAutoFit/>
          </a:bodyPr>
          <a:lstStyle/>
          <a:p>
            <a:pPr algn="l">
              <a:spcAft>
                <a:spcPts val="800"/>
              </a:spcAft>
            </a:pPr>
            <a:r>
              <a:rPr sz="1150" b="0" i="0">
                <a:solidFill>
                  <a:srgbClr val="1F2933"/>
                </a:solidFill>
                <a:latin typeface="Calibri"/>
              </a:rPr>
              <a:t>Quartiles only, so no distributional assumption.</a:t>
            </a:r>
          </a:p>
          <a:p>
            <a:pPr algn="l">
              <a:spcAft>
                <a:spcPts val="800"/>
              </a:spcAft>
            </a:pPr>
            <a:r>
              <a:rPr sz="1150" b="0" i="0">
                <a:solidFill>
                  <a:srgbClr val="1F2933"/>
                </a:solidFill>
                <a:latin typeface="Calibri"/>
              </a:rPr>
              <a:t>The 66 below the duration fence are the speeders and fabricators. The disengaged interviews sit inside it: that is the 34 the duration-only baseline misses.</a:t>
            </a:r>
          </a:p>
          <a:p>
            <a:pPr algn="l">
              <a:spcAft>
                <a:spcPts val="800"/>
              </a:spcAft>
            </a:pPr>
            <a:r>
              <a:rPr sz="1150" b="0" i="0">
                <a:solidFill>
                  <a:srgbClr val="1F2933"/>
                </a:solidFill>
                <a:latin typeface="Calibri"/>
              </a:rPr>
              <a:t>Entropy puts all 100 anomalies below its fence.</a:t>
            </a:r>
          </a:p>
        </p:txBody>
      </p:sp>
      <p:sp>
        <p:nvSpPr>
          <p:cNvPr id="11" name="TextBox 10"/>
          <p:cNvSpPr txBox="1"/>
          <p:nvPr/>
        </p:nvSpPr>
        <p:spPr>
          <a:xfrm>
            <a:off x="566928" y="3154680"/>
            <a:ext cx="6675120" cy="1737360"/>
          </a:xfrm>
          <a:prstGeom prst="rect">
            <a:avLst/>
          </a:prstGeom>
          <a:noFill/>
        </p:spPr>
        <p:txBody>
          <a:bodyPr wrap="square" lIns="36576" rIns="36576" tIns="18288" bIns="18288" anchor="t">
            <a:spAutoFit/>
          </a:bodyPr>
          <a:lstStyle/>
          <a:p>
            <a:pPr algn="l">
              <a:spcAft>
                <a:spcPts val="400"/>
              </a:spcAft>
            </a:pPr>
            <a:r>
              <a:rPr sz="1200" b="0" i="0">
                <a:solidFill>
                  <a:srgbClr val="1F2933"/>
                </a:solidFill>
                <a:latin typeface="Calibri"/>
              </a:rPr>
              <a:t>The fences are computed from the batch being scored, which includes the anomalies. On canonical data the anomalies are far enough out that it does not matter. Under stress, and as prevalence rises, it does: that is masking, next.</a:t>
            </a:r>
          </a:p>
        </p:txBody>
      </p:sp>
      <p:sp>
        <p:nvSpPr>
          <p:cNvPr id="12" name="Rectangle 11"/>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One fence on duration is roughly what field practice runs today. It recovers 66 of 100 anomalies here, and none under stress.</a:t>
            </a:r>
          </a:p>
        </p:txBody>
      </p:sp>
      <p:sp>
        <p:nvSpPr>
          <p:cNvPr id="15" name="TextBox 14"/>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Computed from output/robustness_validation/feature_dataset_benchmark_n500_surveycto.csv; report sections 3.3 and 6.3.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6.3</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Turning the same scrutiny inward</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40</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1371600"/>
            <a:ext cx="11055096" cy="38404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proposal foregrounded IQR thresholding. Isolating the two halves of my own detector shows that is not where the detection comes from.</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5096" cy="914400"/>
        </p:xfrm>
        <a:graphic>
          <a:graphicData uri="http://schemas.openxmlformats.org/drawingml/2006/table">
            <a:tbl>
              <a:tblPr/>
              <a:tblGrid>
                <a:gridCol w="3200400"/>
                <a:gridCol w="1371600"/>
                <a:gridCol w="1234440"/>
                <a:gridCol w="1234440"/>
                <a:gridCol w="1005840"/>
                <a:gridCol w="1005840"/>
                <a:gridCol w="2002536"/>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TP</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FP</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384048">
                <a:tc>
                  <a:txBody>
                    <a:bodyPr/>
                    <a:lstStyle/>
                    <a:p>
                      <a:pPr algn="l" indent="0" marL="0">
                        <a:buNone/>
                      </a:pPr>
                      <a:r>
                        <a:rPr lang="en-US" sz="1250" b="1" dirty="0">
                          <a:solidFill>
                            <a:srgbClr val="1F2933"/>
                          </a:solidFill>
                          <a:latin typeface="Calibri" pitchFamily="34" charset="0"/>
                          <a:ea typeface="Calibri" pitchFamily="34" charset="-122"/>
                          <a:cs typeface="Calibri" pitchFamily="34" charset="-120"/>
                        </a:rPr>
                        <a:t>Combined, as shipped</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0.9920</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0.9416</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0.9662</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871</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54</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Rules only</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b="1" dirty="0">
                          <a:solidFill>
                            <a:srgbClr val="0F766E"/>
                          </a:solidFill>
                          <a:latin typeface="Calibri" pitchFamily="34" charset="0"/>
                          <a:ea typeface="Calibri" pitchFamily="34" charset="-122"/>
                          <a:cs typeface="Calibri" pitchFamily="34" charset="-120"/>
                        </a:rPr>
                        <a:t>0.9988</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b="1" dirty="0">
                          <a:solidFill>
                            <a:srgbClr val="0F766E"/>
                          </a:solidFill>
                          <a:latin typeface="Calibri" pitchFamily="34" charset="0"/>
                          <a:ea typeface="Calibri" pitchFamily="34" charset="-122"/>
                          <a:cs typeface="Calibri" pitchFamily="34" charset="-120"/>
                        </a:rPr>
                        <a:t>0.9319</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0.9642</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862</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63</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Interquartile fences only</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b="1" dirty="0">
                          <a:solidFill>
                            <a:srgbClr val="B45309"/>
                          </a:solidFill>
                          <a:latin typeface="Calibri" pitchFamily="34" charset="0"/>
                          <a:ea typeface="Calibri" pitchFamily="34" charset="-122"/>
                          <a:cs typeface="Calibri" pitchFamily="34" charset="-120"/>
                        </a:rPr>
                        <a:t>0.6628</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b="1" dirty="0">
                          <a:solidFill>
                            <a:srgbClr val="B45309"/>
                          </a:solidFill>
                          <a:latin typeface="Calibri" pitchFamily="34" charset="0"/>
                          <a:ea typeface="Calibri" pitchFamily="34" charset="-122"/>
                          <a:cs typeface="Calibri" pitchFamily="34" charset="-120"/>
                        </a:rPr>
                        <a:t>0.6162</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0.6387</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570</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290</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355</a:t>
                      </a:r>
                      <a:endParaRPr lang="en-US" sz="12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8" name="Text 5"/>
          <p:cNvSpPr txBox="1"/>
          <p:nvPr/>
        </p:nvSpPr>
        <p:spPr>
          <a:xfrm>
            <a:off x="566928" y="3703320"/>
            <a:ext cx="6858000" cy="1371600"/>
          </a:xfrm>
          <a:prstGeom prst="rect">
            <a:avLst/>
          </a:prstGeom>
          <a:noFill/>
          <a:ln/>
        </p:spPr>
        <p:txBody>
          <a:bodyPr wrap="square" lIns="0" tIns="0" rIns="0" bIns="0" rtlCol="0" anchor="ctr"/>
          <a:lstStyle/>
          <a:p>
            <a:pPr indent="0" marL="0">
              <a:lnSpc>
                <a:spcPts val="1750"/>
              </a:lnSpc>
              <a:buNone/>
            </a:pPr>
            <a:r>
              <a:rPr lang="en-US" sz="1250" b="1" dirty="0">
                <a:solidFill>
                  <a:srgbClr val="1F2933"/>
                </a:solidFill>
                <a:latin typeface="Calibri" pitchFamily="34" charset="0"/>
                <a:ea typeface="Calibri" pitchFamily="34" charset="-122"/>
                <a:cs typeface="Calibri" pitchFamily="34" charset="-120"/>
              </a:rPr>
              <a:t>The rule layer carries it. </a:t>
            </a:r>
            <a:pPr indent="0" marL="0">
              <a:lnSpc>
                <a:spcPts val="1750"/>
              </a:lnSpc>
              <a:buNone/>
            </a:pPr>
            <a:r>
              <a:rPr lang="en-US" sz="1250" dirty="0">
                <a:solidFill>
                  <a:srgbClr val="1F2933"/>
                </a:solidFill>
                <a:latin typeface="Calibri" pitchFamily="34" charset="0"/>
                <a:ea typeface="Calibri" pitchFamily="34" charset="-122"/>
                <a:cs typeface="Calibri" pitchFamily="34" charset="-120"/>
              </a:rPr>
              <a:t>On its own it is within a point of the combined detector on both measures. Adding the fences recovers nine true positives the rules miss and costs six false positives: recall 0.9319 to 0.9416, precision 0.9988 to 0.9920. That is the entire measured contribution of the statistical component.</a:t>
            </a:r>
            <a:endParaRPr lang="en-US" sz="1250" dirty="0"/>
          </a:p>
        </p:txBody>
      </p:sp>
      <p:sp>
        <p:nvSpPr>
          <p:cNvPr id="9" name="Shape 6"/>
          <p:cNvSpPr/>
          <p:nvPr/>
        </p:nvSpPr>
        <p:spPr>
          <a:xfrm>
            <a:off x="7726680" y="3657600"/>
            <a:ext cx="3904488" cy="1417320"/>
          </a:xfrm>
          <a:prstGeom prst="roundRect">
            <a:avLst>
              <a:gd name="adj" fmla="val 3226"/>
            </a:avLst>
          </a:prstGeom>
          <a:solidFill>
            <a:srgbClr val="EEF2F6"/>
          </a:solidFill>
          <a:ln w="12700">
            <a:solidFill>
              <a:srgbClr val="EEF2F6"/>
            </a:solidFill>
            <a:prstDash val="solid"/>
          </a:ln>
        </p:spPr>
        <p:txBody>
          <a:bodyPr/>
          <a:p/>
        </p:txBody>
      </p:sp>
      <p:sp>
        <p:nvSpPr>
          <p:cNvPr id="10" name="Text 7"/>
          <p:cNvSpPr txBox="1"/>
          <p:nvPr/>
        </p:nvSpPr>
        <p:spPr>
          <a:xfrm>
            <a:off x="7936992" y="3767328"/>
            <a:ext cx="3502152" cy="1234440"/>
          </a:xfrm>
          <a:prstGeom prst="rect">
            <a:avLst/>
          </a:prstGeom>
          <a:noFill/>
          <a:ln/>
        </p:spPr>
        <p:txBody>
          <a:bodyPr wrap="square" lIns="0" tIns="0" rIns="0" bIns="0" rtlCol="0" anchor="ctr"/>
          <a:lstStyle/>
          <a:p>
            <a:pPr indent="0" marL="0">
              <a:lnSpc>
                <a:spcPts val="1500"/>
              </a:lnSpc>
              <a:buNone/>
            </a:pPr>
            <a:r>
              <a:rPr lang="en-US" sz="1100" b="1" dirty="0">
                <a:solidFill>
                  <a:srgbClr val="B45309"/>
                </a:solidFill>
                <a:latin typeface="Calibri" pitchFamily="34" charset="0"/>
                <a:ea typeface="Calibri" pitchFamily="34" charset="-122"/>
                <a:cs typeface="Calibri" pitchFamily="34" charset="-120"/>
              </a:rPr>
              <a:t>Masking, measured.  </a:t>
            </a:r>
            <a:pPr indent="0" marL="0">
              <a:lnSpc>
                <a:spcPts val="1500"/>
              </a:lnSpc>
              <a:buNone/>
            </a:pPr>
            <a:r>
              <a:rPr lang="en-US" sz="1100" dirty="0">
                <a:solidFill>
                  <a:srgbClr val="1F2933"/>
                </a:solidFill>
                <a:latin typeface="Calibri" pitchFamily="34" charset="0"/>
                <a:ea typeface="Calibri" pitchFamily="34" charset="-122"/>
                <a:cs typeface="Calibri" pitchFamily="34" charset="-120"/>
              </a:rPr>
              <a:t>IQR recall holds at 1.00 through 5, 10 and 20 percent prevalence, then falls to 0.6667 at 30 percent. The fences are estimated from data containing the outliers they are meant to isolate, so as contamination rises the quartiles move with it.</a:t>
            </a:r>
            <a:endParaRPr lang="en-US" sz="1100" dirty="0"/>
          </a:p>
        </p:txBody>
      </p:sp>
      <p:sp>
        <p:nvSpPr>
          <p:cNvPr id="11" name="Shape 8"/>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2" name="Shape 9"/>
          <p:cNvSpPr/>
          <p:nvPr/>
        </p:nvSpPr>
        <p:spPr>
          <a:xfrm>
            <a:off x="694944" y="5568696"/>
            <a:ext cx="91440" cy="310896"/>
          </a:xfrm>
          <a:prstGeom prst="roundRect">
            <a:avLst>
              <a:gd name="adj" fmla="val 40000"/>
            </a:avLst>
          </a:prstGeom>
          <a:solidFill>
            <a:srgbClr val="B45309"/>
          </a:solidFill>
          <a:ln w="12700">
            <a:solidFill>
              <a:srgbClr val="B45309"/>
            </a:solidFill>
            <a:prstDash val="solid"/>
          </a:ln>
        </p:spPr>
        <p:txBody>
          <a:bodyPr/>
          <a:p/>
        </p:txBody>
      </p:sp>
      <p:sp>
        <p:nvSpPr>
          <p:cNvPr id="13" name="Text 10"/>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Combining the two is still worth doing, but the margin is small and should be stated as such.</a:t>
            </a:r>
            <a:endParaRPr lang="en-US" sz="1350" dirty="0"/>
          </a:p>
        </p:txBody>
      </p:sp>
      <p:sp>
        <p:nvSpPr>
          <p:cNvPr id="14" name="Text 11"/>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output/robustness_validation/component_breakdown.csv, aggregated over all ten runs of the robustness round.</a:t>
            </a:r>
            <a:endParaRPr lang="en-US" sz="10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41</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5  ·  THE EVALUATION</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Masking: when the anomalies move the fence</a:t>
            </a:r>
          </a:p>
        </p:txBody>
      </p:sp>
      <p:sp>
        <p:nvSpPr>
          <p:cNvPr id="6" name="Rectangle 5"/>
          <p:cNvSpPr/>
          <p:nvPr/>
        </p:nvSpPr>
        <p:spPr>
          <a:xfrm>
            <a:off x="566928" y="1325880"/>
            <a:ext cx="5440680" cy="17373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300" b="1" i="0">
                <a:solidFill>
                  <a:srgbClr val="0F766E"/>
                </a:solidFill>
                <a:latin typeface="Calibri"/>
              </a:rPr>
              <a:t>What it is</a:t>
            </a:r>
          </a:p>
        </p:txBody>
      </p:sp>
      <p:sp>
        <p:nvSpPr>
          <p:cNvPr id="8" name="TextBox 7"/>
          <p:cNvSpPr txBox="1"/>
          <p:nvPr/>
        </p:nvSpPr>
        <p:spPr>
          <a:xfrm>
            <a:off x="731520" y="1892807"/>
            <a:ext cx="5111496" cy="1078992"/>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A threshold estimated from data that contains the outliers it is meant to find. The more anomalies in the batch, the more they pull the quartiles, and the median, towards themselves.</a:t>
            </a:r>
          </a:p>
        </p:txBody>
      </p:sp>
      <p:sp>
        <p:nvSpPr>
          <p:cNvPr id="9" name="Rectangle 8"/>
          <p:cNvSpPr/>
          <p:nvPr/>
        </p:nvSpPr>
        <p:spPr>
          <a:xfrm>
            <a:off x="6181344" y="1325880"/>
            <a:ext cx="5440680" cy="17373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300" b="1" i="0">
                <a:solidFill>
                  <a:srgbClr val="0F766E"/>
                </a:solidFill>
                <a:latin typeface="Calibri"/>
              </a:rPr>
              <a:t>What it did here</a:t>
            </a:r>
          </a:p>
        </p:txBody>
      </p:sp>
      <p:sp>
        <p:nvSpPr>
          <p:cNvPr id="11" name="TextBox 10"/>
          <p:cNvSpPr txBox="1"/>
          <p:nvPr/>
        </p:nvSpPr>
        <p:spPr>
          <a:xfrm>
            <a:off x="6345936" y="1892807"/>
            <a:ext cx="5111496" cy="1078992"/>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The interquartile fences alone keep recall 1.00 at 5, 10 and 20 percent prevalence, then fall to 0.67 at 30. Contamination costs recall, not precision, because the fence moves towards the anomalies.</a:t>
            </a:r>
          </a:p>
        </p:txBody>
      </p:sp>
      <p:sp>
        <p:nvSpPr>
          <p:cNvPr id="12" name="Rectangle 11"/>
          <p:cNvSpPr/>
          <p:nvPr/>
        </p:nvSpPr>
        <p:spPr>
          <a:xfrm>
            <a:off x="566928" y="3200400"/>
            <a:ext cx="5440680" cy="17373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328416"/>
            <a:ext cx="5111496" cy="457200"/>
          </a:xfrm>
          <a:prstGeom prst="rect">
            <a:avLst/>
          </a:prstGeom>
          <a:noFill/>
        </p:spPr>
        <p:txBody>
          <a:bodyPr wrap="square" lIns="36576" rIns="36576" tIns="18288" bIns="18288" anchor="t">
            <a:spAutoFit/>
          </a:bodyPr>
          <a:lstStyle/>
          <a:p>
            <a:pPr algn="l">
              <a:spcAft>
                <a:spcPts val="400"/>
              </a:spcAft>
            </a:pPr>
            <a:r>
              <a:rPr sz="1300" b="1" i="0">
                <a:solidFill>
                  <a:srgbClr val="B45309"/>
                </a:solidFill>
                <a:latin typeface="Calibri"/>
              </a:rPr>
              <a:t>Why the rules suffer too</a:t>
            </a:r>
          </a:p>
        </p:txBody>
      </p:sp>
      <p:sp>
        <p:nvSpPr>
          <p:cNvPr id="14" name="TextBox 13"/>
          <p:cNvSpPr txBox="1"/>
          <p:nvPr/>
        </p:nvSpPr>
        <p:spPr>
          <a:xfrm>
            <a:off x="731520" y="3767328"/>
            <a:ext cx="5111496" cy="1078992"/>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Half the median mean response time, twice the median pause: the rules are relative to the batch median. Past 50 percent prevalence the median is an anomalous interview.</a:t>
            </a:r>
          </a:p>
        </p:txBody>
      </p:sp>
      <p:sp>
        <p:nvSpPr>
          <p:cNvPr id="15" name="Rectangle 14"/>
          <p:cNvSpPr/>
          <p:nvPr/>
        </p:nvSpPr>
        <p:spPr>
          <a:xfrm>
            <a:off x="6181344" y="3200400"/>
            <a:ext cx="5440680" cy="17373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328416"/>
            <a:ext cx="5111496" cy="457200"/>
          </a:xfrm>
          <a:prstGeom prst="rect">
            <a:avLst/>
          </a:prstGeom>
          <a:noFill/>
        </p:spPr>
        <p:txBody>
          <a:bodyPr wrap="square" lIns="36576" rIns="36576" tIns="18288" bIns="18288" anchor="t">
            <a:spAutoFit/>
          </a:bodyPr>
          <a:lstStyle/>
          <a:p>
            <a:pPr algn="l">
              <a:spcAft>
                <a:spcPts val="400"/>
              </a:spcAft>
            </a:pPr>
            <a:r>
              <a:rPr sz="1300" b="1" i="0">
                <a:solidFill>
                  <a:srgbClr val="B45309"/>
                </a:solidFill>
                <a:latin typeface="Calibri"/>
              </a:rPr>
              <a:t>What would remove it</a:t>
            </a:r>
          </a:p>
        </p:txBody>
      </p:sp>
      <p:sp>
        <p:nvSpPr>
          <p:cNvPr id="17" name="TextBox 16"/>
          <p:cNvSpPr txBox="1"/>
          <p:nvPr/>
        </p:nvSpPr>
        <p:spPr>
          <a:xfrm>
            <a:off x="6345936" y="3767328"/>
            <a:ext cx="5111496" cy="1078992"/>
          </a:xfrm>
          <a:prstGeom prst="rect">
            <a:avLst/>
          </a:prstGeom>
          <a:noFill/>
        </p:spPr>
        <p:txBody>
          <a:bodyPr wrap="square" lIns="36576" rIns="36576" tIns="18288" bIns="18288" anchor="t">
            <a:spAutoFit/>
          </a:bodyPr>
          <a:lstStyle/>
          <a:p>
            <a:pPr algn="l">
              <a:spcAft>
                <a:spcPts val="600"/>
              </a:spcAft>
            </a:pPr>
            <a:r>
              <a:rPr sz="1150" b="0" i="0">
                <a:solidFill>
                  <a:srgbClr val="1F2933"/>
                </a:solidFill>
                <a:latin typeface="Calibri"/>
              </a:rPr>
              <a:t>Thresholds estimated from a reference set of verified genuine interviews, for example back-checked ones from an earlier round, instead of from the batch. Not built here; section 8 names it.</a:t>
            </a:r>
          </a:p>
        </p:txBody>
      </p:sp>
      <p:sp>
        <p:nvSpPr>
          <p:cNvPr id="18" name="Rectangle 17"/>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The same mechanism explains the fabrication shortfall under stress and the collapse above 50 percent prevalence.</a:t>
            </a:r>
          </a:p>
        </p:txBody>
      </p:sp>
      <p:sp>
        <p:nvSpPr>
          <p:cNvPr id="21" name="TextBox 20"/>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Report sections 2.5, 6.3, 6.4 and 8; Hubert and Vandervieren (2008, section 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6.4</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Performance as anomalies get rarer</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42</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figure2_prevalence.png">    </p:cNvPr>
          <p:cNvPicPr>
            <a:picLocks noChangeAspect="1"/>
          </p:cNvPicPr>
          <p:nvPr/>
        </p:nvPicPr>
        <p:blipFill>
          <a:blip r:embed="rId1"/>
          <a:stretch>
            <a:fillRect/>
          </a:stretch>
        </p:blipFill>
        <p:spPr>
          <a:xfrm>
            <a:off x="566928" y="1371600"/>
            <a:ext cx="6858000" cy="4050792"/>
          </a:xfrm>
          <a:prstGeom prst="rect">
            <a:avLst/>
          </a:prstGeom>
        </p:spPr>
      </p:pic>
      <p:sp>
        <p:nvSpPr>
          <p:cNvPr id="7" name="Text 4"/>
          <p:cNvSpPr txBox="1"/>
          <p:nvPr/>
        </p:nvSpPr>
        <p:spPr>
          <a:xfrm>
            <a:off x="7680960" y="1371600"/>
            <a:ext cx="3950208" cy="3840480"/>
          </a:xfrm>
          <a:prstGeom prst="rect">
            <a:avLst/>
          </a:prstGeom>
          <a:noFill/>
          <a:ln/>
        </p:spPr>
        <p:txBody>
          <a:bodyPr wrap="square" lIns="0" tIns="0" rIns="0" bIns="0" rtlCol="0" anchor="ctr"/>
          <a:lstStyle/>
          <a:p>
            <a:pPr indent="0" marL="0">
              <a:lnSpc>
                <a:spcPts val="1750"/>
              </a:lnSpc>
              <a:buNone/>
            </a:pPr>
            <a:r>
              <a:rPr lang="en-US" sz="1250" b="1" dirty="0">
                <a:solidFill>
                  <a:srgbClr val="1F2933"/>
                </a:solidFill>
                <a:latin typeface="Calibri" pitchFamily="34" charset="0"/>
                <a:ea typeface="Calibri" pitchFamily="34" charset="-122"/>
                <a:cs typeface="Calibri" pitchFamily="34" charset="-120"/>
              </a:rPr>
              <a:t>Recall holds at 1.0000 across the sweep.</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Precision is 1.0000 at 10, 20 and 30 percent and 0.9615 at 5 percent, where a single false positive among twenty-five true anomalies costs almost four points.</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That is a property of the metric, not a failure of the detector, but it matters operationally: real fabrication rates are low, so this quantifies the review burden a deployment should expect.</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b="1" dirty="0">
                <a:solidFill>
                  <a:srgbClr val="0F766E"/>
                </a:solidFill>
                <a:latin typeface="Calibri" pitchFamily="34" charset="0"/>
                <a:ea typeface="Calibri" pitchFamily="34" charset="-122"/>
                <a:cs typeface="Calibri" pitchFamily="34" charset="-120"/>
              </a:rPr>
              <a:t>Roughly one false alarm per five hundred interviews at realistic prevalence.</a:t>
            </a:r>
            <a:endParaRPr lang="en-US" sz="1250" dirty="0"/>
          </a:p>
        </p:txBody>
      </p:sp>
      <p:sp>
        <p:nvSpPr>
          <p:cNvPr id="8" name="Text 5"/>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output/robustness_validation/metrics_sweep_r*.csv. Held-out seed 7, canonical difficulty, SurveyCTO, 500 interviews.</a:t>
            </a:r>
            <a:endParaRPr lang="en-US" sz="105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43</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RESULTS 6.4, EXTENDED</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Where the method stops working</a:t>
            </a:r>
          </a:p>
        </p:txBody>
      </p:sp>
      <p:pic>
        <p:nvPicPr>
          <p:cNvPr id="6" name="Picture 5" descr="figure3_prevalence_envelope.png"/>
          <p:cNvPicPr>
            <a:picLocks noChangeAspect="1"/>
          </p:cNvPicPr>
          <p:nvPr/>
        </p:nvPicPr>
        <p:blipFill>
          <a:blip r:embed="rId2"/>
          <a:stretch>
            <a:fillRect/>
          </a:stretch>
        </p:blipFill>
        <p:spPr>
          <a:xfrm>
            <a:off x="566928" y="1280160"/>
            <a:ext cx="6903720" cy="3726256"/>
          </a:xfrm>
          <a:prstGeom prst="rect">
            <a:avLst/>
          </a:prstGeom>
        </p:spPr>
      </p:pic>
      <p:sp>
        <p:nvSpPr>
          <p:cNvPr id="7" name="Rectangle 6"/>
          <p:cNvSpPr/>
          <p:nvPr/>
        </p:nvSpPr>
        <p:spPr>
          <a:xfrm>
            <a:off x="7726679" y="1280160"/>
            <a:ext cx="3895344" cy="109728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2983" y="1389888"/>
            <a:ext cx="3602736" cy="658368"/>
          </a:xfrm>
          <a:prstGeom prst="rect">
            <a:avLst/>
          </a:prstGeom>
          <a:noFill/>
        </p:spPr>
        <p:txBody>
          <a:bodyPr wrap="square" lIns="36576" rIns="36576" tIns="18288" bIns="18288" anchor="t">
            <a:spAutoFit/>
          </a:bodyPr>
          <a:lstStyle/>
          <a:p>
            <a:pPr algn="l">
              <a:spcAft>
                <a:spcPts val="400"/>
              </a:spcAft>
            </a:pPr>
            <a:r>
              <a:rPr sz="3000" b="1" i="0">
                <a:solidFill>
                  <a:srgbClr val="0F766E"/>
                </a:solidFill>
                <a:latin typeface="Cambria"/>
              </a:rPr>
              <a:t>≤ 50%</a:t>
            </a:r>
          </a:p>
        </p:txBody>
      </p:sp>
      <p:sp>
        <p:nvSpPr>
          <p:cNvPr id="9" name="TextBox 8"/>
          <p:cNvSpPr txBox="1"/>
          <p:nvPr/>
        </p:nvSpPr>
        <p:spPr>
          <a:xfrm>
            <a:off x="7872983" y="2029967"/>
            <a:ext cx="3602736" cy="274319"/>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prevalence up to which both criteria hold, in every condition</a:t>
            </a:r>
          </a:p>
        </p:txBody>
      </p:sp>
      <p:sp>
        <p:nvSpPr>
          <p:cNvPr id="10" name="Rectangle 9"/>
          <p:cNvSpPr/>
          <p:nvPr/>
        </p:nvSpPr>
        <p:spPr>
          <a:xfrm>
            <a:off x="7726679" y="2514600"/>
            <a:ext cx="1874519" cy="118872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2983" y="2624328"/>
            <a:ext cx="1581911" cy="658368"/>
          </a:xfrm>
          <a:prstGeom prst="rect">
            <a:avLst/>
          </a:prstGeom>
          <a:noFill/>
        </p:spPr>
        <p:txBody>
          <a:bodyPr wrap="square" lIns="36576" rIns="36576" tIns="18288" bIns="18288" anchor="t">
            <a:spAutoFit/>
          </a:bodyPr>
          <a:lstStyle/>
          <a:p>
            <a:pPr algn="l">
              <a:spcAft>
                <a:spcPts val="400"/>
              </a:spcAft>
            </a:pPr>
            <a:r>
              <a:rPr sz="3000" b="1" i="0">
                <a:solidFill>
                  <a:srgbClr val="B45309"/>
                </a:solidFill>
                <a:latin typeface="Cambria"/>
              </a:rPr>
              <a:t>0.44</a:t>
            </a:r>
          </a:p>
        </p:txBody>
      </p:sp>
      <p:sp>
        <p:nvSpPr>
          <p:cNvPr id="12" name="TextBox 11"/>
          <p:cNvSpPr txBox="1"/>
          <p:nvPr/>
        </p:nvSpPr>
        <p:spPr>
          <a:xfrm>
            <a:off x="7872983" y="3264408"/>
            <a:ext cx="1581911" cy="365760"/>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stress recall at 90 percent</a:t>
            </a:r>
          </a:p>
        </p:txBody>
      </p:sp>
      <p:sp>
        <p:nvSpPr>
          <p:cNvPr id="13" name="Rectangle 12"/>
          <p:cNvSpPr/>
          <p:nvPr/>
        </p:nvSpPr>
        <p:spPr>
          <a:xfrm>
            <a:off x="9747504" y="2514600"/>
            <a:ext cx="1874519" cy="118872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93808" y="2624328"/>
            <a:ext cx="1581911" cy="658368"/>
          </a:xfrm>
          <a:prstGeom prst="rect">
            <a:avLst/>
          </a:prstGeom>
          <a:noFill/>
        </p:spPr>
        <p:txBody>
          <a:bodyPr wrap="square" lIns="36576" rIns="36576" tIns="18288" bIns="18288" anchor="t">
            <a:spAutoFit/>
          </a:bodyPr>
          <a:lstStyle/>
          <a:p>
            <a:pPr algn="l">
              <a:spcAft>
                <a:spcPts val="400"/>
              </a:spcAft>
            </a:pPr>
            <a:r>
              <a:rPr sz="3000" b="1" i="0">
                <a:solidFill>
                  <a:srgbClr val="B45309"/>
                </a:solidFill>
                <a:latin typeface="Cambria"/>
              </a:rPr>
              <a:t>0.73</a:t>
            </a:r>
          </a:p>
        </p:txBody>
      </p:sp>
      <p:sp>
        <p:nvSpPr>
          <p:cNvPr id="15" name="TextBox 14"/>
          <p:cNvSpPr txBox="1"/>
          <p:nvPr/>
        </p:nvSpPr>
        <p:spPr>
          <a:xfrm>
            <a:off x="9893808" y="3264408"/>
            <a:ext cx="1581911" cy="365760"/>
          </a:xfrm>
          <a:prstGeom prst="rect">
            <a:avLst/>
          </a:prstGeom>
          <a:noFill/>
        </p:spPr>
        <p:txBody>
          <a:bodyPr wrap="square" lIns="36576" rIns="36576" tIns="18288" bIns="18288" anchor="t">
            <a:spAutoFit/>
          </a:bodyPr>
          <a:lstStyle/>
          <a:p>
            <a:pPr algn="l">
              <a:spcAft>
                <a:spcPts val="400"/>
              </a:spcAft>
            </a:pPr>
            <a:r>
              <a:rPr sz="1150" b="0" i="0">
                <a:solidFill>
                  <a:srgbClr val="1F2933"/>
                </a:solidFill>
                <a:latin typeface="Calibri"/>
              </a:rPr>
              <a:t>stress precision at 80 percent</a:t>
            </a:r>
          </a:p>
        </p:txBody>
      </p:sp>
      <p:sp>
        <p:nvSpPr>
          <p:cNvPr id="16" name="TextBox 15"/>
          <p:cNvSpPr txBox="1"/>
          <p:nvPr/>
        </p:nvSpPr>
        <p:spPr>
          <a:xfrm>
            <a:off x="7726679" y="3840480"/>
            <a:ext cx="3895344" cy="1143000"/>
          </a:xfrm>
          <a:prstGeom prst="rect">
            <a:avLst/>
          </a:prstGeom>
          <a:noFill/>
        </p:spPr>
        <p:txBody>
          <a:bodyPr wrap="square" lIns="36576" rIns="36576" tIns="18288" bIns="18288" anchor="t">
            <a:spAutoFit/>
          </a:bodyPr>
          <a:lstStyle/>
          <a:p>
            <a:pPr algn="l">
              <a:spcAft>
                <a:spcPts val="400"/>
              </a:spcAft>
            </a:pPr>
            <a:r>
              <a:rPr sz="1100" b="0" i="0">
                <a:solidFill>
                  <a:srgbClr val="1F2933"/>
                </a:solidFill>
                <a:latin typeface="Calibri"/>
              </a:rPr>
              <a:t>Past half, the batch median is an anomalous interview. Speeders set it, so speeding recall falls to 0; the genuine minority becomes the outliers.</a:t>
            </a:r>
          </a:p>
        </p:txBody>
      </p:sp>
      <p:sp>
        <p:nvSpPr>
          <p:cNvPr id="17" name="Rectangle 1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4944" y="5248655"/>
            <a:ext cx="91440" cy="3108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The method assumes anomalies are a minority of the batch: pool batches across enumerators, never one caseload alone.</a:t>
            </a:r>
          </a:p>
        </p:txBody>
      </p:sp>
      <p:sp>
        <p:nvSpPr>
          <p:cNvPr id="20" name="TextBox 1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scripts/run_prevalence_envelope.py; output/prevalence_envelope/envelope_summary.csv. Held-out seeds 7 and 99 pooled, 500 interviews.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6.5</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Held-out seeds, overlapping profiles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44</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6675120" cy="914400"/>
        </p:xfrm>
        <a:graphic>
          <a:graphicData uri="http://schemas.openxmlformats.org/drawingml/2006/table">
            <a:tbl>
              <a:tblPr/>
              <a:tblGrid>
                <a:gridCol w="2560320"/>
                <a:gridCol w="1371600"/>
                <a:gridCol w="1371600"/>
                <a:gridCol w="137160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Seed 7, SurveyCTO</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0.9770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0.8500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0.9091</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Seed 7, ODK</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0.9570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0.8900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0.9223</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Seed 99, SurveyCTO</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0.8800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0.9362</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Seed 99, ODK</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0.8400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0.9130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7" name="Shape 4"/>
          <p:cNvSpPr/>
          <p:nvPr/>
        </p:nvSpPr>
        <p:spPr>
          <a:xfrm>
            <a:off x="7223760" y="1371600"/>
            <a:ext cx="2148840" cy="1572768"/>
          </a:xfrm>
          <a:prstGeom prst="roundRect">
            <a:avLst>
              <a:gd name="adj" fmla="val 2907"/>
            </a:avLst>
          </a:prstGeom>
          <a:solidFill>
            <a:srgbClr val="EEF2F6"/>
          </a:solidFill>
          <a:ln w="12700">
            <a:solidFill>
              <a:srgbClr val="EEF2F6"/>
            </a:solidFill>
            <a:prstDash val="solid"/>
          </a:ln>
        </p:spPr>
        <p:txBody>
          <a:bodyPr/>
          <a:p/>
        </p:txBody>
      </p:sp>
      <p:sp>
        <p:nvSpPr>
          <p:cNvPr id="8" name="Text 5"/>
          <p:cNvSpPr txBox="1"/>
          <p:nvPr/>
        </p:nvSpPr>
        <p:spPr>
          <a:xfrm>
            <a:off x="7370064" y="1517904"/>
            <a:ext cx="1856232" cy="749808"/>
          </a:xfrm>
          <a:prstGeom prst="rect">
            <a:avLst/>
          </a:prstGeom>
          <a:noFill/>
          <a:ln/>
        </p:spPr>
        <p:txBody>
          <a:bodyPr wrap="square" lIns="0" tIns="0" rIns="0" bIns="0" rtlCol="0" anchor="ctr"/>
          <a:lstStyle/>
          <a:p>
            <a:pPr algn="ctr" indent="0" marL="0">
              <a:buNone/>
            </a:pPr>
            <a:r>
              <a:rPr lang="en-US" sz="3400" b="1" dirty="0">
                <a:solidFill>
                  <a:srgbClr val="B45309"/>
                </a:solidFill>
                <a:latin typeface="Cambria" pitchFamily="34" charset="0"/>
                <a:ea typeface="Cambria" pitchFamily="34" charset="-122"/>
                <a:cs typeface="Cambria" pitchFamily="34" charset="-120"/>
              </a:rPr>
              <a:t>0.9570</a:t>
            </a:r>
            <a:endParaRPr lang="en-US" sz="3400" dirty="0"/>
          </a:p>
        </p:txBody>
      </p:sp>
      <p:sp>
        <p:nvSpPr>
          <p:cNvPr id="9" name="Text 6"/>
          <p:cNvSpPr txBox="1"/>
          <p:nvPr/>
        </p:nvSpPr>
        <p:spPr>
          <a:xfrm>
            <a:off x="7370064" y="2286000"/>
            <a:ext cx="1856232"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lowest precision</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anywhere in the round</a:t>
            </a:r>
            <a:endParaRPr lang="en-US" sz="1150" dirty="0"/>
          </a:p>
        </p:txBody>
      </p:sp>
      <p:sp>
        <p:nvSpPr>
          <p:cNvPr id="10" name="Shape 7"/>
          <p:cNvSpPr/>
          <p:nvPr/>
        </p:nvSpPr>
        <p:spPr>
          <a:xfrm>
            <a:off x="9555480" y="1371600"/>
            <a:ext cx="2075688" cy="1572768"/>
          </a:xfrm>
          <a:prstGeom prst="roundRect">
            <a:avLst>
              <a:gd name="adj" fmla="val 2907"/>
            </a:avLst>
          </a:prstGeom>
          <a:solidFill>
            <a:srgbClr val="EEF2F6"/>
          </a:solidFill>
          <a:ln w="12700">
            <a:solidFill>
              <a:srgbClr val="EEF2F6"/>
            </a:solidFill>
            <a:prstDash val="solid"/>
          </a:ln>
        </p:spPr>
        <p:txBody>
          <a:bodyPr/>
          <a:p/>
        </p:txBody>
      </p:sp>
      <p:sp>
        <p:nvSpPr>
          <p:cNvPr id="11" name="Text 8"/>
          <p:cNvSpPr txBox="1"/>
          <p:nvPr/>
        </p:nvSpPr>
        <p:spPr>
          <a:xfrm>
            <a:off x="9701784" y="1517904"/>
            <a:ext cx="1783080" cy="749808"/>
          </a:xfrm>
          <a:prstGeom prst="rect">
            <a:avLst/>
          </a:prstGeom>
          <a:noFill/>
          <a:ln/>
        </p:spPr>
        <p:txBody>
          <a:bodyPr wrap="square" lIns="0" tIns="0" rIns="0" bIns="0" rtlCol="0" anchor="ctr"/>
          <a:lstStyle/>
          <a:p>
            <a:pPr algn="ctr" indent="0" marL="0">
              <a:buNone/>
            </a:pPr>
            <a:r>
              <a:rPr lang="en-US" sz="3400" b="1" dirty="0">
                <a:solidFill>
                  <a:srgbClr val="B45309"/>
                </a:solidFill>
                <a:latin typeface="Cambria" pitchFamily="34" charset="0"/>
                <a:ea typeface="Cambria" pitchFamily="34" charset="-122"/>
                <a:cs typeface="Cambria" pitchFamily="34" charset="-120"/>
              </a:rPr>
              <a:t>0.8400</a:t>
            </a:r>
            <a:endParaRPr lang="en-US" sz="3400" dirty="0"/>
          </a:p>
        </p:txBody>
      </p:sp>
      <p:sp>
        <p:nvSpPr>
          <p:cNvPr id="12" name="Text 9"/>
          <p:cNvSpPr txBox="1"/>
          <p:nvPr/>
        </p:nvSpPr>
        <p:spPr>
          <a:xfrm>
            <a:off x="9701784" y="2286000"/>
            <a:ext cx="1783080"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lowest recall</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anywhere in the round</a:t>
            </a:r>
            <a:endParaRPr lang="en-US" sz="1150" dirty="0"/>
          </a:p>
        </p:txBody>
      </p:sp>
      <p:sp>
        <p:nvSpPr>
          <p:cNvPr id="13" name="Text 10"/>
          <p:cNvSpPr txBox="1"/>
          <p:nvPr/>
        </p:nvSpPr>
        <p:spPr>
          <a:xfrm>
            <a:off x="7223760" y="3154680"/>
            <a:ext cx="4407408" cy="1188720"/>
          </a:xfrm>
          <a:prstGeom prst="rect">
            <a:avLst/>
          </a:prstGeom>
          <a:noFill/>
          <a:ln/>
        </p:spPr>
        <p:txBody>
          <a:bodyPr wrap="square" lIns="0" tIns="0" rIns="0" bIns="0" rtlCol="0" anchor="ctr"/>
          <a:lstStyle/>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Proposal criteria: precision at or above 0.80, recall at or above 0.75. Both are cleared on every run with margin, on data the detector had never seen, under a difficulty built so that genuine and anomalous behaviour overlap.</a:t>
            </a:r>
            <a:endParaRPr lang="en-US" sz="1200" dirty="0"/>
          </a:p>
        </p:txBody>
      </p:sp>
      <p:sp>
        <p:nvSpPr>
          <p:cNvPr id="14" name="Text 11"/>
          <p:cNvSpPr txBox="1"/>
          <p:nvPr/>
        </p:nvSpPr>
        <p:spPr>
          <a:xfrm>
            <a:off x="566928" y="3520440"/>
            <a:ext cx="6675120" cy="822960"/>
          </a:xfrm>
          <a:prstGeom prst="rect">
            <a:avLst/>
          </a:prstGeom>
          <a:noFill/>
          <a:ln/>
        </p:spPr>
        <p:txBody>
          <a:bodyPr wrap="square" lIns="0" tIns="0" rIns="0" bIns="0" rtlCol="0" anchor="ctr"/>
          <a:lstStyle/>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Performance is consistent across the two platform formats, which is the cross-format parity claim tested rather than assumed.</a:t>
            </a:r>
            <a:endParaRPr lang="en-US" sz="1250" dirty="0"/>
          </a:p>
        </p:txBody>
      </p:sp>
      <p:sp>
        <p:nvSpPr>
          <p:cNvPr id="15" name="Shape 12"/>
          <p:cNvSpPr/>
          <p:nvPr/>
        </p:nvSpPr>
        <p:spPr>
          <a:xfrm>
            <a:off x="566928" y="502920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6" name="Shape 13"/>
          <p:cNvSpPr/>
          <p:nvPr/>
        </p:nvSpPr>
        <p:spPr>
          <a:xfrm>
            <a:off x="694944" y="5157216"/>
            <a:ext cx="91440" cy="310896"/>
          </a:xfrm>
          <a:prstGeom prst="roundRect">
            <a:avLst>
              <a:gd name="adj" fmla="val 40000"/>
            </a:avLst>
          </a:prstGeom>
          <a:solidFill>
            <a:srgbClr val="0F766E"/>
          </a:solidFill>
          <a:ln w="12700">
            <a:solidFill>
              <a:srgbClr val="0F766E"/>
            </a:solidFill>
            <a:prstDash val="solid"/>
          </a:ln>
        </p:spPr>
        <p:txBody>
          <a:bodyPr/>
          <a:p/>
        </p:txBody>
      </p:sp>
      <p:sp>
        <p:nvSpPr>
          <p:cNvPr id="17" name="Text 14"/>
          <p:cNvSpPr txBox="1"/>
          <p:nvPr/>
        </p:nvSpPr>
        <p:spPr>
          <a:xfrm>
            <a:off x="932688" y="507492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No committed target is missed by any run in the entire evaluation.</a:t>
            </a:r>
            <a:endParaRPr lang="en-US" sz="1350" dirty="0"/>
          </a:p>
        </p:txBody>
      </p:sp>
      <p:sp>
        <p:nvSpPr>
          <p:cNvPr id="18" name="Text 15"/>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output/robustness_validation/metrics_stress_seed*.csv. Full per-run confusion counts are Appendix B of the report.</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6.6</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Where the method is strong and where it is weak</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45</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pic>
        <p:nvPicPr>
          <p:cNvPr id="6" name="Image 0" descr="C:\Users\Samuel\Desktop\4th year\Final year project\SKACE-Time-Data\report\figures\figure3_per_class_recall.png">    </p:cNvPr>
          <p:cNvPicPr>
            <a:picLocks noChangeAspect="1"/>
          </p:cNvPicPr>
          <p:nvPr/>
        </p:nvPicPr>
        <p:blipFill>
          <a:blip r:embed="rId1"/>
          <a:stretch>
            <a:fillRect/>
          </a:stretch>
        </p:blipFill>
        <p:spPr>
          <a:xfrm>
            <a:off x="566928" y="1280160"/>
            <a:ext cx="7040880" cy="4379976"/>
          </a:xfrm>
          <a:prstGeom prst="rect">
            <a:avLst/>
          </a:prstGeom>
        </p:spPr>
      </p:pic>
      <p:sp>
        <p:nvSpPr>
          <p:cNvPr id="7" name="Text 4"/>
          <p:cNvSpPr txBox="1"/>
          <p:nvPr/>
        </p:nvSpPr>
        <p:spPr>
          <a:xfrm>
            <a:off x="7818120" y="1463040"/>
            <a:ext cx="3813048" cy="3840480"/>
          </a:xfrm>
          <a:prstGeom prst="rect">
            <a:avLst/>
          </a:prstGeom>
          <a:noFill/>
          <a:ln/>
        </p:spPr>
        <p:txBody>
          <a:bodyPr wrap="square" lIns="0" tIns="0" rIns="0" bIns="0" rtlCol="0" anchor="ctr"/>
          <a:lstStyle/>
          <a:p>
            <a:pPr indent="0" marL="0">
              <a:lnSpc>
                <a:spcPts val="1700"/>
              </a:lnSpc>
              <a:buNone/>
            </a:pPr>
            <a:r>
              <a:rPr lang="en-US" sz="1500" b="1" dirty="0">
                <a:solidFill>
                  <a:srgbClr val="0F766E"/>
                </a:solidFill>
                <a:latin typeface="Cambria" pitchFamily="34" charset="0"/>
                <a:ea typeface="Cambria" pitchFamily="34" charset="-122"/>
                <a:cs typeface="Cambria" pitchFamily="34" charset="-120"/>
              </a:rPr>
              <a:t>Speeding  132 / 132</a:t>
            </a:r>
            <a:endParaRPr lang="en-US" sz="1500" dirty="0"/>
          </a:p>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Detected without exception in all four runs.</a:t>
            </a:r>
            <a:endParaRPr lang="en-US" sz="1500" dirty="0"/>
          </a:p>
          <a:p>
            <a:pPr indent="0" marL="0">
              <a:lnSpc>
                <a:spcPts val="1700"/>
              </a:lnSpc>
              <a:buNone/>
            </a:pPr>
            <a:r>
              <a:rPr lang="en-US" sz="800" dirty="0">
                <a:solidFill>
                  <a:srgbClr val="1F2933"/>
                </a:solidFill>
                <a:latin typeface="Calibri" pitchFamily="34" charset="0"/>
                <a:ea typeface="Calibri" pitchFamily="34" charset="-122"/>
                <a:cs typeface="Calibri" pitchFamily="34" charset="-120"/>
              </a:rPr>
              <a:t> </a:t>
            </a:r>
            <a:endParaRPr lang="en-US" sz="1500" dirty="0"/>
          </a:p>
          <a:p>
            <a:pPr indent="0" marL="0">
              <a:lnSpc>
                <a:spcPts val="1700"/>
              </a:lnSpc>
              <a:buNone/>
            </a:pPr>
            <a:r>
              <a:rPr lang="en-US" sz="1500" b="1" dirty="0">
                <a:solidFill>
                  <a:srgbClr val="7C3AED"/>
                </a:solidFill>
                <a:latin typeface="Cambria" pitchFamily="34" charset="0"/>
                <a:ea typeface="Cambria" pitchFamily="34" charset="-122"/>
                <a:cs typeface="Cambria" pitchFamily="34" charset="-120"/>
              </a:rPr>
              <a:t>Disengaged  121 / 136</a:t>
            </a:r>
            <a:endParaRPr lang="en-US" sz="1500" dirty="0"/>
          </a:p>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0.89, driven by the median-relative pause rule with elevated back-navigation.</a:t>
            </a:r>
            <a:endParaRPr lang="en-US" sz="1500" dirty="0"/>
          </a:p>
          <a:p>
            <a:pPr indent="0" marL="0">
              <a:lnSpc>
                <a:spcPts val="1700"/>
              </a:lnSpc>
              <a:buNone/>
            </a:pPr>
            <a:r>
              <a:rPr lang="en-US" sz="800" dirty="0">
                <a:solidFill>
                  <a:srgbClr val="1F2933"/>
                </a:solidFill>
                <a:latin typeface="Calibri" pitchFamily="34" charset="0"/>
                <a:ea typeface="Calibri" pitchFamily="34" charset="-122"/>
                <a:cs typeface="Calibri" pitchFamily="34" charset="-120"/>
              </a:rPr>
              <a:t> </a:t>
            </a:r>
            <a:endParaRPr lang="en-US" sz="1500" dirty="0"/>
          </a:p>
          <a:p>
            <a:pPr indent="0" marL="0">
              <a:lnSpc>
                <a:spcPts val="1700"/>
              </a:lnSpc>
              <a:buNone/>
            </a:pPr>
            <a:r>
              <a:rPr lang="en-US" sz="1500" b="1" dirty="0">
                <a:solidFill>
                  <a:srgbClr val="B45309"/>
                </a:solidFill>
                <a:latin typeface="Cambria" pitchFamily="34" charset="0"/>
                <a:ea typeface="Cambria" pitchFamily="34" charset="-122"/>
                <a:cs typeface="Cambria" pitchFamily="34" charset="-120"/>
              </a:rPr>
              <a:t>Fabricated  93 / 132</a:t>
            </a:r>
            <a:endParaRPr lang="en-US" sz="1500" dirty="0"/>
          </a:p>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0.70, per-run between 0.61 and 0.76. The weakest class, and the next two slides are about it.</a:t>
            </a:r>
            <a:endParaRPr lang="en-US" sz="1500" dirty="0"/>
          </a:p>
        </p:txBody>
      </p:sp>
      <p:sp>
        <p:nvSpPr>
          <p:cNvPr id="8" name="Text 5"/>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These are diagnostic breakdowns of one detector, not three detectors. The 0.75 criterion is defined for the combined detector and is not a per-class commitment.</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6.6 AND CHAPTER 8</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Diagnosing the fabrication misses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46</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5532120" cy="1371600"/>
          </a:xfrm>
          <a:prstGeom prst="roundRect">
            <a:avLst>
              <a:gd name="adj" fmla="val 3333"/>
            </a:avLst>
          </a:prstGeom>
          <a:solidFill>
            <a:srgbClr val="EEF2F6"/>
          </a:solidFill>
          <a:ln w="12700">
            <a:solidFill>
              <a:srgbClr val="EEF2F6"/>
            </a:solidFill>
            <a:prstDash val="solid"/>
          </a:ln>
        </p:spPr>
        <p:txBody>
          <a:bodyPr/>
          <a:p/>
        </p:txBody>
      </p:sp>
      <p:sp>
        <p:nvSpPr>
          <p:cNvPr id="7" name="Text 5"/>
          <p:cNvSpPr txBox="1"/>
          <p:nvPr/>
        </p:nvSpPr>
        <p:spPr>
          <a:xfrm>
            <a:off x="786384" y="1517904"/>
            <a:ext cx="5120640" cy="1097280"/>
          </a:xfrm>
          <a:prstGeom prst="rect">
            <a:avLst/>
          </a:prstGeom>
          <a:noFill/>
          <a:ln/>
        </p:spPr>
        <p:txBody>
          <a:bodyPr wrap="square" lIns="0" tIns="0" rIns="0" bIns="0" rtlCol="0" anchor="ctr"/>
          <a:lstStyle/>
          <a:p>
            <a:pPr indent="0" marL="0">
              <a:lnSpc>
                <a:spcPts val="1700"/>
              </a:lnSpc>
              <a:buNone/>
            </a:pPr>
            <a:r>
              <a:rPr lang="en-US" sz="1250" b="1" dirty="0">
                <a:solidFill>
                  <a:srgbClr val="0F766E"/>
                </a:solidFill>
                <a:latin typeface="Calibri" pitchFamily="34" charset="0"/>
                <a:ea typeface="Calibri" pitchFamily="34" charset="-122"/>
                <a:cs typeface="Calibri" pitchFamily="34" charset="-120"/>
              </a:rPr>
              <a:t>The misses are not indistinguishable from genuine interviews.</a:t>
            </a:r>
            <a:endParaRPr lang="en-US" sz="1250" dirty="0"/>
          </a:p>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On the development seeds, response time entropy separates the two populations completely: highest fabricated 1.983 against lowest genuine 2.039. No overlap at all.</a:t>
            </a:r>
            <a:endParaRPr lang="en-US" sz="1250" dirty="0"/>
          </a:p>
        </p:txBody>
      </p:sp>
      <p:sp>
        <p:nvSpPr>
          <p:cNvPr id="8" name="Text 6"/>
          <p:cNvSpPr txBox="1"/>
          <p:nvPr/>
        </p:nvSpPr>
        <p:spPr>
          <a:xfrm>
            <a:off x="566928" y="2926080"/>
            <a:ext cx="5532120" cy="2011680"/>
          </a:xfrm>
          <a:prstGeom prst="rect">
            <a:avLst/>
          </a:prstGeom>
          <a:noFill/>
          <a:ln/>
        </p:spPr>
        <p:txBody>
          <a:bodyPr wrap="square" lIns="0" tIns="0" rIns="0" bIns="0" rtlCol="0" anchor="ctr"/>
          <a:lstStyle/>
          <a:p>
            <a:pPr indent="0" marL="0">
              <a:lnSpc>
                <a:spcPts val="1750"/>
              </a:lnSpc>
              <a:buNone/>
            </a:pPr>
            <a:r>
              <a:rPr lang="en-US" sz="1350" b="1" dirty="0">
                <a:solidFill>
                  <a:srgbClr val="1F2933"/>
                </a:solidFill>
                <a:latin typeface="Calibri" pitchFamily="34" charset="0"/>
                <a:ea typeface="Calibri" pitchFamily="34" charset="-122"/>
                <a:cs typeface="Calibri" pitchFamily="34" charset="-120"/>
              </a:rPr>
              <a:t>So why are they missed? Two mechanisms.</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1.  The behavioural entropy rule uses an absolute constant of 0.5, calibrated to the tightly compressed fabrication profile. It cannot fire for the mildly compressed one.</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2.  The entropy fence is estimated on data already containing 20 percent injected anomalies, which drags the lower quartile and the fence down with it. Masking again.</a:t>
            </a:r>
            <a:endParaRPr lang="en-US" sz="1250" dirty="0"/>
          </a:p>
        </p:txBody>
      </p:sp>
      <p:sp>
        <p:nvSpPr>
          <p:cNvPr id="9" name="Shape 7"/>
          <p:cNvSpPr/>
          <p:nvPr/>
        </p:nvSpPr>
        <p:spPr>
          <a:xfrm>
            <a:off x="6446520" y="1371600"/>
            <a:ext cx="5184648" cy="1874520"/>
          </a:xfrm>
          <a:prstGeom prst="roundRect">
            <a:avLst>
              <a:gd name="adj" fmla="val 2439"/>
            </a:avLst>
          </a:prstGeom>
          <a:solidFill>
            <a:srgbClr val="FFFFFF"/>
          </a:solidFill>
          <a:ln w="15875">
            <a:solidFill>
              <a:srgbClr val="B45309"/>
            </a:solidFill>
            <a:prstDash val="solid"/>
          </a:ln>
        </p:spPr>
        <p:txBody>
          <a:bodyPr/>
          <a:p/>
        </p:txBody>
      </p:sp>
      <p:sp>
        <p:nvSpPr>
          <p:cNvPr id="10" name="Text 8"/>
          <p:cNvSpPr txBox="1"/>
          <p:nvPr/>
        </p:nvSpPr>
        <p:spPr>
          <a:xfrm>
            <a:off x="6656832" y="1499616"/>
            <a:ext cx="4764024" cy="1645920"/>
          </a:xfrm>
          <a:prstGeom prst="rect">
            <a:avLst/>
          </a:prstGeom>
          <a:noFill/>
          <a:ln/>
        </p:spPr>
        <p:txBody>
          <a:bodyPr wrap="square" lIns="0" tIns="0" rIns="0" bIns="0" rtlCol="0" anchor="ctr"/>
          <a:lstStyle/>
          <a:p>
            <a:pPr indent="0" marL="0">
              <a:lnSpc>
                <a:spcPts val="1550"/>
              </a:lnSpc>
              <a:buNone/>
            </a:pPr>
            <a:r>
              <a:rPr lang="en-US" sz="1400" b="1" dirty="0">
                <a:solidFill>
                  <a:srgbClr val="B45309"/>
                </a:solidFill>
                <a:latin typeface="Cambria" pitchFamily="34" charset="0"/>
                <a:ea typeface="Cambria" pitchFamily="34" charset="-122"/>
                <a:cs typeface="Cambria" pitchFamily="34" charset="-120"/>
              </a:rPr>
              <a:t>A structural limit of the Tukey fence</a:t>
            </a:r>
            <a:endParaRPr lang="en-US" sz="1150" dirty="0"/>
          </a:p>
          <a:p>
            <a:pPr indent="0" marL="0">
              <a:lnSpc>
                <a:spcPts val="1550"/>
              </a:lnSpc>
              <a:buNone/>
            </a:pPr>
            <a:r>
              <a:rPr lang="en-US" sz="500" dirty="0">
                <a:solidFill>
                  <a:srgbClr val="1F2933"/>
                </a:solidFill>
                <a:latin typeface="Calibri" pitchFamily="34" charset="0"/>
                <a:ea typeface="Calibri" pitchFamily="34" charset="-122"/>
                <a:cs typeface="Calibri" pitchFamily="34" charset="-120"/>
              </a:rPr>
              <a:t> </a:t>
            </a:r>
            <a:endParaRPr lang="en-US" sz="1150" dirty="0"/>
          </a:p>
          <a:p>
            <a:pPr indent="0" marL="0">
              <a:lnSpc>
                <a:spcPts val="1550"/>
              </a:lnSpc>
              <a:buNone/>
            </a:pPr>
            <a:r>
              <a:rPr lang="en-US" sz="1150" dirty="0">
                <a:solidFill>
                  <a:srgbClr val="1F2933"/>
                </a:solidFill>
                <a:latin typeface="Calibri" pitchFamily="34" charset="0"/>
                <a:ea typeface="Calibri" pitchFamily="34" charset="-122"/>
                <a:cs typeface="Calibri" pitchFamily="34" charset="-120"/>
              </a:rPr>
              <a:t>For right-skewed non-negative quantities such as response time variance, the lower fence Q1 minus 1.5 x IQR falls below zero and is unreachable. No low-side outlier can ever be flagged on those features.</a:t>
            </a:r>
            <a:endParaRPr lang="en-US" sz="1150" dirty="0"/>
          </a:p>
          <a:p>
            <a:pPr indent="0" marL="0">
              <a:lnSpc>
                <a:spcPts val="1550"/>
              </a:lnSpc>
              <a:buNone/>
            </a:pPr>
            <a:r>
              <a:rPr lang="en-US" sz="500" dirty="0">
                <a:solidFill>
                  <a:srgbClr val="1F2933"/>
                </a:solidFill>
                <a:latin typeface="Calibri" pitchFamily="34" charset="0"/>
                <a:ea typeface="Calibri" pitchFamily="34" charset="-122"/>
                <a:cs typeface="Calibri" pitchFamily="34" charset="-120"/>
              </a:rPr>
              <a:t> </a:t>
            </a:r>
            <a:endParaRPr lang="en-US" sz="1150" dirty="0"/>
          </a:p>
          <a:p>
            <a:pPr indent="0" marL="0">
              <a:lnSpc>
                <a:spcPts val="1550"/>
              </a:lnSpc>
              <a:buNone/>
            </a:pPr>
            <a:r>
              <a:rPr lang="en-US" sz="1150" dirty="0">
                <a:solidFill>
                  <a:srgbClr val="1F2933"/>
                </a:solidFill>
                <a:latin typeface="Calibri" pitchFamily="34" charset="0"/>
                <a:ea typeface="Calibri" pitchFamily="34" charset="-122"/>
                <a:cs typeface="Calibri" pitchFamily="34" charset="-120"/>
              </a:rPr>
              <a:t>Fabrication is a low-side deviation on exactly those quantities. Entropy escapes it only because it is bounded and roughly symmetric.</a:t>
            </a:r>
            <a:endParaRPr lang="en-US" sz="1150" dirty="0"/>
          </a:p>
        </p:txBody>
      </p:sp>
      <p:sp>
        <p:nvSpPr>
          <p:cNvPr id="11" name="Shape 9"/>
          <p:cNvSpPr/>
          <p:nvPr/>
        </p:nvSpPr>
        <p:spPr>
          <a:xfrm>
            <a:off x="6446520" y="3429000"/>
            <a:ext cx="5184648" cy="1508760"/>
          </a:xfrm>
          <a:prstGeom prst="roundRect">
            <a:avLst>
              <a:gd name="adj" fmla="val 3030"/>
            </a:avLst>
          </a:prstGeom>
          <a:solidFill>
            <a:srgbClr val="EEF2F6"/>
          </a:solidFill>
          <a:ln w="12700">
            <a:solidFill>
              <a:srgbClr val="EEF2F6"/>
            </a:solidFill>
            <a:prstDash val="solid"/>
          </a:ln>
        </p:spPr>
        <p:txBody>
          <a:bodyPr/>
          <a:p/>
        </p:txBody>
      </p:sp>
      <p:sp>
        <p:nvSpPr>
          <p:cNvPr id="12" name="Text 10"/>
          <p:cNvSpPr txBox="1"/>
          <p:nvPr/>
        </p:nvSpPr>
        <p:spPr>
          <a:xfrm>
            <a:off x="6656832" y="3547872"/>
            <a:ext cx="4764024" cy="1298448"/>
          </a:xfrm>
          <a:prstGeom prst="rect">
            <a:avLst/>
          </a:prstGeom>
          <a:noFill/>
          <a:ln/>
        </p:spPr>
        <p:txBody>
          <a:bodyPr wrap="square" lIns="0" tIns="0" rIns="0" bIns="0" rtlCol="0" anchor="ctr"/>
          <a:lstStyle/>
          <a:p>
            <a:pPr indent="0" marL="0">
              <a:lnSpc>
                <a:spcPts val="1500"/>
              </a:lnSpc>
              <a:buNone/>
            </a:pPr>
            <a:r>
              <a:rPr lang="en-US" sz="1400" b="1" dirty="0">
                <a:solidFill>
                  <a:srgbClr val="1F2933"/>
                </a:solidFill>
                <a:latin typeface="Cambria" pitchFamily="34" charset="0"/>
                <a:ea typeface="Cambria" pitchFamily="34" charset="-122"/>
                <a:cs typeface="Cambria" pitchFamily="34" charset="-120"/>
              </a:rPr>
              <a:t>A retraction</a:t>
            </a:r>
            <a:endParaRPr lang="en-US" sz="1100" dirty="0"/>
          </a:p>
          <a:p>
            <a:pPr indent="0" marL="0">
              <a:lnSpc>
                <a:spcPts val="1500"/>
              </a:lnSpc>
              <a:buNone/>
            </a:pPr>
            <a:r>
              <a:rPr lang="en-US" sz="500" dirty="0">
                <a:solidFill>
                  <a:srgbClr val="1F2933"/>
                </a:solidFill>
                <a:latin typeface="Calibri" pitchFamily="34" charset="0"/>
                <a:ea typeface="Calibri" pitchFamily="34" charset="-122"/>
                <a:cs typeface="Calibri" pitchFamily="34" charset="-120"/>
              </a:rPr>
              <a:t> </a:t>
            </a:r>
            <a:endParaRPr lang="en-US" sz="1100" dirty="0"/>
          </a:p>
          <a:p>
            <a:pPr indent="0" marL="0">
              <a:lnSpc>
                <a:spcPts val="1500"/>
              </a:lnSpc>
              <a:buNone/>
            </a:pPr>
            <a:r>
              <a:rPr lang="en-US" sz="1100" dirty="0">
                <a:solidFill>
                  <a:srgbClr val="1F2933"/>
                </a:solidFill>
                <a:latin typeface="Calibri" pitchFamily="34" charset="0"/>
                <a:ea typeface="Calibri" pitchFamily="34" charset="-122"/>
                <a:cs typeface="Calibri" pitchFamily="34" charset="-120"/>
              </a:rPr>
              <a:t>An earlier version of my validation document attributed these misses to a joint pattern that univariate methods cannot capture. The data does not support that. I have named the retraction in the document, and no threshold was changed in producing the diagnostic, so every reported result stands unaltered.</a:t>
            </a:r>
            <a:endParaRPr lang="en-US" sz="1100" dirty="0"/>
          </a:p>
        </p:txBody>
      </p:sp>
      <p:sp>
        <p:nvSpPr>
          <p:cNvPr id="13" name="Shape 11"/>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4" name="Shape 12"/>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5" name="Text 13"/>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a calibration and fence-construction failure, not a demonstration that univariate analysis has reached its ceiling.</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7</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I built the fix, measured it, and shipped it switched off</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47</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1371600"/>
            <a:ext cx="11055096" cy="566928"/>
          </a:xfrm>
          <a:prstGeom prst="rect">
            <a:avLst/>
          </a:prstGeom>
          <a:noFill/>
          <a:ln/>
        </p:spPr>
        <p:txBody>
          <a:bodyPr wrap="square" lIns="0" tIns="0" rIns="0" bIns="0" rtlCol="0" anchor="ctr"/>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The correction keeps the absolute constant as a floor and adds a fence at the median minus three times the distance to the third quartile. That half of the distribution is less contaminated, not uncontaminated, and the fence is tighter than Tukey's. Developed on development seeds, frozen, evaluated once against held-out data.</a:t>
            </a:r>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2121408"/>
          <a:ext cx="6949440" cy="914400"/>
        </p:xfrm>
        <a:graphic>
          <a:graphicData uri="http://schemas.openxmlformats.org/drawingml/2006/table">
            <a:tbl>
              <a:tblPr/>
              <a:tblGrid>
                <a:gridCol w="3291840"/>
                <a:gridCol w="1828800"/>
                <a:gridCol w="1828800"/>
              </a:tblGrid>
              <a:tr h="40233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Shipped detector</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With the correction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Fabricated per-class recall</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Lowest precision anywhere in the round</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0.9570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B45309"/>
                          </a:solidFill>
                          <a:latin typeface="Calibri" pitchFamily="34" charset="0"/>
                          <a:ea typeface="Calibri" pitchFamily="34" charset="-122"/>
                          <a:cs typeface="Calibri" pitchFamily="34" charset="-120"/>
                        </a:rPr>
                        <a:t>0.8333</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8" name="Text 5"/>
          <p:cNvSpPr txBox="1"/>
          <p:nvPr/>
        </p:nvSpPr>
        <p:spPr>
          <a:xfrm>
            <a:off x="566928" y="3520440"/>
            <a:ext cx="6949440" cy="1463040"/>
          </a:xfrm>
          <a:prstGeom prst="rect">
            <a:avLst/>
          </a:prstGeom>
          <a:noFill/>
          <a:ln/>
        </p:spPr>
        <p:txBody>
          <a:bodyPr wrap="square" lIns="0" tIns="0" rIns="0" bIns="0" rtlCol="0" anchor="ctr"/>
          <a:lstStyle/>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The gain concentrates in the stress condition. The cost concentrates at low prevalence, where recall was already complete and every extra flag falls on a genuine interview.</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Real fabrication rates are low. So as it stands the correction buys no additional detection in the condition that most resembles deployment, and pays for it in false accusations against real enumerators.</a:t>
            </a:r>
            <a:endParaRPr lang="en-US" sz="1250" dirty="0"/>
          </a:p>
        </p:txBody>
      </p:sp>
      <p:sp>
        <p:nvSpPr>
          <p:cNvPr id="9" name="Shape 6"/>
          <p:cNvSpPr/>
          <p:nvPr/>
        </p:nvSpPr>
        <p:spPr>
          <a:xfrm>
            <a:off x="7772400" y="2121408"/>
            <a:ext cx="3858768" cy="2834640"/>
          </a:xfrm>
          <a:prstGeom prst="roundRect">
            <a:avLst>
              <a:gd name="adj" fmla="val 1613"/>
            </a:avLst>
          </a:prstGeom>
          <a:solidFill>
            <a:srgbClr val="16232B"/>
          </a:solidFill>
          <a:ln w="12700">
            <a:solidFill>
              <a:srgbClr val="16232B"/>
            </a:solidFill>
            <a:prstDash val="solid"/>
          </a:ln>
        </p:spPr>
        <p:txBody>
          <a:bodyPr/>
          <a:p/>
        </p:txBody>
      </p:sp>
      <p:sp>
        <p:nvSpPr>
          <p:cNvPr id="10" name="Text 7"/>
          <p:cNvSpPr txBox="1"/>
          <p:nvPr/>
        </p:nvSpPr>
        <p:spPr>
          <a:xfrm>
            <a:off x="7991856" y="2267712"/>
            <a:ext cx="3456432" cy="2606040"/>
          </a:xfrm>
          <a:prstGeom prst="rect">
            <a:avLst/>
          </a:prstGeom>
          <a:noFill/>
          <a:ln/>
        </p:spPr>
        <p:txBody>
          <a:bodyPr wrap="square" lIns="0" tIns="0" rIns="0" bIns="0" rtlCol="0" anchor="ctr"/>
          <a:lstStyle/>
          <a:p>
            <a:pPr indent="0" marL="0">
              <a:lnSpc>
                <a:spcPts val="1650"/>
              </a:lnSpc>
              <a:buNone/>
            </a:pPr>
            <a:r>
              <a:rPr lang="en-US" sz="1700" b="1" dirty="0">
                <a:solidFill>
                  <a:srgbClr val="FFFFFF"/>
                </a:solidFill>
                <a:latin typeface="Cambria" pitchFamily="34" charset="0"/>
                <a:ea typeface="Cambria" pitchFamily="34" charset="-122"/>
                <a:cs typeface="Cambria" pitchFamily="34" charset="-120"/>
              </a:rPr>
              <a:t>Off by default</a:t>
            </a:r>
          </a:p>
          <a:p>
            <a:pPr indent="0" marL="0">
              <a:lnSpc>
                <a:spcPts val="1650"/>
              </a:lnSpc>
              <a:buNone/>
            </a:pPr>
            <a:r>
              <a:rPr lang="en-US" sz="600" dirty="0">
                <a:solidFill>
                  <a:srgbClr val="000000"/>
                </a:solidFill>
                <a:latin typeface="Calibri" pitchFamily="34" charset="0"/>
                <a:ea typeface="Calibri" pitchFamily="34" charset="-122"/>
                <a:cs typeface="Calibri" pitchFamily="34" charset="-120"/>
              </a:rPr>
              <a:t> </a:t>
            </a:r>
          </a:p>
          <a:p>
            <a:pPr indent="0" marL="0">
              <a:lnSpc>
                <a:spcPts val="1650"/>
              </a:lnSpc>
              <a:buNone/>
            </a:pPr>
            <a:r>
              <a:rPr lang="en-US" sz="1200" dirty="0">
                <a:solidFill>
                  <a:srgbClr val="AFC0C9"/>
                </a:solidFill>
                <a:latin typeface="Calibri" pitchFamily="34" charset="0"/>
                <a:ea typeface="Calibri" pitchFamily="34" charset="-122"/>
                <a:cs typeface="Calibri" pitchFamily="34" charset="-120"/>
              </a:rPr>
              <a:t>The fix is on main as the option entropy_fence_scale, unset by default; the old branch is archived. Setting it to 3.0 reproduces the right-hand column exactly.</a:t>
            </a:r>
          </a:p>
          <a:p>
            <a:pPr indent="0" marL="0">
              <a:lnSpc>
                <a:spcPts val="1650"/>
              </a:lnSpc>
              <a:buNone/>
            </a:pPr>
            <a:r>
              <a:rPr lang="en-US" sz="600" dirty="0">
                <a:solidFill>
                  <a:srgbClr val="000000"/>
                </a:solidFill>
                <a:latin typeface="Calibri" pitchFamily="34" charset="0"/>
                <a:ea typeface="Calibri" pitchFamily="34" charset="-122"/>
                <a:cs typeface="Calibri" pitchFamily="34" charset="-120"/>
              </a:rPr>
              <a:t> </a:t>
            </a:r>
          </a:p>
          <a:p>
            <a:pPr indent="0" marL="0">
              <a:lnSpc>
                <a:spcPts val="1650"/>
              </a:lnSpc>
              <a:buNone/>
            </a:pPr>
            <a:r>
              <a:rPr lang="en-US" sz="1200" dirty="0">
                <a:solidFill>
                  <a:srgbClr val="AFC0C9"/>
                </a:solidFill>
                <a:latin typeface="Calibri" pitchFamily="34" charset="0"/>
                <a:ea typeface="Calibri" pitchFamily="34" charset="-122"/>
                <a:cs typeface="Calibri" pitchFamily="34" charset="-120"/>
              </a:rPr>
              <a:t>Turning it on is a judgement about the cost of a missed fabrication against a genuine enumerator sent for review: a deployment decision, not a methodological one.</a:t>
            </a:r>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docs/validation_report.md section 5, and section 7 of the final report.</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6.7</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Scaling to ten thousand interviews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7315200" cy="914400"/>
        </p:xfrm>
        <a:graphic>
          <a:graphicData uri="http://schemas.openxmlformats.org/drawingml/2006/table">
            <a:tbl>
              <a:tblPr/>
              <a:tblGrid>
                <a:gridCol w="2377440"/>
                <a:gridCol w="1371600"/>
                <a:gridCol w="1463040"/>
                <a:gridCol w="1097280"/>
                <a:gridCol w="1005840"/>
              </a:tblGrid>
              <a:tr h="40233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Interviews</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Runtime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n500, SurveyCTO</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56.12 s</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n10000, SurveyCTO</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1,068.87 s</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0.9945</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7" name="Shape 4"/>
          <p:cNvSpPr/>
          <p:nvPr/>
        </p:nvSpPr>
        <p:spPr>
          <a:xfrm>
            <a:off x="7863840" y="1371600"/>
            <a:ext cx="1828800" cy="1572768"/>
          </a:xfrm>
          <a:prstGeom prst="roundRect">
            <a:avLst>
              <a:gd name="adj" fmla="val 2907"/>
            </a:avLst>
          </a:prstGeom>
          <a:solidFill>
            <a:srgbClr val="EEF2F6"/>
          </a:solidFill>
          <a:ln w="12700">
            <a:solidFill>
              <a:srgbClr val="EEF2F6"/>
            </a:solidFill>
            <a:prstDash val="solid"/>
          </a:ln>
        </p:spPr>
        <p:txBody>
          <a:bodyPr/>
          <a:p/>
        </p:txBody>
      </p:sp>
      <p:sp>
        <p:nvSpPr>
          <p:cNvPr id="8" name="Text 5"/>
          <p:cNvSpPr txBox="1"/>
          <p:nvPr/>
        </p:nvSpPr>
        <p:spPr>
          <a:xfrm>
            <a:off x="8010144" y="1517904"/>
            <a:ext cx="1536192" cy="749808"/>
          </a:xfrm>
          <a:prstGeom prst="rect">
            <a:avLst/>
          </a:prstGeom>
          <a:noFill/>
          <a:ln/>
        </p:spPr>
        <p:txBody>
          <a:bodyPr wrap="square" lIns="0" tIns="0" rIns="0" bIns="0" rtlCol="0" anchor="ctr"/>
          <a:lstStyle/>
          <a:p>
            <a:pPr algn="ctr" indent="0" marL="0">
              <a:buNone/>
            </a:pPr>
            <a:r>
              <a:rPr lang="en-US" sz="3400" b="1" dirty="0">
                <a:solidFill>
                  <a:srgbClr val="0F766E"/>
                </a:solidFill>
                <a:latin typeface="Cambria" pitchFamily="34" charset="0"/>
                <a:ea typeface="Cambria" pitchFamily="34" charset="-122"/>
                <a:cs typeface="Cambria" pitchFamily="34" charset="-120"/>
              </a:rPr>
              <a:t>x19.05</a:t>
            </a:r>
            <a:endParaRPr lang="en-US" sz="3400" dirty="0"/>
          </a:p>
        </p:txBody>
      </p:sp>
      <p:sp>
        <p:nvSpPr>
          <p:cNvPr id="9" name="Text 6"/>
          <p:cNvSpPr txBox="1"/>
          <p:nvPr/>
        </p:nvSpPr>
        <p:spPr>
          <a:xfrm>
            <a:off x="8010144" y="2286000"/>
            <a:ext cx="1536192"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runtime, for x20</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the data</a:t>
            </a:r>
            <a:endParaRPr lang="en-US" sz="1150" dirty="0"/>
          </a:p>
        </p:txBody>
      </p:sp>
      <p:sp>
        <p:nvSpPr>
          <p:cNvPr id="10" name="Shape 7"/>
          <p:cNvSpPr/>
          <p:nvPr/>
        </p:nvSpPr>
        <p:spPr>
          <a:xfrm>
            <a:off x="9875520" y="1371600"/>
            <a:ext cx="1755648" cy="1572768"/>
          </a:xfrm>
          <a:prstGeom prst="roundRect">
            <a:avLst>
              <a:gd name="adj" fmla="val 2907"/>
            </a:avLst>
          </a:prstGeom>
          <a:solidFill>
            <a:srgbClr val="EEF2F6"/>
          </a:solidFill>
          <a:ln w="12700">
            <a:solidFill>
              <a:srgbClr val="EEF2F6"/>
            </a:solidFill>
            <a:prstDash val="solid"/>
          </a:ln>
        </p:spPr>
        <p:txBody>
          <a:bodyPr/>
          <a:p/>
        </p:txBody>
      </p:sp>
      <p:sp>
        <p:nvSpPr>
          <p:cNvPr id="11" name="Text 8"/>
          <p:cNvSpPr txBox="1"/>
          <p:nvPr/>
        </p:nvSpPr>
        <p:spPr>
          <a:xfrm>
            <a:off x="10021824" y="1517904"/>
            <a:ext cx="1463040" cy="749808"/>
          </a:xfrm>
          <a:prstGeom prst="rect">
            <a:avLst/>
          </a:prstGeom>
          <a:noFill/>
          <a:ln/>
        </p:spPr>
        <p:txBody>
          <a:bodyPr wrap="square" lIns="0" tIns="0" rIns="0" bIns="0" rtlCol="0" anchor="ctr"/>
          <a:lstStyle/>
          <a:p>
            <a:pPr algn="ctr" indent="0" marL="0">
              <a:buNone/>
            </a:pPr>
            <a:r>
              <a:rPr lang="en-US" sz="3400" b="1" dirty="0">
                <a:solidFill>
                  <a:srgbClr val="0F766E"/>
                </a:solidFill>
                <a:latin typeface="Cambria" pitchFamily="34" charset="0"/>
                <a:ea typeface="Cambria" pitchFamily="34" charset="-122"/>
                <a:cs typeface="Cambria" pitchFamily="34" charset="-120"/>
              </a:rPr>
              <a:t>11</a:t>
            </a:r>
            <a:endParaRPr lang="en-US" sz="3400" dirty="0"/>
          </a:p>
        </p:txBody>
      </p:sp>
      <p:sp>
        <p:nvSpPr>
          <p:cNvPr id="12" name="Text 9"/>
          <p:cNvSpPr txBox="1"/>
          <p:nvPr/>
        </p:nvSpPr>
        <p:spPr>
          <a:xfrm>
            <a:off x="10021824" y="2286000"/>
            <a:ext cx="1463040"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false positives</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in 10,000</a:t>
            </a:r>
            <a:endParaRPr lang="en-US" sz="1150" dirty="0"/>
          </a:p>
        </p:txBody>
      </p:sp>
      <p:sp>
        <p:nvSpPr>
          <p:cNvPr id="13" name="Text 10"/>
          <p:cNvSpPr txBox="1"/>
          <p:nvPr/>
        </p:nvSpPr>
        <p:spPr>
          <a:xfrm>
            <a:off x="566928" y="2834640"/>
            <a:ext cx="7315200" cy="1005840"/>
          </a:xfrm>
          <a:prstGeom prst="rect">
            <a:avLst/>
          </a:prstGeom>
          <a:noFill/>
          <a:ln/>
        </p:spPr>
        <p:txBody>
          <a:bodyPr wrap="square" lIns="0" tIns="0" rIns="0" bIns="0" rtlCol="0" anchor="ctr"/>
          <a:lstStyle/>
          <a:p>
            <a:pPr indent="0" marL="0">
              <a:lnSpc>
                <a:spcPts val="1750"/>
              </a:lnSpc>
              <a:buNone/>
            </a:pPr>
            <a:r>
              <a:rPr lang="en-US" sz="1250" b="1" dirty="0">
                <a:solidFill>
                  <a:srgbClr val="1F2933"/>
                </a:solidFill>
                <a:latin typeface="Calibri" pitchFamily="34" charset="0"/>
                <a:ea typeface="Calibri" pitchFamily="34" charset="-122"/>
                <a:cs typeface="Calibri" pitchFamily="34" charset="-120"/>
              </a:rPr>
              <a:t>Near-linear, as the design targets. </a:t>
            </a:r>
            <a:pPr indent="0" marL="0">
              <a:lnSpc>
                <a:spcPts val="1750"/>
              </a:lnSpc>
              <a:buNone/>
            </a:pPr>
            <a:r>
              <a:rPr lang="en-US" sz="1250" dirty="0">
                <a:solidFill>
                  <a:srgbClr val="1F2933"/>
                </a:solidFill>
                <a:latin typeface="Calibri" pitchFamily="34" charset="0"/>
                <a:ea typeface="Calibri" pitchFamily="34" charset="-122"/>
                <a:cs typeface="Calibri" pitchFamily="34" charset="-120"/>
              </a:rPr>
              <a:t>Recall holds at 1.0000 and precision moves only from 1.0000 to 0.9945. Memory was not a constraint: files are processed independently and only interview-level summaries are held for the batch stage.</a:t>
            </a:r>
            <a:endParaRPr lang="en-US" sz="1250" dirty="0"/>
          </a:p>
        </p:txBody>
      </p:sp>
      <p:sp>
        <p:nvSpPr>
          <p:cNvPr id="14" name="Shape 11"/>
          <p:cNvSpPr/>
          <p:nvPr/>
        </p:nvSpPr>
        <p:spPr>
          <a:xfrm>
            <a:off x="566928" y="3931920"/>
            <a:ext cx="11055096" cy="1051560"/>
          </a:xfrm>
          <a:prstGeom prst="roundRect">
            <a:avLst>
              <a:gd name="adj" fmla="val 4348"/>
            </a:avLst>
          </a:prstGeom>
          <a:solidFill>
            <a:srgbClr val="EEF2F6"/>
          </a:solidFill>
          <a:ln w="12700">
            <a:solidFill>
              <a:srgbClr val="EEF2F6"/>
            </a:solidFill>
            <a:prstDash val="solid"/>
          </a:ln>
        </p:spPr>
        <p:txBody>
          <a:bodyPr/>
          <a:p/>
        </p:txBody>
      </p:sp>
      <p:sp>
        <p:nvSpPr>
          <p:cNvPr id="15" name="Text 12"/>
          <p:cNvSpPr txBox="1"/>
          <p:nvPr/>
        </p:nvSpPr>
        <p:spPr>
          <a:xfrm>
            <a:off x="786384" y="4059936"/>
            <a:ext cx="10597896" cy="822960"/>
          </a:xfrm>
          <a:prstGeom prst="rect">
            <a:avLst/>
          </a:prstGeom>
          <a:noFill/>
          <a:ln/>
        </p:spPr>
        <p:txBody>
          <a:bodyPr wrap="square" lIns="0" tIns="0" rIns="0" bIns="0" rtlCol="0" anchor="ctr"/>
          <a:lstStyle/>
          <a:p>
            <a:pPr indent="0" marL="0">
              <a:lnSpc>
                <a:spcPts val="1600"/>
              </a:lnSpc>
              <a:buNone/>
            </a:pPr>
            <a:r>
              <a:rPr lang="en-US" sz="1150" b="1" dirty="0">
                <a:solidFill>
                  <a:srgbClr val="0F766E"/>
                </a:solidFill>
                <a:latin typeface="Calibri" pitchFamily="34" charset="0"/>
                <a:ea typeface="Calibri" pitchFamily="34" charset="-122"/>
                <a:cs typeface="Calibri" pitchFamily="34" charset="-120"/>
              </a:rPr>
              <a:t>Which run these times come from.  </a:t>
            </a:r>
            <a:pPr indent="0" marL="0">
              <a:lnSpc>
                <a:spcPts val="1600"/>
              </a:lnSpc>
              <a:buNone/>
            </a:pPr>
            <a:r>
              <a:rPr lang="en-US" sz="1150" dirty="0">
                <a:solidFill>
                  <a:srgbClr val="1F2933"/>
                </a:solidFill>
                <a:latin typeface="Calibri" pitchFamily="34" charset="0"/>
                <a:ea typeface="Calibri" pitchFamily="34" charset="-122"/>
                <a:cs typeface="Calibri" pitchFamily="34" charset="-120"/>
              </a:rPr>
              <a:t>They are the strict examiner audit, the run that carries the scale check as an explicit pass or fail condition. A separate aggregate timing file records 57.54 s and 1,037.74 s from a different run, a factor of 18.04. These are two measurements, not one reported twice, and both place the runtime factor below the twentyfold growth in input size.</a:t>
            </a:r>
            <a:endParaRPr lang="en-US" sz="1150" dirty="0"/>
          </a:p>
        </p:txBody>
      </p:sp>
      <p:sp>
        <p:nvSpPr>
          <p:cNvPr id="16" name="Text 13"/>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output/examiner_audit/strict_examiner_audit_report.md, keys n500_runtime_seconds and n10000_runtime_seconds.</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5 AND APPENDIX D</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How the numbers are verified</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49</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3566160" cy="2651760"/>
          </a:xfrm>
          <a:prstGeom prst="roundRect">
            <a:avLst>
              <a:gd name="adj" fmla="val 1724"/>
            </a:avLst>
          </a:prstGeom>
          <a:solidFill>
            <a:srgbClr val="EEF2F6"/>
          </a:solidFill>
          <a:ln w="12700">
            <a:solidFill>
              <a:srgbClr val="EEF2F6"/>
            </a:solidFill>
            <a:prstDash val="solid"/>
          </a:ln>
        </p:spPr>
        <p:txBody>
          <a:bodyPr/>
          <a:p/>
        </p:txBody>
      </p:sp>
      <p:sp>
        <p:nvSpPr>
          <p:cNvPr id="7" name="Text 5"/>
          <p:cNvSpPr txBox="1"/>
          <p:nvPr/>
        </p:nvSpPr>
        <p:spPr>
          <a:xfrm>
            <a:off x="786384" y="1554480"/>
            <a:ext cx="3127248" cy="603504"/>
          </a:xfrm>
          <a:prstGeom prst="rect">
            <a:avLst/>
          </a:prstGeom>
          <a:noFill/>
          <a:ln/>
        </p:spPr>
        <p:txBody>
          <a:bodyPr wrap="square" lIns="0" tIns="0" rIns="0" bIns="0" rtlCol="0" anchor="ctr"/>
          <a:lstStyle/>
          <a:p>
            <a:pPr indent="0" marL="0">
              <a:buNone/>
            </a:pPr>
            <a:r>
              <a:rPr lang="en-US" sz="3000" b="1" dirty="0">
                <a:solidFill>
                  <a:srgbClr val="0F766E"/>
                </a:solidFill>
                <a:latin typeface="Cambria" pitchFamily="34" charset="0"/>
                <a:ea typeface="Cambria" pitchFamily="34" charset="-122"/>
                <a:cs typeface="Cambria" pitchFamily="34" charset="-120"/>
              </a:rPr>
              <a:t>44</a:t>
            </a:r>
          </a:p>
        </p:txBody>
      </p:sp>
      <p:sp>
        <p:nvSpPr>
          <p:cNvPr id="8" name="Text 6"/>
          <p:cNvSpPr txBox="1"/>
          <p:nvPr/>
        </p:nvSpPr>
        <p:spPr>
          <a:xfrm>
            <a:off x="786384" y="2157984"/>
            <a:ext cx="312724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automated tests</a:t>
            </a:r>
            <a:endParaRPr lang="en-US" sz="1250" dirty="0"/>
          </a:p>
        </p:txBody>
      </p:sp>
      <p:sp>
        <p:nvSpPr>
          <p:cNvPr id="9" name="Text 7"/>
          <p:cNvSpPr txBox="1"/>
          <p:nvPr/>
        </p:nvSpPr>
        <p:spPr>
          <a:xfrm>
            <a:off x="786384" y="2487168"/>
            <a:ext cx="3127248" cy="13716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Parsers, each extractor, the detector, config validation, the entropy fence option and the end-to-end pipeline. All pass with pandas 3.0.1 and 2.3.2.</a:t>
            </a:r>
          </a:p>
        </p:txBody>
      </p:sp>
      <p:sp>
        <p:nvSpPr>
          <p:cNvPr id="10" name="Shape 8"/>
          <p:cNvSpPr/>
          <p:nvPr/>
        </p:nvSpPr>
        <p:spPr>
          <a:xfrm>
            <a:off x="4306824" y="1371600"/>
            <a:ext cx="3566160" cy="2651760"/>
          </a:xfrm>
          <a:prstGeom prst="roundRect">
            <a:avLst>
              <a:gd name="adj" fmla="val 1724"/>
            </a:avLst>
          </a:prstGeom>
          <a:solidFill>
            <a:srgbClr val="EEF2F6"/>
          </a:solidFill>
          <a:ln w="12700">
            <a:solidFill>
              <a:srgbClr val="EEF2F6"/>
            </a:solidFill>
            <a:prstDash val="solid"/>
          </a:ln>
        </p:spPr>
        <p:txBody>
          <a:bodyPr/>
          <a:p/>
        </p:txBody>
      </p:sp>
      <p:sp>
        <p:nvSpPr>
          <p:cNvPr id="11" name="Text 9"/>
          <p:cNvSpPr txBox="1"/>
          <p:nvPr/>
        </p:nvSpPr>
        <p:spPr>
          <a:xfrm>
            <a:off x="4526280" y="1554480"/>
            <a:ext cx="3127248" cy="603504"/>
          </a:xfrm>
          <a:prstGeom prst="rect">
            <a:avLst/>
          </a:prstGeom>
          <a:noFill/>
          <a:ln/>
        </p:spPr>
        <p:txBody>
          <a:bodyPr wrap="square" lIns="0" tIns="0" rIns="0" bIns="0" rtlCol="0" anchor="ctr"/>
          <a:lstStyle/>
          <a:p>
            <a:pPr indent="0" marL="0">
              <a:buNone/>
            </a:pPr>
            <a:r>
              <a:rPr lang="en-US" sz="3000" b="1" dirty="0">
                <a:solidFill>
                  <a:srgbClr val="0F766E"/>
                </a:solidFill>
                <a:latin typeface="Cambria" pitchFamily="34" charset="0"/>
                <a:ea typeface="Cambria" pitchFamily="34" charset="-122"/>
                <a:cs typeface="Cambria" pitchFamily="34" charset="-120"/>
              </a:rPr>
              <a:t>16 / 16</a:t>
            </a:r>
            <a:endParaRPr lang="en-US" sz="3000" dirty="0"/>
          </a:p>
        </p:txBody>
      </p:sp>
      <p:sp>
        <p:nvSpPr>
          <p:cNvPr id="12" name="Text 10"/>
          <p:cNvSpPr txBox="1"/>
          <p:nvPr/>
        </p:nvSpPr>
        <p:spPr>
          <a:xfrm>
            <a:off x="4526280" y="2157984"/>
            <a:ext cx="312724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strict audit checks</a:t>
            </a:r>
            <a:endParaRPr lang="en-US" sz="1250" dirty="0"/>
          </a:p>
        </p:txBody>
      </p:sp>
      <p:sp>
        <p:nvSpPr>
          <p:cNvPr id="13" name="Text 11"/>
          <p:cNvSpPr txBox="1"/>
          <p:nvPr/>
        </p:nvSpPr>
        <p:spPr>
          <a:xfrm>
            <a:off x="4526280" y="2487168"/>
            <a:ext cx="3127248" cy="13716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Raw-format consistency, normalisation, features recomputed by hand from the raw logs, score reconstruction, baselines, cross-format parity and scale. Every check passes.</a:t>
            </a:r>
            <a:endParaRPr lang="en-US" sz="1150" dirty="0"/>
          </a:p>
        </p:txBody>
      </p:sp>
      <p:sp>
        <p:nvSpPr>
          <p:cNvPr id="14" name="Shape 12"/>
          <p:cNvSpPr/>
          <p:nvPr/>
        </p:nvSpPr>
        <p:spPr>
          <a:xfrm>
            <a:off x="8046720" y="1371600"/>
            <a:ext cx="3566160" cy="2651760"/>
          </a:xfrm>
          <a:prstGeom prst="roundRect">
            <a:avLst>
              <a:gd name="adj" fmla="val 1724"/>
            </a:avLst>
          </a:prstGeom>
          <a:solidFill>
            <a:srgbClr val="EEF2F6"/>
          </a:solidFill>
          <a:ln w="12700">
            <a:solidFill>
              <a:srgbClr val="EEF2F6"/>
            </a:solidFill>
            <a:prstDash val="solid"/>
          </a:ln>
        </p:spPr>
        <p:txBody>
          <a:bodyPr/>
          <a:p/>
        </p:txBody>
      </p:sp>
      <p:sp>
        <p:nvSpPr>
          <p:cNvPr id="15" name="Text 13"/>
          <p:cNvSpPr txBox="1"/>
          <p:nvPr/>
        </p:nvSpPr>
        <p:spPr>
          <a:xfrm>
            <a:off x="8266176" y="1554480"/>
            <a:ext cx="3127248" cy="603504"/>
          </a:xfrm>
          <a:prstGeom prst="rect">
            <a:avLst/>
          </a:prstGeom>
          <a:noFill/>
          <a:ln/>
        </p:spPr>
        <p:txBody>
          <a:bodyPr wrap="square" lIns="0" tIns="0" rIns="0" bIns="0" rtlCol="0" anchor="ctr"/>
          <a:lstStyle/>
          <a:p>
            <a:pPr indent="0" marL="0">
              <a:buNone/>
            </a:pPr>
            <a:r>
              <a:rPr lang="en-US" sz="3000" b="1" dirty="0">
                <a:solidFill>
                  <a:srgbClr val="B45309"/>
                </a:solidFill>
                <a:latin typeface="Cambria" pitchFamily="34" charset="0"/>
                <a:ea typeface="Cambria" pitchFamily="34" charset="-122"/>
                <a:cs typeface="Cambria" pitchFamily="34" charset="-120"/>
              </a:rPr>
              <a:t>5</a:t>
            </a:r>
            <a:endParaRPr lang="en-US" sz="3000" dirty="0"/>
          </a:p>
        </p:txBody>
      </p:sp>
      <p:sp>
        <p:nvSpPr>
          <p:cNvPr id="16" name="Text 14"/>
          <p:cNvSpPr txBox="1"/>
          <p:nvPr/>
        </p:nvSpPr>
        <p:spPr>
          <a:xfrm>
            <a:off x="8266176" y="2157984"/>
            <a:ext cx="312724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defects found and fixed</a:t>
            </a:r>
            <a:endParaRPr lang="en-US" sz="1250" dirty="0"/>
          </a:p>
        </p:txBody>
      </p:sp>
      <p:sp>
        <p:nvSpPr>
          <p:cNvPr id="17" name="Text 15"/>
          <p:cNvSpPr txBox="1"/>
          <p:nvPr/>
        </p:nvSpPr>
        <p:spPr>
          <a:xfrm>
            <a:off x="8266176" y="2487168"/>
            <a:ext cx="3127248" cy="13716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Including a pandas 3 timestamp resolution fault that silently produced values a thousand times too small, and a response time computed as a span rather than a sum. All five are covered by tests.</a:t>
            </a:r>
            <a:endParaRPr lang="en-US" sz="1150" dirty="0"/>
          </a:p>
        </p:txBody>
      </p:sp>
      <p:sp>
        <p:nvSpPr>
          <p:cNvPr id="18" name="Text 16"/>
          <p:cNvSpPr txBox="1"/>
          <p:nvPr/>
        </p:nvSpPr>
        <p:spPr>
          <a:xfrm>
            <a:off x="566928" y="4251960"/>
            <a:ext cx="11055096" cy="640080"/>
          </a:xfrm>
          <a:prstGeom prst="rect">
            <a:avLst/>
          </a:prstGeom>
          <a:noFill/>
          <a:ln/>
        </p:spPr>
        <p:txBody>
          <a:bodyPr wrap="square" lIns="0" tIns="0" rIns="0" bIns="0" rtlCol="0" anchor="ctr"/>
          <a:lstStyle/>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Every quantitative claim in the report resolves to a file under output/, and Appendix D gives the command that regenerates each one. The whole robustness round rebuilds from recorded seeds with a single command.</a:t>
            </a:r>
            <a:endParaRPr lang="en-US" sz="1250" dirty="0"/>
          </a:p>
        </p:txBody>
      </p:sp>
      <p:sp>
        <p:nvSpPr>
          <p:cNvPr id="19" name="Shape 17"/>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0" name="Shape 18"/>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1" name="Text 19"/>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Final state: tag v-final-release. An independent run on a different Python and pandas reproduced the robustness round exactly.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50</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6  ·  TRUST AND LIMITS</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How to check any number yourself</a:t>
            </a:r>
          </a:p>
        </p:txBody>
      </p:sp>
      <p:graphicFrame>
        <p:nvGraphicFramePr>
          <p:cNvPr id="6" name="Table 5"/>
          <p:cNvGraphicFramePr>
            <a:graphicFrameLocks noGrp="1"/>
          </p:cNvGraphicFramePr>
          <p:nvPr/>
        </p:nvGraphicFramePr>
        <p:xfrm>
          <a:off x="566928" y="1325880"/>
          <a:ext cx="5212080" cy="2304288"/>
        </p:xfrm>
        <a:graphic>
          <a:graphicData uri="http://schemas.openxmlformats.org/drawingml/2006/table">
            <a:tbl>
              <a:tblPr firstRow="0" bandRow="0"/>
              <a:tblGrid>
                <a:gridCol w="2194560"/>
                <a:gridCol w="640080"/>
                <a:gridCol w="2377440"/>
              </a:tblGrid>
              <a:tr h="384048">
                <a:tc>
                  <a:txBody>
                    <a:bodyPr wrap="square"/>
                    <a:lstStyle/>
                    <a:p>
                      <a:r>
                        <a:rPr sz="1150" b="1" i="0">
                          <a:solidFill>
                            <a:srgbClr val="FFFFFF"/>
                          </a:solidFill>
                          <a:latin typeface="Calibri"/>
                        </a:rPr>
                        <a:t>Test file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Tests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Covers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84048">
                <a:tc>
                  <a:txBody>
                    <a:bodyPr wrap="square"/>
                    <a:lstStyle/>
                    <a:p>
                      <a:r>
                        <a:rPr sz="950" b="0" i="0">
                          <a:solidFill>
                            <a:srgbClr val="1F2933"/>
                          </a:solidFill>
                          <a:latin typeface="Courier New"/>
                        </a:rPr>
                        <a:t>test_end_to_end.py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12</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whole pipeline on generated data, including the precision and recall targets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test_features.py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each feature family, epoch conversion, pace thirds, relative duration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test_validation_workflows.py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9</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effect sizes, score contract, fence multiplier, entropy option, configs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test_parsers.py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both formats, ISO timestamps, native ODK log, one history parsed identically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test_pipeline.py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7</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aggregation, granular outputs, automatic format detection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graphicFrame>
        <p:nvGraphicFramePr>
          <p:cNvPr id="7" name="Table 6"/>
          <p:cNvGraphicFramePr>
            <a:graphicFrameLocks noGrp="1"/>
          </p:cNvGraphicFramePr>
          <p:nvPr/>
        </p:nvGraphicFramePr>
        <p:xfrm>
          <a:off x="6035040" y="1325880"/>
          <a:ext cx="5586983" cy="2304288"/>
        </p:xfrm>
        <a:graphic>
          <a:graphicData uri="http://schemas.openxmlformats.org/drawingml/2006/table">
            <a:tbl>
              <a:tblPr firstRow="0" bandRow="0"/>
              <a:tblGrid>
                <a:gridCol w="2198157"/>
                <a:gridCol w="3388826"/>
              </a:tblGrid>
              <a:tr h="384048">
                <a:tc>
                  <a:txBody>
                    <a:bodyPr wrap="square"/>
                    <a:lstStyle/>
                    <a:p>
                      <a:r>
                        <a:rPr sz="1150" b="1" i="0">
                          <a:solidFill>
                            <a:srgbClr val="FFFFFF"/>
                          </a:solidFill>
                          <a:latin typeface="Calibri"/>
                        </a:rPr>
                        <a:t>Tag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What it marks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84048">
                <a:tc>
                  <a:txBody>
                    <a:bodyPr wrap="square"/>
                    <a:lstStyle/>
                    <a:p>
                      <a:r>
                        <a:rPr sz="950" b="0" i="0">
                          <a:solidFill>
                            <a:srgbClr val="1F2933"/>
                          </a:solidFill>
                          <a:latin typeface="Courier New"/>
                        </a:rPr>
                        <a:t>v-validation-complete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the validation milestone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v-submission-package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the first submission package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v-resubmission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the version the supervisor reproduced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v-final-release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the final state; Appendix D runs clean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950" b="0" i="0">
                          <a:solidFill>
                            <a:srgbClr val="1F2933"/>
                          </a:solidFill>
                          <a:latin typeface="Courier New"/>
                        </a:rPr>
                        <a:t>archive/entropy-fence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050" b="0" i="0">
                          <a:solidFill>
                            <a:srgbClr val="1F2933"/>
                          </a:solidFill>
                          <a:latin typeface="Calibri"/>
                        </a:rPr>
                        <a:t>the retired branch's history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
        <p:nvSpPr>
          <p:cNvPr id="8" name="Rectangle 7"/>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An independent run on a different Python and pandas reproduced the robustness round exactly: 44 tests, clean pin file.</a:t>
            </a:r>
          </a:p>
        </p:txBody>
      </p:sp>
      <p:sp>
        <p:nvSpPr>
          <p:cNvPr id="11" name="TextBox 10"/>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Report Appendix D and docs/evidence_index.md; tags on github.com/Samuelkaoma-eng/SKACE-TIME-DATA.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3.6 AND APPENDIX A</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Ethics, and the disclosure that goes with it</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51</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1371600"/>
            <a:ext cx="3566160" cy="329184"/>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Data and privacy</a:t>
            </a:r>
            <a:endParaRPr lang="en-US" sz="1500" dirty="0"/>
          </a:p>
        </p:txBody>
      </p:sp>
      <p:sp>
        <p:nvSpPr>
          <p:cNvPr id="7" name="Text 5"/>
          <p:cNvSpPr txBox="1"/>
          <p:nvPr/>
        </p:nvSpPr>
        <p:spPr>
          <a:xfrm>
            <a:off x="566928" y="1792224"/>
            <a:ext cx="3566160" cy="274320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All evaluation data is synthetic, generated from recorded seeds. No respondent data of any kind was processed.</a:t>
            </a:r>
            <a:endParaRPr lang="en-US" sz="1150" dirty="0"/>
          </a:p>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Paradata records timing and navigation, not answers or identities.</a:t>
            </a:r>
            <a:endParaRPr lang="en-US" sz="1150" dirty="0"/>
          </a:p>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No data belonging to any third party was uploaded to any external tool at any point.</a:t>
            </a:r>
            <a:endParaRPr lang="en-US" sz="1150" dirty="0"/>
          </a:p>
        </p:txBody>
      </p:sp>
      <p:sp>
        <p:nvSpPr>
          <p:cNvPr id="8" name="Text 6"/>
          <p:cNvSpPr txBox="1"/>
          <p:nvPr/>
        </p:nvSpPr>
        <p:spPr>
          <a:xfrm>
            <a:off x="4306824" y="1371600"/>
            <a:ext cx="3566160" cy="329184"/>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Responsible use</a:t>
            </a:r>
            <a:endParaRPr lang="en-US" sz="1500" dirty="0"/>
          </a:p>
        </p:txBody>
      </p:sp>
      <p:sp>
        <p:nvSpPr>
          <p:cNvPr id="9" name="Text 7"/>
          <p:cNvSpPr txBox="1"/>
          <p:nvPr/>
        </p:nvSpPr>
        <p:spPr>
          <a:xfrm>
            <a:off x="4306824" y="1792224"/>
            <a:ext cx="3566160" cy="274320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A flag is an accusation about a named enumerator's work, so it must be explainable and it must be reviewable.</a:t>
            </a:r>
            <a:endParaRPr lang="en-US" sz="1150" dirty="0"/>
          </a:p>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Flags are signals for human review, never proof, and never a sole basis for sanction.</a:t>
            </a:r>
            <a:endParaRPr lang="en-US" sz="1150" dirty="0"/>
          </a:p>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The severity bands separate an interview that warrants a question from one that warrants investigation.</a:t>
            </a:r>
            <a:endParaRPr lang="en-US" sz="1150" dirty="0"/>
          </a:p>
        </p:txBody>
      </p:sp>
      <p:sp>
        <p:nvSpPr>
          <p:cNvPr id="10" name="Text 8"/>
          <p:cNvSpPr txBox="1"/>
          <p:nvPr/>
        </p:nvSpPr>
        <p:spPr>
          <a:xfrm>
            <a:off x="8046720" y="1371600"/>
            <a:ext cx="3566160" cy="329184"/>
          </a:xfrm>
          <a:prstGeom prst="rect">
            <a:avLst/>
          </a:prstGeom>
          <a:noFill/>
          <a:ln/>
        </p:spPr>
        <p:txBody>
          <a:bodyPr wrap="square" lIns="0" tIns="0" rIns="0" bIns="0" rtlCol="0" anchor="ctr"/>
          <a:lstStyle/>
          <a:p>
            <a:pPr indent="0" marL="0">
              <a:buNone/>
            </a:pPr>
            <a:r>
              <a:rPr lang="en-US" sz="1500" b="1" dirty="0">
                <a:solidFill>
                  <a:srgbClr val="7C3AED"/>
                </a:solidFill>
                <a:latin typeface="Cambria" pitchFamily="34" charset="0"/>
                <a:ea typeface="Cambria" pitchFamily="34" charset="-122"/>
                <a:cs typeface="Cambria" pitchFamily="34" charset="-120"/>
              </a:rPr>
              <a:t>AI usage disclosure</a:t>
            </a:r>
            <a:endParaRPr lang="en-US" sz="1500" dirty="0"/>
          </a:p>
        </p:txBody>
      </p:sp>
      <p:sp>
        <p:nvSpPr>
          <p:cNvPr id="11" name="Text 9"/>
          <p:cNvSpPr txBox="1"/>
          <p:nvPr/>
        </p:nvSpPr>
        <p:spPr>
          <a:xfrm>
            <a:off x="8046720" y="1792224"/>
            <a:ext cx="3566160" cy="274320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Appendix A records every episode of tool use: what was asked, what was provided, and whether the output was accepted, modified or rejected.</a:t>
            </a:r>
            <a:endParaRPr lang="en-US" sz="1150" dirty="0"/>
          </a:p>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Tool versions where recoverable, and stated as unrecoverable where not.</a:t>
            </a:r>
            <a:endParaRPr lang="en-US" sz="1150" dirty="0"/>
          </a:p>
          <a:p>
            <a:pPr marL="342900" indent="-342900">
              <a:lnSpc>
                <a:spcPts val="1600"/>
              </a:lnSpc>
              <a:spcAft>
                <a:spcPts val="800"/>
              </a:spcAft>
              <a:buSzPct val="100000"/>
              <a:buChar char="•"/>
            </a:pPr>
            <a:r>
              <a:rPr lang="en-US" sz="1150" dirty="0">
                <a:solidFill>
                  <a:srgbClr val="1F2933"/>
                </a:solidFill>
                <a:latin typeface="Calibri" pitchFamily="34" charset="0"/>
                <a:ea typeface="Calibri" pitchFamily="34" charset="-122"/>
                <a:cs typeface="Calibri" pitchFamily="34" charset="-120"/>
              </a:rPr>
              <a:t>No code-level suggestion entered the work without a test or recorded output check behind it.</a:t>
            </a:r>
            <a:endParaRPr lang="en-US" sz="1150" dirty="0"/>
          </a:p>
        </p:txBody>
      </p:sp>
      <p:sp>
        <p:nvSpPr>
          <p:cNvPr id="12" name="Shape 10"/>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3" name="Shape 11"/>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4" name="Text 12"/>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The tool flags interviews for review. It must never be the sole basis for action against a person.</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8</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What this does not establish</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52</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82296" cy="868680"/>
          </a:xfrm>
          <a:prstGeom prst="roundRect">
            <a:avLst>
              <a:gd name="adj" fmla="val 33333"/>
            </a:avLst>
          </a:prstGeom>
          <a:solidFill>
            <a:srgbClr val="B45309"/>
          </a:solidFill>
          <a:ln w="12700">
            <a:solidFill>
              <a:srgbClr val="B45309"/>
            </a:solidFill>
            <a:prstDash val="solid"/>
          </a:ln>
        </p:spPr>
        <p:txBody>
          <a:bodyPr/>
          <a:p/>
        </p:txBody>
      </p:sp>
      <p:sp>
        <p:nvSpPr>
          <p:cNvPr id="7" name="Text 5"/>
          <p:cNvSpPr txBox="1"/>
          <p:nvPr/>
        </p:nvSpPr>
        <p:spPr>
          <a:xfrm>
            <a:off x="841248" y="1371600"/>
            <a:ext cx="3200400" cy="822960"/>
          </a:xfrm>
          <a:prstGeom prst="rect">
            <a:avLst/>
          </a:prstGeom>
          <a:noFill/>
          <a:ln/>
        </p:spPr>
        <p:txBody>
          <a:bodyPr wrap="square" lIns="0" tIns="0" rIns="0" bIns="0" rtlCol="0" anchor="ctr"/>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Evaluation is synthetic throughout</a:t>
            </a:r>
            <a:endParaRPr lang="en-US" sz="1300" dirty="0"/>
          </a:p>
        </p:txBody>
      </p:sp>
      <p:sp>
        <p:nvSpPr>
          <p:cNvPr id="8" name="Text 6"/>
          <p:cNvSpPr txBox="1"/>
          <p:nvPr/>
        </p:nvSpPr>
        <p:spPr>
          <a:xfrm>
            <a:off x="4178808" y="1371600"/>
            <a:ext cx="7351776" cy="9144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Results estimate an upper bound on field performance. Eight of the forty features are constant across the corpus, so the evaluation is silent on them rather than negative. It measures the detector against a documented threat model, not the full space of real behaviour.</a:t>
            </a:r>
            <a:endParaRPr lang="en-US" sz="1150" dirty="0"/>
          </a:p>
        </p:txBody>
      </p:sp>
      <p:sp>
        <p:nvSpPr>
          <p:cNvPr id="9" name="Shape 7"/>
          <p:cNvSpPr/>
          <p:nvPr/>
        </p:nvSpPr>
        <p:spPr>
          <a:xfrm>
            <a:off x="566928" y="2386584"/>
            <a:ext cx="82296" cy="868680"/>
          </a:xfrm>
          <a:prstGeom prst="roundRect">
            <a:avLst>
              <a:gd name="adj" fmla="val 33333"/>
            </a:avLst>
          </a:prstGeom>
          <a:solidFill>
            <a:srgbClr val="B45309"/>
          </a:solidFill>
          <a:ln w="12700">
            <a:solidFill>
              <a:srgbClr val="B45309"/>
            </a:solidFill>
            <a:prstDash val="solid"/>
          </a:ln>
        </p:spPr>
        <p:txBody>
          <a:bodyPr/>
          <a:p/>
        </p:txBody>
      </p:sp>
      <p:sp>
        <p:nvSpPr>
          <p:cNvPr id="10" name="Text 8"/>
          <p:cNvSpPr txBox="1"/>
          <p:nvPr/>
        </p:nvSpPr>
        <p:spPr>
          <a:xfrm>
            <a:off x="841248" y="2386584"/>
            <a:ext cx="3200400" cy="822960"/>
          </a:xfrm>
          <a:prstGeom prst="rect">
            <a:avLst/>
          </a:prstGeom>
          <a:noFill/>
          <a:ln/>
        </p:spPr>
        <p:txBody>
          <a:bodyPr wrap="square" lIns="0" tIns="0" rIns="0" bIns="0" rtlCol="0" anchor="ctr"/>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Detection is univariate</a:t>
            </a:r>
            <a:endParaRPr lang="en-US" sz="1300" dirty="0"/>
          </a:p>
        </p:txBody>
      </p:sp>
      <p:sp>
        <p:nvSpPr>
          <p:cNvPr id="11" name="Text 9"/>
          <p:cNvSpPr txBox="1"/>
          <p:nvPr/>
        </p:nvSpPr>
        <p:spPr>
          <a:xfrm>
            <a:off x="4178808" y="2386584"/>
            <a:ext cx="7351776" cy="9144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Anomalies visible only in joint feature patterns will evade both fences and rules. The fabrication shortfall is not an instance of this, since one feature separates the missed cases cleanly, but the limit is real.</a:t>
            </a:r>
            <a:endParaRPr lang="en-US" sz="1150" dirty="0"/>
          </a:p>
        </p:txBody>
      </p:sp>
      <p:sp>
        <p:nvSpPr>
          <p:cNvPr id="12" name="Shape 10"/>
          <p:cNvSpPr/>
          <p:nvPr/>
        </p:nvSpPr>
        <p:spPr>
          <a:xfrm>
            <a:off x="566928" y="3401568"/>
            <a:ext cx="82296" cy="868680"/>
          </a:xfrm>
          <a:prstGeom prst="roundRect">
            <a:avLst>
              <a:gd name="adj" fmla="val 33333"/>
            </a:avLst>
          </a:prstGeom>
          <a:solidFill>
            <a:srgbClr val="B45309"/>
          </a:solidFill>
          <a:ln w="12700">
            <a:solidFill>
              <a:srgbClr val="B45309"/>
            </a:solidFill>
            <a:prstDash val="solid"/>
          </a:ln>
        </p:spPr>
        <p:txBody>
          <a:bodyPr/>
          <a:p/>
        </p:txBody>
      </p:sp>
      <p:sp>
        <p:nvSpPr>
          <p:cNvPr id="13" name="Text 11"/>
          <p:cNvSpPr txBox="1"/>
          <p:nvPr/>
        </p:nvSpPr>
        <p:spPr>
          <a:xfrm>
            <a:off x="841248" y="3401568"/>
            <a:ext cx="3200400" cy="822960"/>
          </a:xfrm>
          <a:prstGeom prst="rect">
            <a:avLst/>
          </a:prstGeom>
          <a:noFill/>
          <a:ln/>
        </p:spPr>
        <p:txBody>
          <a:bodyPr wrap="square" lIns="0" tIns="0" rIns="0" bIns="0" rtlCol="0" anchor="ctr"/>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Anomalies must be a minority of the batch</a:t>
            </a:r>
          </a:p>
        </p:txBody>
      </p:sp>
      <p:sp>
        <p:nvSpPr>
          <p:cNvPr id="14" name="Text 12"/>
          <p:cNvSpPr txBox="1"/>
          <p:nvPr/>
        </p:nvSpPr>
        <p:spPr>
          <a:xfrm>
            <a:off x="4178808" y="3401568"/>
            <a:ext cx="7351776" cy="9144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Thresholds are estimated from the batch they judge. Both criteria hold up to 50 percent prevalence; beyond it recall under stress falls to 0.44. One enumerator's fabricated caseload, analysed alone, is largely undetectable, so batches must be pooled across enumerators.</a:t>
            </a:r>
          </a:p>
        </p:txBody>
      </p:sp>
      <p:sp>
        <p:nvSpPr>
          <p:cNvPr id="15" name="Shape 13"/>
          <p:cNvSpPr/>
          <p:nvPr/>
        </p:nvSpPr>
        <p:spPr>
          <a:xfrm>
            <a:off x="566928" y="4416552"/>
            <a:ext cx="82296" cy="868680"/>
          </a:xfrm>
          <a:prstGeom prst="roundRect">
            <a:avLst>
              <a:gd name="adj" fmla="val 33333"/>
            </a:avLst>
          </a:prstGeom>
          <a:solidFill>
            <a:srgbClr val="B45309"/>
          </a:solidFill>
          <a:ln w="12700">
            <a:solidFill>
              <a:srgbClr val="B45309"/>
            </a:solidFill>
            <a:prstDash val="solid"/>
          </a:ln>
        </p:spPr>
        <p:txBody>
          <a:bodyPr/>
          <a:p/>
        </p:txBody>
      </p:sp>
      <p:sp>
        <p:nvSpPr>
          <p:cNvPr id="16" name="Text 14"/>
          <p:cNvSpPr txBox="1"/>
          <p:nvPr/>
        </p:nvSpPr>
        <p:spPr>
          <a:xfrm>
            <a:off x="841248" y="4416552"/>
            <a:ext cx="3200400" cy="822960"/>
          </a:xfrm>
          <a:prstGeom prst="rect">
            <a:avLst/>
          </a:prstGeom>
          <a:noFill/>
          <a:ln/>
        </p:spPr>
        <p:txBody>
          <a:bodyPr wrap="square" lIns="0" tIns="0" rIns="0" bIns="0" rtlCol="0" anchor="ctr"/>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Thresholds and external dependencies</a:t>
            </a:r>
            <a:endParaRPr lang="en-US" sz="1300" dirty="0"/>
          </a:p>
        </p:txBody>
      </p:sp>
      <p:sp>
        <p:nvSpPr>
          <p:cNvPr id="17" name="Text 15"/>
          <p:cNvSpPr txBox="1"/>
          <p:nvPr/>
        </p:nvSpPr>
        <p:spPr>
          <a:xfrm>
            <a:off x="4178808" y="4416552"/>
            <a:ext cx="7351776" cy="914400"/>
          </a:xfrm>
          <a:prstGeom prst="rect">
            <a:avLst/>
          </a:prstGeom>
          <a:noFill/>
          <a:ln/>
        </p:spPr>
        <p:txBody>
          <a:bodyPr wrap="square" lIns="0" tIns="0" rIns="0" bIns="0" rtlCol="0" anchor="ctr"/>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Defaults come from the literature and calibration data; instruments unlike the twenty-question household pattern should recalibrate. The pipeline also depends on device clocks and on each platform holding its current audit schema.</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PROJECT MANAGEMENT</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Delivered against the 32-week plan</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53</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1371600"/>
            <a:ext cx="2084832" cy="1417320"/>
          </a:xfrm>
          <a:prstGeom prst="roundRect">
            <a:avLst>
              <a:gd name="adj" fmla="val 3226"/>
            </a:avLst>
          </a:prstGeom>
          <a:solidFill>
            <a:srgbClr val="EEF2F6"/>
          </a:solidFill>
          <a:ln w="12700">
            <a:solidFill>
              <a:srgbClr val="EEF2F6"/>
            </a:solidFill>
            <a:prstDash val="solid"/>
          </a:ln>
        </p:spPr>
        <p:txBody>
          <a:bodyPr/>
          <a:p/>
        </p:txBody>
      </p:sp>
      <p:sp>
        <p:nvSpPr>
          <p:cNvPr id="7" name="Text 5"/>
          <p:cNvSpPr txBox="1"/>
          <p:nvPr/>
        </p:nvSpPr>
        <p:spPr>
          <a:xfrm>
            <a:off x="713232" y="1517904"/>
            <a:ext cx="1792224" cy="256032"/>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Weeks 1 to 7</a:t>
            </a:r>
            <a:endParaRPr lang="en-US" sz="1100" dirty="0"/>
          </a:p>
        </p:txBody>
      </p:sp>
      <p:sp>
        <p:nvSpPr>
          <p:cNvPr id="8" name="Text 6"/>
          <p:cNvSpPr txBox="1"/>
          <p:nvPr/>
        </p:nvSpPr>
        <p:spPr>
          <a:xfrm>
            <a:off x="713232" y="1792224"/>
            <a:ext cx="1792224" cy="658368"/>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Proposal and literature review</a:t>
            </a:r>
            <a:endParaRPr lang="en-US" sz="1200" dirty="0"/>
          </a:p>
        </p:txBody>
      </p:sp>
      <p:sp>
        <p:nvSpPr>
          <p:cNvPr id="9" name="Text 7"/>
          <p:cNvSpPr txBox="1"/>
          <p:nvPr/>
        </p:nvSpPr>
        <p:spPr>
          <a:xfrm>
            <a:off x="713232" y="2468880"/>
            <a:ext cx="1792224" cy="219456"/>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Done</a:t>
            </a:r>
            <a:endParaRPr lang="en-US" sz="1050" dirty="0"/>
          </a:p>
        </p:txBody>
      </p:sp>
      <p:sp>
        <p:nvSpPr>
          <p:cNvPr id="10" name="Text 8"/>
          <p:cNvSpPr txBox="1"/>
          <p:nvPr/>
        </p:nvSpPr>
        <p:spPr>
          <a:xfrm>
            <a:off x="2651760" y="1920240"/>
            <a:ext cx="192024" cy="274320"/>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&gt;</a:t>
            </a:r>
            <a:endParaRPr lang="en-US" sz="1400" dirty="0"/>
          </a:p>
        </p:txBody>
      </p:sp>
      <p:sp>
        <p:nvSpPr>
          <p:cNvPr id="11" name="Shape 9"/>
          <p:cNvSpPr/>
          <p:nvPr/>
        </p:nvSpPr>
        <p:spPr>
          <a:xfrm>
            <a:off x="2843784" y="1371600"/>
            <a:ext cx="2084832" cy="1417320"/>
          </a:xfrm>
          <a:prstGeom prst="roundRect">
            <a:avLst>
              <a:gd name="adj" fmla="val 3226"/>
            </a:avLst>
          </a:prstGeom>
          <a:solidFill>
            <a:srgbClr val="EEF2F6"/>
          </a:solidFill>
          <a:ln w="12700">
            <a:solidFill>
              <a:srgbClr val="EEF2F6"/>
            </a:solidFill>
            <a:prstDash val="solid"/>
          </a:ln>
        </p:spPr>
        <p:txBody>
          <a:bodyPr/>
          <a:p/>
        </p:txBody>
      </p:sp>
      <p:sp>
        <p:nvSpPr>
          <p:cNvPr id="12" name="Text 10"/>
          <p:cNvSpPr txBox="1"/>
          <p:nvPr/>
        </p:nvSpPr>
        <p:spPr>
          <a:xfrm>
            <a:off x="2990088" y="1517904"/>
            <a:ext cx="1792224" cy="256032"/>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Weeks 8 to 13</a:t>
            </a:r>
            <a:endParaRPr lang="en-US" sz="1100" dirty="0"/>
          </a:p>
        </p:txBody>
      </p:sp>
      <p:sp>
        <p:nvSpPr>
          <p:cNvPr id="13" name="Text 11"/>
          <p:cNvSpPr txBox="1"/>
          <p:nvPr/>
        </p:nvSpPr>
        <p:spPr>
          <a:xfrm>
            <a:off x="2990088" y="1792224"/>
            <a:ext cx="1792224" cy="658368"/>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Design and parsers</a:t>
            </a:r>
            <a:endParaRPr lang="en-US" sz="1200" dirty="0"/>
          </a:p>
        </p:txBody>
      </p:sp>
      <p:sp>
        <p:nvSpPr>
          <p:cNvPr id="14" name="Text 12"/>
          <p:cNvSpPr txBox="1"/>
          <p:nvPr/>
        </p:nvSpPr>
        <p:spPr>
          <a:xfrm>
            <a:off x="2990088" y="2468880"/>
            <a:ext cx="1792224" cy="219456"/>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Done</a:t>
            </a:r>
            <a:endParaRPr lang="en-US" sz="1050" dirty="0"/>
          </a:p>
        </p:txBody>
      </p:sp>
      <p:sp>
        <p:nvSpPr>
          <p:cNvPr id="15" name="Text 13"/>
          <p:cNvSpPr txBox="1"/>
          <p:nvPr/>
        </p:nvSpPr>
        <p:spPr>
          <a:xfrm>
            <a:off x="4928616" y="1920240"/>
            <a:ext cx="192024" cy="274320"/>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&gt;</a:t>
            </a:r>
            <a:endParaRPr lang="en-US" sz="1400" dirty="0"/>
          </a:p>
        </p:txBody>
      </p:sp>
      <p:sp>
        <p:nvSpPr>
          <p:cNvPr id="16" name="Shape 14"/>
          <p:cNvSpPr/>
          <p:nvPr/>
        </p:nvSpPr>
        <p:spPr>
          <a:xfrm>
            <a:off x="5120640" y="1371600"/>
            <a:ext cx="2084832" cy="1417320"/>
          </a:xfrm>
          <a:prstGeom prst="roundRect">
            <a:avLst>
              <a:gd name="adj" fmla="val 3226"/>
            </a:avLst>
          </a:prstGeom>
          <a:solidFill>
            <a:srgbClr val="EEF2F6"/>
          </a:solidFill>
          <a:ln w="12700">
            <a:solidFill>
              <a:srgbClr val="EEF2F6"/>
            </a:solidFill>
            <a:prstDash val="solid"/>
          </a:ln>
        </p:spPr>
        <p:txBody>
          <a:bodyPr/>
          <a:p/>
        </p:txBody>
      </p:sp>
      <p:sp>
        <p:nvSpPr>
          <p:cNvPr id="17" name="Text 15"/>
          <p:cNvSpPr txBox="1"/>
          <p:nvPr/>
        </p:nvSpPr>
        <p:spPr>
          <a:xfrm>
            <a:off x="5266944" y="1517904"/>
            <a:ext cx="1792224" cy="256032"/>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Weeks 14 to 21</a:t>
            </a:r>
            <a:endParaRPr lang="en-US" sz="1100" dirty="0"/>
          </a:p>
        </p:txBody>
      </p:sp>
      <p:sp>
        <p:nvSpPr>
          <p:cNvPr id="18" name="Text 16"/>
          <p:cNvSpPr txBox="1"/>
          <p:nvPr/>
        </p:nvSpPr>
        <p:spPr>
          <a:xfrm>
            <a:off x="5266944" y="1792224"/>
            <a:ext cx="1792224" cy="658368"/>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Features and detection</a:t>
            </a:r>
            <a:endParaRPr lang="en-US" sz="1200" dirty="0"/>
          </a:p>
        </p:txBody>
      </p:sp>
      <p:sp>
        <p:nvSpPr>
          <p:cNvPr id="19" name="Text 17"/>
          <p:cNvSpPr txBox="1"/>
          <p:nvPr/>
        </p:nvSpPr>
        <p:spPr>
          <a:xfrm>
            <a:off x="5266944" y="2468880"/>
            <a:ext cx="1792224" cy="219456"/>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Done</a:t>
            </a:r>
            <a:endParaRPr lang="en-US" sz="1050" dirty="0"/>
          </a:p>
        </p:txBody>
      </p:sp>
      <p:sp>
        <p:nvSpPr>
          <p:cNvPr id="20" name="Text 18"/>
          <p:cNvSpPr txBox="1"/>
          <p:nvPr/>
        </p:nvSpPr>
        <p:spPr>
          <a:xfrm>
            <a:off x="7205472" y="1920240"/>
            <a:ext cx="192024" cy="274320"/>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&gt;</a:t>
            </a:r>
            <a:endParaRPr lang="en-US" sz="1400" dirty="0"/>
          </a:p>
        </p:txBody>
      </p:sp>
      <p:sp>
        <p:nvSpPr>
          <p:cNvPr id="21" name="Shape 19"/>
          <p:cNvSpPr/>
          <p:nvPr/>
        </p:nvSpPr>
        <p:spPr>
          <a:xfrm>
            <a:off x="7397496" y="1371600"/>
            <a:ext cx="2084832" cy="1417320"/>
          </a:xfrm>
          <a:prstGeom prst="roundRect">
            <a:avLst>
              <a:gd name="adj" fmla="val 3226"/>
            </a:avLst>
          </a:prstGeom>
          <a:solidFill>
            <a:srgbClr val="EEF2F6"/>
          </a:solidFill>
          <a:ln w="12700">
            <a:solidFill>
              <a:srgbClr val="EEF2F6"/>
            </a:solidFill>
            <a:prstDash val="solid"/>
          </a:ln>
        </p:spPr>
        <p:txBody>
          <a:bodyPr/>
          <a:p/>
        </p:txBody>
      </p:sp>
      <p:sp>
        <p:nvSpPr>
          <p:cNvPr id="22" name="Text 20"/>
          <p:cNvSpPr txBox="1"/>
          <p:nvPr/>
        </p:nvSpPr>
        <p:spPr>
          <a:xfrm>
            <a:off x="7543800" y="1517904"/>
            <a:ext cx="1792224" cy="256032"/>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Weeks 22 to 29</a:t>
            </a:r>
            <a:endParaRPr lang="en-US" sz="1100" dirty="0"/>
          </a:p>
        </p:txBody>
      </p:sp>
      <p:sp>
        <p:nvSpPr>
          <p:cNvPr id="23" name="Text 21"/>
          <p:cNvSpPr txBox="1"/>
          <p:nvPr/>
        </p:nvSpPr>
        <p:spPr>
          <a:xfrm>
            <a:off x="7543800" y="1792224"/>
            <a:ext cx="1792224" cy="658368"/>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Validation and documentation</a:t>
            </a:r>
            <a:endParaRPr lang="en-US" sz="1200" dirty="0"/>
          </a:p>
        </p:txBody>
      </p:sp>
      <p:sp>
        <p:nvSpPr>
          <p:cNvPr id="24" name="Text 22"/>
          <p:cNvSpPr txBox="1"/>
          <p:nvPr/>
        </p:nvSpPr>
        <p:spPr>
          <a:xfrm>
            <a:off x="7543800" y="2468880"/>
            <a:ext cx="1792224" cy="219456"/>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Done</a:t>
            </a:r>
            <a:endParaRPr lang="en-US" sz="1050" dirty="0"/>
          </a:p>
        </p:txBody>
      </p:sp>
      <p:sp>
        <p:nvSpPr>
          <p:cNvPr id="25" name="Text 23"/>
          <p:cNvSpPr txBox="1"/>
          <p:nvPr/>
        </p:nvSpPr>
        <p:spPr>
          <a:xfrm>
            <a:off x="9482328" y="1920240"/>
            <a:ext cx="192024" cy="274320"/>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&gt;</a:t>
            </a:r>
            <a:endParaRPr lang="en-US" sz="1400" dirty="0"/>
          </a:p>
        </p:txBody>
      </p:sp>
      <p:sp>
        <p:nvSpPr>
          <p:cNvPr id="26" name="Shape 24"/>
          <p:cNvSpPr/>
          <p:nvPr/>
        </p:nvSpPr>
        <p:spPr>
          <a:xfrm>
            <a:off x="9674352" y="1371600"/>
            <a:ext cx="2084832" cy="1417320"/>
          </a:xfrm>
          <a:prstGeom prst="roundRect">
            <a:avLst>
              <a:gd name="adj" fmla="val 3226"/>
            </a:avLst>
          </a:prstGeom>
          <a:solidFill>
            <a:srgbClr val="EEF2F6"/>
          </a:solidFill>
          <a:ln w="12700">
            <a:solidFill>
              <a:srgbClr val="EEF2F6"/>
            </a:solidFill>
            <a:prstDash val="solid"/>
          </a:ln>
        </p:spPr>
        <p:txBody>
          <a:bodyPr/>
          <a:p/>
        </p:txBody>
      </p:sp>
      <p:sp>
        <p:nvSpPr>
          <p:cNvPr id="27" name="Text 25"/>
          <p:cNvSpPr txBox="1"/>
          <p:nvPr/>
        </p:nvSpPr>
        <p:spPr>
          <a:xfrm>
            <a:off x="9820656" y="1517904"/>
            <a:ext cx="1792224" cy="256032"/>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Weeks 30 to 32</a:t>
            </a:r>
            <a:endParaRPr lang="en-US" sz="1100" dirty="0"/>
          </a:p>
        </p:txBody>
      </p:sp>
      <p:sp>
        <p:nvSpPr>
          <p:cNvPr id="28" name="Text 26"/>
          <p:cNvSpPr txBox="1"/>
          <p:nvPr/>
        </p:nvSpPr>
        <p:spPr>
          <a:xfrm>
            <a:off x="9820656" y="1792224"/>
            <a:ext cx="1792224" cy="658368"/>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Report and submission</a:t>
            </a:r>
            <a:endParaRPr lang="en-US" sz="1200" dirty="0"/>
          </a:p>
        </p:txBody>
      </p:sp>
      <p:sp>
        <p:nvSpPr>
          <p:cNvPr id="29" name="Text 27"/>
          <p:cNvSpPr txBox="1"/>
          <p:nvPr/>
        </p:nvSpPr>
        <p:spPr>
          <a:xfrm>
            <a:off x="9820656" y="2468880"/>
            <a:ext cx="1792224" cy="219456"/>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Done</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3063240"/>
          <a:ext cx="11055096" cy="914400"/>
        </p:xfrm>
        <a:graphic>
          <a:graphicData uri="http://schemas.openxmlformats.org/drawingml/2006/table">
            <a:tbl>
              <a:tblPr/>
              <a:tblGrid>
                <a:gridCol w="5120640"/>
                <a:gridCol w="1737360"/>
                <a:gridCol w="4197096"/>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Deliverable (Proposal section 4)</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301752">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Python feature library, 30 to 50 features, documented</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40 features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src/features/, feature documentation</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01752">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Paradata format guide, SurveyCTO and ODK</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docs/paradata_format_guide.md</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01752">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Labelled synthetic validation datasets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data/synthetic_datasets/, n500 to n10000</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01752">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Validation report with precision, recall, effect sizes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docs/validation_report.md</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01752">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Final paper and this presentation</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report/, docs/deliverables/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01752">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AI usage log as a report appendix</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Appendix A of the final report</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31" name="Text 2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Every phase and deliverable is evidenced in docs/milestone_tracker.md and docs/evidence_index.md against named commits and tags.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ASSESSMENT</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Mapping to the course learning outcomes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54</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5096" cy="914400"/>
        </p:xfrm>
        <a:graphic>
          <a:graphicData uri="http://schemas.openxmlformats.org/drawingml/2006/table">
            <a:tbl>
              <a:tblPr/>
              <a:tblGrid>
                <a:gridCol w="3017520"/>
                <a:gridCol w="8037576"/>
              </a:tblGrid>
              <a:tr h="47548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Where it is demonstrated</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 Concepts, applications and challenges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Literature review covers outlier detection theory and the univariate versus multivariate trade-off. Challenges are measured, not asserted: masking, threshold calibration, and the unreachable Tukey lower fence.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ii. Preprocess data</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Two platform parsers reduce heterogeneous audit logs to one intermediate representation. Timestamp normalisation across epoch milliseconds and ISO 8601, hybrid file splitting, and explicit quality flagging.</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iii. Implement algorithms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Unsupervised detection: Tukey fences combined with rule logic, evaluated as binary classification. Mann-Whitney U with Cohen's d and Bonferroni adjustment for feature validity.</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iv. Data warehousing</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Addressed in part: the parser pipeline is an ETL design with a common target schema, though no OLAP cube or star schema was built.</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 Evaluate models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Precision, recall, F1 against labelled ground truth, two named baselines, a prevalence sweep, a per-component breakdown, and a scale check from 500 to 10,000 interviews.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vi. Apply tools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Python throughout: pandas, NumPy, SciPy, statsmodels, scikit-learn, pytest, with continuous integration. Weka and RapidMiner were not appropriate to a custom parsing pipeline.</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47548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vii. Ethical and professional issues</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Synthetic data only, explainable flags, human review required before action, and a full AI usage disclosure as Appendix A.</a:t>
                      </a:r>
                      <a:endParaRPr lang="en-US" sz="115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0">
    <p:bg>
      <p:bgPr>
        <a:solidFill>
          <a:srgbClr val="16232B"/>
        </a:solidFill>
      </p:bgPr>
    </p:bg>
    <p:spTree>
      <p:nvGrpSpPr>
        <p:cNvPr id="1" name=""/>
        <p:cNvGrpSpPr/>
        <p:nvPr/>
      </p:nvGrpSpPr>
      <p:grpSpPr>
        <a:xfrm>
          <a:off x="0" y="0"/>
          <a:ext cx="0" cy="0"/>
          <a:chOff x="0" y="0"/>
          <a:chExt cx="0" cy="0"/>
        </a:xfrm>
      </p:grpSpPr>
      <p:sp>
        <p:nvSpPr>
          <p:cNvPr id="2" name="Text 0"/>
          <p:cNvSpPr txBox="1"/>
          <p:nvPr/>
        </p:nvSpPr>
        <p:spPr>
          <a:xfrm>
            <a:off x="566928" y="2286000"/>
            <a:ext cx="9774936"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Timing paradata is usable, and it beats what field practice runs today.</a:t>
            </a:r>
            <a:endParaRPr lang="en-US" sz="4000" dirty="0"/>
          </a:p>
        </p:txBody>
      </p:sp>
      <p:sp>
        <p:nvSpPr>
          <p:cNvPr id="3" name="Text 1"/>
          <p:cNvSpPr txBox="1"/>
          <p:nvPr/>
        </p:nvSpPr>
        <p:spPr>
          <a:xfrm>
            <a:off x="566928" y="3657600"/>
            <a:ext cx="9043416" cy="914400"/>
          </a:xfrm>
          <a:prstGeom prst="rect">
            <a:avLst/>
          </a:prstGeom>
          <a:noFill/>
          <a:ln/>
        </p:spPr>
        <p:txBody>
          <a:bodyPr wrap="square" lIns="0" tIns="0" rIns="0" bIns="0" rtlCol="0" anchor="ctr"/>
          <a:lstStyle/>
          <a:p>
            <a:pPr indent="0" marL="0">
              <a:lnSpc>
                <a:spcPts val="2400"/>
              </a:lnSpc>
              <a:buNone/>
            </a:pPr>
            <a:r>
              <a:rPr lang="en-US" sz="1500" dirty="0">
                <a:solidFill>
                  <a:srgbClr val="AFC0C9"/>
                </a:solidFill>
                <a:latin typeface="Calibri" pitchFamily="34" charset="0"/>
                <a:ea typeface="Calibri" pitchFamily="34" charset="-122"/>
                <a:cs typeface="Calibri" pitchFamily="34" charset="-120"/>
              </a:rPr>
              <a:t>Precision 0.96 to 1.00 and recall 0.84 to 1.00 on data the detector had never seen, inside a measured envelope: anomalies must be a minority of the batch. Five of six objectives met in full.</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7C8B95"/>
                </a:solidFill>
                <a:latin typeface="Calibri" pitchFamily="34" charset="0"/>
                <a:ea typeface="Calibri" pitchFamily="34" charset="-122"/>
                <a:cs typeface="Calibri" pitchFamily="34" charset="-120"/>
              </a:rPr>
              <a:t>55</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7C8B95"/>
                </a:solidFill>
                <a:latin typeface="Calibri" pitchFamily="34" charset="0"/>
                <a:ea typeface="Calibri" pitchFamily="34" charset="-122"/>
                <a:cs typeface="Calibri" pitchFamily="34" charset="-120"/>
              </a:rPr>
              <a:t>Samuel Kaoma  |  2022016530  |  CSC 4004</a:t>
            </a:r>
            <a:endParaRPr lang="en-US" sz="1000" dirty="0"/>
          </a:p>
        </p:txBody>
      </p:sp>
      <p:sp>
        <p:nvSpPr>
          <p:cNvPr id="6" name="Shape 4"/>
          <p:cNvSpPr/>
          <p:nvPr/>
        </p:nvSpPr>
        <p:spPr>
          <a:xfrm>
            <a:off x="566928"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7" name="Text 5"/>
          <p:cNvSpPr txBox="1"/>
          <p:nvPr/>
        </p:nvSpPr>
        <p:spPr>
          <a:xfrm>
            <a:off x="731520" y="4919472"/>
            <a:ext cx="2340864" cy="45720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+34%</a:t>
            </a:r>
            <a:endParaRPr lang="en-US" sz="2400" dirty="0"/>
          </a:p>
        </p:txBody>
      </p:sp>
      <p:sp>
        <p:nvSpPr>
          <p:cNvPr id="8" name="Text 6"/>
          <p:cNvSpPr txBox="1"/>
          <p:nvPr/>
        </p:nvSpPr>
        <p:spPr>
          <a:xfrm>
            <a:off x="731520"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recall over duration-only checking</a:t>
            </a:r>
            <a:endParaRPr lang="en-US" sz="1050" dirty="0"/>
          </a:p>
        </p:txBody>
      </p:sp>
      <p:sp>
        <p:nvSpPr>
          <p:cNvPr id="9" name="Shape 7"/>
          <p:cNvSpPr/>
          <p:nvPr/>
        </p:nvSpPr>
        <p:spPr>
          <a:xfrm>
            <a:off x="3410712"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10" name="Text 8"/>
          <p:cNvSpPr txBox="1"/>
          <p:nvPr/>
        </p:nvSpPr>
        <p:spPr>
          <a:xfrm>
            <a:off x="3575304" y="4919472"/>
            <a:ext cx="2340864" cy="45720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40</a:t>
            </a:r>
            <a:endParaRPr lang="en-US" sz="2400" dirty="0"/>
          </a:p>
        </p:txBody>
      </p:sp>
      <p:sp>
        <p:nvSpPr>
          <p:cNvPr id="11" name="Text 9"/>
          <p:cNvSpPr txBox="1"/>
          <p:nvPr/>
        </p:nvSpPr>
        <p:spPr>
          <a:xfrm>
            <a:off x="3575304"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documented, tested features</a:t>
            </a:r>
            <a:endParaRPr lang="en-US" sz="1050" dirty="0"/>
          </a:p>
        </p:txBody>
      </p:sp>
      <p:sp>
        <p:nvSpPr>
          <p:cNvPr id="12" name="Shape 10"/>
          <p:cNvSpPr/>
          <p:nvPr/>
        </p:nvSpPr>
        <p:spPr>
          <a:xfrm>
            <a:off x="6254496"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13" name="Text 11"/>
          <p:cNvSpPr txBox="1"/>
          <p:nvPr/>
        </p:nvSpPr>
        <p:spPr>
          <a:xfrm>
            <a:off x="6419088" y="4919472"/>
            <a:ext cx="2340864" cy="45720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 50%</a:t>
            </a:r>
          </a:p>
        </p:txBody>
      </p:sp>
      <p:sp>
        <p:nvSpPr>
          <p:cNvPr id="14" name="Text 12"/>
          <p:cNvSpPr txBox="1"/>
          <p:nvPr/>
        </p:nvSpPr>
        <p:spPr>
          <a:xfrm>
            <a:off x="6419088"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anomaly prevalence the method holds to</a:t>
            </a:r>
          </a:p>
        </p:txBody>
      </p:sp>
      <p:sp>
        <p:nvSpPr>
          <p:cNvPr id="15" name="Shape 13"/>
          <p:cNvSpPr/>
          <p:nvPr/>
        </p:nvSpPr>
        <p:spPr>
          <a:xfrm>
            <a:off x="9098280"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16" name="Text 14"/>
          <p:cNvSpPr txBox="1"/>
          <p:nvPr/>
        </p:nvSpPr>
        <p:spPr>
          <a:xfrm>
            <a:off x="9262872" y="4919472"/>
            <a:ext cx="2340864" cy="45720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0.70</a:t>
            </a:r>
            <a:endParaRPr lang="en-US" sz="2400" dirty="0"/>
          </a:p>
        </p:txBody>
      </p:sp>
      <p:sp>
        <p:nvSpPr>
          <p:cNvPr id="17" name="Text 15"/>
          <p:cNvSpPr txBox="1"/>
          <p:nvPr/>
        </p:nvSpPr>
        <p:spPr>
          <a:xfrm>
            <a:off x="9262872"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fabricated recall: the honest weak point</a:t>
            </a:r>
            <a:endParaRPr lang="en-US" sz="1050" dirty="0"/>
          </a:p>
        </p:txBody>
      </p:sp>
      <p:sp>
        <p:nvSpPr>
          <p:cNvPr id="18" name="Text 16"/>
          <p:cNvSpPr txBox="1"/>
          <p:nvPr/>
        </p:nvSpPr>
        <p:spPr>
          <a:xfrm>
            <a:off x="566928" y="658368"/>
            <a:ext cx="11055096" cy="292608"/>
          </a:xfrm>
          <a:prstGeom prst="rect">
            <a:avLst/>
          </a:prstGeom>
          <a:noFill/>
          <a:ln/>
        </p:spPr>
        <p:txBody>
          <a:bodyPr wrap="square" lIns="0" tIns="0" rIns="0" bIns="0" rtlCol="0" anchor="ctr"/>
          <a:lstStyle/>
          <a:p>
            <a:pPr indent="0" marL="0">
              <a:buNone/>
            </a:pPr>
            <a:r>
              <a:rPr lang="en-US" sz="1200" b="1" dirty="0">
                <a:solidFill>
                  <a:srgbClr val="6FA9A2"/>
                </a:solidFill>
                <a:latin typeface="Calibri" pitchFamily="34" charset="0"/>
                <a:ea typeface="Calibri" pitchFamily="34" charset="-122"/>
                <a:cs typeface="Calibri" pitchFamily="34" charset="-120"/>
              </a:rPr>
              <a:t>github.com/Samuelkaoma-eng/SKACE-TIME-DATA</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CHAPTER 2</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Key references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56</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1371600"/>
            <a:ext cx="5349240" cy="3566160"/>
          </a:xfrm>
          <a:prstGeom prst="rect">
            <a:avLst/>
          </a:prstGeom>
          <a:noFill/>
          <a:ln/>
        </p:spPr>
        <p:txBody>
          <a:bodyPr wrap="square" lIns="0" tIns="0" rIns="0" bIns="0" rtlCol="0" anchor="ctr"/>
          <a:lstStyle/>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Birnbaum, B., Borriello, G., Flaxman, A.D., DeRenzi, B. and Karlin, A.R. (2013) 'Using behavioral data to identify interviewer fabrication in surveys', CHI '13, pp. 2911-2920.</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Bushery, J.M., Reichert, J.W., Albright, K.A. and Rossiter, J.C. (1999) 'Using date and time stamps to detect interviewer falsification', Proceedings of the Survey Research Methods Section, ASA, pp. 316-320.</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Chandola, V., Banerjee, A. and Kumar, V. (2009) 'Anomaly detection: a survey', ACM Computing Surveys, 41(3), pp. 1-58.</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Finn, A. and Ranchhod, V. (2017) 'Genuine fakes: the prevalence and implications of data fabrication in a large South African survey', The World Bank Economic Review, 31(1), pp. 129-157.</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Goel, D., Abraham, R. and Lahoti, R. (2022) Improving Survey Quality Using Paradata. IZA Discussion Paper No. 15041.</a:t>
            </a:r>
          </a:p>
        </p:txBody>
      </p:sp>
      <p:sp>
        <p:nvSpPr>
          <p:cNvPr id="7" name="Text 5"/>
          <p:cNvSpPr txBox="1"/>
          <p:nvPr/>
        </p:nvSpPr>
        <p:spPr>
          <a:xfrm>
            <a:off x="6281928" y="1371600"/>
            <a:ext cx="5349240" cy="3566160"/>
          </a:xfrm>
          <a:prstGeom prst="rect">
            <a:avLst/>
          </a:prstGeom>
          <a:noFill/>
          <a:ln/>
        </p:spPr>
        <p:txBody>
          <a:bodyPr wrap="square" lIns="0" tIns="0" rIns="0" bIns="0" rtlCol="0" anchor="ctr"/>
          <a:lstStyle/>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Hoogeveen, J. and Pape, U. (eds.) (2020) Data Collection in Fragile States: Innovations from Africa and Beyond. Cham: Palgrave Macmillan.</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Hubert, M. and Vandervieren, E. (2008) 'An adjusted boxplot for skewed distributions', Computational Statistics &amp; Data Analysis, 52, pp. 5186-5201.</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Kreuter, F. (ed.) (2013) Improving Surveys with Paradata. Hoboken, NJ: Wiley.</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Schwanhäuser, S., Sakshaug, J.W. and Kosyakova, Y. (2022) 'How to catch a falsifier', Public Opinion Quarterly, 86(1), pp. 51-81.</a:t>
            </a:r>
          </a:p>
          <a:p>
            <a:pPr marL="342900" indent="-342900">
              <a:lnSpc>
                <a:spcPts val="1550"/>
              </a:lnSpc>
              <a:spcAft>
                <a:spcPts val="900"/>
              </a:spcAft>
              <a:buSzPct val="100000"/>
              <a:buChar char="•"/>
            </a:pPr>
            <a:r>
              <a:rPr lang="en-US" sz="1150" dirty="0">
                <a:solidFill>
                  <a:srgbClr val="1F2933"/>
                </a:solidFill>
                <a:latin typeface="Calibri" pitchFamily="34" charset="0"/>
                <a:ea typeface="Calibri" pitchFamily="34" charset="-122"/>
                <a:cs typeface="Calibri" pitchFamily="34" charset="-120"/>
              </a:rPr>
              <a:t>Yan, T. and Tourangeau, R. (2008) 'Fast times and easy questions', Applied Cognitive Psychology, 22(1), pp. 51-68.</a:t>
            </a:r>
          </a:p>
        </p:txBody>
      </p:sp>
      <p:sp>
        <p:nvSpPr>
          <p:cNvPr id="8" name="Shape 6"/>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7"/>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8"/>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Full list of 28 references in the final report, Harvard style, each checked against its source in Appendix 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57</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7  ·  GLOSSARY</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Terms, 1 of 2</a:t>
            </a:r>
          </a:p>
        </p:txBody>
      </p:sp>
      <p:graphicFrame>
        <p:nvGraphicFramePr>
          <p:cNvPr id="6" name="Table 5"/>
          <p:cNvGraphicFramePr>
            <a:graphicFrameLocks noGrp="1"/>
          </p:cNvGraphicFramePr>
          <p:nvPr/>
        </p:nvGraphicFramePr>
        <p:xfrm>
          <a:off x="566928" y="1325880"/>
          <a:ext cx="11055095" cy="3840480"/>
        </p:xfrm>
        <a:graphic>
          <a:graphicData uri="http://schemas.openxmlformats.org/drawingml/2006/table">
            <a:tbl>
              <a:tblPr firstRow="0" bandRow="0"/>
              <a:tblGrid>
                <a:gridCol w="3106390"/>
                <a:gridCol w="7948705"/>
              </a:tblGrid>
              <a:tr h="384048">
                <a:tc>
                  <a:txBody>
                    <a:bodyPr wrap="square"/>
                    <a:lstStyle/>
                    <a:p>
                      <a:r>
                        <a:rPr sz="1150" b="1" i="0">
                          <a:solidFill>
                            <a:srgbClr val="FFFFFF"/>
                          </a:solidFill>
                          <a:latin typeface="Calibri"/>
                        </a:rPr>
                        <a:t>Term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Meaning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84048">
                <a:tc>
                  <a:txBody>
                    <a:bodyPr wrap="square"/>
                    <a:lstStyle/>
                    <a:p>
                      <a:r>
                        <a:rPr sz="1200" b="0" i="0">
                          <a:solidFill>
                            <a:srgbClr val="1F2933"/>
                          </a:solidFill>
                          <a:latin typeface="Calibri"/>
                        </a:rPr>
                        <a:t>Audit log / text audit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the platform's timestamped record of every event in an interview</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Paradata</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data about the process of an interview rather than its answers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Common intermediate representation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the six columns both parsers produce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Epoch milliseconds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time as milliseconds since 1 January 1970 UTC</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Curbstoning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an interviewer fabricating an interview; the fabrication profile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Satisficing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answering with minimum effort rather than optimally (Krosnick)</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Canonical / stress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clean, separated profiles / deliberately overlapping ones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Held-out seed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a random seed never used while the detector was being built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Prevalence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the share of anomalous interviews in a batch</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58</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PART 7  ·  GLOSSARY</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Terms, 2 of 2</a:t>
            </a:r>
          </a:p>
        </p:txBody>
      </p:sp>
      <p:graphicFrame>
        <p:nvGraphicFramePr>
          <p:cNvPr id="6" name="Table 5"/>
          <p:cNvGraphicFramePr>
            <a:graphicFrameLocks noGrp="1"/>
          </p:cNvGraphicFramePr>
          <p:nvPr/>
        </p:nvGraphicFramePr>
        <p:xfrm>
          <a:off x="566928" y="1325880"/>
          <a:ext cx="11055095" cy="3840480"/>
        </p:xfrm>
        <a:graphic>
          <a:graphicData uri="http://schemas.openxmlformats.org/drawingml/2006/table">
            <a:tbl>
              <a:tblPr firstRow="0" bandRow="0"/>
              <a:tblGrid>
                <a:gridCol w="3106390"/>
                <a:gridCol w="7948705"/>
              </a:tblGrid>
              <a:tr h="384048">
                <a:tc>
                  <a:txBody>
                    <a:bodyPr wrap="square"/>
                    <a:lstStyle/>
                    <a:p>
                      <a:r>
                        <a:rPr sz="1150" b="1" i="0">
                          <a:solidFill>
                            <a:srgbClr val="FFFFFF"/>
                          </a:solidFill>
                          <a:latin typeface="Calibri"/>
                        </a:rPr>
                        <a:t>Term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c>
                  <a:txBody>
                    <a:bodyPr wrap="square"/>
                    <a:lstStyle/>
                    <a:p>
                      <a:r>
                        <a:rPr sz="1150" b="1" i="0">
                          <a:solidFill>
                            <a:srgbClr val="FFFFFF"/>
                          </a:solidFill>
                          <a:latin typeface="Calibri"/>
                        </a:rPr>
                        <a:t>Meaning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0F766E"/>
                    </a:solidFill>
                  </a:tcPr>
                </a:tc>
              </a:tr>
              <a:tr h="384048">
                <a:tc>
                  <a:txBody>
                    <a:bodyPr wrap="square"/>
                    <a:lstStyle/>
                    <a:p>
                      <a:r>
                        <a:rPr sz="1200" b="0" i="0">
                          <a:solidFill>
                            <a:srgbClr val="1F2933"/>
                          </a:solidFill>
                          <a:latin typeface="Calibri"/>
                        </a:rPr>
                        <a:t>Quartiles, IQR</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the 25th and 75th percentiles; the distance between them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Tukey fence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Q1 − 1.5 IQR and Q3 + 1.5 IQR; values outside are flagged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Masking</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outliers distorting the statistic meant to detect them</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Shannon entropy</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unpredictability of the response-time distribution, in bits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Coefficient of variation</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standard deviation divided by mean; scale-free spread</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Precision / recall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share of flags that are right / share of anomalies caught</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Cohen's d / rank-biserial</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size of a difference / degree of overlap between groups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Bonferroni</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multiplying p-values by the number of tests</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r h="384048">
                <a:tc>
                  <a:txBody>
                    <a:bodyPr wrap="square"/>
                    <a:lstStyle/>
                    <a:p>
                      <a:r>
                        <a:rPr sz="1200" b="0" i="0">
                          <a:solidFill>
                            <a:srgbClr val="1F2933"/>
                          </a:solidFill>
                          <a:latin typeface="Calibri"/>
                        </a:rPr>
                        <a:t>Prevalence envelope</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c>
                  <a:txBody>
                    <a:bodyPr wrap="square"/>
                    <a:lstStyle/>
                    <a:p>
                      <a:r>
                        <a:rPr sz="1200" b="0" i="0">
                          <a:solidFill>
                            <a:srgbClr val="1F2933"/>
                          </a:solidFill>
                          <a:latin typeface="Calibri"/>
                        </a:rPr>
                        <a:t>the range of prevalence in which both targets hold: up to 50%</a:t>
                      </a:r>
                    </a:p>
                  </a:txBody>
                  <a:tcPr marL="73152" marR="73152" marT="27432" marB="27432" anchor="ctr">
                    <a:lnL w="9525" cap="flat" cmpd="sng" algn="ctr">
                      <a:solidFill>
                        <a:srgbClr val="D6DEE5"/>
                      </a:solidFill>
                      <a:prstDash val="solid"/>
                    </a:lnL>
                    <a:lnR w="9525" cap="flat" cmpd="sng" algn="ctr">
                      <a:solidFill>
                        <a:srgbClr val="D6DEE5"/>
                      </a:solidFill>
                      <a:prstDash val="solid"/>
                    </a:lnR>
                    <a:lnT w="9525" cap="flat" cmpd="sng" algn="ctr">
                      <a:solidFill>
                        <a:srgbClr val="D6DEE5"/>
                      </a:solidFill>
                      <a:prstDash val="solid"/>
                    </a:lnT>
                    <a:lnB w="9525" cap="flat" cmpd="sng" algn="ctr">
                      <a:solidFill>
                        <a:srgbClr val="D6DEE5"/>
                      </a:solidFill>
                      <a:prstDash val="solid"/>
                    </a:lnB>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6232B"/>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7C8B95"/>
                </a:solidFill>
                <a:latin typeface="Calibri"/>
              </a:rPr>
              <a:t>59</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7C8B95"/>
                </a:solidFill>
                <a:latin typeface="Calibri"/>
              </a:rPr>
              <a:t>Samuel Kaoma  |  2022016530  |  CSC 4004</a:t>
            </a:r>
          </a:p>
        </p:txBody>
      </p:sp>
      <p:sp>
        <p:nvSpPr>
          <p:cNvPr id="4" name="TextBox 3"/>
          <p:cNvSpPr txBox="1"/>
          <p:nvPr/>
        </p:nvSpPr>
        <p:spPr>
          <a:xfrm>
            <a:off x="566928" y="2286000"/>
            <a:ext cx="9774936" cy="1280160"/>
          </a:xfrm>
          <a:prstGeom prst="rect">
            <a:avLst/>
          </a:prstGeom>
          <a:noFill/>
        </p:spPr>
        <p:txBody>
          <a:bodyPr wrap="square" lIns="36576" rIns="36576" tIns="18288" bIns="18288" anchor="t">
            <a:spAutoFit/>
          </a:bodyPr>
          <a:lstStyle/>
          <a:p>
            <a:pPr algn="l">
              <a:spcAft>
                <a:spcPts val="400"/>
              </a:spcAft>
            </a:pPr>
            <a:r>
              <a:rPr sz="4000" b="1" i="0">
                <a:solidFill>
                  <a:srgbClr val="FFFFFF"/>
                </a:solidFill>
                <a:latin typeface="Cambria"/>
              </a:rPr>
              <a:t>Preparing for the viva.</a:t>
            </a:r>
          </a:p>
        </p:txBody>
      </p:sp>
      <p:sp>
        <p:nvSpPr>
          <p:cNvPr id="5" name="TextBox 4"/>
          <p:cNvSpPr txBox="1"/>
          <p:nvPr/>
        </p:nvSpPr>
        <p:spPr>
          <a:xfrm>
            <a:off x="566928" y="3657600"/>
            <a:ext cx="9509760" cy="1188720"/>
          </a:xfrm>
          <a:prstGeom prst="rect">
            <a:avLst/>
          </a:prstGeom>
          <a:noFill/>
        </p:spPr>
        <p:txBody>
          <a:bodyPr wrap="square" lIns="36576" rIns="36576" tIns="18288" bIns="18288" anchor="t">
            <a:spAutoFit/>
          </a:bodyPr>
          <a:lstStyle/>
          <a:p>
            <a:pPr algn="l">
              <a:spcAft>
                <a:spcPts val="400"/>
              </a:spcAft>
            </a:pPr>
            <a:r>
              <a:rPr sz="1500" b="0" i="0">
                <a:solidFill>
                  <a:srgbClr val="AFC0C9"/>
                </a:solidFill>
                <a:latin typeface="Calibri"/>
              </a:rPr>
              <a:t>Sixteen questions an examiner is likely to ask, with the short answer on the slide. The speaker notes hold the full answer and where the evidence is in the report.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60</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VIVA 1  ·  THE METHOD</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Why it is built this way</a:t>
            </a:r>
          </a:p>
        </p:txBody>
      </p:sp>
      <p:sp>
        <p:nvSpPr>
          <p:cNvPr id="6" name="Rectangle 5"/>
          <p:cNvSpPr/>
          <p:nvPr/>
        </p:nvSpPr>
        <p:spPr>
          <a:xfrm>
            <a:off x="566928"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Why rules and fences, not machine learning?</a:t>
            </a:r>
          </a:p>
        </p:txBody>
      </p:sp>
      <p:sp>
        <p:nvSpPr>
          <p:cNvPr id="8" name="TextBox 7"/>
          <p:cNvSpPr txBox="1"/>
          <p:nvPr/>
        </p:nvSpPr>
        <p:spPr>
          <a:xfrm>
            <a:off x="731520"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There is no labelled field data to train on, and a flag accuses a named enumerator, so every point must be explainable. No labelled field data exists for these platforms, and a flag leads to a conversation with a named enumerator, so the score has to be a list of reasons. A supervised model is the stronger design once labels exist, as Birnbaum et al. (2013) show with 96 percent accuracy on experimentally labelled data; section 7 compares the two.</a:t>
            </a:r>
          </a:p>
        </p:txBody>
      </p:sp>
      <p:sp>
        <p:nvSpPr>
          <p:cNvPr id="9" name="Rectangle 8"/>
          <p:cNvSpPr/>
          <p:nvPr/>
        </p:nvSpPr>
        <p:spPr>
          <a:xfrm>
            <a:off x="6181344"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Why a count, with cut-offs 2 and 5?</a:t>
            </a:r>
          </a:p>
        </p:txBody>
      </p:sp>
      <p:sp>
        <p:nvSpPr>
          <p:cNvPr id="11" name="TextBox 10"/>
          <p:cNvSpPr txBox="1"/>
          <p:nvPr/>
        </p:nvSpPr>
        <p:spPr>
          <a:xfrm>
            <a:off x="6345936"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A count makes every point a named reason. Two stops any single rule triggering review; five needs agreement across families. Section 3.4 and Table 1a. In the canonical suite every genuine interview scored at most one, so two sits above genuine behaviour. Five typically needs duration, distributional shape and navigation to agree.</a:t>
            </a:r>
          </a:p>
        </p:txBody>
      </p:sp>
      <p:sp>
        <p:nvSpPr>
          <p:cNvPr id="12" name="Rectangle 11"/>
          <p:cNvSpPr/>
          <p:nvPr/>
        </p:nvSpPr>
        <p:spPr>
          <a:xfrm>
            <a:off x="566928"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Why cap the four fences at one point?</a:t>
            </a:r>
          </a:p>
        </p:txBody>
      </p:sp>
      <p:sp>
        <p:nvSpPr>
          <p:cNvPr id="14" name="TextBox 13"/>
          <p:cNvSpPr txBox="1"/>
          <p:nvPr/>
        </p:nvSpPr>
        <p:spPr>
          <a:xfrm>
            <a:off x="731520"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Duration, mean time, entropy and variance share one underlying pacing; uncapped, one behaviour could score four. Section 3.4. The component breakdown in section 6.3 also shows the rules carry most of the detection: rules alone reach precision 0.9988 and recall 0.9319, fences alone 0.6628 and 0.6162.</a:t>
            </a:r>
          </a:p>
        </p:txBody>
      </p:sp>
      <p:sp>
        <p:nvSpPr>
          <p:cNvPr id="15" name="Rectangle 14"/>
          <p:cNvSpPr/>
          <p:nvPr/>
        </p:nvSpPr>
        <p:spPr>
          <a:xfrm>
            <a:off x="6181344"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Why median-relative thresholds?</a:t>
            </a:r>
          </a:p>
        </p:txBody>
      </p:sp>
      <p:sp>
        <p:nvSpPr>
          <p:cNvPr id="17" name="TextBox 16"/>
          <p:cNvSpPr txBox="1"/>
          <p:nvPr/>
        </p:nvSpPr>
        <p:spPr>
          <a:xfrm>
            <a:off x="6345936"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What counts as fast depends on the instrument. Relative thresholds adapt, as in Goel et al.'s dynamic benchmarking. Goel et al. (2022, abstract and p. 4). The cost is the prevalence envelope: relative thresholds need a mostly genuine batch. Say this before the examiner does.</a:t>
            </a:r>
          </a:p>
        </p:txBody>
      </p:sp>
      <p:sp>
        <p:nvSpPr>
          <p:cNvPr id="18" name="TextBox 17"/>
          <p:cNvSpPr txBox="1"/>
          <p:nvPr/>
        </p:nvSpPr>
        <p:spPr>
          <a:xfrm>
            <a:off x="566928" y="5577840"/>
            <a:ext cx="11055096" cy="36576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Full answers and where the evidence is: speaker notes.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61</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VIVA 2  ·  THE EVALUATION</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Is the evidence sound?</a:t>
            </a:r>
          </a:p>
        </p:txBody>
      </p:sp>
      <p:sp>
        <p:nvSpPr>
          <p:cNvPr id="6" name="Rectangle 5"/>
          <p:cNvSpPr/>
          <p:nvPr/>
        </p:nvSpPr>
        <p:spPr>
          <a:xfrm>
            <a:off x="566928"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You wrote the generator and the detector. Isn't that circular?</a:t>
            </a:r>
          </a:p>
        </p:txBody>
      </p:sp>
      <p:sp>
        <p:nvSpPr>
          <p:cNvPr id="8" name="TextBox 7"/>
          <p:cNvSpPr txBox="1"/>
          <p:nvPr/>
        </p:nvSpPr>
        <p:spPr>
          <a:xfrm>
            <a:off x="731520"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Partly, and section 8 says so. Held-out seeds, stress overlap and removing generator-mirroring settings limit it. The evaluation measures the detector against a documented threat model, not the full range of real behaviour. Mitigations: settings that mirrored the generator were removed before the final round, reported runs use seeds 7 and 99 never used in development, and the stress difficulty overlaps genuine and anomalous profiles. The real answer is back-checked field data, which is the first item of future work.</a:t>
            </a:r>
          </a:p>
        </p:txBody>
      </p:sp>
      <p:sp>
        <p:nvSpPr>
          <p:cNvPr id="9" name="Rectangle 8"/>
          <p:cNvSpPr/>
          <p:nvPr/>
        </p:nvSpPr>
        <p:spPr>
          <a:xfrm>
            <a:off x="6181344"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Early runs scored 1.00. Why distrust that?</a:t>
            </a:r>
          </a:p>
        </p:txBody>
      </p:sp>
      <p:sp>
        <p:nvSpPr>
          <p:cNvPr id="11" name="TextBox 10"/>
          <p:cNvSpPr txBox="1"/>
          <p:nvPr/>
        </p:nvSpPr>
        <p:spPr>
          <a:xfrm>
            <a:off x="6345936"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The profiles were too cleanly separated and the detector was partly tuned to the generator. A perfect score meant an easy test. Section 7 and the reflection in 9.1. The evaluation was rebuilt to fail: held-out seeds, overlapping profiles, a prevalence sweep and a component breakdown that reports the weaker half of the detector.</a:t>
            </a:r>
          </a:p>
        </p:txBody>
      </p:sp>
      <p:sp>
        <p:nvSpPr>
          <p:cNvPr id="12" name="Rectangle 11"/>
          <p:cNvSpPr/>
          <p:nvPr/>
        </p:nvSpPr>
        <p:spPr>
          <a:xfrm>
            <a:off x="566928"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Do SurveyCTO and ODK results differ?</a:t>
            </a:r>
          </a:p>
        </p:txBody>
      </p:sp>
      <p:sp>
        <p:nvSpPr>
          <p:cNvPr id="14" name="TextBox 13"/>
          <p:cNvSpPr txBox="1"/>
          <p:nvPr/>
        </p:nvSpPr>
        <p:spPr>
          <a:xfrm>
            <a:off x="731520"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Not once the same interviews are written in both: all forty features and every decision are identical (Table 6b). The earlier apparent asymmetry came from the two files holding different generated interviews. scripts/run_platform_parity.py writes one history into both formats; the parser is not the cause.</a:t>
            </a:r>
          </a:p>
        </p:txBody>
      </p:sp>
      <p:sp>
        <p:nvSpPr>
          <p:cNvPr id="15" name="Rectangle 14"/>
          <p:cNvSpPr/>
          <p:nvPr/>
        </p:nvSpPr>
        <p:spPr>
          <a:xfrm>
            <a:off x="6181344"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What does the baseline comparison show?</a:t>
            </a:r>
          </a:p>
        </p:txBody>
      </p:sp>
      <p:sp>
        <p:nvSpPr>
          <p:cNvPr id="17" name="TextBox 16"/>
          <p:cNvSpPr txBox="1"/>
          <p:nvPr/>
        </p:nvSpPr>
        <p:spPr>
          <a:xfrm>
            <a:off x="6345936"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Duration-only checking finds 66 of 100 anomalies on the canonical benchmark and none of 400 under stress. Table 3 and Table 6a. The full detector finds all 100 on the canonical benchmark and 84 to 89 percent under stress. A V-10 rule baseline, a run of 20 events without back-navigation, finds 35 to 51 percent under stress at precision below 0.22.</a:t>
            </a:r>
          </a:p>
        </p:txBody>
      </p:sp>
      <p:sp>
        <p:nvSpPr>
          <p:cNvPr id="18" name="TextBox 17"/>
          <p:cNvSpPr txBox="1"/>
          <p:nvPr/>
        </p:nvSpPr>
        <p:spPr>
          <a:xfrm>
            <a:off x="566928" y="5577840"/>
            <a:ext cx="11055096" cy="36576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Full answers and where the evidence is: speaker notes.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62</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VIVA 3  ·  LIMITS AND DECISIONS</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Where the method is weak</a:t>
            </a:r>
          </a:p>
        </p:txBody>
      </p:sp>
      <p:sp>
        <p:nvSpPr>
          <p:cNvPr id="6" name="Rectangle 5"/>
          <p:cNvSpPr/>
          <p:nvPr/>
        </p:nvSpPr>
        <p:spPr>
          <a:xfrm>
            <a:off x="566928"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What if an enumerator fabricates their whole caseload?</a:t>
            </a:r>
          </a:p>
        </p:txBody>
      </p:sp>
      <p:sp>
        <p:nvSpPr>
          <p:cNvPr id="8" name="TextBox 7"/>
          <p:cNvSpPr txBox="1"/>
          <p:nvPr/>
        </p:nvSpPr>
        <p:spPr>
          <a:xfrm>
            <a:off x="731520"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Analysed alone, that batch is almost all anomalous and detection collapses. Criteria hold only up to 50 percent prevalence. Section 6.4, Table 5a and Figure 3; section 8. Pooling across enumerators keeps one caseload a minority, but fails if a whole team fabricates. Thresholds from a verified reference set, for example back-checked interviews from earlier rounds, would remove the assumption; it is future work.</a:t>
            </a:r>
          </a:p>
        </p:txBody>
      </p:sp>
      <p:sp>
        <p:nvSpPr>
          <p:cNvPr id="9" name="Rectangle 8"/>
          <p:cNvSpPr/>
          <p:nvPr/>
        </p:nvSpPr>
        <p:spPr>
          <a:xfrm>
            <a:off x="6181344"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Why did your sweep first stop at 30 percent?</a:t>
            </a:r>
          </a:p>
        </p:txBody>
      </p:sp>
      <p:sp>
        <p:nvSpPr>
          <p:cNvPr id="11" name="TextBox 10"/>
          <p:cNvSpPr txBox="1"/>
          <p:nvPr/>
        </p:nvSpPr>
        <p:spPr>
          <a:xfrm>
            <a:off x="6345936"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Real fabrication rates are low, so I tested low prevalence. That missed the concentrated case, which is now measured to 90. Answer directly: it was a gap, it was pointed out, and the envelope is now measured and stated. A stated limit with a figure behind it is stronger than a silent one.</a:t>
            </a:r>
          </a:p>
        </p:txBody>
      </p:sp>
      <p:sp>
        <p:nvSpPr>
          <p:cNvPr id="12" name="Rectangle 11"/>
          <p:cNvSpPr/>
          <p:nvPr/>
        </p:nvSpPr>
        <p:spPr>
          <a:xfrm>
            <a:off x="566928"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Why is fabricated recall only 0.70 under stress?</a:t>
            </a:r>
          </a:p>
        </p:txBody>
      </p:sp>
      <p:sp>
        <p:nvSpPr>
          <p:cNvPr id="14" name="TextBox 13"/>
          <p:cNvSpPr txBox="1"/>
          <p:nvPr/>
        </p:nvSpPr>
        <p:spPr>
          <a:xfrm>
            <a:off x="731520"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Mild fabrications clear median-relative thresholds by narrow margins. Entropy separates them with no overlap: calibration, not signal. Section 6.6 and the diagnostic in docs/fabricated_detection_diagnostic.md: highest fabricated entropy 1.983 against lowest genuine 2.039 on development seeds. The worked example INT-00009 clears each flag by under five percent.</a:t>
            </a:r>
          </a:p>
        </p:txBody>
      </p:sp>
      <p:sp>
        <p:nvSpPr>
          <p:cNvPr id="15" name="Rectangle 14"/>
          <p:cNvSpPr/>
          <p:nvPr/>
        </p:nvSpPr>
        <p:spPr>
          <a:xfrm>
            <a:off x="6181344"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You built a fix. Why is it off by default?</a:t>
            </a:r>
          </a:p>
        </p:txBody>
      </p:sp>
      <p:sp>
        <p:nvSpPr>
          <p:cNvPr id="17" name="TextBox 16"/>
          <p:cNvSpPr txBox="1"/>
          <p:nvPr/>
        </p:nvSpPr>
        <p:spPr>
          <a:xfrm>
            <a:off x="6345936"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It lifts fabricated recall to 1.00 but drops the lowest precision to 0.83, at low prevalence where real surveys are. Section 7. At five percent prevalence it adds four false accusations and no extra detection. It ships as entropy_fence_scale, unset by default. It also does not reduce to Tukey's fence as I first wrote: under symmetry it equals a multiplier of 1.0.</a:t>
            </a:r>
          </a:p>
        </p:txBody>
      </p:sp>
      <p:sp>
        <p:nvSpPr>
          <p:cNvPr id="18" name="TextBox 17"/>
          <p:cNvSpPr txBox="1"/>
          <p:nvPr/>
        </p:nvSpPr>
        <p:spPr>
          <a:xfrm>
            <a:off x="566928" y="5577840"/>
            <a:ext cx="11055096" cy="36576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Full answers and where the evidence is: speaker notes.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63</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VIVA 4  ·  SOURCES, ENGINEERING AND AI</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Can the work be trusted?</a:t>
            </a:r>
          </a:p>
        </p:txBody>
      </p:sp>
      <p:sp>
        <p:nvSpPr>
          <p:cNvPr id="6" name="Rectangle 5"/>
          <p:cNvSpPr/>
          <p:nvPr/>
        </p:nvSpPr>
        <p:spPr>
          <a:xfrm>
            <a:off x="566928"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Two references could not be found. What did you do?</a:t>
            </a:r>
          </a:p>
        </p:txBody>
      </p:sp>
      <p:sp>
        <p:nvSpPr>
          <p:cNvPr id="8" name="TextBox 7"/>
          <p:cNvSpPr txBox="1"/>
          <p:nvPr/>
        </p:nvSpPr>
        <p:spPr>
          <a:xfrm>
            <a:off x="731520"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Withdrew them, checked every reference against its source, and recorded how far each was read (Appendix E). Seventeen feature justifications rested on the two lost references and were rebuilt; Appendix F now shows 23 of 40 features with a named source and 17 as design choices. A recheck against the full texts corrected several paraphrases and page numbers.</a:t>
            </a:r>
          </a:p>
        </p:txBody>
      </p:sp>
      <p:sp>
        <p:nvSpPr>
          <p:cNvPr id="9" name="Rectangle 8"/>
          <p:cNvSpPr/>
          <p:nvPr/>
        </p:nvSpPr>
        <p:spPr>
          <a:xfrm>
            <a:off x="6181344"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What was the hardest bug?</a:t>
            </a:r>
          </a:p>
        </p:txBody>
      </p:sp>
      <p:sp>
        <p:nvSpPr>
          <p:cNvPr id="11" name="TextBox 10"/>
          <p:cNvSpPr txBox="1"/>
          <p:nvPr/>
        </p:nvSpPr>
        <p:spPr>
          <a:xfrm>
            <a:off x="6345936" y="1892807"/>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pandas 3 moved datetimes to microseconds, so ODK durations came out 1,000 times too small, silently. Found in a clean-environment audit, fixed with timedelta arithmetic, and covered by a regression test. Also fixed: Q-01 had been a first-to-last span identical to Q-10, not the sum of event durations the documentation describes.</a:t>
            </a:r>
          </a:p>
        </p:txBody>
      </p:sp>
      <p:sp>
        <p:nvSpPr>
          <p:cNvPr id="12" name="Rectangle 11"/>
          <p:cNvSpPr/>
          <p:nvPr/>
        </p:nvSpPr>
        <p:spPr>
          <a:xfrm>
            <a:off x="566928"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How can an examiner reproduce your numbers?</a:t>
            </a:r>
          </a:p>
        </p:txBody>
      </p:sp>
      <p:sp>
        <p:nvSpPr>
          <p:cNvPr id="14" name="TextBox 13"/>
          <p:cNvSpPr txBox="1"/>
          <p:nvPr/>
        </p:nvSpPr>
        <p:spPr>
          <a:xfrm>
            <a:off x="731520"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Appendix D, from tag v-final-release, in a fresh environment from requirements-validated.txt. An independent run on a different Python and pandas reproduced the robustness round exactly. The pin file now includes the two packages the Word and PDF rebuild needs, so every step of Appendix D runs.</a:t>
            </a:r>
          </a:p>
        </p:txBody>
      </p:sp>
      <p:sp>
        <p:nvSpPr>
          <p:cNvPr id="15" name="Rectangle 14"/>
          <p:cNvSpPr/>
          <p:nvPr/>
        </p:nvSpPr>
        <p:spPr>
          <a:xfrm>
            <a:off x="6181344"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602736"/>
            <a:ext cx="5111496" cy="457200"/>
          </a:xfrm>
          <a:prstGeom prst="rect">
            <a:avLst/>
          </a:prstGeom>
          <a:noFill/>
        </p:spPr>
        <p:txBody>
          <a:bodyPr wrap="square" lIns="36576" rIns="36576" tIns="18288" bIns="18288" anchor="t">
            <a:spAutoFit/>
          </a:bodyPr>
          <a:lstStyle/>
          <a:p>
            <a:pPr algn="l">
              <a:spcAft>
                <a:spcPts val="400"/>
              </a:spcAft>
            </a:pPr>
            <a:r>
              <a:rPr sz="1250" b="1" i="0">
                <a:solidFill>
                  <a:srgbClr val="0F766E"/>
                </a:solidFill>
                <a:latin typeface="Calibri"/>
              </a:rPr>
              <a:t>How did you use AI, and what is yours?</a:t>
            </a:r>
          </a:p>
        </p:txBody>
      </p:sp>
      <p:sp>
        <p:nvSpPr>
          <p:cNvPr id="17" name="TextBox 16"/>
          <p:cNvSpPr txBox="1"/>
          <p:nvPr/>
        </p:nvSpPr>
        <p:spPr>
          <a:xfrm>
            <a:off x="6345936" y="4041648"/>
            <a:ext cx="5111496" cy="1307592"/>
          </a:xfrm>
          <a:prstGeom prst="rect">
            <a:avLst/>
          </a:prstGeom>
          <a:noFill/>
        </p:spPr>
        <p:txBody>
          <a:bodyPr wrap="square" lIns="36576" rIns="36576" tIns="18288" bIns="18288" anchor="t">
            <a:spAutoFit/>
          </a:bodyPr>
          <a:lstStyle/>
          <a:p>
            <a:pPr algn="l">
              <a:spcAft>
                <a:spcPts val="600"/>
              </a:spcAft>
            </a:pPr>
            <a:r>
              <a:rPr sz="1000" b="0" i="0">
                <a:solidFill>
                  <a:srgbClr val="1F2933"/>
                </a:solidFill>
                <a:latin typeface="Calibri"/>
              </a:rPr>
              <a:t>Appendix A logs every episode. The design, taxonomy, method and every judgement are mine; no number was taken on trust. Claude was used for code review, drafting and reference checking; every output was verified against a file or a source before it was used, and the log records what was accepted, modified or rejected, including a correction I declined to make the default.</a:t>
            </a:r>
          </a:p>
        </p:txBody>
      </p:sp>
      <p:sp>
        <p:nvSpPr>
          <p:cNvPr id="18" name="TextBox 17"/>
          <p:cNvSpPr txBox="1"/>
          <p:nvPr/>
        </p:nvSpPr>
        <p:spPr>
          <a:xfrm>
            <a:off x="566928" y="5577840"/>
            <a:ext cx="11055096" cy="36576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Full answers and where the evidence is: speaker notes.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6232B"/>
        </a:solidFill>
      </p:bgPr>
    </p:bg>
    <p:spTree>
      <p:nvGrpSpPr>
        <p:cNvPr id="1" name=""/>
        <p:cNvGrpSpPr/>
        <p:nvPr/>
      </p:nvGrpSpPr>
      <p:grpSpPr/>
      <p:sp>
        <p:nvSpPr>
          <p:cNvPr id="2" name="Text 0"/>
          <p:cNvSpPr txBox="1"/>
          <p:nvPr/>
        </p:nvSpPr>
        <p:spPr>
          <a:xfrm>
            <a:off x="566928" y="2286000"/>
            <a:ext cx="9774936"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live site.</a:t>
            </a:r>
          </a:p>
        </p:txBody>
      </p:sp>
      <p:sp>
        <p:nvSpPr>
          <p:cNvPr id="3" name="Text 1"/>
          <p:cNvSpPr txBox="1"/>
          <p:nvPr/>
        </p:nvSpPr>
        <p:spPr>
          <a:xfrm>
            <a:off x="566928" y="3657600"/>
            <a:ext cx="9043416" cy="914400"/>
          </a:xfrm>
          <a:prstGeom prst="rect">
            <a:avLst/>
          </a:prstGeom>
          <a:noFill/>
          <a:ln/>
        </p:spPr>
        <p:txBody>
          <a:bodyPr wrap="square" lIns="0" tIns="0" rIns="0" bIns="0" rtlCol="0" anchor="ctr"/>
          <a:lstStyle/>
          <a:p>
            <a:pPr indent="0" marL="0">
              <a:lnSpc>
                <a:spcPts val="2400"/>
              </a:lnSpc>
              <a:buNone/>
            </a:pPr>
            <a:r>
              <a:rPr lang="en-US" sz="1500" dirty="0">
                <a:solidFill>
                  <a:srgbClr val="AFC0C9"/>
                </a:solidFill>
                <a:latin typeface="Calibri" pitchFamily="34" charset="0"/>
                <a:ea typeface="Calibri" pitchFamily="34" charset="-122"/>
                <a:cs typeface="Calibri" pitchFamily="34" charset="-120"/>
              </a:rPr>
              <a:t>The same pipeline also runs behind a review dashboard at paradata.samuelkaoma.dev. The next slides explain what each page shows, how it is built and hosted, and what it is not.</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7C8B95"/>
                </a:solidFill>
                <a:latin typeface="Calibri" pitchFamily="34" charset="0"/>
                <a:ea typeface="Calibri" pitchFamily="34" charset="-122"/>
                <a:cs typeface="Calibri" pitchFamily="34" charset="-120"/>
              </a:rPr>
              <a:t>27</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7C8B95"/>
                </a:solidFill>
                <a:latin typeface="Calibri" pitchFamily="34" charset="0"/>
                <a:ea typeface="Calibri" pitchFamily="34" charset="-122"/>
                <a:cs typeface="Calibri" pitchFamily="34" charset="-120"/>
              </a:rPr>
              <a:t>Samuel Kaoma  |  2022016530  |  CSC 4004</a:t>
            </a:r>
            <a:endParaRPr lang="en-US" sz="1000" dirty="0"/>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WHAT IT IS</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A review queue, not a report</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7818120" y="1371600"/>
            <a:ext cx="3803904" cy="3931920"/>
          </a:xfrm>
          <a:prstGeom prst="rect">
            <a:avLst/>
          </a:prstGeom>
          <a:noFill/>
          <a:ln/>
        </p:spPr>
        <p:txBody>
          <a:bodyPr wrap="square" lIns="0" tIns="0" rIns="0" bIns="0" rtlCol="0" anchor="ctr"/>
          <a:lstStyle/>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Batch in, queue out.</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A batch of audit logs goes through the pipeline once. Every interview lands in a lane.</a:t>
            </a:r>
          </a:p>
          <a:p>
            <a:pPr indent="0" marL="0">
              <a:lnSpc>
                <a:spcPts val="1650"/>
              </a:lnSpc>
              <a:buNone/>
            </a:pPr>
            <a:r>
              <a:rPr lang="en-US" sz="13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Flagged, review, data quality, clean.</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Flagged first. Broken records get their own lane.</a:t>
            </a:r>
          </a:p>
          <a:p>
            <a:pPr indent="0" marL="0">
              <a:lnSpc>
                <a:spcPts val="1650"/>
              </a:lnSpc>
              <a:buNone/>
            </a:pPr>
            <a:r>
              <a:rPr lang="en-US" sz="13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Each interview says why.</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Rules in words, values against the batch median.</a:t>
            </a:r>
          </a:p>
        </p:txBody>
      </p:sp>
      <p:sp>
        <p:nvSpPr>
          <p:cNvPr id="7"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8"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9"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A supervisor's real question is not 'what is the precision' but 'which interviews do I check this week, and why'. The page is built around that question.</a:t>
            </a:r>
          </a:p>
        </p:txBody>
      </p:sp>
      <p:sp>
        <p:nvSpPr>
          <p:cNvPr id="10"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Screenshot of the Review queue view, sample batch, interview ODK401. paradata.samuelkaoma.dev.</a:t>
            </a:r>
          </a:p>
        </p:txBody>
      </p:sp>
      <p:pic>
        <p:nvPicPr>
          <p:cNvPr id="11" name="Screenshot" descr="review_queue.png"/>
          <p:cNvPicPr>
            <a:picLocks noChangeAspect="1"/>
          </p:cNvPicPr>
          <p:nvPr/>
        </p:nvPicPr>
        <p:blipFill>
          <a:blip r:embed="rId2"/>
          <a:stretch>
            <a:fillRect/>
          </a:stretch>
        </p:blipFill>
        <p:spPr>
          <a:xfrm>
            <a:off x="566928" y="1325880"/>
            <a:ext cx="6395024" cy="402336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DATA IN</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The input data, exactly as exported</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8549640" y="1371600"/>
            <a:ext cx="3072384" cy="3931920"/>
          </a:xfrm>
          <a:prstGeom prst="rect">
            <a:avLst/>
          </a:prstGeom>
          <a:noFill/>
          <a:ln/>
        </p:spPr>
        <p:txBody>
          <a:bodyPr wrap="square" lIns="0" tIns="0" rIns="0" bIns="0" rtlCol="0" anchor="ctr"/>
          <a:lstStyle/>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One row per event.</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Twenty to twenty-five rows an interview: open, each question, any jumps, close.</a:t>
            </a:r>
          </a:p>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The two platforms differ.</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Column names, timestamps, event names.</a:t>
            </a:r>
          </a:p>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200" b="1" dirty="0">
                <a:solidFill>
                  <a:srgbClr val="B45309"/>
                </a:solidFill>
                <a:latin typeface="Calibri" pitchFamily="34" charset="0"/>
                <a:ea typeface="Calibri" pitchFamily="34" charset="-122"/>
                <a:cs typeface="Calibri" pitchFamily="34" charset="-120"/>
              </a:rPr>
              <a:t>Synthetic layouts.</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Not the platforms' native exports. Native ODK is recognised; native SurveyCTO is not yet.</a:t>
            </a:r>
          </a:p>
        </p:txBody>
      </p:sp>
      <p:sp>
        <p:nvSpPr>
          <p:cNvPr id="7"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8"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9"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The page never asks you to take the input on trust: the raw rows of any interview are one click away.</a:t>
            </a:r>
          </a:p>
        </p:txBody>
      </p:sp>
      <p:sp>
        <p:nvSpPr>
          <p:cNvPr id="10"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Screenshot of the Data in view: the raw rows of one interview and a glossary of its columns.</a:t>
            </a:r>
          </a:p>
        </p:txBody>
      </p:sp>
      <p:pic>
        <p:nvPicPr>
          <p:cNvPr id="11" name="Screenshot" descr="data_raw.png"/>
          <p:cNvPicPr>
            <a:picLocks noChangeAspect="1"/>
          </p:cNvPicPr>
          <p:nvPr/>
        </p:nvPicPr>
        <p:blipFill>
          <a:blip r:embed="rId2"/>
          <a:stretch>
            <a:fillRect/>
          </a:stretch>
        </p:blipFill>
        <p:spPr>
          <a:xfrm>
            <a:off x="566928" y="1325880"/>
            <a:ext cx="7772400" cy="4008448"/>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PARSING</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One common shape for both platforms</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7132320" y="1371600"/>
            <a:ext cx="4489704" cy="3931920"/>
          </a:xfrm>
          <a:prstGeom prst="rect">
            <a:avLst/>
          </a:prstGeom>
          <a:noFill/>
          <a:ln/>
        </p:spPr>
        <p:txBody>
          <a:bodyPr wrap="square" lIns="0" tIns="0" rIns="0" bIns="0" rtlCol="0" anchor="ctr"/>
          <a:lstStyle/>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Six columns.</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interview id, field name, event type, start, end, duration.</a:t>
            </a:r>
          </a:p>
          <a:p>
            <a:pPr indent="0" marL="0">
              <a:lnSpc>
                <a:spcPts val="1650"/>
              </a:lnSpc>
              <a:buNone/>
            </a:pPr>
            <a:r>
              <a:rPr lang="en-US" sz="13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Mark, do not repair.</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A bad timestamp or a missing name is flagged, not dropped or guessed.</a:t>
            </a:r>
          </a:p>
          <a:p>
            <a:pPr indent="0" marL="0">
              <a:lnSpc>
                <a:spcPts val="1650"/>
              </a:lnSpc>
              <a:buNone/>
            </a:pPr>
            <a:r>
              <a:rPr lang="en-US" sz="13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Platform-blind from here.</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Nothing after this step knows which platform a row came from.</a:t>
            </a:r>
          </a:p>
          <a:p>
            <a:pPr indent="0" marL="0">
              <a:lnSpc>
                <a:spcPts val="1650"/>
              </a:lnSpc>
              <a:buNone/>
            </a:pPr>
            <a:r>
              <a:rPr lang="en-US" sz="13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300" b="1" dirty="0">
                <a:solidFill>
                  <a:srgbClr val="0F766E"/>
                </a:solidFill>
                <a:latin typeface="Calibri" pitchFamily="34" charset="0"/>
                <a:ea typeface="Calibri" pitchFamily="34" charset="-122"/>
                <a:cs typeface="Calibri" pitchFamily="34" charset="-120"/>
              </a:rPr>
              <a:t>The time line.</a:t>
            </a:r>
          </a:p>
          <a:p>
            <a:pPr indent="0" marL="0">
              <a:lnSpc>
                <a:spcPts val="1650"/>
              </a:lnSpc>
              <a:buNone/>
            </a:pPr>
            <a:r>
              <a:rPr lang="en-US" sz="1300" b="0" dirty="0">
                <a:solidFill>
                  <a:srgbClr val="1F2933"/>
                </a:solidFill>
                <a:latin typeface="Calibri" pitchFamily="34" charset="0"/>
                <a:ea typeface="Calibri" pitchFamily="34" charset="-122"/>
                <a:cs typeface="Calibri" pitchFamily="34" charset="-120"/>
              </a:rPr>
              <a:t>What the features are measured from.</a:t>
            </a:r>
          </a:p>
        </p:txBody>
      </p:sp>
      <p:sp>
        <p:nvSpPr>
          <p:cNvPr id="7"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8"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9"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the contract between parsing and everything above it, the claim behind Figure 1 in the report.</a:t>
            </a:r>
          </a:p>
        </p:txBody>
      </p:sp>
      <p:sp>
        <p:nvSpPr>
          <p:cNvPr id="10"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Screenshot of the Data in view: the same interview after parsing, how event names are normalised, and its time line.</a:t>
            </a:r>
          </a:p>
        </p:txBody>
      </p:sp>
      <p:pic>
        <p:nvPicPr>
          <p:cNvPr id="11" name="Screenshot" descr="data_parse.png"/>
          <p:cNvPicPr>
            <a:picLocks noChangeAspect="1"/>
          </p:cNvPicPr>
          <p:nvPr/>
        </p:nvPicPr>
        <p:blipFill>
          <a:blip r:embed="rId2"/>
          <a:stretch>
            <a:fillRect/>
          </a:stretch>
        </p:blipFill>
        <p:spPr>
          <a:xfrm>
            <a:off x="566928" y="1280160"/>
            <a:ext cx="5460920" cy="402336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METHOD</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Named rules, a count, three lanes</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7772400" y="1371600"/>
            <a:ext cx="3849624" cy="3931920"/>
          </a:xfrm>
          <a:prstGeom prst="rect">
            <a:avLst/>
          </a:prstGeom>
          <a:noFill/>
          <a:ln/>
        </p:spPr>
        <p:txBody>
          <a:bodyPr wrap="square" lIns="0" tIns="0" rIns="0" bIns="0" rtlCol="0" anchor="ctr"/>
          <a:lstStyle/>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Forty features.</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Four families, each with its definition and the interview's value.</a:t>
            </a:r>
          </a:p>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Twenty-one flags.</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Every rule in words. The ones that fired for this interview are highlighted.</a:t>
            </a:r>
          </a:p>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Score is a count.</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0 to 1 clean, 2 to 4 review, 5 or more flagged.</a:t>
            </a:r>
          </a:p>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 </a:t>
            </a:r>
          </a:p>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Batch-relative.</a:t>
            </a:r>
          </a:p>
          <a:p>
            <a:pPr indent="0" marL="0">
              <a:lnSpc>
                <a:spcPts val="1650"/>
              </a:lnSpc>
              <a:buNone/>
            </a:pPr>
            <a:r>
              <a:rPr lang="en-US" sz="1200" b="0" dirty="0">
                <a:solidFill>
                  <a:srgbClr val="1F2933"/>
                </a:solidFill>
                <a:latin typeface="Calibri" pitchFamily="34" charset="0"/>
                <a:ea typeface="Calibri" pitchFamily="34" charset="-122"/>
                <a:cs typeface="Calibri" pitchFamily="34" charset="-120"/>
              </a:rPr>
              <a:t>A table shows the numbers this batch's rules compare against.</a:t>
            </a:r>
          </a:p>
        </p:txBody>
      </p:sp>
      <p:sp>
        <p:nvSpPr>
          <p:cNvPr id="7"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8"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9"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No machine-learning model: a flag accuses a named person, so every point has to be explainable.</a:t>
            </a:r>
          </a:p>
        </p:txBody>
      </p:sp>
      <p:sp>
        <p:nvSpPr>
          <p:cNvPr id="10"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Screenshot of the Method view for ODK401: the three lanes and the behaviour rules, with the fired rules highlighted.</a:t>
            </a:r>
          </a:p>
        </p:txBody>
      </p:sp>
      <p:pic>
        <p:nvPicPr>
          <p:cNvPr id="11" name="Screenshot" descr="method_rules.png"/>
          <p:cNvPicPr>
            <a:picLocks noChangeAspect="1"/>
          </p:cNvPicPr>
          <p:nvPr/>
        </p:nvPicPr>
        <p:blipFill>
          <a:blip r:embed="rId2"/>
          <a:stretch>
            <a:fillRect/>
          </a:stretch>
        </p:blipFill>
        <p:spPr>
          <a:xfrm>
            <a:off x="566928" y="1280160"/>
            <a:ext cx="5412270" cy="402336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CHARTS</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The charts that make the argument</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Text 4"/>
          <p:cNvSpPr txBox="1"/>
          <p:nvPr/>
        </p:nvSpPr>
        <p:spPr>
          <a:xfrm>
            <a:off x="566928" y="4251960"/>
            <a:ext cx="5486400" cy="1097280"/>
          </a:xfrm>
          <a:prstGeom prst="rect">
            <a:avLst/>
          </a:prstGeom>
          <a:noFill/>
          <a:ln/>
        </p:spPr>
        <p:txBody>
          <a:bodyPr wrap="square" lIns="0" tIns="0" rIns="0" bIns="0" rtlCol="0" anchor="ctr"/>
          <a:lstStyle/>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Left: </a:t>
            </a:r>
            <a:r>
              <a:rPr lang="en-US" sz="1200" b="0" dirty="0">
                <a:solidFill>
                  <a:srgbClr val="1F2933"/>
                </a:solidFill>
                <a:latin typeface="Calibri" pitchFamily="34" charset="0"/>
                <a:ea typeface="Calibri" pitchFamily="34" charset="-122"/>
                <a:cs typeface="Calibri" pitchFamily="34" charset="-120"/>
              </a:rPr>
              <a:t>mean response time per question for each true profile. Genuine rises and falls with question difficulty. Fabricated and speeding are flat.</a:t>
            </a:r>
          </a:p>
        </p:txBody>
      </p:sp>
      <p:sp>
        <p:nvSpPr>
          <p:cNvPr id="7"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8"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9"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Same data as Table 6a: held-out seed 7, stress difficulty, SurveyCTO.</a:t>
            </a:r>
          </a:p>
        </p:txBody>
      </p:sp>
      <p:sp>
        <p:nvSpPr>
          <p:cNvPr id="10"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Screenshots of the Charts view, harder batch (held-out seed 7, stress difficulty). The page also has score, box-plot and prevalence charts.</a:t>
            </a:r>
          </a:p>
        </p:txBody>
      </p:sp>
      <p:pic>
        <p:nvPicPr>
          <p:cNvPr id="11" name="Screenshot" descr="charts_profiles.png"/>
          <p:cNvPicPr>
            <a:picLocks noChangeAspect="1"/>
          </p:cNvPicPr>
          <p:nvPr/>
        </p:nvPicPr>
        <p:blipFill>
          <a:blip r:embed="rId2"/>
          <a:stretch>
            <a:fillRect/>
          </a:stretch>
        </p:blipFill>
        <p:spPr>
          <a:xfrm>
            <a:off x="566928" y="1325880"/>
            <a:ext cx="5486400" cy="2770450"/>
          </a:xfrm>
          <a:prstGeom prst="rect">
            <a:avLst/>
          </a:prstGeom>
        </p:spPr>
      </p:pic>
      <p:pic>
        <p:nvPicPr>
          <p:cNvPr id="12" name="Screenshot" descr="charts_baseline.png"/>
          <p:cNvPicPr>
            <a:picLocks noChangeAspect="1"/>
          </p:cNvPicPr>
          <p:nvPr/>
        </p:nvPicPr>
        <p:blipFill>
          <a:blip r:embed="rId3"/>
          <a:stretch>
            <a:fillRect/>
          </a:stretch>
        </p:blipFill>
        <p:spPr>
          <a:xfrm>
            <a:off x="6263640" y="1325880"/>
            <a:ext cx="5358384" cy="1299674"/>
          </a:xfrm>
          <a:prstGeom prst="rect">
            <a:avLst/>
          </a:prstGeom>
        </p:spPr>
      </p:pic>
      <p:sp>
        <p:nvSpPr>
          <p:cNvPr id="13" name="Caption right"/>
          <p:cNvSpPr txBox="1"/>
          <p:nvPr/>
        </p:nvSpPr>
        <p:spPr>
          <a:xfrm>
            <a:off x="6263640" y="3017520"/>
            <a:ext cx="5358384" cy="1188720"/>
          </a:xfrm>
          <a:prstGeom prst="rect">
            <a:avLst/>
          </a:prstGeom>
          <a:noFill/>
          <a:ln/>
        </p:spPr>
        <p:txBody>
          <a:bodyPr wrap="square" lIns="0" tIns="0" rIns="0" bIns="0" rtlCol="0" anchor="ctr"/>
          <a:lstStyle/>
          <a:p>
            <a:pPr indent="0" marL="0">
              <a:lnSpc>
                <a:spcPts val="1650"/>
              </a:lnSpc>
              <a:buNone/>
            </a:pPr>
            <a:r>
              <a:rPr lang="en-US" sz="1200" b="1" dirty="0">
                <a:solidFill>
                  <a:srgbClr val="0F766E"/>
                </a:solidFill>
                <a:latin typeface="Calibri" pitchFamily="34" charset="0"/>
                <a:ea typeface="Calibri" pitchFamily="34" charset="-122"/>
                <a:cs typeface="Calibri" pitchFamily="34" charset="-120"/>
              </a:rPr>
              <a:t>Right: </a:t>
            </a:r>
            <a:r>
              <a:rPr lang="en-US" sz="1200" b="0" dirty="0">
                <a:solidFill>
                  <a:srgbClr val="1F2933"/>
                </a:solidFill>
                <a:latin typeface="Calibri" pitchFamily="34" charset="0"/>
                <a:ea typeface="Calibri" pitchFamily="34" charset="-122"/>
                <a:cs typeface="Calibri" pitchFamily="34" charset="-120"/>
              </a:rPr>
              <a:t>the detector against the two checks teams already run, on the harder batch. Duration alone finds none of the 100 anomalies; the full detector finds 85, with 2 false alarms.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HOW IT IS BUILT</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Built once per push, then only read</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49</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17"/>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7" name="Shape 18"/>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8" name="Text 19"/>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The pipeline runs once, on the build server. Visitors only read files.</a:t>
            </a:r>
          </a:p>
        </p:txBody>
      </p:sp>
      <p:sp>
        <p:nvSpPr>
          <p:cNvPr id="9" name="Card 1"/>
          <p:cNvSpPr/>
          <p:nvPr/>
        </p:nvSpPr>
        <p:spPr>
          <a:xfrm>
            <a:off x="566928" y="1371600"/>
            <a:ext cx="2103120" cy="3246120"/>
          </a:xfrm>
          <a:prstGeom prst="roundRect">
            <a:avLst>
              <a:gd name="adj" fmla="val 1724"/>
            </a:avLst>
          </a:prstGeom>
          <a:solidFill>
            <a:srgbClr val="EEF2F6"/>
          </a:solidFill>
          <a:ln w="12700">
            <a:solidFill>
              <a:srgbClr val="EEF2F6"/>
            </a:solidFill>
            <a:prstDash val="solid"/>
          </a:ln>
        </p:spPr>
        <p:txBody>
          <a:bodyPr/>
          <a:p/>
        </p:txBody>
      </p:sp>
      <p:sp>
        <p:nvSpPr>
          <p:cNvPr id="10" name="Card 1 title"/>
          <p:cNvSpPr txBox="1"/>
          <p:nvPr/>
        </p:nvSpPr>
        <p:spPr>
          <a:xfrm>
            <a:off x="713232" y="1536192"/>
            <a:ext cx="1828799" cy="36576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1  GitHub</a:t>
            </a:r>
          </a:p>
        </p:txBody>
      </p:sp>
      <p:sp>
        <p:nvSpPr>
          <p:cNvPr id="11" name="Card 1 text"/>
          <p:cNvSpPr txBox="1"/>
          <p:nvPr/>
        </p:nvSpPr>
        <p:spPr>
          <a:xfrm>
            <a:off x="713232" y="2011680"/>
            <a:ext cx="1828799" cy="2560320"/>
          </a:xfrm>
          <a:prstGeom prst="rect">
            <a:avLst/>
          </a:prstGeom>
          <a:noFill/>
          <a:ln/>
        </p:spPr>
        <p:txBody>
          <a:bodyPr wrap="square" lIns="0" tIns="0" rIns="0" bIns="0" rtlCol="0" anchor="t"/>
          <a:lstStyle/>
          <a:p>
            <a:pPr indent="0" marL="0">
              <a:lnSpc>
                <a:spcPts val="1550"/>
              </a:lnSpc>
              <a:buNone/>
            </a:pPr>
            <a:r>
              <a:rPr lang="en-US" sz="1400" dirty="0" b="0">
                <a:solidFill>
                  <a:srgbClr val="1F2933"/>
                </a:solidFill>
                <a:latin typeface="Calibri" pitchFamily="34" charset="0"/>
                <a:ea typeface="Calibri" pitchFamily="34" charset="-122"/>
                <a:cs typeface="Calibri" pitchFamily="34" charset="-120"/>
              </a:rPr>
              <a:t>The school repository, branch main. A push sends a webhook to Dokploy.</a:t>
            </a:r>
          </a:p>
        </p:txBody>
      </p:sp>
      <p:sp>
        <p:nvSpPr>
          <p:cNvPr id="12" name="Card 2"/>
          <p:cNvSpPr/>
          <p:nvPr/>
        </p:nvSpPr>
        <p:spPr>
          <a:xfrm>
            <a:off x="2802636" y="1371600"/>
            <a:ext cx="2103120" cy="3246120"/>
          </a:xfrm>
          <a:prstGeom prst="roundRect">
            <a:avLst>
              <a:gd name="adj" fmla="val 1724"/>
            </a:avLst>
          </a:prstGeom>
          <a:solidFill>
            <a:srgbClr val="EEF2F6"/>
          </a:solidFill>
          <a:ln w="12700">
            <a:solidFill>
              <a:srgbClr val="EEF2F6"/>
            </a:solidFill>
            <a:prstDash val="solid"/>
          </a:ln>
        </p:spPr>
        <p:txBody>
          <a:bodyPr/>
          <a:p/>
        </p:txBody>
      </p:sp>
      <p:sp>
        <p:nvSpPr>
          <p:cNvPr id="13" name="Card 2 title"/>
          <p:cNvSpPr txBox="1"/>
          <p:nvPr/>
        </p:nvSpPr>
        <p:spPr>
          <a:xfrm>
            <a:off x="2948940" y="1536192"/>
            <a:ext cx="1828799" cy="36576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2  Dokploy</a:t>
            </a:r>
          </a:p>
        </p:txBody>
      </p:sp>
      <p:sp>
        <p:nvSpPr>
          <p:cNvPr id="14" name="Card 2 text"/>
          <p:cNvSpPr txBox="1"/>
          <p:nvPr/>
        </p:nvSpPr>
        <p:spPr>
          <a:xfrm>
            <a:off x="2948940" y="2011680"/>
            <a:ext cx="1828799" cy="2560320"/>
          </a:xfrm>
          <a:prstGeom prst="rect">
            <a:avLst/>
          </a:prstGeom>
          <a:noFill/>
          <a:ln/>
        </p:spPr>
        <p:txBody>
          <a:bodyPr wrap="square" lIns="0" tIns="0" rIns="0" bIns="0" rtlCol="0" anchor="t"/>
          <a:lstStyle/>
          <a:p>
            <a:pPr indent="0" marL="0">
              <a:lnSpc>
                <a:spcPts val="1550"/>
              </a:lnSpc>
              <a:buNone/>
            </a:pPr>
            <a:r>
              <a:rPr lang="en-US" sz="1400" dirty="0" b="0">
                <a:solidFill>
                  <a:srgbClr val="1F2933"/>
                </a:solidFill>
                <a:latin typeface="Calibri" pitchFamily="34" charset="0"/>
                <a:ea typeface="Calibri" pitchFamily="34" charset="-122"/>
                <a:cs typeface="Calibri" pitchFamily="34" charset="-120"/>
              </a:rPr>
              <a:t>Own project, SKACE Paradata. Pulls the repository with a read-only deploy key and builds the Dockerfile.</a:t>
            </a:r>
          </a:p>
        </p:txBody>
      </p:sp>
      <p:sp>
        <p:nvSpPr>
          <p:cNvPr id="15" name="Card 3"/>
          <p:cNvSpPr/>
          <p:nvPr/>
        </p:nvSpPr>
        <p:spPr>
          <a:xfrm>
            <a:off x="5038344" y="1371600"/>
            <a:ext cx="2103120" cy="3246120"/>
          </a:xfrm>
          <a:prstGeom prst="roundRect">
            <a:avLst>
              <a:gd name="adj" fmla="val 1724"/>
            </a:avLst>
          </a:prstGeom>
          <a:solidFill>
            <a:srgbClr val="EEF2F6"/>
          </a:solidFill>
          <a:ln w="12700">
            <a:solidFill>
              <a:srgbClr val="EEF2F6"/>
            </a:solidFill>
            <a:prstDash val="solid"/>
          </a:ln>
        </p:spPr>
        <p:txBody>
          <a:bodyPr/>
          <a:p/>
        </p:txBody>
      </p:sp>
      <p:sp>
        <p:nvSpPr>
          <p:cNvPr id="16" name="Card 3 title"/>
          <p:cNvSpPr txBox="1"/>
          <p:nvPr/>
        </p:nvSpPr>
        <p:spPr>
          <a:xfrm>
            <a:off x="5184648" y="1536192"/>
            <a:ext cx="1828799" cy="36576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3  Docker build</a:t>
            </a:r>
          </a:p>
        </p:txBody>
      </p:sp>
      <p:sp>
        <p:nvSpPr>
          <p:cNvPr id="17" name="Card 3 text"/>
          <p:cNvSpPr txBox="1"/>
          <p:nvPr/>
        </p:nvSpPr>
        <p:spPr>
          <a:xfrm>
            <a:off x="5184648" y="2011680"/>
            <a:ext cx="1828799" cy="2560320"/>
          </a:xfrm>
          <a:prstGeom prst="rect">
            <a:avLst/>
          </a:prstGeom>
          <a:noFill/>
          <a:ln/>
        </p:spPr>
        <p:txBody>
          <a:bodyPr wrap="square" lIns="0" tIns="0" rIns="0" bIns="0" rtlCol="0" anchor="t"/>
          <a:lstStyle/>
          <a:p>
            <a:pPr indent="0" marL="0">
              <a:lnSpc>
                <a:spcPts val="1550"/>
              </a:lnSpc>
              <a:buNone/>
            </a:pPr>
            <a:r>
              <a:rPr lang="en-US" sz="1400" dirty="0" b="0">
                <a:solidFill>
                  <a:srgbClr val="1F2933"/>
                </a:solidFill>
                <a:latin typeface="Calibri" pitchFamily="34" charset="0"/>
                <a:ea typeface="Calibri" pitchFamily="34" charset="-122"/>
                <a:cs typeface="Calibri" pitchFamily="34" charset="-120"/>
              </a:rPr>
              <a:t>Runs the real pipeline on four synthetic batches, executes the audit notebook, writes the data for the page.</a:t>
            </a:r>
          </a:p>
        </p:txBody>
      </p:sp>
      <p:sp>
        <p:nvSpPr>
          <p:cNvPr id="18" name="Card 4"/>
          <p:cNvSpPr/>
          <p:nvPr/>
        </p:nvSpPr>
        <p:spPr>
          <a:xfrm>
            <a:off x="7274051" y="1371600"/>
            <a:ext cx="2103120" cy="3246120"/>
          </a:xfrm>
          <a:prstGeom prst="roundRect">
            <a:avLst>
              <a:gd name="adj" fmla="val 1724"/>
            </a:avLst>
          </a:prstGeom>
          <a:solidFill>
            <a:srgbClr val="EEF2F6"/>
          </a:solidFill>
          <a:ln w="12700">
            <a:solidFill>
              <a:srgbClr val="EEF2F6"/>
            </a:solidFill>
            <a:prstDash val="solid"/>
          </a:ln>
        </p:spPr>
        <p:txBody>
          <a:bodyPr/>
          <a:p/>
        </p:txBody>
      </p:sp>
      <p:sp>
        <p:nvSpPr>
          <p:cNvPr id="19" name="Card 4 title"/>
          <p:cNvSpPr txBox="1"/>
          <p:nvPr/>
        </p:nvSpPr>
        <p:spPr>
          <a:xfrm>
            <a:off x="7420355" y="1536192"/>
            <a:ext cx="1828799" cy="36576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4  nginx</a:t>
            </a:r>
          </a:p>
        </p:txBody>
      </p:sp>
      <p:sp>
        <p:nvSpPr>
          <p:cNvPr id="20" name="Card 4 text"/>
          <p:cNvSpPr txBox="1"/>
          <p:nvPr/>
        </p:nvSpPr>
        <p:spPr>
          <a:xfrm>
            <a:off x="7420355" y="2011680"/>
            <a:ext cx="1828799" cy="2560320"/>
          </a:xfrm>
          <a:prstGeom prst="rect">
            <a:avLst/>
          </a:prstGeom>
          <a:noFill/>
          <a:ln/>
        </p:spPr>
        <p:txBody>
          <a:bodyPr wrap="square" lIns="0" tIns="0" rIns="0" bIns="0" rtlCol="0" anchor="t"/>
          <a:lstStyle/>
          <a:p>
            <a:pPr indent="0" marL="0">
              <a:lnSpc>
                <a:spcPts val="1550"/>
              </a:lnSpc>
              <a:buNone/>
            </a:pPr>
            <a:r>
              <a:rPr lang="en-US" sz="1400" dirty="0" b="0">
                <a:solidFill>
                  <a:srgbClr val="1F2933"/>
                </a:solidFill>
                <a:latin typeface="Calibri" pitchFamily="34" charset="0"/>
                <a:ea typeface="Calibri" pitchFamily="34" charset="-122"/>
                <a:cs typeface="Calibri" pitchFamily="34" charset="-120"/>
              </a:rPr>
              <a:t>Serves the page, the data and the output files. No Python runs for a visitor. /health shows the commit.</a:t>
            </a:r>
          </a:p>
        </p:txBody>
      </p:sp>
      <p:sp>
        <p:nvSpPr>
          <p:cNvPr id="21" name="Card 5"/>
          <p:cNvSpPr/>
          <p:nvPr/>
        </p:nvSpPr>
        <p:spPr>
          <a:xfrm>
            <a:off x="9509759" y="1371600"/>
            <a:ext cx="2103120" cy="3246120"/>
          </a:xfrm>
          <a:prstGeom prst="roundRect">
            <a:avLst>
              <a:gd name="adj" fmla="val 1724"/>
            </a:avLst>
          </a:prstGeom>
          <a:solidFill>
            <a:srgbClr val="EEF2F6"/>
          </a:solidFill>
          <a:ln w="12700">
            <a:solidFill>
              <a:srgbClr val="EEF2F6"/>
            </a:solidFill>
            <a:prstDash val="solid"/>
          </a:ln>
        </p:spPr>
        <p:txBody>
          <a:bodyPr/>
          <a:p/>
        </p:txBody>
      </p:sp>
      <p:sp>
        <p:nvSpPr>
          <p:cNvPr id="22" name="Card 5 title"/>
          <p:cNvSpPr txBox="1"/>
          <p:nvPr/>
        </p:nvSpPr>
        <p:spPr>
          <a:xfrm>
            <a:off x="9656063" y="1536192"/>
            <a:ext cx="1828799" cy="36576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5  Name and HTTPS</a:t>
            </a:r>
          </a:p>
        </p:txBody>
      </p:sp>
      <p:sp>
        <p:nvSpPr>
          <p:cNvPr id="23" name="Card 5 text"/>
          <p:cNvSpPr txBox="1"/>
          <p:nvPr/>
        </p:nvSpPr>
        <p:spPr>
          <a:xfrm>
            <a:off x="9656063" y="2011680"/>
            <a:ext cx="1828799" cy="2560320"/>
          </a:xfrm>
          <a:prstGeom prst="rect">
            <a:avLst/>
          </a:prstGeom>
          <a:noFill/>
          <a:ln/>
        </p:spPr>
        <p:txBody>
          <a:bodyPr wrap="square" lIns="0" tIns="0" rIns="0" bIns="0" rtlCol="0" anchor="t"/>
          <a:lstStyle/>
          <a:p>
            <a:pPr indent="0" marL="0">
              <a:lnSpc>
                <a:spcPts val="1550"/>
              </a:lnSpc>
              <a:buNone/>
            </a:pPr>
            <a:r>
              <a:rPr lang="en-US" sz="1400" dirty="0" b="0">
                <a:solidFill>
                  <a:srgbClr val="1F2933"/>
                </a:solidFill>
                <a:latin typeface="Calibri" pitchFamily="34" charset="0"/>
                <a:ea typeface="Calibri" pitchFamily="34" charset="-122"/>
                <a:cs typeface="Calibri" pitchFamily="34" charset="-120"/>
              </a:rPr>
              <a:t>paradata.samuelkaoma.dev, an A record at name.com, with a Let's Encrypt certificate from Dokploy.</a:t>
            </a:r>
          </a:p>
        </p:txBody>
      </p:sp>
      <p:sp>
        <p:nvSpPr>
          <p:cNvPr id="24" name="Why"/>
          <p:cNvSpPr txBox="1"/>
          <p:nvPr/>
        </p:nvSpPr>
        <p:spPr>
          <a:xfrm>
            <a:off x="566928" y="4754880"/>
            <a:ext cx="11055096" cy="594360"/>
          </a:xfrm>
          <a:prstGeom prst="rect">
            <a:avLst/>
          </a:prstGeom>
          <a:noFill/>
          <a:ln/>
        </p:spPr>
        <p:txBody>
          <a:bodyPr wrap="square" lIns="0" tIns="0" rIns="0" bIns="0" rtlCol="0" anchor="ctr"/>
          <a:lstStyle/>
          <a:p>
            <a:pPr indent="0" marL="0">
              <a:lnSpc>
                <a:spcPts val="1750"/>
              </a:lnSpc>
              <a:buNone/>
            </a:pPr>
            <a:r>
              <a:rPr lang="en-US" sz="1300" dirty="0" b="1">
                <a:solidFill>
                  <a:srgbClr val="0F766E"/>
                </a:solidFill>
                <a:latin typeface="Calibri" pitchFamily="34" charset="0"/>
                <a:ea typeface="Calibri" pitchFamily="34" charset="-122"/>
                <a:cs typeface="Calibri" pitchFamily="34" charset="-120"/>
              </a:rPr>
              <a:t>Why this design. </a:t>
            </a:r>
            <a:r>
              <a:rPr lang="en-US" sz="1300" dirty="0" b="0">
                <a:solidFill>
                  <a:srgbClr val="1F2933"/>
                </a:solidFill>
                <a:latin typeface="Calibri" pitchFamily="34" charset="0"/>
                <a:ea typeface="Calibri" pitchFamily="34" charset="-122"/>
                <a:cs typeface="Calibri" pitchFamily="34" charset="-120"/>
              </a:rPr>
              <a:t>Nothing sensitive runs on the server and no real data is on it. The page is rebuilt from the repository, so it cannot drift from the code: the footer names the commit it was built from.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THE LIVE SITE  ·  WHAT TO SAY</a:t>
            </a:r>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What it is, and what it is not</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49</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Samuel Kaoma  |  2022016530  |  CSC 4004</a:t>
            </a:r>
            <a:endParaRPr lang="en-US" sz="1000" dirty="0"/>
          </a:p>
        </p:txBody>
      </p:sp>
      <p:sp>
        <p:nvSpPr>
          <p:cNvPr id="6" name="Shape 17"/>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7" name="Shape 18"/>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8" name="Text 19"/>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Say: a demonstration of the operating procedure, built on the real pipeline output.</a:t>
            </a:r>
          </a:p>
        </p:txBody>
      </p:sp>
      <p:sp>
        <p:nvSpPr>
          <p:cNvPr id="9" name="Panel 1"/>
          <p:cNvSpPr/>
          <p:nvPr/>
        </p:nvSpPr>
        <p:spPr>
          <a:xfrm>
            <a:off x="566928" y="1371600"/>
            <a:ext cx="5440680" cy="3840480"/>
          </a:xfrm>
          <a:prstGeom prst="roundRect">
            <a:avLst>
              <a:gd name="adj" fmla="val 1724"/>
            </a:avLst>
          </a:prstGeom>
          <a:solidFill>
            <a:srgbClr val="EEF2F6"/>
          </a:solidFill>
          <a:ln w="12700">
            <a:solidFill>
              <a:srgbClr val="EEF2F6"/>
            </a:solidFill>
            <a:prstDash val="solid"/>
          </a:ln>
        </p:spPr>
        <p:txBody>
          <a:bodyPr/>
          <a:p/>
        </p:txBody>
      </p:sp>
      <p:sp>
        <p:nvSpPr>
          <p:cNvPr id="10" name="Panel 1 title"/>
          <p:cNvSpPr txBox="1"/>
          <p:nvPr/>
        </p:nvSpPr>
        <p:spPr>
          <a:xfrm>
            <a:off x="795528" y="1536192"/>
            <a:ext cx="4937760" cy="365760"/>
          </a:xfrm>
          <a:prstGeom prst="rect">
            <a:avLst/>
          </a:prstGeom>
          <a:noFill/>
          <a:ln/>
        </p:spPr>
        <p:txBody>
          <a:bodyPr wrap="square" lIns="0" tIns="0" rIns="0" bIns="0" rtlCol="0" anchor="t"/>
          <a:lstStyle/>
          <a:p>
            <a:pPr indent="0" marL="0">
              <a:buNone/>
            </a:pPr>
            <a:r>
              <a:rPr lang="en-US" sz="2000" b="1" dirty="0">
                <a:solidFill>
                  <a:srgbClr val="0F766E"/>
                </a:solidFill>
                <a:latin typeface="Calibri" pitchFamily="34" charset="0"/>
                <a:ea typeface="Calibri" pitchFamily="34" charset="-122"/>
                <a:cs typeface="Calibri" pitchFamily="34" charset="-120"/>
              </a:rPr>
              <a:t>It is</a:t>
            </a:r>
          </a:p>
        </p:txBody>
      </p:sp>
      <p:sp>
        <p:nvSpPr>
          <p:cNvPr id="11" name="Panel 1 text"/>
          <p:cNvSpPr txBox="1"/>
          <p:nvPr/>
        </p:nvSpPr>
        <p:spPr>
          <a:xfrm>
            <a:off x="795528" y="2011680"/>
            <a:ext cx="4983480" cy="3108960"/>
          </a:xfrm>
          <a:prstGeom prst="rect">
            <a:avLst/>
          </a:prstGeom>
          <a:noFill/>
          <a:ln/>
        </p:spPr>
        <p:txBody>
          <a:bodyPr wrap="square" lIns="0" tIns="0" rIns="0" bIns="0" rtlCol="0" anchor="t"/>
          <a:lstStyle/>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The real pipeline, unchanged, run on four synthetic batches when the site is built.</a:t>
            </a:r>
          </a:p>
          <a:p>
            <a:pPr indent="0" marL="0">
              <a:lnSpc>
                <a:spcPts val="1550"/>
              </a:lnSpc>
              <a:buNone/>
            </a:pPr>
            <a:r>
              <a:rPr lang="en-US" sz="1600" dirty="0">
                <a:solidFill>
                  <a:srgbClr val="3E4C55"/>
                </a:solidFill>
                <a:latin typeface="Calibri" pitchFamily="34" charset="0"/>
                <a:ea typeface="Calibri" pitchFamily="34" charset="-122"/>
                <a:cs typeface="Calibri" pitchFamily="34" charset="-120"/>
              </a:rPr>
              <a:t> </a:t>
            </a:r>
          </a:p>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A view of the operating procedure in section 7: batch in, queue out, reasons in words.</a:t>
            </a:r>
          </a:p>
          <a:p>
            <a:pPr indent="0" marL="0">
              <a:lnSpc>
                <a:spcPts val="1550"/>
              </a:lnSpc>
              <a:buNone/>
            </a:pPr>
            <a:r>
              <a:rPr lang="en-US" sz="1600" dirty="0">
                <a:solidFill>
                  <a:srgbClr val="3E4C55"/>
                </a:solidFill>
                <a:latin typeface="Calibri" pitchFamily="34" charset="0"/>
                <a:ea typeface="Calibri" pitchFamily="34" charset="-122"/>
                <a:cs typeface="Calibri" pitchFamily="34" charset="-120"/>
              </a:rPr>
              <a:t> </a:t>
            </a:r>
          </a:p>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Reproducible: rebuilt from the repository on every push, with the commit in the footer.</a:t>
            </a:r>
          </a:p>
        </p:txBody>
      </p:sp>
      <p:sp>
        <p:nvSpPr>
          <p:cNvPr id="12" name="Panel 2"/>
          <p:cNvSpPr/>
          <p:nvPr/>
        </p:nvSpPr>
        <p:spPr>
          <a:xfrm>
            <a:off x="6181344" y="1371600"/>
            <a:ext cx="5440680" cy="3840480"/>
          </a:xfrm>
          <a:prstGeom prst="roundRect">
            <a:avLst>
              <a:gd name="adj" fmla="val 1724"/>
            </a:avLst>
          </a:prstGeom>
          <a:solidFill>
            <a:srgbClr val="EEF2F6"/>
          </a:solidFill>
          <a:ln w="12700">
            <a:solidFill>
              <a:srgbClr val="EEF2F6"/>
            </a:solidFill>
            <a:prstDash val="solid"/>
          </a:ln>
        </p:spPr>
        <p:txBody>
          <a:bodyPr/>
          <a:p/>
        </p:txBody>
      </p:sp>
      <p:sp>
        <p:nvSpPr>
          <p:cNvPr id="13" name="Panel 2 title"/>
          <p:cNvSpPr txBox="1"/>
          <p:nvPr/>
        </p:nvSpPr>
        <p:spPr>
          <a:xfrm>
            <a:off x="6409944" y="1536192"/>
            <a:ext cx="4937760" cy="365760"/>
          </a:xfrm>
          <a:prstGeom prst="rect">
            <a:avLst/>
          </a:prstGeom>
          <a:noFill/>
          <a:ln/>
        </p:spPr>
        <p:txBody>
          <a:bodyPr wrap="square" lIns="0" tIns="0" rIns="0" bIns="0" rtlCol="0" anchor="t"/>
          <a:lstStyle/>
          <a:p>
            <a:pPr indent="0" marL="0">
              <a:buNone/>
            </a:pPr>
            <a:r>
              <a:rPr lang="en-US" sz="2000" b="1" dirty="0">
                <a:solidFill>
                  <a:srgbClr val="B45309"/>
                </a:solidFill>
                <a:latin typeface="Calibri" pitchFamily="34" charset="0"/>
                <a:ea typeface="Calibri" pitchFamily="34" charset="-122"/>
                <a:cs typeface="Calibri" pitchFamily="34" charset="-120"/>
              </a:rPr>
              <a:t>It is not</a:t>
            </a:r>
          </a:p>
        </p:txBody>
      </p:sp>
      <p:sp>
        <p:nvSpPr>
          <p:cNvPr id="14" name="Panel 2 text"/>
          <p:cNvSpPr txBox="1"/>
          <p:nvPr/>
        </p:nvSpPr>
        <p:spPr>
          <a:xfrm>
            <a:off x="6409944" y="2011680"/>
            <a:ext cx="4983480" cy="3108960"/>
          </a:xfrm>
          <a:prstGeom prst="rect">
            <a:avLst/>
          </a:prstGeom>
          <a:noFill/>
          <a:ln/>
        </p:spPr>
        <p:txBody>
          <a:bodyPr wrap="square" lIns="0" tIns="0" rIns="0" bIns="0" rtlCol="0" anchor="t"/>
          <a:lstStyle/>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A deployed survey system: no upload, no login, no saved outcomes, no real data.</a:t>
            </a:r>
          </a:p>
          <a:p>
            <a:pPr indent="0" marL="0">
              <a:lnSpc>
                <a:spcPts val="1550"/>
              </a:lnSpc>
              <a:buNone/>
            </a:pPr>
            <a:r>
              <a:rPr lang="en-US" sz="1600" dirty="0">
                <a:solidFill>
                  <a:srgbClr val="3E4C55"/>
                </a:solidFill>
                <a:latin typeface="Calibri" pitchFamily="34" charset="0"/>
                <a:ea typeface="Calibri" pitchFamily="34" charset="-122"/>
                <a:cs typeface="Calibri" pitchFamily="34" charset="-120"/>
              </a:rPr>
              <a:t> </a:t>
            </a:r>
          </a:p>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A live run: the pipeline ran at build time and visitors read the results.</a:t>
            </a:r>
          </a:p>
          <a:p>
            <a:pPr indent="0" marL="0">
              <a:lnSpc>
                <a:spcPts val="1550"/>
              </a:lnSpc>
              <a:buNone/>
            </a:pPr>
            <a:r>
              <a:rPr lang="en-US" sz="1600" dirty="0">
                <a:solidFill>
                  <a:srgbClr val="3E4C55"/>
                </a:solidFill>
                <a:latin typeface="Calibri" pitchFamily="34" charset="0"/>
                <a:ea typeface="Calibri" pitchFamily="34" charset="-122"/>
                <a:cs typeface="Calibri" pitchFamily="34" charset="-120"/>
              </a:rPr>
              <a:t> </a:t>
            </a:r>
          </a:p>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A per-enumerator view: audit logs carry no enumerator id, so that needs the survey data.</a:t>
            </a:r>
          </a:p>
          <a:p>
            <a:pPr indent="0" marL="0">
              <a:lnSpc>
                <a:spcPts val="1550"/>
              </a:lnSpc>
              <a:buNone/>
            </a:pPr>
            <a:r>
              <a:rPr lang="en-US" sz="1600" dirty="0">
                <a:solidFill>
                  <a:srgbClr val="3E4C55"/>
                </a:solidFill>
                <a:latin typeface="Calibri" pitchFamily="34" charset="0"/>
                <a:ea typeface="Calibri" pitchFamily="34" charset="-122"/>
                <a:cs typeface="Calibri" pitchFamily="34" charset="-120"/>
              </a:rPr>
              <a:t> </a:t>
            </a:r>
          </a:p>
          <a:p>
            <a:pPr indent="0" marL="0">
              <a:lnSpc>
                <a:spcPts val="1550"/>
              </a:lnSpc>
              <a:buNone/>
            </a:pPr>
            <a:r>
              <a:rPr lang="en-US" sz="1600" dirty="0" b="0">
                <a:solidFill>
                  <a:srgbClr val="1F2933"/>
                </a:solidFill>
                <a:latin typeface="Calibri" pitchFamily="34" charset="0"/>
                <a:ea typeface="Calibri" pitchFamily="34" charset="-122"/>
                <a:cs typeface="Calibri" pitchFamily="34" charset="-120"/>
              </a:rPr>
              <a:t>Evidence on field data: every batch is synthetic, with known labels.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60</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Samuel Kaoma  |  2022016530  |  CSC 4004</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VIVA 5  ·  THE LIVE SITE</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Questions about the website</a:t>
            </a:r>
          </a:p>
        </p:txBody>
      </p:sp>
      <p:sp>
        <p:nvSpPr>
          <p:cNvPr id="6" name="Rectangle 5"/>
          <p:cNvSpPr/>
          <p:nvPr/>
        </p:nvSpPr>
        <p:spPr>
          <a:xfrm>
            <a:off x="566928"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8"/>
          <p:cNvSpPr/>
          <p:nvPr/>
        </p:nvSpPr>
        <p:spPr>
          <a:xfrm>
            <a:off x="6181344" y="132588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11"/>
          <p:cNvSpPr/>
          <p:nvPr/>
        </p:nvSpPr>
        <p:spPr>
          <a:xfrm>
            <a:off x="566928"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14"/>
          <p:cNvSpPr/>
          <p:nvPr/>
        </p:nvSpPr>
        <p:spPr>
          <a:xfrm>
            <a:off x="6181344" y="3474720"/>
            <a:ext cx="5440680" cy="196596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6"/>
          <p:cNvSpPr txBox="1"/>
          <p:nvPr/>
        </p:nvSpPr>
        <p:spPr>
          <a:xfrm>
            <a:off x="731520" y="1453895"/>
            <a:ext cx="5111496" cy="457200"/>
          </a:xfrm>
          <a:prstGeom prst="rect">
            <a:avLst/>
          </a:prstGeom>
          <a:noFill/>
        </p:spPr>
        <p:txBody>
          <a:bodyPr wrap="square" lIns="36576" rIns="36576" tIns="18288" bIns="18288" anchor="t">
            <a:spAutoFit/>
          </a:bodyPr>
          <a:lstStyle/>
          <a:p>
            <a:pPr algn="l">
              <a:spcAft>
                <a:spcPts val="400"/>
              </a:spcAft>
            </a:pPr>
            <a:r>
              <a:rPr sz="1400" b="1" i="0">
                <a:solidFill>
                  <a:srgbClr val="0F766E"/>
                </a:solidFill>
                <a:latin typeface="Calibri"/>
              </a:rPr>
              <a:t>Is this a deployed system?</a:t>
            </a:r>
          </a:p>
        </p:txBody>
      </p:sp>
      <p:sp>
        <p:nvSpPr>
          <p:cNvPr id="11" name="TextBox 7"/>
          <p:cNvSpPr txBox="1"/>
          <p:nvPr/>
        </p:nvSpPr>
        <p:spPr>
          <a:xfrm>
            <a:off x="731520" y="1892807"/>
            <a:ext cx="5111496" cy="1307592"/>
          </a:xfrm>
          <a:prstGeom prst="rect">
            <a:avLst/>
          </a:prstGeom>
          <a:noFill/>
        </p:spPr>
        <p:txBody>
          <a:bodyPr wrap="square" lIns="36576" rIns="36576" tIns="18288" bIns="18288" anchor="t">
            <a:spAutoFit/>
          </a:bodyPr>
          <a:lstStyle/>
          <a:p>
            <a:pPr algn="l">
              <a:spcAft>
                <a:spcPts val="600"/>
              </a:spcAft>
            </a:pPr>
            <a:r>
              <a:rPr sz="1200" b="0" i="0">
                <a:solidFill>
                  <a:srgbClr val="1F2933"/>
                </a:solidFill>
                <a:latin typeface="Calibri"/>
              </a:rPr>
              <a:t>No. It demonstrates the operating procedure in section 7. The pipeline runs when the site is built; visitors read the results. No upload, login or real data.</a:t>
            </a:r>
          </a:p>
        </p:txBody>
      </p:sp>
      <p:sp>
        <p:nvSpPr>
          <p:cNvPr id="12" name="TextBox 9"/>
          <p:cNvSpPr txBox="1"/>
          <p:nvPr/>
        </p:nvSpPr>
        <p:spPr>
          <a:xfrm>
            <a:off x="6345936" y="1453895"/>
            <a:ext cx="5111496" cy="457200"/>
          </a:xfrm>
          <a:prstGeom prst="rect">
            <a:avLst/>
          </a:prstGeom>
          <a:noFill/>
        </p:spPr>
        <p:txBody>
          <a:bodyPr wrap="square" lIns="36576" rIns="36576" tIns="18288" bIns="18288" anchor="t">
            <a:spAutoFit/>
          </a:bodyPr>
          <a:lstStyle/>
          <a:p>
            <a:pPr algn="l">
              <a:spcAft>
                <a:spcPts val="400"/>
              </a:spcAft>
            </a:pPr>
            <a:r>
              <a:rPr sz="1400" b="1" i="0">
                <a:solidFill>
                  <a:srgbClr val="0F766E"/>
                </a:solidFill>
                <a:latin typeface="Calibri"/>
              </a:rPr>
              <a:t>Why can a team not upload its own log?</a:t>
            </a:r>
          </a:p>
        </p:txBody>
      </p:sp>
      <p:sp>
        <p:nvSpPr>
          <p:cNvPr id="13" name="TextBox 10"/>
          <p:cNvSpPr txBox="1"/>
          <p:nvPr/>
        </p:nvSpPr>
        <p:spPr>
          <a:xfrm>
            <a:off x="6345936" y="1892807"/>
            <a:ext cx="5111496" cy="1307592"/>
          </a:xfrm>
          <a:prstGeom prst="rect">
            <a:avLst/>
          </a:prstGeom>
          <a:noFill/>
        </p:spPr>
        <p:txBody>
          <a:bodyPr wrap="square" lIns="36576" rIns="36576" tIns="18288" bIns="18288" anchor="t">
            <a:spAutoFit/>
          </a:bodyPr>
          <a:lstStyle/>
          <a:p>
            <a:pPr algn="l">
              <a:spcAft>
                <a:spcPts val="600"/>
              </a:spcAft>
            </a:pPr>
            <a:r>
              <a:rPr sz="1200" b="0" i="0">
                <a:solidFill>
                  <a:srgbClr val="1F2933"/>
                </a:solidFill>
                <a:latin typeface="Calibri"/>
              </a:rPr>
              <a:t>I chose not to expose an upload endpoint for sensitive paradata. A team runs the command on its own machine; the site shows what that produces.</a:t>
            </a:r>
          </a:p>
        </p:txBody>
      </p:sp>
      <p:sp>
        <p:nvSpPr>
          <p:cNvPr id="14" name="TextBox 12"/>
          <p:cNvSpPr txBox="1"/>
          <p:nvPr/>
        </p:nvSpPr>
        <p:spPr>
          <a:xfrm>
            <a:off x="731520" y="3602736"/>
            <a:ext cx="5111496" cy="457200"/>
          </a:xfrm>
          <a:prstGeom prst="rect">
            <a:avLst/>
          </a:prstGeom>
          <a:noFill/>
        </p:spPr>
        <p:txBody>
          <a:bodyPr wrap="square" lIns="36576" rIns="36576" tIns="18288" bIns="18288" anchor="t">
            <a:spAutoFit/>
          </a:bodyPr>
          <a:lstStyle/>
          <a:p>
            <a:pPr algn="l">
              <a:spcAft>
                <a:spcPts val="400"/>
              </a:spcAft>
            </a:pPr>
            <a:r>
              <a:rPr sz="1400" b="1" i="0">
                <a:solidFill>
                  <a:srgbClr val="0F766E"/>
                </a:solidFill>
                <a:latin typeface="Calibri"/>
              </a:rPr>
              <a:t>Where do the explanation sentences come from?</a:t>
            </a:r>
          </a:p>
        </p:txBody>
      </p:sp>
      <p:sp>
        <p:nvSpPr>
          <p:cNvPr id="15" name="TextBox 13"/>
          <p:cNvSpPr txBox="1"/>
          <p:nvPr/>
        </p:nvSpPr>
        <p:spPr>
          <a:xfrm>
            <a:off x="731520" y="4041648"/>
            <a:ext cx="5111496" cy="1307592"/>
          </a:xfrm>
          <a:prstGeom prst="rect">
            <a:avLst/>
          </a:prstGeom>
          <a:noFill/>
        </p:spPr>
        <p:txBody>
          <a:bodyPr wrap="square" lIns="36576" rIns="36576" tIns="18288" bIns="18288" anchor="t">
            <a:spAutoFit/>
          </a:bodyPr>
          <a:lstStyle/>
          <a:p>
            <a:pPr algn="l">
              <a:spcAft>
                <a:spcPts val="600"/>
              </a:spcAft>
            </a:pPr>
            <a:r>
              <a:rPr sz="1200" b="0" i="0">
                <a:solidFill>
                  <a:srgbClr val="1F2933"/>
                </a:solidFill>
                <a:latin typeface="Calibri"/>
              </a:rPr>
              <a:t>The detector emits flag names only. I wrote the sentences in the build script, using the detector's own thresholds so the numbers stay in sync.</a:t>
            </a:r>
          </a:p>
        </p:txBody>
      </p:sp>
      <p:sp>
        <p:nvSpPr>
          <p:cNvPr id="16" name="TextBox 15"/>
          <p:cNvSpPr txBox="1"/>
          <p:nvPr/>
        </p:nvSpPr>
        <p:spPr>
          <a:xfrm>
            <a:off x="6345936" y="3602736"/>
            <a:ext cx="5111496" cy="457200"/>
          </a:xfrm>
          <a:prstGeom prst="rect">
            <a:avLst/>
          </a:prstGeom>
          <a:noFill/>
        </p:spPr>
        <p:txBody>
          <a:bodyPr wrap="square" lIns="36576" rIns="36576" tIns="18288" bIns="18288" anchor="t">
            <a:spAutoFit/>
          </a:bodyPr>
          <a:lstStyle/>
          <a:p>
            <a:pPr algn="l">
              <a:spcAft>
                <a:spcPts val="400"/>
              </a:spcAft>
            </a:pPr>
            <a:r>
              <a:rPr sz="1400" b="1" i="0">
                <a:solidFill>
                  <a:srgbClr val="0F766E"/>
                </a:solidFill>
                <a:latin typeface="Calibri"/>
              </a:rPr>
              <a:t>Is the data real?</a:t>
            </a:r>
          </a:p>
        </p:txBody>
      </p:sp>
      <p:sp>
        <p:nvSpPr>
          <p:cNvPr id="17" name="TextBox 16"/>
          <p:cNvSpPr txBox="1"/>
          <p:nvPr/>
        </p:nvSpPr>
        <p:spPr>
          <a:xfrm>
            <a:off x="6345936" y="4041648"/>
            <a:ext cx="5111496" cy="1307592"/>
          </a:xfrm>
          <a:prstGeom prst="rect">
            <a:avLst/>
          </a:prstGeom>
          <a:noFill/>
        </p:spPr>
        <p:txBody>
          <a:bodyPr wrap="square" lIns="36576" rIns="36576" tIns="18288" bIns="18288" anchor="t">
            <a:spAutoFit/>
          </a:bodyPr>
          <a:lstStyle/>
          <a:p>
            <a:pPr algn="l">
              <a:spcAft>
                <a:spcPts val="600"/>
              </a:spcAft>
            </a:pPr>
            <a:r>
              <a:rPr sz="1200" b="0" i="0">
                <a:solidFill>
                  <a:srgbClr val="1F2933"/>
                </a:solidFill>
                <a:latin typeface="Calibri"/>
              </a:rPr>
              <a:t>No. Every batch is synthetic with known labels. The harder batch is held-out seed 7, the same data as Table 6a, so its numbers match the report.</a:t>
            </a:r>
          </a:p>
        </p:txBody>
      </p:sp>
      <p:sp>
        <p:nvSpPr>
          <p:cNvPr id="18" name="TextBox 17"/>
          <p:cNvSpPr txBox="1"/>
          <p:nvPr/>
        </p:nvSpPr>
        <p:spPr>
          <a:xfrm>
            <a:off x="566928" y="5577840"/>
            <a:ext cx="11055096" cy="36576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Full answers: speaker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The University of Zambia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Extraction and Analysis of Timing-Based Paradata Features</dc:title>
  <dc:subject>PptxGenJS Presentation</dc:subject>
  <dc:creator>Samuel Kaoma</dc:creator>
  <cp:lastModifiedBy>Samuel Kaoma</cp:lastModifiedBy>
  <cp:revision>1</cp:revision>
  <dcterms:created xsi:type="dcterms:W3CDTF">2026-09-05T18:13:36Z</dcterms:created>
  <dcterms:modified xsi:type="dcterms:W3CDTF">2026-09-05T18:13:36Z</dcterms:modified>
</cp:coreProperties>
</file>