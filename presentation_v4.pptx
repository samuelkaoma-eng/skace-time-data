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5" Type="http://schemas.openxmlformats.org/officeDocument/2006/relationships/viewProps" Target="viewProps.xml" /><Relationship Id="rId2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7" Type="http://schemas.openxmlformats.org/officeDocument/2006/relationships/tableStyles" Target="tableStyles.xml" /><Relationship Id="rId2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Automated Extraction and Analysis of Timing-Based Paradata Features for Survey Quality Assurance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Project Proposal Presentation</a:t>
            </a:r>
          </a:p>
          <a:p>
            <a:pPr lvl="0" indent="0" marL="0">
              <a:buNone/>
            </a:pPr>
            <a:r>
              <a:rPr/>
              <a:t>Samuel Kaoma</a:t>
            </a:r>
            <a:br/>
            <a:r>
              <a:rPr/>
              <a:t>Computer Number: 2022016530</a:t>
            </a:r>
            <a:br/>
            <a:r>
              <a:rPr/>
              <a:t>Course: CSC 4004 - Project</a:t>
            </a:r>
            <a:br/>
            <a:r>
              <a:rPr/>
              <a:t>Supervisor: Mr. Mofya Phiri</a:t>
            </a:r>
            <a:br/>
            <a:r>
              <a:rPr/>
              <a:t>Date: 26th March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Agenda</a:t>
            </a:r>
          </a:p>
          <a:p>
            <a:pPr lvl="0"/>
            <a:r>
              <a:rPr/>
              <a:t>Introduction and Background</a:t>
            </a:r>
          </a:p>
          <a:p>
            <a:pPr lvl="0"/>
            <a:r>
              <a:rPr/>
              <a:t>Problem Statement and Objectives</a:t>
            </a:r>
          </a:p>
          <a:p>
            <a:pPr lvl="0"/>
            <a:r>
              <a:rPr/>
              <a:t>Literature Review</a:t>
            </a:r>
          </a:p>
          <a:p>
            <a:pPr lvl="0"/>
            <a:r>
              <a:rPr/>
              <a:t>Proposed Methodology</a:t>
            </a:r>
          </a:p>
          <a:p>
            <a:pPr lvl="0"/>
            <a:r>
              <a:rPr/>
              <a:t>Feature Taxonomy and Catalogue</a:t>
            </a:r>
          </a:p>
          <a:p>
            <a:pPr lvl="0"/>
            <a:r>
              <a:rPr/>
              <a:t>Anomaly Detection</a:t>
            </a:r>
          </a:p>
          <a:p>
            <a:pPr lvl="0"/>
            <a:r>
              <a:rPr/>
              <a:t>Tools and Technologies</a:t>
            </a:r>
          </a:p>
          <a:p>
            <a:pPr lvl="0"/>
            <a:r>
              <a:rPr/>
              <a:t>Evaluation and Validation</a:t>
            </a:r>
          </a:p>
          <a:p>
            <a:pPr lvl="0"/>
            <a:r>
              <a:rPr/>
              <a:t>Project Timeline and Risks</a:t>
            </a:r>
          </a:p>
          <a:p>
            <a:pPr lvl="0"/>
            <a:r>
              <a:rPr/>
              <a:t>Expected Outcomes</a:t>
            </a:r>
          </a:p>
          <a:p>
            <a:pPr lvl="0"/>
            <a:r>
              <a:rPr/>
              <a:t>Conclusion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Abstract</a:t>
            </a:r>
          </a:p>
          <a:p>
            <a:pPr lvl="0"/>
            <a:r>
              <a:rPr b="1"/>
              <a:t>Paradata Insights</a:t>
            </a:r>
            <a:r>
              <a:rPr/>
              <a:t>: Valuable behavioral data from survey platforms, underutilized due to complexity</a:t>
            </a:r>
          </a:p>
          <a:p>
            <a:pPr lvl="0"/>
            <a:r>
              <a:rPr b="1"/>
              <a:t>Project Goal</a:t>
            </a:r>
            <a:r>
              <a:rPr/>
              <a:t>: Automated system for extracting timing-based features from SurveyCTO and ODK logs</a:t>
            </a:r>
          </a:p>
          <a:p>
            <a:pPr lvl="0"/>
            <a:r>
              <a:rPr b="1"/>
              <a:t>Key Components</a:t>
            </a:r>
            <a:r>
              <a:rPr/>
              <a:t>: Parsing, feature extraction (30+ indicators), statistical analysis, anomaly detection</a:t>
            </a:r>
          </a:p>
          <a:p>
            <a:pPr lvl="0"/>
            <a:r>
              <a:rPr b="1"/>
              <a:t>Validation</a:t>
            </a:r>
            <a:r>
              <a:rPr/>
              <a:t>: Synthetic datasets with injected anomalies, evaluated on precision/recall</a:t>
            </a:r>
          </a:p>
          <a:p>
            <a:pPr lvl="0"/>
            <a:r>
              <a:rPr b="1"/>
              <a:t>Outcomes</a:t>
            </a:r>
            <a:r>
              <a:rPr/>
              <a:t>: Python library, documentation, validation report – bridging theory to practice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Introduction</a:t>
            </a:r>
          </a:p>
          <a:p>
            <a:pPr lvl="0"/>
            <a:r>
              <a:rPr b="1"/>
              <a:t>Survey Quality Importance</a:t>
            </a:r>
            <a:r>
              <a:rPr/>
              <a:t>: Critical for research, policy, and decision-making in health, economics, social sciences</a:t>
            </a:r>
          </a:p>
          <a:p>
            <a:pPr lvl="0"/>
            <a:r>
              <a:rPr b="1"/>
              <a:t>Digital Platforms</a:t>
            </a:r>
            <a:r>
              <a:rPr/>
              <a:t>: SurveyCTO and ODK enhance efficiency with automatic paradata recording</a:t>
            </a:r>
          </a:p>
          <a:p>
            <a:pPr lvl="0"/>
            <a:r>
              <a:rPr b="1"/>
              <a:t>Paradata Definition</a:t>
            </a:r>
            <a:r>
              <a:rPr/>
              <a:t>: Auxiliary data on interview conduct – timestamps, navigation, pauses, edits</a:t>
            </a:r>
          </a:p>
          <a:p>
            <a:pPr lvl="0"/>
            <a:r>
              <a:rPr b="1"/>
              <a:t>Potential Benefits</a:t>
            </a:r>
            <a:r>
              <a:rPr/>
              <a:t>: Detect rushed/fabricated responses, confusion, disengagement</a:t>
            </a:r>
          </a:p>
          <a:p>
            <a:pPr lvl="0"/>
            <a:r>
              <a:rPr b="1"/>
              <a:t>Current Gap</a:t>
            </a:r>
            <a:r>
              <a:rPr/>
              <a:t>: Underutilized due to format differences and lack of automated tools</a:t>
            </a:r>
          </a:p>
          <a:p>
            <a:pPr lvl="0"/>
            <a:r>
              <a:rPr b="1"/>
              <a:t>Project Solution</a:t>
            </a:r>
            <a:r>
              <a:rPr/>
              <a:t>: Platform-agnostic pipeline combining data engineering and statistical methods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Problem Statement</a:t>
            </a:r>
          </a:p>
          <a:p>
            <a:pPr lvl="0"/>
            <a:r>
              <a:rPr b="1"/>
              <a:t>Limitations of Current Methods</a:t>
            </a:r>
            <a:r>
              <a:rPr/>
              <a:t>: Rely on simple metrics (e.g., total duration), miss behavioral irregularities</a:t>
            </a:r>
          </a:p>
          <a:p>
            <a:pPr lvl="0"/>
            <a:r>
              <a:rPr b="1"/>
              <a:t>Issues Detected</a:t>
            </a:r>
            <a:r>
              <a:rPr/>
              <a:t>: Rushed responses, inattentive navigation, fabricated data go undetected</a:t>
            </a:r>
          </a:p>
          <a:p>
            <a:pPr lvl="0"/>
            <a:r>
              <a:rPr b="1"/>
              <a:t>Paradata Challenges</a:t>
            </a:r>
            <a:r>
              <a:rPr/>
              <a:t>: Raw logs vary by platform (SurveyCTO: event-based CSV; ODK: different taxonomy)</a:t>
            </a:r>
          </a:p>
          <a:p>
            <a:pPr lvl="0"/>
            <a:r>
              <a:rPr b="1"/>
              <a:t>Statistical Needs</a:t>
            </a:r>
            <a:r>
              <a:rPr/>
              <a:t>: Methods must handle non-normal, skewed response time distributions</a:t>
            </a:r>
          </a:p>
          <a:p>
            <a:pPr lvl="0"/>
            <a:r>
              <a:rPr b="1"/>
              <a:t>Barrier</a:t>
            </a:r>
            <a:r>
              <a:rPr/>
              <a:t>: No automated, format-aware tools for scalable paradata analysis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 indent="-342900" marL="342900">
              <a:buAutoNum type="arabicPeriod"/>
            </a:pPr>
            <a:r>
              <a:rPr b="1"/>
              <a:t>Literature Review</a:t>
            </a:r>
            <a:r>
              <a:rPr/>
              <a:t>: Catalogue timing-based quality indicators and map to feature taxonomy</a:t>
            </a:r>
          </a:p>
          <a:p>
            <a:pPr lvl="0" indent="-342900" marL="342900">
              <a:buAutoNum type="arabicPeriod"/>
            </a:pPr>
            <a:r>
              <a:rPr b="1"/>
              <a:t>Parser Development</a:t>
            </a:r>
            <a:r>
              <a:rPr/>
              <a:t>: Create format-aware parsers for SurveyCTO/ODK into common representation</a:t>
            </a:r>
          </a:p>
          <a:p>
            <a:pPr lvl="0" indent="-342900" marL="342900">
              <a:buAutoNum type="arabicPeriod"/>
            </a:pPr>
            <a:r>
              <a:rPr b="1"/>
              <a:t>Feature Extraction</a:t>
            </a:r>
            <a:r>
              <a:rPr/>
              <a:t>: Implement 30-50 timing indicators across question/section/survey levels</a:t>
            </a:r>
          </a:p>
          <a:p>
            <a:pPr lvl="0" indent="-342900" marL="342900">
              <a:buAutoNum type="arabicPeriod"/>
            </a:pPr>
            <a:r>
              <a:rPr b="1"/>
              <a:t>Statistical Measures</a:t>
            </a:r>
            <a:r>
              <a:rPr/>
              <a:t>: Compute variance, entropy, skewness, kurtosis for distributions</a:t>
            </a:r>
          </a:p>
          <a:p>
            <a:pPr lvl="0" indent="-342900" marL="342900">
              <a:buAutoNum type="arabicPeriod"/>
            </a:pPr>
            <a:r>
              <a:rPr b="1"/>
              <a:t>Anomaly Detection</a:t>
            </a:r>
            <a:r>
              <a:rPr/>
              <a:t>: Use IQR thresholding and rules, validate on precision/recall</a:t>
            </a:r>
          </a:p>
          <a:p>
            <a:pPr lvl="0" indent="-342900" marL="342900">
              <a:buAutoNum type="arabicPeriod"/>
            </a:pPr>
            <a:r>
              <a:rPr b="1"/>
              <a:t>Outputs</a:t>
            </a:r>
            <a:r>
              <a:rPr/>
              <a:t>: Structured datasets, Python library, documentation for reuse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Scope</a:t>
            </a:r>
          </a:p>
          <a:p>
            <a:pPr lvl="0" indent="0" marL="0">
              <a:buNone/>
            </a:pPr>
            <a:r>
              <a:rPr b="1"/>
              <a:t>In Scope:</a:t>
            </a:r>
            <a:r>
              <a:rPr/>
              <a:t> - Audit log processing from SurveyCTO and ODK - 30-50 timing/behavioral features - Statistical characterization - IQR/rule-based anomaly detection - Synthetic validation with labelled anomalies - Python library, format guide, output datasets</a:t>
            </a:r>
          </a:p>
          <a:p>
            <a:pPr lvl="0" indent="0" marL="0">
              <a:buNone/>
            </a:pPr>
            <a:r>
              <a:rPr b="1"/>
              <a:t>Out of Scope:</a:t>
            </a:r>
            <a:r>
              <a:rPr/>
              <a:t> - Real-time monitoring - External integrations/dashboards - ML predictive models - Primary data collection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Literature Review</a:t>
            </a:r>
          </a:p>
          <a:p>
            <a:pPr lvl="0"/>
            <a:r>
              <a:rPr b="1"/>
              <a:t>TSE Framework (Groves et al., 2009)</a:t>
            </a:r>
            <a:r>
              <a:rPr/>
              <a:t>: Theoretical foundation for survey error sources</a:t>
            </a:r>
          </a:p>
          <a:p>
            <a:pPr lvl="0"/>
            <a:r>
              <a:rPr b="1"/>
              <a:t>Paradata Quality (Couper, 1998)</a:t>
            </a:r>
            <a:r>
              <a:rPr/>
              <a:t>: Process data as quality indicators in CASIC</a:t>
            </a:r>
          </a:p>
          <a:p>
            <a:pPr lvl="0"/>
            <a:r>
              <a:rPr b="1"/>
              <a:t>Response Latency (Yan &amp; Tourangeau, 2008)</a:t>
            </a:r>
            <a:r>
              <a:rPr/>
              <a:t>: Complexity, age, familiarity predict timing; fast responses signal disengagement</a:t>
            </a:r>
          </a:p>
          <a:p>
            <a:pPr lvl="0"/>
            <a:r>
              <a:rPr b="1"/>
              <a:t>Adaptive Design (Conrad et al., 2013)</a:t>
            </a:r>
            <a:r>
              <a:rPr/>
              <a:t>: Pauses, back-navigation identify difficulty/disengagement</a:t>
            </a:r>
          </a:p>
          <a:p>
            <a:pPr lvl="0"/>
            <a:r>
              <a:rPr b="1"/>
              <a:t>Fabrication Detection (Wenz et al., 2019)</a:t>
            </a:r>
            <a:r>
              <a:rPr/>
              <a:t>: Compressed distributions, low back-navigation in fabricated interviews</a:t>
            </a:r>
          </a:p>
          <a:p>
            <a:pPr lvl="0"/>
            <a:r>
              <a:rPr b="1"/>
              <a:t>Survey-Level Features (Kreuter, 2013)</a:t>
            </a:r>
            <a:r>
              <a:rPr/>
              <a:t>: Duration, speed trajectory, time-of-day as robust indicators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Proposed Methodology</a:t>
            </a:r>
          </a:p>
          <a:p>
            <a:pPr lvl="0"/>
            <a:r>
              <a:rPr b="1"/>
              <a:t>Pipeline Overview</a:t>
            </a:r>
            <a:r>
              <a:rPr/>
              <a:t>: Ingestion → Parsing → Feature Extraction → Characterization → Detection → Output</a:t>
            </a:r>
          </a:p>
          <a:p>
            <a:pPr lvl="0"/>
            <a:r>
              <a:rPr b="1"/>
              <a:t>Modular Design</a:t>
            </a:r>
            <a:r>
              <a:rPr/>
              <a:t>: Separation of parsing and extraction layers for platform agnosticism</a:t>
            </a:r>
          </a:p>
          <a:p>
            <a:pPr lvl="0"/>
            <a:r>
              <a:rPr b="1"/>
              <a:t>Data Flow</a:t>
            </a:r>
            <a:r>
              <a:rPr/>
              <a:t>: Raw logs → Platform parsers → Common Intermediate Representation (CIR) → Features</a:t>
            </a:r>
          </a:p>
          <a:p>
            <a:pPr lvl="0"/>
            <a:r>
              <a:rPr b="1"/>
              <a:t>CIR Schema</a:t>
            </a:r>
            <a:r>
              <a:rPr/>
              <a:t>: Pandas DataFrame with interview_id, field_name, event_type, timestamps, duration</a:t>
            </a:r>
          </a:p>
          <a:p>
            <a:pPr lvl="0"/>
            <a:r>
              <a:rPr b="1"/>
              <a:t>Feature Levels</a:t>
            </a:r>
            <a:r>
              <a:rPr/>
              <a:t>: Question (response time, edits), Section (pace, pauses), Survey (duration, navigation)</a:t>
            </a:r>
          </a:p>
          <a:p>
            <a:pPr lvl="0"/>
            <a:r>
              <a:rPr b="1"/>
              <a:t>Statistical Layer</a:t>
            </a:r>
            <a:r>
              <a:rPr/>
              <a:t>: Distributional measures (variance, IQR, entropy, skewness, kurtosis)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Preliminary Feature Taxonomy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800"/>
                <a:gridCol w="1892300"/>
                <a:gridCol w="1892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Examples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Question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Timing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Response time, time-to-first-interaction, edit count, revisit flag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Question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Patterns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Keystrokes, constraint triggers, idle time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Pace/Flow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Mean pace, variance, section-to-section ratio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Pauses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Pause counts (&gt;5s, &gt;30s), mean/max duration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Survey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Patterns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Total duration, speed trajectory, back-navigation rate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Survey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Temporal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Time-of-day, day-of-week, session vs. median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Statistical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Measures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Variance, IQR, entropy, skewness, kurtosis of response times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Feature Catalogue (40 Features)</a:t>
            </a:r>
          </a:p>
          <a:p>
            <a:pPr lvl="0" indent="0" marL="0">
              <a:buNone/>
            </a:pPr>
            <a:r>
              <a:rPr b="1"/>
              <a:t>Question-Level (Q-01 to Q-10):</a:t>
            </a:r>
            <a:r>
              <a:rPr/>
              <a:t> - Q-01: response_time_ms – Total field time - Q-02: time_to_first_interaction – Delay to first input - Q-03: edit_count – Modifications before leaving - Q-04: revisit_flag – Back-navigation indicator - Q-05: revisit_count – Number of revisits - Q-06: field_completion_ratio – Mandatory completion - Q-07: idle_time_ms – Inactive periods - Q-08: keystroke_count – Text input volume - Q-09: constraint_trigger_count – Validation errors - Q-10: first_to_last_interaction_duration – Input span</a:t>
            </a:r>
          </a:p>
          <a:p>
            <a:pPr lvl="0" indent="0" marL="0">
              <a:buNone/>
            </a:pPr>
            <a:r>
              <a:rPr b="1"/>
              <a:t>Section-Level (S-01 to S-10):</a:t>
            </a:r>
            <a:r>
              <a:rPr/>
              <a:t> - S-01: mean_section_pace – Average question time - S-02: section_duration_ms – Total section time - S-03: within_section_variance – Timing spread - S-04: section_to_section_pace_ratio – Relative pace - S-05: pause_count_5s – Gaps &gt;5s - S-06: pause_count_30s – Gaps &gt;30s - S-07: mean_pause_duration_ms – Average pause length - S-08: max_pause_duration_ms – Longest pause - S-09: back_nav_count_section – Section back-navs - S-10: section_completion_rate – Answered proportion</a:t>
            </a:r>
          </a:p>
          <a:p>
            <a:pPr lvl="0" indent="0" marL="0">
              <a:buNone/>
            </a:pPr>
            <a:r>
              <a:rPr b="1"/>
              <a:t>Survey-Level (V-01 to V-10):</a:t>
            </a:r>
            <a:r>
              <a:rPr/>
              <a:t> - V-01: total_interview_duration_ms – Full interview time - V-02: speed_trajectory_early – First quarter pace - V-03: speed_trajectory_late – Final quarter pace - V-04: speed_trajectory_ratio – Early/late ratio - V-05: back_navigation_rate – Navs per question - V-06: back_navigation_total_count – Total navs - V-07: time_of_day_hour – Start hour - V-08: day_of_week – Interview day - V-09: session_length_vs_median – Relative duration - V-10: zero_back_nav_flag – No navs &gt;20 questions</a:t>
            </a:r>
          </a:p>
          <a:p>
            <a:pPr lvl="0" indent="0" marL="0">
              <a:buNone/>
            </a:pPr>
            <a:r>
              <a:rPr b="1"/>
              <a:t>Statistical (T-01 to T-10):</a:t>
            </a:r>
            <a:r>
              <a:rPr/>
              <a:t> - T-01: rt_variance – Response time spread - T-02: rt_iqr – Interquartile range - T-03: rt_entropy – Distribution randomness - T-04: rt_skewness – Asymmetry measure - T-05: rt_kurtosis – Tailedness - T-06: rt_mean – Average response time - T-07: rt_median – Median response time - T-08: rt_cv – Coefficient of variation - T-09: rt_min – Minimum time - T-10: rt_max – Maximum time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Parser Design and Format Handling</a:t>
            </a:r>
          </a:p>
          <a:p>
            <a:pPr lvl="0"/>
            <a:r>
              <a:rPr b="1"/>
              <a:t>Platform Differences</a:t>
            </a:r>
            <a:r>
              <a:rPr/>
              <a:t>: SurveyCTO (event-based CSV, epoch ms); ODK (different taxonomy, ISO timestamps)</a:t>
            </a:r>
          </a:p>
          <a:p>
            <a:pPr lvl="0"/>
            <a:r>
              <a:rPr b="1"/>
              <a:t>Class Hierarchy</a:t>
            </a:r>
            <a:r>
              <a:rPr/>
              <a:t>: Base ParadataParser → SurveyCTOParser, ODKParser</a:t>
            </a:r>
          </a:p>
          <a:p>
            <a:pPr lvl="0"/>
            <a:r>
              <a:rPr b="1"/>
              <a:t>Normalization</a:t>
            </a:r>
            <a:r>
              <a:rPr/>
              <a:t>: Convert to common schema (interview_id, field_name, event_type, start_ms, end_ms, duration_ms)</a:t>
            </a:r>
          </a:p>
          <a:p>
            <a:pPr lvl="0"/>
            <a:r>
              <a:rPr b="1"/>
              <a:t>Benefits</a:t>
            </a:r>
            <a:r>
              <a:rPr/>
              <a:t>: Unified downstream processing, easy extension to new platforms</a:t>
            </a:r>
          </a:p>
          <a:p>
            <a:pPr lvl="0"/>
            <a:r>
              <a:rPr b="1"/>
              <a:t>Implementation</a:t>
            </a:r>
            <a:r>
              <a:rPr/>
              <a:t>: Pandas DataFrame for intermediate representation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Anomaly Detection</a:t>
            </a:r>
          </a:p>
          <a:p>
            <a:pPr lvl="0"/>
            <a:r>
              <a:rPr b="1"/>
              <a:t>Definition</a:t>
            </a:r>
            <a:r>
              <a:rPr/>
              <a:t>: Statistically significant deviation in timing behavior</a:t>
            </a:r>
          </a:p>
          <a:p>
            <a:pPr lvl="0"/>
            <a:r>
              <a:rPr b="1"/>
              <a:t>Criteria</a:t>
            </a:r>
            <a:r>
              <a:rPr/>
              <a:t>: Extreme duration, low variance, no pauses/navs &gt;20 questions, uniform fast responses</a:t>
            </a:r>
          </a:p>
          <a:p>
            <a:pPr lvl="0"/>
            <a:r>
              <a:rPr b="1"/>
              <a:t>Methods</a:t>
            </a:r>
            <a:r>
              <a:rPr/>
              <a:t>:</a:t>
            </a:r>
          </a:p>
          <a:p>
            <a:pPr lvl="1"/>
            <a:r>
              <a:rPr b="1"/>
              <a:t>IQR Thresholding</a:t>
            </a:r>
            <a:r>
              <a:rPr/>
              <a:t>: Flag values outside 1.5*IQR from Q1/Q3 (robust to non-normality)</a:t>
            </a:r>
          </a:p>
          <a:p>
            <a:pPr lvl="1"/>
            <a:r>
              <a:rPr b="1"/>
              <a:t>Rule-Based</a:t>
            </a:r>
            <a:r>
              <a:rPr/>
              <a:t>: Domain thresholds (e.g., zero back-nav &gt;20 questions)</a:t>
            </a:r>
          </a:p>
          <a:p>
            <a:pPr lvl="0"/>
            <a:r>
              <a:rPr b="1"/>
              <a:t>Why IQR?</a:t>
            </a:r>
            <a:r>
              <a:rPr/>
              <a:t>: Handles skewed distributions better than Z-scores; no normality assumption</a:t>
            </a:r>
          </a:p>
          <a:p>
            <a:pPr lvl="0"/>
            <a:r>
              <a:rPr b="1"/>
              <a:t>Scoring</a:t>
            </a:r>
            <a:r>
              <a:rPr/>
              <a:t>: Proportional to flagged features per interview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Tools and Technologies</a:t>
            </a:r>
          </a:p>
          <a:p>
            <a:pPr lvl="0"/>
            <a:r>
              <a:rPr b="1"/>
              <a:t>Language</a:t>
            </a:r>
            <a:r>
              <a:rPr/>
              <a:t>: Python 3.10+</a:t>
            </a:r>
          </a:p>
          <a:p>
            <a:pPr lvl="0"/>
            <a:r>
              <a:rPr b="1"/>
              <a:t>Data Processing</a:t>
            </a:r>
            <a:r>
              <a:rPr/>
              <a:t>: Pandas, NumPy</a:t>
            </a:r>
          </a:p>
          <a:p>
            <a:pPr lvl="0"/>
            <a:r>
              <a:rPr b="1"/>
              <a:t>Statistics</a:t>
            </a:r>
            <a:r>
              <a:rPr/>
              <a:t>: SciPy</a:t>
            </a:r>
          </a:p>
          <a:p>
            <a:pPr lvl="0"/>
            <a:r>
              <a:rPr b="1"/>
              <a:t>Visualization</a:t>
            </a:r>
            <a:r>
              <a:rPr/>
              <a:t>: Matplotlib, Seaborn</a:t>
            </a:r>
          </a:p>
          <a:p>
            <a:pPr lvl="0"/>
            <a:r>
              <a:rPr b="1"/>
              <a:t>Development</a:t>
            </a:r>
            <a:r>
              <a:rPr/>
              <a:t>: Jupyter Notebook, VS Code</a:t>
            </a:r>
          </a:p>
          <a:p>
            <a:pPr lvl="0"/>
            <a:r>
              <a:rPr b="1"/>
              <a:t>Testing</a:t>
            </a:r>
            <a:r>
              <a:rPr/>
              <a:t>: Pytest</a:t>
            </a:r>
          </a:p>
          <a:p>
            <a:pPr lvl="0"/>
            <a:r>
              <a:rPr b="1"/>
              <a:t>Ethical</a:t>
            </a:r>
            <a:r>
              <a:rPr/>
              <a:t>: Anonymized paradata, synthetic validation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Evaluation Methodology</a:t>
            </a:r>
          </a:p>
          <a:p>
            <a:pPr lvl="0"/>
            <a:r>
              <a:rPr b="1"/>
              <a:t>Feature Validation</a:t>
            </a:r>
            <a:r>
              <a:rPr/>
              <a:t>: Mann-Whitney U tests for discriminative power; Cohen’s d effect sizes</a:t>
            </a:r>
          </a:p>
          <a:p>
            <a:pPr lvl="0"/>
            <a:r>
              <a:rPr b="1"/>
              <a:t>Detection Performance</a:t>
            </a:r>
            <a:r>
              <a:rPr/>
              <a:t>: Precision (0.80 target), Recall (0.75 target), F1-score vs. labelled synthetic anomalies</a:t>
            </a:r>
          </a:p>
          <a:p>
            <a:pPr lvl="0"/>
            <a:r>
              <a:rPr b="1"/>
              <a:t>Baselines</a:t>
            </a:r>
            <a:r>
              <a:rPr/>
              <a:t>: Aggregate duration threshold; Single-feature rule</a:t>
            </a:r>
          </a:p>
          <a:p>
            <a:pPr lvl="0"/>
            <a:r>
              <a:rPr b="1"/>
              <a:t>Cross-Format</a:t>
            </a:r>
            <a:r>
              <a:rPr/>
              <a:t>: Robustness on SurveyCTO/ODK synthetic datasets</a:t>
            </a:r>
          </a:p>
          <a:p>
            <a:pPr lvl="0"/>
            <a:r>
              <a:rPr b="1"/>
              <a:t>Synthetic Strategy</a:t>
            </a:r>
            <a:r>
              <a:rPr/>
              <a:t>: Log-normal for times, Poisson for events; injected anomalies (fabrication, speeding, disengagement)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Project Timeline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Activities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Proposal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1-2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Planning, writing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Literature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3-7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Review, taxonomy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Design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8-9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Architecture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Parsers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10-13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Implementation, testing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Features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14-18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Extraction, stats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Detection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19-21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IQR, rules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Midway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Evaluation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Validation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23-26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Datasets, tests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Outputs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27-29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Docs, reports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30-31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Paper writing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Submission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Deliverables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Risk Analysis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Likelihood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Mitigation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Incomplete logs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Validation, error handling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Format changes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Configurable mapping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Performance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Vectorized ops, chunking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Detection issues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Validation, tuning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Non-discriminative features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Statistical tests, exclusion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Limitations</a:t>
            </a:r>
          </a:p>
          <a:p>
            <a:pPr lvl="0"/>
            <a:r>
              <a:rPr/>
              <a:t>Synthetic data may not fully capture real variability</a:t>
            </a:r>
          </a:p>
          <a:p>
            <a:pPr lvl="0"/>
            <a:r>
              <a:rPr/>
              <a:t>Thresholds may not generalize across contexts/populations</a:t>
            </a:r>
          </a:p>
          <a:p>
            <a:pPr lvl="0"/>
            <a:r>
              <a:rPr/>
              <a:t>Preliminary taxonomy; some features may be non-discriminative</a:t>
            </a:r>
          </a:p>
          <a:p>
            <a:pPr lvl="0"/>
            <a:r>
              <a:rPr/>
              <a:t>No real-world validation against known anomalies</a:t>
            </a:r>
          </a:p>
          <a:p>
            <a:pPr lvl="0"/>
            <a:r>
              <a:rPr/>
              <a:t>Class imbalance in synthetic datasets affects metrics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Expected Outcomes</a:t>
            </a:r>
          </a:p>
          <a:p>
            <a:pPr lvl="0"/>
            <a:r>
              <a:rPr b="1"/>
              <a:t>Python Library</a:t>
            </a:r>
            <a:r>
              <a:rPr/>
              <a:t>: 30-50 features with docstrings</a:t>
            </a:r>
          </a:p>
          <a:p>
            <a:pPr lvl="0"/>
            <a:r>
              <a:rPr b="1"/>
              <a:t>Format Guide</a:t>
            </a:r>
            <a:r>
              <a:rPr/>
              <a:t>: SurveyCTO/ODK structures, parsing</a:t>
            </a:r>
          </a:p>
          <a:p>
            <a:pPr lvl="0"/>
            <a:r>
              <a:rPr b="1"/>
              <a:t>Validation Dataset</a:t>
            </a:r>
            <a:r>
              <a:rPr/>
              <a:t>: Synthetic with labelled anomalies</a:t>
            </a:r>
          </a:p>
          <a:p>
            <a:pPr lvl="0"/>
            <a:r>
              <a:rPr b="1"/>
              <a:t>Report</a:t>
            </a:r>
            <a:r>
              <a:rPr/>
              <a:t>: Precision/recall, effect sizes</a:t>
            </a:r>
          </a:p>
          <a:p>
            <a:pPr lvl="0"/>
            <a:r>
              <a:rPr b="1"/>
              <a:t>Final Paper</a:t>
            </a:r>
            <a:r>
              <a:rPr/>
              <a:t>: 5,000-7,000 words</a:t>
            </a:r>
          </a:p>
          <a:p>
            <a:pPr lvl="0"/>
            <a:r>
              <a:rPr b="1"/>
              <a:t>Outputs</a:t>
            </a:r>
            <a:r>
              <a:rPr/>
              <a:t>: Structured datasets, summaries, visualizations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AI-Assisted Development</a:t>
            </a:r>
          </a:p>
          <a:p>
            <a:pPr lvl="0"/>
            <a:r>
              <a:rPr b="1"/>
              <a:t>Tools</a:t>
            </a:r>
            <a:r>
              <a:rPr/>
              <a:t>: GitHub Copilot, Claude, ChatGPT</a:t>
            </a:r>
          </a:p>
          <a:p>
            <a:pPr lvl="0"/>
            <a:r>
              <a:rPr b="1"/>
              <a:t>Tasks</a:t>
            </a:r>
            <a:r>
              <a:rPr/>
              <a:t>: Code generation, proofreading, API clarification</a:t>
            </a:r>
          </a:p>
          <a:p>
            <a:pPr lvl="0"/>
            <a:r>
              <a:rPr b="1"/>
              <a:t>Validation</a:t>
            </a:r>
            <a:r>
              <a:rPr/>
              <a:t>: Line-by-line review, unit testing</a:t>
            </a:r>
          </a:p>
          <a:p>
            <a:pPr lvl="0"/>
            <a:r>
              <a:rPr b="1"/>
              <a:t>Transparency</a:t>
            </a:r>
            <a:r>
              <a:rPr/>
              <a:t>: AI Usage Log maintained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Conclusion</a:t>
            </a:r>
          </a:p>
          <a:p>
            <a:pPr lvl="0"/>
            <a:r>
              <a:rPr b="1"/>
              <a:t>Impact</a:t>
            </a:r>
            <a:r>
              <a:rPr/>
              <a:t>: Operationalize paradata for scalable survey quality assurance</a:t>
            </a:r>
          </a:p>
          <a:p>
            <a:pPr lvl="0"/>
            <a:r>
              <a:rPr b="1"/>
              <a:t>Innovation</a:t>
            </a:r>
            <a:r>
              <a:rPr/>
              <a:t>: Automated, platform-agnostic pipeline with robust detection</a:t>
            </a:r>
          </a:p>
          <a:p>
            <a:pPr lvl="0"/>
            <a:r>
              <a:rPr b="1"/>
              <a:t>Validation</a:t>
            </a:r>
            <a:r>
              <a:rPr/>
              <a:t>: Rigorous synthetic evaluation with baselines</a:t>
            </a:r>
          </a:p>
          <a:p>
            <a:pPr lvl="0"/>
            <a:r>
              <a:rPr b="1"/>
              <a:t>Future</a:t>
            </a:r>
            <a:r>
              <a:rPr/>
              <a:t>: Extend to real corpora, integrate ML if needed</a:t>
            </a:r>
          </a:p>
          <a:p>
            <a:pPr lvl="0"/>
            <a:r>
              <a:rPr b="1"/>
              <a:t>Thank You! Questions?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References</a:t>
            </a:r>
          </a:p>
          <a:p>
            <a:pPr lvl="0" indent="-342900" marL="342900">
              <a:buAutoNum type="arabicPeriod"/>
            </a:pPr>
            <a:r>
              <a:rPr/>
              <a:t>Groves et al. (2009) - Survey Methodology</a:t>
            </a:r>
          </a:p>
          <a:p>
            <a:pPr lvl="0" indent="-342900" marL="342900">
              <a:buAutoNum type="arabicPeriod"/>
            </a:pPr>
            <a:r>
              <a:rPr/>
              <a:t>Couper (1998) - CASIC quality</a:t>
            </a:r>
          </a:p>
          <a:p>
            <a:pPr lvl="0" indent="-342900" marL="342900">
              <a:buAutoNum type="arabicPeriod"/>
            </a:pPr>
            <a:r>
              <a:rPr/>
              <a:t>Conrad et al. (2013) - Adaptive design</a:t>
            </a:r>
          </a:p>
          <a:p>
            <a:pPr lvl="0" indent="-342900" marL="342900">
              <a:buAutoNum type="arabicPeriod"/>
            </a:pPr>
            <a:r>
              <a:rPr/>
              <a:t>Kreuter (2013) - Paradata improvements</a:t>
            </a:r>
          </a:p>
          <a:p>
            <a:pPr lvl="0" indent="-342900" marL="342900">
              <a:buAutoNum type="arabicPeriod"/>
            </a:pPr>
            <a:r>
              <a:rPr/>
              <a:t>Yan &amp; Tourangeau (2008) - Response times</a:t>
            </a:r>
          </a:p>
          <a:p>
            <a:pPr lvl="0" indent="-342900" marL="342900">
              <a:buAutoNum type="arabicPeriod"/>
            </a:pPr>
            <a:r>
              <a:rPr/>
              <a:t>Wenz et al. (2019) - Fabrication detection</a:t>
            </a:r>
          </a:p>
          <a:p>
            <a:pPr lvl="0" indent="-342900" marL="342900">
              <a:buAutoNum type="arabicPeriod"/>
            </a:pPr>
            <a:r>
              <a:rPr/>
              <a:t>Olson et al. (2018) - Cross-platform logs</a:t>
            </a:r>
          </a:p>
          <a:p>
            <a:pPr lvl="0" indent="-342900" marL="342900">
              <a:buAutoNum type="arabicPeriod"/>
            </a:pPr>
            <a:r>
              <a:rPr/>
              <a:t>McKinney (2017) - Python for Data Analysis</a:t>
            </a:r>
          </a:p>
          <a:p>
            <a:pPr lvl="0" indent="-342900" marL="342900">
              <a:buAutoNum type="arabicPeriod"/>
            </a:pPr>
            <a:r>
              <a:rPr/>
              <a:t>Hawkins (1980) - Outlier identification</a:t>
            </a:r>
          </a:p>
          <a:p>
            <a:pPr lvl="0" indent="-342900" marL="342900">
              <a:buAutoNum type="arabicPeriod"/>
            </a:pPr>
            <a:r>
              <a:rPr/>
              <a:t>Chandola et al. (2009) - Anomaly detection survey</a:t>
            </a:r>
          </a:p>
          <a:p>
            <a:pPr lvl="0" indent="-342900" marL="342900">
              <a:buAutoNum type="arabicPeriod"/>
            </a:pPr>
            <a:r>
              <a:rPr/>
              <a:t>Chawla et al. (2002) - SMOTE</a:t>
            </a:r>
          </a:p>
          <a:p>
            <a:pPr lvl="0" indent="-342900" marL="342900">
              <a:buAutoNum type="arabicPeriod"/>
            </a:pPr>
            <a:r>
              <a:rPr/>
              <a:t>Iglewicz &amp; Hoaglin (1993) - Outliers</a:t>
            </a:r>
          </a:p>
          <a:p>
            <a:pPr lvl="0" indent="-342900" marL="342900">
              <a:buAutoNum type="arabicPeriod"/>
            </a:pPr>
            <a:r>
              <a:rPr/>
              <a:t>Hodge &amp; Austin (2004) - Outlier methodologies</a:t>
            </a:r>
          </a:p>
          <a:p>
            <a:pPr lvl="0" indent="-342900" marL="342900">
              <a:buAutoNum type="arabicPeriod"/>
            </a:pPr>
            <a:r>
              <a:rPr/>
              <a:t>Japkowicz &amp; Stephen (2002) - Class imbalance</a:t>
            </a:r>
          </a:p>
          <a:p>
            <a:pPr lvl="0" indent="0" marL="0">
              <a:buNone/>
            </a:pPr>
            <a:r>
              <a:rPr i="1"/>
              <a:t>End of Presentation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2026-03-26T18:32:26Z</dcterms:created>
  <dcterms:modified xsi:type="dcterms:W3CDTF">2026-03-26T18:32:26Z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